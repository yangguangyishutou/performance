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6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6" userDrawn="1">
          <p15:clr>
            <a:srgbClr val="A4A3A4"/>
          </p15:clr>
        </p15:guide>
        <p15:guide id="2" pos="38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93" autoAdjust="0"/>
    <p:restoredTop sz="94660"/>
  </p:normalViewPr>
  <p:slideViewPr>
    <p:cSldViewPr snapToGrid="0" showGuides="1">
      <p:cViewPr>
        <p:scale>
          <a:sx n="103" d="100"/>
          <a:sy n="103" d="100"/>
        </p:scale>
        <p:origin x="144" y="144"/>
      </p:cViewPr>
      <p:guideLst>
        <p:guide orient="horz" pos="2226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0D578-83B7-F24E-8F0F-318B1ACDC3B3}" type="datetimeFigureOut">
              <a:rPr lang="en-CN" smtClean="0"/>
              <a:t>2026/3/8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C507E-ED11-5541-AC6C-3DB8072D034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890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zcaceres</a:t>
            </a:r>
            <a:r>
              <a:rPr lang="en-GB" dirty="0"/>
              <a:t>/</a:t>
            </a:r>
            <a:r>
              <a:rPr lang="en-GB" dirty="0" err="1"/>
              <a:t>markdownify-mcp</a:t>
            </a:r>
            <a:r>
              <a:rPr lang="en-GB" dirty="0"/>
              <a:t>/commit/0284aa8f34d32c65e20d8cda2d429b7943c9af03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162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箭头连接符 6"/>
          <p:cNvCxnSpPr>
            <a:stCxn id="45" idx="2"/>
            <a:endCxn id="140" idx="0"/>
          </p:cNvCxnSpPr>
          <p:nvPr/>
        </p:nvCxnSpPr>
        <p:spPr>
          <a:xfrm flipH="1">
            <a:off x="8866188" y="2137410"/>
            <a:ext cx="808221" cy="2767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81" idx="3"/>
          </p:cNvCxnSpPr>
          <p:nvPr/>
        </p:nvCxnSpPr>
        <p:spPr>
          <a:xfrm>
            <a:off x="8406130" y="5203825"/>
            <a:ext cx="177355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319259" y="4761230"/>
            <a:ext cx="1038860" cy="54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</p:txBody>
      </p:sp>
      <p:sp>
        <p:nvSpPr>
          <p:cNvPr id="52" name="矩形 51"/>
          <p:cNvSpPr/>
          <p:nvPr/>
        </p:nvSpPr>
        <p:spPr>
          <a:xfrm>
            <a:off x="1463677" y="683895"/>
            <a:ext cx="103949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class fields</a:t>
            </a:r>
          </a:p>
        </p:txBody>
      </p:sp>
      <p:sp>
        <p:nvSpPr>
          <p:cNvPr id="9" name="矩形 8"/>
          <p:cNvSpPr/>
          <p:nvPr/>
        </p:nvSpPr>
        <p:spPr>
          <a:xfrm>
            <a:off x="1446259" y="4888230"/>
            <a:ext cx="1038860" cy="54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</p:txBody>
      </p:sp>
      <p:sp>
        <p:nvSpPr>
          <p:cNvPr id="10" name="矩形 9"/>
          <p:cNvSpPr/>
          <p:nvPr/>
        </p:nvSpPr>
        <p:spPr>
          <a:xfrm>
            <a:off x="1590677" y="810895"/>
            <a:ext cx="103949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class fields</a:t>
            </a:r>
          </a:p>
        </p:txBody>
      </p:sp>
      <p:sp>
        <p:nvSpPr>
          <p:cNvPr id="12" name="矩形 11"/>
          <p:cNvSpPr/>
          <p:nvPr/>
        </p:nvSpPr>
        <p:spPr>
          <a:xfrm>
            <a:off x="1710419" y="5140960"/>
            <a:ext cx="1038860" cy="54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</p:txBody>
      </p:sp>
      <p:sp>
        <p:nvSpPr>
          <p:cNvPr id="13" name="矩形 12"/>
          <p:cNvSpPr/>
          <p:nvPr/>
        </p:nvSpPr>
        <p:spPr>
          <a:xfrm>
            <a:off x="1771017" y="1329690"/>
            <a:ext cx="103949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class fields</a:t>
            </a:r>
          </a:p>
        </p:txBody>
      </p:sp>
      <p:sp>
        <p:nvSpPr>
          <p:cNvPr id="15" name="矩形 14"/>
          <p:cNvSpPr/>
          <p:nvPr/>
        </p:nvSpPr>
        <p:spPr>
          <a:xfrm>
            <a:off x="1837419" y="5267960"/>
            <a:ext cx="1038860" cy="54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</p:txBody>
      </p:sp>
      <p:sp>
        <p:nvSpPr>
          <p:cNvPr id="16" name="矩形 15"/>
          <p:cNvSpPr/>
          <p:nvPr/>
        </p:nvSpPr>
        <p:spPr>
          <a:xfrm>
            <a:off x="1898017" y="1456690"/>
            <a:ext cx="103949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class fields</a:t>
            </a:r>
          </a:p>
        </p:txBody>
      </p:sp>
      <p:sp>
        <p:nvSpPr>
          <p:cNvPr id="18" name="矩形 17"/>
          <p:cNvSpPr/>
          <p:nvPr/>
        </p:nvSpPr>
        <p:spPr>
          <a:xfrm>
            <a:off x="1964419" y="5394960"/>
            <a:ext cx="1038860" cy="5499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  <a:p>
            <a:pPr algn="ctr"/>
            <a:r>
              <a:rPr lang="en-US" altLang="zh-CN" sz="1200"/>
              <a:t>java method</a:t>
            </a:r>
          </a:p>
        </p:txBody>
      </p:sp>
      <p:sp>
        <p:nvSpPr>
          <p:cNvPr id="19" name="矩形 18"/>
          <p:cNvSpPr/>
          <p:nvPr/>
        </p:nvSpPr>
        <p:spPr>
          <a:xfrm>
            <a:off x="2025017" y="1583690"/>
            <a:ext cx="103949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class fields</a:t>
            </a:r>
          </a:p>
        </p:txBody>
      </p:sp>
      <p:sp>
        <p:nvSpPr>
          <p:cNvPr id="127" name="矩形 126"/>
          <p:cNvSpPr/>
          <p:nvPr/>
        </p:nvSpPr>
        <p:spPr>
          <a:xfrm>
            <a:off x="2488882" y="2819717"/>
            <a:ext cx="2327275" cy="3917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stranslate standard</a:t>
            </a:r>
          </a:p>
        </p:txBody>
      </p:sp>
      <p:sp>
        <p:nvSpPr>
          <p:cNvPr id="122" name="矩形 121"/>
          <p:cNvSpPr/>
          <p:nvPr/>
        </p:nvSpPr>
        <p:spPr>
          <a:xfrm>
            <a:off x="4498975" y="4702175"/>
            <a:ext cx="5109210" cy="174815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箭头连接符 79"/>
          <p:cNvCxnSpPr>
            <a:stCxn id="135" idx="3"/>
            <a:endCxn id="81" idx="1"/>
          </p:cNvCxnSpPr>
          <p:nvPr/>
        </p:nvCxnSpPr>
        <p:spPr>
          <a:xfrm flipV="1">
            <a:off x="7082790" y="5203825"/>
            <a:ext cx="375285" cy="1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7458075" y="5031105"/>
            <a:ext cx="948055" cy="345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translated method</a:t>
            </a:r>
          </a:p>
        </p:txBody>
      </p:sp>
      <p:sp>
        <p:nvSpPr>
          <p:cNvPr id="93" name="矩形 92"/>
          <p:cNvSpPr/>
          <p:nvPr/>
        </p:nvSpPr>
        <p:spPr>
          <a:xfrm>
            <a:off x="8462645" y="5738495"/>
            <a:ext cx="813435" cy="276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error info</a:t>
            </a:r>
          </a:p>
        </p:txBody>
      </p:sp>
      <p:cxnSp>
        <p:nvCxnSpPr>
          <p:cNvPr id="95" name="肘形连接符 94"/>
          <p:cNvCxnSpPr>
            <a:stCxn id="144" idx="1"/>
            <a:endCxn id="81" idx="1"/>
          </p:cNvCxnSpPr>
          <p:nvPr/>
        </p:nvCxnSpPr>
        <p:spPr>
          <a:xfrm rot="10800000">
            <a:off x="7458075" y="5203825"/>
            <a:ext cx="46990" cy="675640"/>
          </a:xfrm>
          <a:prstGeom prst="bentConnector3">
            <a:avLst>
              <a:gd name="adj1" fmla="val 60675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stCxn id="140" idx="2"/>
            <a:endCxn id="93" idx="0"/>
          </p:cNvCxnSpPr>
          <p:nvPr/>
        </p:nvCxnSpPr>
        <p:spPr>
          <a:xfrm>
            <a:off x="8866505" y="5504180"/>
            <a:ext cx="3175" cy="2343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stCxn id="93" idx="1"/>
            <a:endCxn id="144" idx="3"/>
          </p:cNvCxnSpPr>
          <p:nvPr/>
        </p:nvCxnSpPr>
        <p:spPr>
          <a:xfrm flipH="1">
            <a:off x="8122920" y="5876925"/>
            <a:ext cx="339725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6" name="圆角矩形 125"/>
          <p:cNvSpPr/>
          <p:nvPr/>
        </p:nvSpPr>
        <p:spPr>
          <a:xfrm>
            <a:off x="4601210" y="4905375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🤔</a:t>
            </a:r>
          </a:p>
        </p:txBody>
      </p:sp>
      <p:sp>
        <p:nvSpPr>
          <p:cNvPr id="130" name="矩形 129"/>
          <p:cNvSpPr/>
          <p:nvPr/>
        </p:nvSpPr>
        <p:spPr>
          <a:xfrm>
            <a:off x="5452745" y="5030470"/>
            <a:ext cx="791210" cy="345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translate</a:t>
            </a:r>
          </a:p>
          <a:p>
            <a:pPr algn="ctr"/>
            <a:r>
              <a:rPr lang="en-US" altLang="zh-CN" sz="1200"/>
              <a:t>plan</a:t>
            </a:r>
          </a:p>
        </p:txBody>
      </p:sp>
      <p:cxnSp>
        <p:nvCxnSpPr>
          <p:cNvPr id="131" name="直接箭头连接符 130"/>
          <p:cNvCxnSpPr>
            <a:stCxn id="126" idx="3"/>
            <a:endCxn id="130" idx="1"/>
          </p:cNvCxnSpPr>
          <p:nvPr/>
        </p:nvCxnSpPr>
        <p:spPr>
          <a:xfrm flipV="1">
            <a:off x="5219065" y="5203190"/>
            <a:ext cx="233680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stCxn id="130" idx="3"/>
            <a:endCxn id="135" idx="1"/>
          </p:cNvCxnSpPr>
          <p:nvPr/>
        </p:nvCxnSpPr>
        <p:spPr>
          <a:xfrm>
            <a:off x="6243955" y="5203190"/>
            <a:ext cx="220980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>
            <a:off x="6464935" y="4905375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&lt;/&gt;</a:t>
            </a:r>
          </a:p>
        </p:txBody>
      </p:sp>
      <p:sp>
        <p:nvSpPr>
          <p:cNvPr id="140" name="圆角矩形 139"/>
          <p:cNvSpPr/>
          <p:nvPr/>
        </p:nvSpPr>
        <p:spPr>
          <a:xfrm>
            <a:off x="8557260" y="4904740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🔧</a:t>
            </a:r>
          </a:p>
        </p:txBody>
      </p:sp>
      <p:sp>
        <p:nvSpPr>
          <p:cNvPr id="144" name="圆角矩形 143"/>
          <p:cNvSpPr/>
          <p:nvPr/>
        </p:nvSpPr>
        <p:spPr>
          <a:xfrm>
            <a:off x="7505065" y="5579745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🔍</a:t>
            </a:r>
          </a:p>
        </p:txBody>
      </p:sp>
      <p:cxnSp>
        <p:nvCxnSpPr>
          <p:cNvPr id="2" name="肘形连接符 1"/>
          <p:cNvCxnSpPr>
            <a:stCxn id="127" idx="2"/>
            <a:endCxn id="165" idx="0"/>
          </p:cNvCxnSpPr>
          <p:nvPr/>
        </p:nvCxnSpPr>
        <p:spPr>
          <a:xfrm rot="16200000" flipH="1">
            <a:off x="3357086" y="3506945"/>
            <a:ext cx="1700213" cy="1109345"/>
          </a:xfrm>
          <a:prstGeom prst="bentConnector4">
            <a:avLst>
              <a:gd name="adj1" fmla="val 50000"/>
              <a:gd name="adj2" fmla="val 12550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8792711" y="541655"/>
            <a:ext cx="1763395" cy="1595755"/>
            <a:chOff x="13798" y="2887"/>
            <a:chExt cx="2777" cy="2513"/>
          </a:xfrm>
        </p:grpSpPr>
        <p:sp>
          <p:nvSpPr>
            <p:cNvPr id="45" name="矩形 44"/>
            <p:cNvSpPr/>
            <p:nvPr/>
          </p:nvSpPr>
          <p:spPr>
            <a:xfrm>
              <a:off x="13798" y="2887"/>
              <a:ext cx="2777" cy="2513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13985" y="3435"/>
              <a:ext cx="1637" cy="5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cpp headers</a:t>
              </a:r>
            </a:p>
            <a:p>
              <a:pPr algn="ctr"/>
              <a:r>
                <a:rPr lang="en-US" altLang="zh-CN" sz="1200"/>
                <a:t>(fields only)</a:t>
              </a:r>
            </a:p>
          </p:txBody>
        </p:sp>
        <p:sp>
          <p:nvSpPr>
            <p:cNvPr id="58" name="矩形 57"/>
            <p:cNvSpPr/>
            <p:nvPr/>
          </p:nvSpPr>
          <p:spPr>
            <a:xfrm>
              <a:off x="14185" y="3635"/>
              <a:ext cx="1637" cy="5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cpp headers</a:t>
              </a:r>
            </a:p>
            <a:p>
              <a:pPr algn="ctr"/>
              <a:r>
                <a:rPr lang="en-US" altLang="zh-CN" sz="1200"/>
                <a:t>(fields only)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14385" y="3835"/>
              <a:ext cx="1637" cy="5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cpp headers</a:t>
              </a:r>
            </a:p>
            <a:p>
              <a:pPr algn="ctr"/>
              <a:r>
                <a:rPr lang="en-US" altLang="zh-CN" sz="1200"/>
                <a:t>(fields only)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14585" y="4035"/>
              <a:ext cx="1637" cy="5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cpp headers</a:t>
              </a:r>
            </a:p>
            <a:p>
              <a:pPr algn="ctr"/>
              <a:r>
                <a:rPr lang="en-US" altLang="zh-CN" sz="1200"/>
                <a:t>(fields only)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14785" y="4235"/>
              <a:ext cx="1637" cy="57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cpp headers</a:t>
              </a:r>
            </a:p>
            <a:p>
              <a:pPr algn="ctr"/>
              <a:r>
                <a:rPr lang="en-US" altLang="zh-CN" sz="1200"/>
                <a:t>(fields only)</a:t>
              </a:r>
            </a:p>
          </p:txBody>
        </p:sp>
      </p:grpSp>
      <p:sp>
        <p:nvSpPr>
          <p:cNvPr id="67" name="右箭头 66"/>
          <p:cNvSpPr/>
          <p:nvPr/>
        </p:nvSpPr>
        <p:spPr>
          <a:xfrm>
            <a:off x="1944370" y="5213985"/>
            <a:ext cx="257175" cy="113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右箭头 73"/>
          <p:cNvSpPr/>
          <p:nvPr/>
        </p:nvSpPr>
        <p:spPr>
          <a:xfrm>
            <a:off x="8466321" y="1252220"/>
            <a:ext cx="257175" cy="1136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149600" y="426547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981960" y="488015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2501900" y="488015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332480" y="460583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568700" y="488015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814320" y="4506776"/>
            <a:ext cx="167640" cy="167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23" idx="7"/>
            <a:endCxn id="26" idx="3"/>
          </p:cNvCxnSpPr>
          <p:nvPr/>
        </p:nvCxnSpPr>
        <p:spPr>
          <a:xfrm flipV="1">
            <a:off x="2644775" y="4649651"/>
            <a:ext cx="194310" cy="255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0"/>
            <a:endCxn id="26" idx="5"/>
          </p:cNvCxnSpPr>
          <p:nvPr/>
        </p:nvCxnSpPr>
        <p:spPr>
          <a:xfrm flipH="1" flipV="1">
            <a:off x="2957195" y="4649651"/>
            <a:ext cx="108585" cy="2305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2" idx="0"/>
            <a:endCxn id="21" idx="4"/>
          </p:cNvCxnSpPr>
          <p:nvPr/>
        </p:nvCxnSpPr>
        <p:spPr>
          <a:xfrm flipV="1">
            <a:off x="3065780" y="4433116"/>
            <a:ext cx="167640" cy="447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24" idx="3"/>
          </p:cNvCxnSpPr>
          <p:nvPr/>
        </p:nvCxnSpPr>
        <p:spPr>
          <a:xfrm flipV="1">
            <a:off x="3068320" y="4748711"/>
            <a:ext cx="288925" cy="127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25" idx="1"/>
            <a:endCxn id="24" idx="5"/>
          </p:cNvCxnSpPr>
          <p:nvPr/>
        </p:nvCxnSpPr>
        <p:spPr>
          <a:xfrm flipH="1" flipV="1">
            <a:off x="3475355" y="4748711"/>
            <a:ext cx="118110" cy="156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26" idx="7"/>
            <a:endCxn id="21" idx="4"/>
          </p:cNvCxnSpPr>
          <p:nvPr/>
        </p:nvCxnSpPr>
        <p:spPr>
          <a:xfrm flipV="1">
            <a:off x="2957195" y="4433116"/>
            <a:ext cx="276225" cy="984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4" idx="0"/>
            <a:endCxn id="21" idx="5"/>
          </p:cNvCxnSpPr>
          <p:nvPr/>
        </p:nvCxnSpPr>
        <p:spPr>
          <a:xfrm flipH="1" flipV="1">
            <a:off x="3292475" y="4408351"/>
            <a:ext cx="123825" cy="197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1184910" y="4098925"/>
            <a:ext cx="2675255" cy="236728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2616835" y="5360670"/>
            <a:ext cx="1130300" cy="1042670"/>
            <a:chOff x="6311" y="7197"/>
            <a:chExt cx="1780" cy="1642"/>
          </a:xfrm>
        </p:grpSpPr>
        <p:sp>
          <p:nvSpPr>
            <p:cNvPr id="65" name="矩形 64"/>
            <p:cNvSpPr/>
            <p:nvPr/>
          </p:nvSpPr>
          <p:spPr>
            <a:xfrm>
              <a:off x="6311" y="7197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68" name="矩形 67"/>
            <p:cNvSpPr/>
            <p:nvPr/>
          </p:nvSpPr>
          <p:spPr>
            <a:xfrm>
              <a:off x="6335" y="7398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69" name="矩形 68"/>
            <p:cNvSpPr/>
            <p:nvPr/>
          </p:nvSpPr>
          <p:spPr>
            <a:xfrm>
              <a:off x="6359" y="7599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6383" y="7800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6407" y="8001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6431" y="8202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6455" y="8403"/>
              <a:ext cx="1637" cy="43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/>
                <a:t>java method</a:t>
              </a:r>
            </a:p>
          </p:txBody>
        </p:sp>
      </p:grpSp>
      <p:cxnSp>
        <p:nvCxnSpPr>
          <p:cNvPr id="77" name="直接箭头连接符 76"/>
          <p:cNvCxnSpPr/>
          <p:nvPr/>
        </p:nvCxnSpPr>
        <p:spPr>
          <a:xfrm>
            <a:off x="3135630" y="4980940"/>
            <a:ext cx="0" cy="296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9" name="组合 108"/>
          <p:cNvGrpSpPr/>
          <p:nvPr/>
        </p:nvGrpSpPr>
        <p:grpSpPr>
          <a:xfrm>
            <a:off x="10243185" y="4702175"/>
            <a:ext cx="1356360" cy="1747520"/>
            <a:chOff x="16143" y="6535"/>
            <a:chExt cx="2136" cy="2752"/>
          </a:xfrm>
        </p:grpSpPr>
        <p:sp>
          <p:nvSpPr>
            <p:cNvPr id="99" name="矩形 98"/>
            <p:cNvSpPr/>
            <p:nvPr/>
          </p:nvSpPr>
          <p:spPr>
            <a:xfrm>
              <a:off x="16143" y="6535"/>
              <a:ext cx="2136" cy="275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0" name="组合 99"/>
            <p:cNvGrpSpPr/>
            <p:nvPr/>
          </p:nvGrpSpPr>
          <p:grpSpPr>
            <a:xfrm>
              <a:off x="16321" y="7162"/>
              <a:ext cx="1780" cy="1642"/>
              <a:chOff x="6311" y="7197"/>
              <a:chExt cx="1780" cy="1642"/>
            </a:xfrm>
          </p:grpSpPr>
          <p:sp>
            <p:nvSpPr>
              <p:cNvPr id="101" name="矩形 100"/>
              <p:cNvSpPr/>
              <p:nvPr/>
            </p:nvSpPr>
            <p:spPr>
              <a:xfrm>
                <a:off x="6311" y="7197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6335" y="7398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359" y="7599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383" y="7800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407" y="8001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431" y="8202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java method</a:t>
                </a:r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455" y="8403"/>
                <a:ext cx="1637" cy="436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/>
                  <a:t>cpp method</a:t>
                </a:r>
              </a:p>
            </p:txBody>
          </p:sp>
        </p:grpSp>
      </p:grpSp>
      <p:sp>
        <p:nvSpPr>
          <p:cNvPr id="3" name="圆角矩形 2"/>
          <p:cNvSpPr/>
          <p:nvPr/>
        </p:nvSpPr>
        <p:spPr>
          <a:xfrm>
            <a:off x="10582910" y="3041015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🔧</a:t>
            </a:r>
          </a:p>
        </p:txBody>
      </p:sp>
      <p:sp>
        <p:nvSpPr>
          <p:cNvPr id="4" name="直角上箭头 3"/>
          <p:cNvSpPr/>
          <p:nvPr/>
        </p:nvSpPr>
        <p:spPr>
          <a:xfrm rot="10800000" flipH="1">
            <a:off x="9984105" y="1256665"/>
            <a:ext cx="983615" cy="1668145"/>
          </a:xfrm>
          <a:prstGeom prst="bentUpArrow">
            <a:avLst>
              <a:gd name="adj1" fmla="val 6178"/>
              <a:gd name="adj2" fmla="val 10282"/>
              <a:gd name="adj3" fmla="val 19109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上箭头 5"/>
          <p:cNvSpPr/>
          <p:nvPr/>
        </p:nvSpPr>
        <p:spPr>
          <a:xfrm>
            <a:off x="10815320" y="3703955"/>
            <a:ext cx="152400" cy="935990"/>
          </a:xfrm>
          <a:prstGeom prst="upArrow">
            <a:avLst>
              <a:gd name="adj1" fmla="val 39553"/>
              <a:gd name="adj2" fmla="val 92083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/>
        </p:nvGrpSpPr>
        <p:grpSpPr>
          <a:xfrm>
            <a:off x="13729606" y="2443797"/>
            <a:ext cx="2119630" cy="1194435"/>
            <a:chOff x="11766" y="4762"/>
            <a:chExt cx="3338" cy="1881"/>
          </a:xfrm>
        </p:grpSpPr>
        <p:grpSp>
          <p:nvGrpSpPr>
            <p:cNvPr id="57" name="组合 56"/>
            <p:cNvGrpSpPr/>
            <p:nvPr/>
          </p:nvGrpSpPr>
          <p:grpSpPr>
            <a:xfrm>
              <a:off x="13450" y="4907"/>
              <a:ext cx="1202" cy="1052"/>
              <a:chOff x="13794" y="5400"/>
              <a:chExt cx="1202" cy="1052"/>
            </a:xfrm>
          </p:grpSpPr>
          <p:sp>
            <p:nvSpPr>
              <p:cNvPr id="20" name="剪去单角的矩形 19"/>
              <p:cNvSpPr/>
              <p:nvPr/>
            </p:nvSpPr>
            <p:spPr>
              <a:xfrm>
                <a:off x="13902" y="5400"/>
                <a:ext cx="895" cy="1052"/>
              </a:xfrm>
              <a:prstGeom prst="snip1Rect">
                <a:avLst>
                  <a:gd name="adj" fmla="val 35865"/>
                </a:avLst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3794" y="5545"/>
                <a:ext cx="120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bg1"/>
                    </a:solidFill>
                  </a:rPr>
                  <a:t>cpp</a:t>
                </a:r>
              </a:p>
              <a:p>
                <a:r>
                  <a:rPr lang="en-US" altLang="zh-CN" sz="1200">
                    <a:solidFill>
                      <a:schemeClr val="bg1"/>
                    </a:solidFill>
                  </a:rPr>
                  <a:t>headers</a:t>
                </a:r>
              </a:p>
            </p:txBody>
          </p:sp>
        </p:grpSp>
        <p:sp>
          <p:nvSpPr>
            <p:cNvPr id="32" name="文本框 31"/>
            <p:cNvSpPr txBox="1"/>
            <p:nvPr/>
          </p:nvSpPr>
          <p:spPr>
            <a:xfrm>
              <a:off x="12573" y="5919"/>
              <a:ext cx="79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cpp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files</a:t>
              </a:r>
            </a:p>
          </p:txBody>
        </p:sp>
        <p:sp>
          <p:nvSpPr>
            <p:cNvPr id="42" name="剪去单角的矩形 41"/>
            <p:cNvSpPr/>
            <p:nvPr/>
          </p:nvSpPr>
          <p:spPr>
            <a:xfrm>
              <a:off x="12003" y="4907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1895" y="5052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cpp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files</a:t>
              </a:r>
            </a:p>
          </p:txBody>
        </p:sp>
        <p:sp>
          <p:nvSpPr>
            <p:cNvPr id="49" name="剪去单角的矩形 48"/>
            <p:cNvSpPr/>
            <p:nvPr/>
          </p:nvSpPr>
          <p:spPr>
            <a:xfrm>
              <a:off x="12229" y="5081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121" y="5226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cpp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files</a:t>
              </a:r>
            </a:p>
          </p:txBody>
        </p:sp>
        <p:sp>
          <p:nvSpPr>
            <p:cNvPr id="55" name="剪去单角的矩形 54"/>
            <p:cNvSpPr/>
            <p:nvPr/>
          </p:nvSpPr>
          <p:spPr>
            <a:xfrm>
              <a:off x="12455" y="5255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2347" y="5400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cpp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files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13676" y="5081"/>
              <a:ext cx="1202" cy="1052"/>
              <a:chOff x="13794" y="5400"/>
              <a:chExt cx="1202" cy="1052"/>
            </a:xfrm>
          </p:grpSpPr>
          <p:sp>
            <p:nvSpPr>
              <p:cNvPr id="78" name="剪去单角的矩形 77"/>
              <p:cNvSpPr/>
              <p:nvPr/>
            </p:nvSpPr>
            <p:spPr>
              <a:xfrm>
                <a:off x="13902" y="5400"/>
                <a:ext cx="895" cy="1052"/>
              </a:xfrm>
              <a:prstGeom prst="snip1Rect">
                <a:avLst>
                  <a:gd name="adj" fmla="val 35865"/>
                </a:avLst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13794" y="5545"/>
                <a:ext cx="120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bg1"/>
                    </a:solidFill>
                  </a:rPr>
                  <a:t>cpp</a:t>
                </a:r>
              </a:p>
              <a:p>
                <a:r>
                  <a:rPr lang="en-US" altLang="zh-CN" sz="1200">
                    <a:solidFill>
                      <a:schemeClr val="bg1"/>
                    </a:solidFill>
                  </a:rPr>
                  <a:t>headers</a:t>
                </a: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13902" y="5255"/>
              <a:ext cx="1202" cy="1052"/>
              <a:chOff x="13794" y="5400"/>
              <a:chExt cx="1202" cy="1052"/>
            </a:xfrm>
          </p:grpSpPr>
          <p:sp>
            <p:nvSpPr>
              <p:cNvPr id="83" name="剪去单角的矩形 82"/>
              <p:cNvSpPr/>
              <p:nvPr/>
            </p:nvSpPr>
            <p:spPr>
              <a:xfrm>
                <a:off x="13902" y="5400"/>
                <a:ext cx="895" cy="1052"/>
              </a:xfrm>
              <a:prstGeom prst="snip1Rect">
                <a:avLst>
                  <a:gd name="adj" fmla="val 35865"/>
                </a:avLst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/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13794" y="5545"/>
                <a:ext cx="1203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>
                    <a:solidFill>
                      <a:schemeClr val="bg1"/>
                    </a:solidFill>
                  </a:rPr>
                  <a:t>cpp</a:t>
                </a:r>
              </a:p>
              <a:p>
                <a:r>
                  <a:rPr lang="en-US" altLang="zh-CN" sz="1200">
                    <a:solidFill>
                      <a:schemeClr val="bg1"/>
                    </a:solidFill>
                  </a:rPr>
                  <a:t>headers</a:t>
                </a:r>
              </a:p>
            </p:txBody>
          </p:sp>
        </p:grpSp>
        <p:sp>
          <p:nvSpPr>
            <p:cNvPr id="85" name="矩形 84"/>
            <p:cNvSpPr/>
            <p:nvPr/>
          </p:nvSpPr>
          <p:spPr>
            <a:xfrm>
              <a:off x="11766" y="4762"/>
              <a:ext cx="3339" cy="175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肘形连接符 86"/>
          <p:cNvCxnSpPr>
            <a:stCxn id="11" idx="2"/>
          </p:cNvCxnSpPr>
          <p:nvPr/>
        </p:nvCxnSpPr>
        <p:spPr>
          <a:xfrm rot="5400000" flipV="1">
            <a:off x="3744324" y="3009265"/>
            <a:ext cx="3004820" cy="785495"/>
          </a:xfrm>
          <a:prstGeom prst="bentConnector3">
            <a:avLst>
              <a:gd name="adj1" fmla="val 4998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cxnSpLocks/>
            <a:stCxn id="160" idx="1"/>
            <a:endCxn id="85" idx="1"/>
          </p:cNvCxnSpPr>
          <p:nvPr/>
        </p:nvCxnSpPr>
        <p:spPr>
          <a:xfrm flipV="1">
            <a:off x="11200765" y="2999422"/>
            <a:ext cx="2528841" cy="3724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0" name="组合 89"/>
          <p:cNvGrpSpPr/>
          <p:nvPr/>
        </p:nvGrpSpPr>
        <p:grpSpPr>
          <a:xfrm>
            <a:off x="-108041" y="2867025"/>
            <a:ext cx="763905" cy="668020"/>
            <a:chOff x="13794" y="5400"/>
            <a:chExt cx="1203" cy="1052"/>
          </a:xfrm>
        </p:grpSpPr>
        <p:sp>
          <p:nvSpPr>
            <p:cNvPr id="92" name="剪去单角的矩形 91"/>
            <p:cNvSpPr/>
            <p:nvPr/>
          </p:nvSpPr>
          <p:spPr>
            <a:xfrm>
              <a:off x="13902" y="5400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13794" y="5545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jap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fiaders</a:t>
              </a: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35469" y="2977515"/>
            <a:ext cx="763905" cy="668020"/>
            <a:chOff x="13794" y="5400"/>
            <a:chExt cx="1203" cy="1052"/>
          </a:xfrm>
        </p:grpSpPr>
        <p:sp>
          <p:nvSpPr>
            <p:cNvPr id="114" name="剪去单角的矩形 113"/>
            <p:cNvSpPr/>
            <p:nvPr/>
          </p:nvSpPr>
          <p:spPr>
            <a:xfrm>
              <a:off x="13902" y="5400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13794" y="5545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java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fieaders</a:t>
              </a: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178979" y="3088005"/>
            <a:ext cx="763905" cy="668020"/>
            <a:chOff x="13794" y="5400"/>
            <a:chExt cx="1203" cy="1052"/>
          </a:xfrm>
        </p:grpSpPr>
        <p:sp>
          <p:nvSpPr>
            <p:cNvPr id="117" name="剪去单角的矩形 116"/>
            <p:cNvSpPr/>
            <p:nvPr/>
          </p:nvSpPr>
          <p:spPr>
            <a:xfrm>
              <a:off x="13902" y="5400"/>
              <a:ext cx="895" cy="1052"/>
            </a:xfrm>
            <a:prstGeom prst="snip1Rect">
              <a:avLst>
                <a:gd name="adj" fmla="val 35865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13794" y="5545"/>
              <a:ext cx="12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java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files</a:t>
              </a:r>
            </a:p>
          </p:txBody>
        </p:sp>
      </p:grpSp>
      <p:sp>
        <p:nvSpPr>
          <p:cNvPr id="119" name="矩形 118"/>
          <p:cNvSpPr/>
          <p:nvPr/>
        </p:nvSpPr>
        <p:spPr>
          <a:xfrm>
            <a:off x="-162016" y="2774950"/>
            <a:ext cx="1104900" cy="111125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-231866" y="3848735"/>
            <a:ext cx="167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Java  Repo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14283961" y="3555047"/>
            <a:ext cx="1223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cpp</a:t>
            </a:r>
            <a:r>
              <a:rPr lang="en-US" altLang="zh-CN" dirty="0"/>
              <a:t> repo</a:t>
            </a:r>
          </a:p>
        </p:txBody>
      </p:sp>
      <p:cxnSp>
        <p:nvCxnSpPr>
          <p:cNvPr id="128" name="直接箭头连接符 127"/>
          <p:cNvCxnSpPr>
            <a:stCxn id="127" idx="0"/>
            <a:endCxn id="5" idx="2"/>
          </p:cNvCxnSpPr>
          <p:nvPr/>
        </p:nvCxnSpPr>
        <p:spPr>
          <a:xfrm flipH="1" flipV="1">
            <a:off x="3548427" y="2026920"/>
            <a:ext cx="104093" cy="7927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9" name="上箭头 128"/>
          <p:cNvSpPr/>
          <p:nvPr/>
        </p:nvSpPr>
        <p:spPr>
          <a:xfrm rot="2066095">
            <a:off x="912769" y="2031263"/>
            <a:ext cx="75565" cy="677545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下箭头 132"/>
          <p:cNvSpPr/>
          <p:nvPr/>
        </p:nvSpPr>
        <p:spPr>
          <a:xfrm rot="19715956">
            <a:off x="904875" y="4238625"/>
            <a:ext cx="75565" cy="4686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2264774" y="889635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file by file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8263756" y="1365885"/>
            <a:ext cx="966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output</a:t>
            </a:r>
          </a:p>
          <a:p>
            <a:r>
              <a:rPr lang="en-US" altLang="zh-CN" sz="1200"/>
              <a:t> files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1426845" y="4932680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all methods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807460" y="4970780"/>
            <a:ext cx="794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method</a:t>
            </a:r>
          </a:p>
          <a:p>
            <a:r>
              <a:rPr lang="en-US" altLang="zh-CN" sz="1200"/>
              <a:t>by</a:t>
            </a:r>
          </a:p>
          <a:p>
            <a:r>
              <a:rPr lang="en-US" altLang="zh-CN" sz="1200"/>
              <a:t>method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9559290" y="5277485"/>
            <a:ext cx="966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output</a:t>
            </a:r>
          </a:p>
          <a:p>
            <a:r>
              <a:rPr lang="en-US" altLang="zh-CN" sz="1200"/>
              <a:t>methods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9107170" y="4952365"/>
            <a:ext cx="5638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pass?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8832215" y="5489575"/>
            <a:ext cx="5638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failed?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4601845" y="5438140"/>
            <a:ext cx="7283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planner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3231244" y="2021205"/>
            <a:ext cx="7283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planner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3231244" y="1158875"/>
            <a:ext cx="7283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planner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5768069" y="1989455"/>
            <a:ext cx="956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translator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6353175" y="5438140"/>
            <a:ext cx="956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translator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7505065" y="6142990"/>
            <a:ext cx="956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mender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8496935" y="4873625"/>
            <a:ext cx="956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compiler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11200765" y="3234055"/>
            <a:ext cx="9569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merge tool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4022090" y="3143885"/>
            <a:ext cx="1670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 related plan 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2819400" y="3572510"/>
            <a:ext cx="1914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related standards 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2814320" y="2499360"/>
            <a:ext cx="1914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related standards 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2295525" y="2559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Header Processing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6562202" y="6375400"/>
            <a:ext cx="2499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method translating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2020570" y="6403340"/>
            <a:ext cx="2499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method pretreating</a:t>
            </a:r>
          </a:p>
        </p:txBody>
      </p:sp>
      <p:cxnSp>
        <p:nvCxnSpPr>
          <p:cNvPr id="169" name="直接箭头连接符 168"/>
          <p:cNvCxnSpPr>
            <a:stCxn id="10" idx="3"/>
            <a:endCxn id="148" idx="1"/>
          </p:cNvCxnSpPr>
          <p:nvPr/>
        </p:nvCxnSpPr>
        <p:spPr>
          <a:xfrm>
            <a:off x="2630172" y="949325"/>
            <a:ext cx="609327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>
            <a:stCxn id="19" idx="3"/>
            <a:endCxn id="5" idx="1"/>
          </p:cNvCxnSpPr>
          <p:nvPr/>
        </p:nvCxnSpPr>
        <p:spPr>
          <a:xfrm>
            <a:off x="3064512" y="1722120"/>
            <a:ext cx="174987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1" name="文本框 170"/>
          <p:cNvSpPr txBox="1"/>
          <p:nvPr/>
        </p:nvSpPr>
        <p:spPr>
          <a:xfrm>
            <a:off x="2404474" y="1755775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file by file</a:t>
            </a:r>
          </a:p>
        </p:txBody>
      </p:sp>
      <p:cxnSp>
        <p:nvCxnSpPr>
          <p:cNvPr id="172" name="肘形连接符 171"/>
          <p:cNvCxnSpPr>
            <a:stCxn id="73" idx="3"/>
            <a:endCxn id="126" idx="1"/>
          </p:cNvCxnSpPr>
          <p:nvPr/>
        </p:nvCxnSpPr>
        <p:spPr>
          <a:xfrm flipV="1">
            <a:off x="3747770" y="5205095"/>
            <a:ext cx="853440" cy="105981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8832215" y="2543175"/>
            <a:ext cx="16706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necessary headers 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219065" y="4286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standard</a:t>
            </a:r>
          </a:p>
        </p:txBody>
      </p:sp>
      <p:sp>
        <p:nvSpPr>
          <p:cNvPr id="148" name="圆角矩形 147"/>
          <p:cNvSpPr/>
          <p:nvPr/>
        </p:nvSpPr>
        <p:spPr>
          <a:xfrm>
            <a:off x="3239499" y="652780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🤔</a:t>
            </a:r>
          </a:p>
        </p:txBody>
      </p:sp>
      <p:sp>
        <p:nvSpPr>
          <p:cNvPr id="188" name="矩形 187"/>
          <p:cNvSpPr/>
          <p:nvPr/>
        </p:nvSpPr>
        <p:spPr>
          <a:xfrm>
            <a:off x="6918054" y="1543050"/>
            <a:ext cx="1172210" cy="3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cpp header</a:t>
            </a:r>
          </a:p>
          <a:p>
            <a:pPr algn="ctr"/>
            <a:r>
              <a:rPr lang="en-US" altLang="zh-CN" sz="1200"/>
              <a:t>(fields only)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239499" y="1427480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🤔</a:t>
            </a:r>
          </a:p>
        </p:txBody>
      </p:sp>
      <p:sp>
        <p:nvSpPr>
          <p:cNvPr id="8" name="矩形 7"/>
          <p:cNvSpPr/>
          <p:nvPr/>
        </p:nvSpPr>
        <p:spPr>
          <a:xfrm>
            <a:off x="6917419" y="769620"/>
            <a:ext cx="1172845" cy="355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temp header</a:t>
            </a:r>
          </a:p>
        </p:txBody>
      </p:sp>
      <p:sp>
        <p:nvSpPr>
          <p:cNvPr id="11" name="矩形 10"/>
          <p:cNvSpPr/>
          <p:nvPr/>
        </p:nvSpPr>
        <p:spPr>
          <a:xfrm>
            <a:off x="4458699" y="1554480"/>
            <a:ext cx="791210" cy="3454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translate</a:t>
            </a:r>
          </a:p>
          <a:p>
            <a:pPr algn="ctr"/>
            <a:r>
              <a:rPr lang="en-US" altLang="zh-CN" sz="1200"/>
              <a:t>plan</a:t>
            </a:r>
          </a:p>
        </p:txBody>
      </p:sp>
      <p:cxnSp>
        <p:nvCxnSpPr>
          <p:cNvPr id="14" name="直接箭头连接符 13"/>
          <p:cNvCxnSpPr>
            <a:stCxn id="5" idx="3"/>
            <a:endCxn id="11" idx="1"/>
          </p:cNvCxnSpPr>
          <p:nvPr/>
        </p:nvCxnSpPr>
        <p:spPr>
          <a:xfrm>
            <a:off x="3857354" y="1727200"/>
            <a:ext cx="6013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1" idx="3"/>
            <a:endCxn id="27" idx="1"/>
          </p:cNvCxnSpPr>
          <p:nvPr/>
        </p:nvCxnSpPr>
        <p:spPr>
          <a:xfrm flipV="1">
            <a:off x="5249909" y="1721485"/>
            <a:ext cx="554355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5804264" y="1421765"/>
            <a:ext cx="617855" cy="5994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&lt;/&gt;</a:t>
            </a:r>
          </a:p>
        </p:txBody>
      </p:sp>
      <p:cxnSp>
        <p:nvCxnSpPr>
          <p:cNvPr id="36" name="直接箭头连接符 35"/>
          <p:cNvCxnSpPr>
            <a:stCxn id="27" idx="3"/>
            <a:endCxn id="188" idx="1"/>
          </p:cNvCxnSpPr>
          <p:nvPr/>
        </p:nvCxnSpPr>
        <p:spPr>
          <a:xfrm flipV="1">
            <a:off x="6422119" y="1720850"/>
            <a:ext cx="49593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48" idx="3"/>
            <a:endCxn id="8" idx="1"/>
          </p:cNvCxnSpPr>
          <p:nvPr/>
        </p:nvCxnSpPr>
        <p:spPr>
          <a:xfrm flipV="1">
            <a:off x="3857354" y="947420"/>
            <a:ext cx="3060065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1329533" y="541655"/>
            <a:ext cx="6908051" cy="168465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2547568" y="456677"/>
            <a:ext cx="4146694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78"/>
          </a:p>
        </p:txBody>
      </p:sp>
      <p:sp>
        <p:nvSpPr>
          <p:cNvPr id="3" name="bg1text"/>
          <p:cNvSpPr txBox="1"/>
          <p:nvPr/>
        </p:nvSpPr>
        <p:spPr>
          <a:xfrm>
            <a:off x="2547568" y="456675"/>
            <a:ext cx="3954879" cy="1983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78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constWebpageToMarkdownTool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ToolSchema</a:t>
            </a:r>
            <a:r>
              <a:rPr lang="en-GB" sz="878" dirty="0" err="1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GB" sz="878" dirty="0" err="1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({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name:</a:t>
            </a:r>
            <a:r>
              <a:rPr lang="en-GB" sz="878" dirty="0" err="1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webpage-to-markdown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description:</a:t>
            </a:r>
            <a:r>
              <a:rPr lang="en-GB" sz="878" dirty="0" err="1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Convert</a:t>
            </a:r>
            <a:r>
              <a:rPr lang="en-GB" sz="878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 webpage to markdown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"，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inputSchema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type:</a:t>
            </a:r>
            <a:r>
              <a:rPr lang="en-GB" sz="878" dirty="0" err="1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properties: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type: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"string</a:t>
            </a:r>
            <a:r>
              <a:rPr lang="en-GB" sz="878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>
                <a:solidFill>
                  <a:srgbClr val="CD313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endParaRPr lang="en-GB" sz="878" dirty="0">
              <a:solidFill>
                <a:srgbClr val="3B3B3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sz="878" dirty="0" err="1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</a:t>
            </a:r>
            <a:r>
              <a:rPr lang="en-GB" sz="878" dirty="0" err="1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"URL</a:t>
            </a:r>
            <a:r>
              <a:rPr lang="en-GB" sz="878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of the webpage to convert</a:t>
            </a:r>
            <a:r>
              <a:rPr lang="en-GB" sz="878" dirty="0">
                <a:solidFill>
                  <a:srgbClr val="CD313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GB" sz="878" dirty="0">
              <a:solidFill>
                <a:srgbClr val="3B3B3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},</a:t>
            </a:r>
          </a:p>
          <a:p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}, </a:t>
            </a:r>
            <a:r>
              <a:rPr lang="en-GB" sz="878" dirty="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required: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[</a:t>
            </a:r>
            <a:r>
              <a:rPr lang="en-GB" sz="878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lang="en-GB" sz="878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},});</a:t>
            </a:r>
          </a:p>
          <a:p>
            <a:br>
              <a:rPr lang="en-GB" sz="878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sz="878" dirty="0">
              <a:solidFill>
                <a:srgbClr val="3B3B3B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74246" y="-3218641"/>
            <a:ext cx="3100296" cy="2996784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GB" sz="878" dirty="0">
                <a:solidFill>
                  <a:srgbClr val="116329"/>
                </a:solidFill>
                <a:latin typeface="JetBrains Mono"/>
              </a:rPr>
              <a:t>"tools"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[{ 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"name"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</a:t>
            </a:r>
            <a:r>
              <a:rPr lang="en-GB" sz="878" dirty="0" err="1">
                <a:solidFill>
                  <a:srgbClr val="0A3069"/>
                </a:solidFill>
                <a:latin typeface="JetBrains Mono"/>
              </a:rPr>
              <a:t>get_weather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 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"title"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"Weather Information Provider"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 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"description"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"Get current weather information for a location"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 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 err="1">
                <a:solidFill>
                  <a:srgbClr val="116329"/>
                </a:solidFill>
                <a:latin typeface="JetBrains Mono"/>
              </a:rPr>
              <a:t>inputSchema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{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"type"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"object"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"properties"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{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"location"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{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"type"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"string"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 </a:t>
            </a:r>
          </a:p>
          <a:p>
            <a:r>
              <a:rPr lang="en-GB" sz="878" dirty="0">
                <a:solidFill>
                  <a:srgbClr val="116329"/>
                </a:solidFill>
                <a:latin typeface="JetBrains Mono"/>
              </a:rPr>
              <a:t>                            "description"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"City name or zip code”</a:t>
            </a:r>
            <a:endParaRPr lang="en-GB" sz="878" dirty="0">
              <a:solidFill>
                <a:srgbClr val="1F2328"/>
              </a:solidFill>
              <a:latin typeface="JetBrains Mono"/>
            </a:endParaRP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}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}, 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"required"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[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"location” 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]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},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"icons"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[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{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 err="1">
                <a:solidFill>
                  <a:srgbClr val="116329"/>
                </a:solidFill>
                <a:latin typeface="JetBrains Mono"/>
              </a:rPr>
              <a:t>src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"https://</a:t>
            </a:r>
            <a:r>
              <a:rPr lang="en-GB" sz="878" dirty="0" err="1">
                <a:solidFill>
                  <a:srgbClr val="0A3069"/>
                </a:solidFill>
                <a:latin typeface="JetBrains Mono"/>
              </a:rPr>
              <a:t>example.com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/weather-</a:t>
            </a:r>
            <a:r>
              <a:rPr lang="en-GB" sz="878" dirty="0" err="1">
                <a:solidFill>
                  <a:srgbClr val="0A3069"/>
                </a:solidFill>
                <a:latin typeface="JetBrains Mono"/>
              </a:rPr>
              <a:t>icon.png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 err="1">
                <a:solidFill>
                  <a:srgbClr val="116329"/>
                </a:solidFill>
                <a:latin typeface="JetBrains Mono"/>
              </a:rPr>
              <a:t>mimeType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"image/</a:t>
            </a:r>
            <a:r>
              <a:rPr lang="en-GB" sz="878" dirty="0" err="1">
                <a:solidFill>
                  <a:srgbClr val="0A3069"/>
                </a:solidFill>
                <a:latin typeface="JetBrains Mono"/>
              </a:rPr>
              <a:t>png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,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        </a:t>
            </a:r>
            <a:r>
              <a:rPr lang="en-GB" sz="878" dirty="0">
                <a:solidFill>
                  <a:srgbClr val="116329"/>
                </a:solidFill>
                <a:latin typeface="JetBrains Mono"/>
              </a:rPr>
              <a:t>"sizes"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: [</a:t>
            </a:r>
            <a:r>
              <a:rPr lang="en-GB" sz="878" dirty="0">
                <a:solidFill>
                  <a:srgbClr val="0A3069"/>
                </a:solidFill>
                <a:latin typeface="JetBrains Mono"/>
              </a:rPr>
              <a:t>"48x48"</a:t>
            </a:r>
            <a:r>
              <a:rPr lang="en-GB" sz="878" dirty="0">
                <a:solidFill>
                  <a:srgbClr val="1F2328"/>
                </a:solidFill>
                <a:latin typeface="JetBrains Mono"/>
              </a:rPr>
              <a:t>]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        }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    ]</a:t>
            </a:r>
          </a:p>
          <a:p>
            <a:r>
              <a:rPr lang="en-GB" sz="878" dirty="0">
                <a:solidFill>
                  <a:srgbClr val="1F2328"/>
                </a:solidFill>
                <a:latin typeface="JetBrains Mono"/>
              </a:rPr>
              <a:t>}]</a:t>
            </a:r>
            <a:endParaRPr lang="en-US" sz="878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1C51F-FF10-0BC1-1BD6-20655A760105}"/>
              </a:ext>
            </a:extLst>
          </p:cNvPr>
          <p:cNvSpPr txBox="1"/>
          <p:nvPr/>
        </p:nvSpPr>
        <p:spPr>
          <a:xfrm>
            <a:off x="2239881" y="472448"/>
            <a:ext cx="412769" cy="1713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  <a:p>
            <a:r>
              <a:rPr lang="en-US" altLang="zh-CN" sz="878" dirty="0"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973B7-F5BF-0887-DB0D-6275FE31A436}"/>
              </a:ext>
            </a:extLst>
          </p:cNvPr>
          <p:cNvSpPr txBox="1"/>
          <p:nvPr/>
        </p:nvSpPr>
        <p:spPr>
          <a:xfrm>
            <a:off x="3553385" y="2221966"/>
            <a:ext cx="15279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100" dirty="0"/>
              <a:t>Syntax Rule Violation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420</Words>
  <Application>Microsoft Macintosh PowerPoint</Application>
  <PresentationFormat>Widescreen</PresentationFormat>
  <Paragraphs>162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JetBrains Mono</vt:lpstr>
      <vt:lpstr>Arial</vt:lpstr>
      <vt:lpstr>Calibri</vt:lpstr>
      <vt:lpstr>Consolas</vt:lpstr>
      <vt:lpstr>Wingdings</vt:lpstr>
      <vt:lpstr>WPS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Kaifeng Huang</cp:lastModifiedBy>
  <cp:revision>165</cp:revision>
  <dcterms:created xsi:type="dcterms:W3CDTF">2019-06-19T02:08:00Z</dcterms:created>
  <dcterms:modified xsi:type="dcterms:W3CDTF">2026-03-08T06:59:14Z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C244C0DF1AF94064BBB9ACC474575FD8_11</vt:lpwstr>
  </property>
</Properties>
</file>