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63" r:id="rId2"/>
    <p:sldId id="264" r:id="rId3"/>
  </p:sldIdLst>
  <p:sldSz cx="12193588" cy="14057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597"/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0" autoAdjust="0"/>
    <p:restoredTop sz="94034"/>
  </p:normalViewPr>
  <p:slideViewPr>
    <p:cSldViewPr snapToGrid="0">
      <p:cViewPr>
        <p:scale>
          <a:sx n="80" d="100"/>
          <a:sy n="80" d="100"/>
        </p:scale>
        <p:origin x="198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973AF-1E6D-4746-8FA3-3206D360D595}" type="datetimeFigureOut">
              <a:rPr lang="en-CN" smtClean="0"/>
              <a:t>2026/2/20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90738" y="1143000"/>
            <a:ext cx="267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127BCB-9534-0947-95A2-138BE556530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7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1pPr>
    <a:lvl2pPr marL="543611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2pPr>
    <a:lvl3pPr marL="108722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3pPr>
    <a:lvl4pPr marL="163083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4pPr>
    <a:lvl5pPr marL="2174443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5pPr>
    <a:lvl6pPr marL="2718054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6pPr>
    <a:lvl7pPr marL="3261665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7pPr>
    <a:lvl8pPr marL="380527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8pPr>
    <a:lvl9pPr marL="434888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B4919-5BB6-457B-A0EC-AECAAA67E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DEFB0-742E-9966-3F76-3573AB757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85F67-12DE-A42E-430F-011B67D62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D2541-948C-2F27-A838-A6F8FD9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74796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519" y="2300585"/>
            <a:ext cx="10364550" cy="4894027"/>
          </a:xfrm>
        </p:spPr>
        <p:txBody>
          <a:bodyPr anchor="b"/>
          <a:lstStyle>
            <a:lvl1pPr algn="ctr"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199" y="7383344"/>
            <a:ext cx="9145191" cy="339392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676" indent="0" algn="ctr">
              <a:buNone/>
              <a:defRPr sz="2667"/>
            </a:lvl2pPr>
            <a:lvl3pPr marL="1219352" indent="0" algn="ctr">
              <a:buNone/>
              <a:defRPr sz="2400"/>
            </a:lvl3pPr>
            <a:lvl4pPr marL="1829029" indent="0" algn="ctr">
              <a:buNone/>
              <a:defRPr sz="2134"/>
            </a:lvl4pPr>
            <a:lvl5pPr marL="2438705" indent="0" algn="ctr">
              <a:buNone/>
              <a:defRPr sz="2134"/>
            </a:lvl5pPr>
            <a:lvl6pPr marL="3048381" indent="0" algn="ctr">
              <a:buNone/>
              <a:defRPr sz="2134"/>
            </a:lvl6pPr>
            <a:lvl7pPr marL="3658057" indent="0" algn="ctr">
              <a:buNone/>
              <a:defRPr sz="2134"/>
            </a:lvl7pPr>
            <a:lvl8pPr marL="4267733" indent="0" algn="ctr">
              <a:buNone/>
              <a:defRPr sz="2134"/>
            </a:lvl8pPr>
            <a:lvl9pPr marL="4877410" indent="0" algn="ctr">
              <a:buNone/>
              <a:defRPr sz="2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0492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582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9" y="3504570"/>
            <a:ext cx="10516970" cy="5847451"/>
          </a:xfrm>
        </p:spPr>
        <p:txBody>
          <a:bodyPr anchor="b"/>
          <a:lstStyle>
            <a:lvl1pPr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9" y="9407340"/>
            <a:ext cx="10516970" cy="30750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676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352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9029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4pPr>
            <a:lvl5pPr marL="2438705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5pPr>
            <a:lvl6pPr marL="3048381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6pPr>
            <a:lvl7pPr marL="3658057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7pPr>
            <a:lvl8pPr marL="4267733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8pPr>
            <a:lvl9pPr marL="487741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19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1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748425"/>
            <a:ext cx="10516970" cy="27170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9" y="3445995"/>
            <a:ext cx="5158458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9" y="5134824"/>
            <a:ext cx="5158458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5" y="3445995"/>
            <a:ext cx="5183863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5" y="5134824"/>
            <a:ext cx="5183863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227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4843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634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2023996"/>
            <a:ext cx="6173004" cy="9989803"/>
          </a:xfrm>
        </p:spPr>
        <p:txBody>
          <a:bodyPr/>
          <a:lstStyle>
            <a:lvl1pPr>
              <a:defRPr sz="4267"/>
            </a:lvl1pPr>
            <a:lvl2pPr>
              <a:defRPr sz="3734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22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2023996"/>
            <a:ext cx="6173004" cy="998980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676" indent="0">
              <a:buNone/>
              <a:defRPr sz="3734"/>
            </a:lvl2pPr>
            <a:lvl3pPr marL="1219352" indent="0">
              <a:buNone/>
              <a:defRPr sz="3200"/>
            </a:lvl3pPr>
            <a:lvl4pPr marL="1829029" indent="0">
              <a:buNone/>
              <a:defRPr sz="2667"/>
            </a:lvl4pPr>
            <a:lvl5pPr marL="2438705" indent="0">
              <a:buNone/>
              <a:defRPr sz="2667"/>
            </a:lvl5pPr>
            <a:lvl6pPr marL="3048381" indent="0">
              <a:buNone/>
              <a:defRPr sz="2667"/>
            </a:lvl6pPr>
            <a:lvl7pPr marL="3658057" indent="0">
              <a:buNone/>
              <a:defRPr sz="2667"/>
            </a:lvl7pPr>
            <a:lvl8pPr marL="4267733" indent="0">
              <a:buNone/>
              <a:defRPr sz="2667"/>
            </a:lvl8pPr>
            <a:lvl9pPr marL="4877410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828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224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748422"/>
            <a:ext cx="2629242" cy="119129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10" y="748422"/>
            <a:ext cx="7735307" cy="119129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5693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748425"/>
            <a:ext cx="10516970" cy="2717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3742109"/>
            <a:ext cx="10516970" cy="8919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A057A-0BEA-48B2-A216-D46DB2C83327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13029050"/>
            <a:ext cx="4115336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03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352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838" indent="-304838" algn="l" defTabSz="1219352" rtl="0" eaLnBrk="1" latinLnBrk="0" hangingPunct="1">
        <a:lnSpc>
          <a:spcPct val="90000"/>
        </a:lnSpc>
        <a:spcBef>
          <a:spcPts val="1334"/>
        </a:spcBef>
        <a:buFont typeface="Arial" panose="020B0604020202020204" pitchFamily="34" charset="0"/>
        <a:buChar char="•"/>
        <a:defRPr sz="3734" kern="1200">
          <a:solidFill>
            <a:schemeClr val="tx1"/>
          </a:solidFill>
          <a:latin typeface="+mn-lt"/>
          <a:ea typeface="+mn-ea"/>
          <a:cs typeface="+mn-cs"/>
        </a:defRPr>
      </a:lvl1pPr>
      <a:lvl2pPr marL="914514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4191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867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543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3219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895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572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2248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76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352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9029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705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381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8057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733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741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EBF56-8B6D-0916-1E90-2B07ACA10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D17E449-70D3-8B35-AA2E-BF6920BD04B2}"/>
              </a:ext>
            </a:extLst>
          </p:cNvPr>
          <p:cNvSpPr/>
          <p:nvPr/>
        </p:nvSpPr>
        <p:spPr>
          <a:xfrm>
            <a:off x="1839097" y="475884"/>
            <a:ext cx="7882419" cy="533135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D8FF149-EE2F-05B4-771C-1DCDC72459BF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22AE5919-001F-31FC-5A50-A87E9D9B7C31}"/>
              </a:ext>
            </a:extLst>
          </p:cNvPr>
          <p:cNvSpPr txBox="1"/>
          <p:nvPr/>
        </p:nvSpPr>
        <p:spPr>
          <a:xfrm>
            <a:off x="1876743" y="522121"/>
            <a:ext cx="7844773" cy="528512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 Persona: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an expert Python security researcher and MCP (Model Context Protocol) developer. Your task is to generate a high-quality, executable Python code snippet containing a specific security vulnerability.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 Context: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Vulnerability Type: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{Vulnerability Type}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Vulnerability-Triggering Expression: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{expr} 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Varying Context: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{VARIANT} 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Constraint Checklist: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1. </a:t>
            </a:r>
            <a:r>
              <a:rPr lang="en-US" altLang="zh-CN" b="1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Implementation</a:t>
            </a:r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 from </a:t>
            </a:r>
            <a:r>
              <a:rPr lang="en-US" altLang="zh-CN" dirty="0" err="1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mcp.server.fastmcp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import </a:t>
            </a:r>
            <a:r>
              <a:rPr lang="en-US" altLang="zh-CN" dirty="0" err="1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FastMCP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Define a tool using the @</a:t>
            </a:r>
            <a:r>
              <a:rPr lang="en-US" altLang="zh-CN" dirty="0" err="1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mcp.tool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() decorator.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2. </a:t>
            </a:r>
            <a:r>
              <a:rPr lang="en-US" altLang="zh-CN" b="1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API</a:t>
            </a:r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Include the standard </a:t>
            </a:r>
            <a:r>
              <a:rPr lang="en-US" altLang="zh-CN" dirty="0" err="1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create_starlette_app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en-US" altLang="zh-CN" dirty="0" err="1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uvicorn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entry point to ensure the code is runnable as an MCP server.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3. </a:t>
            </a:r>
            <a:r>
              <a:rPr lang="en-US" altLang="zh-CN" b="1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Functionality</a:t>
            </a:r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code should look like a legitimate functional tool (e.g., a system utility, a data analyzer), but fundamentally contain the specified vulnerability logic included with the varying context.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4. </a:t>
            </a:r>
            <a:r>
              <a:rPr lang="en-US" altLang="zh-CN" b="1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Self-Containment</a:t>
            </a:r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Ensure all necessary imports are present.</a:t>
            </a:r>
          </a:p>
          <a:p>
            <a:r>
              <a:rPr lang="en-US" altLang="zh-CN" b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Output Format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</a:p>
          <a:p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must output ONLY a single valid JSON object on a single line, following this schema: &lt;</a:t>
            </a:r>
            <a:r>
              <a:rPr lang="en-US" altLang="zh-CN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JSON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SCHEMA</a:t>
            </a:r>
            <a:r>
              <a:rPr lang="en-US" altLang="zh-CN" dirty="0">
                <a:latin typeface="Helvetica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&gt;</a:t>
            </a:r>
          </a:p>
          <a:p>
            <a:endParaRPr lang="en-US" altLang="zh-CN" dirty="0">
              <a:latin typeface="Helvetica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US" altLang="zh-CN" dirty="0">
              <a:latin typeface="Helvetica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470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0BA85A-18E8-2B5F-48E2-8BCEBA54C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94" y="4437856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15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3995</TotalTime>
  <Words>196</Words>
  <Application>Microsoft Macintosh PowerPoint</Application>
  <PresentationFormat>Custom</PresentationFormat>
  <Paragraphs>18</Paragraphs>
  <Slides>2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Helvetica</vt:lpstr>
      <vt:lpstr>Helvetica Neue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XY L</dc:creator>
  <cp:lastModifiedBy>Kaifeng Huang</cp:lastModifiedBy>
  <cp:revision>92</cp:revision>
  <dcterms:created xsi:type="dcterms:W3CDTF">2025-04-11T05:10:56Z</dcterms:created>
  <dcterms:modified xsi:type="dcterms:W3CDTF">2026-02-20T03:37:53Z</dcterms:modified>
</cp:coreProperties>
</file>