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64" r:id="rId4"/>
    <p:sldId id="257" r:id="rId5"/>
    <p:sldId id="261" r:id="rId6"/>
    <p:sldId id="263" r:id="rId7"/>
    <p:sldId id="258" r:id="rId8"/>
    <p:sldId id="25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01C"/>
    <a:srgbClr val="60C4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20"/>
    <p:restoredTop sz="81008"/>
  </p:normalViewPr>
  <p:slideViewPr>
    <p:cSldViewPr snapToGrid="0">
      <p:cViewPr>
        <p:scale>
          <a:sx n="78" d="100"/>
          <a:sy n="78" d="100"/>
        </p:scale>
        <p:origin x="808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13074-F728-EE48-B854-93E8AA892F55}" type="datetimeFigureOut">
              <a:rPr lang="en-CN" smtClean="0"/>
              <a:t>2025/12/10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078F3-C152-A44F-A3F6-3FBFC37C75C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93893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Compatibility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078F3-C152-A44F-A3F6-3FBFC37C75C8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55662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078F3-C152-A44F-A3F6-3FBFC37C75C8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94712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1AFC69-5C17-4270-9C23-663DFE75F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3699FCF-C83D-4C92-A946-78F4263F54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1231EE-503F-4E6F-AA4A-9BEF9B955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A4E7-0000-4A2B-B918-ABE935630511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026A16-9F84-4BA7-8A87-D2085D273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DF497F-18E6-4338-9497-C5DDEE166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3D40-DA94-467F-AEA9-C9F8E53BA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072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48C6C9-7D97-4973-BE77-28B4D6467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02699D-64D3-4B5A-BA12-2EB5AD8AE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75907D-6E57-4A31-99CE-5256142E8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A4E7-0000-4A2B-B918-ABE935630511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D4124D-8B75-425B-9342-4724CE71C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C1B508-90CF-4D1B-98BD-89C41AB1C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3D40-DA94-467F-AEA9-C9F8E53BA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477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ADEBAC-64A9-4C6D-ABC8-D9DD4D4F0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ABC9E4-570B-412E-BB3B-514ACCA98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A5CE50-E8DD-4C9F-8D83-A2356EE05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A4E7-0000-4A2B-B918-ABE935630511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8F974E-AB36-4686-82B0-969536F0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BEEFC3-5800-40EE-8BCD-49619A87A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3D40-DA94-467F-AEA9-C9F8E53BA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982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238432-0335-49D0-8F07-7A791D9A8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262A42-C947-4C52-93C4-472BAC165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0A2CDE-7970-48FC-AA7B-922C18195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1242C7-6580-4F77-97D1-1DFE09608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A4E7-0000-4A2B-B918-ABE935630511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EE2D8E-7807-4FCC-AC83-DDE76D03C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44CB33-11AF-4D2D-9832-ADFB1603E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3D40-DA94-467F-AEA9-C9F8E53BA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256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D2FD34-BCB1-4B2D-9C32-6EE245D61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39D969-64BD-465B-8E32-6C051BD7E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ED55F7-1215-4B4C-BCC7-C35316C224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3D76FD4-883C-4B5D-BA18-E532A87A7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7BB6C02-1A13-4600-8220-0DAD6B7CA6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87E834F-DB6B-456A-AFD3-B3566B20A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A4E7-0000-4A2B-B918-ABE935630511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3AA2773-DED2-48B2-84D5-339818044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C5B3E4A-15D7-422E-8499-7DF92DBA3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3D40-DA94-467F-AEA9-C9F8E53BA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996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05838C-41D8-41B4-B9AE-48ECDE1BA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79E3E9-494B-493D-88E7-1FFB73F33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A4E7-0000-4A2B-B918-ABE935630511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096309-1B2F-4710-8BB0-DA7F085E5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F9533F0-7F69-4DDE-AFD3-D7B4810B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3D40-DA94-467F-AEA9-C9F8E53BA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40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248747C-88DD-46D2-A95E-AB97AD1B3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A4E7-0000-4A2B-B918-ABE935630511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C686B9D-69D6-4575-9A1D-B9E4D244A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5A638D-B943-49FA-BDD0-8DA4DA94E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3D40-DA94-467F-AEA9-C9F8E53BA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108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ABDBD6-FAFF-45C8-817A-EB3322C03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C62499-2417-4B30-A694-D4D7D1AED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BAB758-EA21-44EE-915F-65D485177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03E5F1-4BD6-4A59-A097-98F53CE70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A4E7-0000-4A2B-B918-ABE935630511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EA4729-F6A8-443A-BB9F-C72D1BF9A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54B04D-2D0A-4941-82F9-AF4D5AD42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3D40-DA94-467F-AEA9-C9F8E53BA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077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4FC819-E24D-4F7F-8CE2-FBF3F22D0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D7A8991-0970-4D45-96B5-C0FEB61717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80FAD9-D90F-4CD1-B8CB-ADEEAA1DD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FDB2E8-5F75-428B-9EC5-0DFE4902C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A4E7-0000-4A2B-B918-ABE935630511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E88455-9041-478E-A4D2-C1AAFDC24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8266AD-D8C6-40C8-8984-574B31662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3D40-DA94-467F-AEA9-C9F8E53BA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337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7D38BD-B1EF-48F9-9023-CE27494B1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7EA535-184E-4A33-80BE-37DA30322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B3A80C-AA3A-4BEE-A74D-3BD4DA036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A4E7-0000-4A2B-B918-ABE935630511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5A0645-F586-4C72-BEAF-91E3CD909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60402B-8FAF-497B-A431-C9607D658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3D40-DA94-467F-AEA9-C9F8E53BA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91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A1A3B65-9D01-4D24-B72C-36F151670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8BAAC7-8216-4125-90B2-F59183C85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6BCFE4-6D07-4473-AB8C-BED5B728F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1A4E7-0000-4A2B-B918-ABE935630511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F401A1-6BAD-4A7C-A5C1-DC6D66970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CBCE39-DC56-4436-B1A8-8F3211D84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3D40-DA94-467F-AEA9-C9F8E53BA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779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308EEB-BF54-4EA3-B5A5-66ACD9B17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B2C39A-6F3A-4120-B6DE-E756C30E6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53956A-0F13-4D28-992E-0F41BF561D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1A4E7-0000-4A2B-B918-ABE935630511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094197-6214-42CB-8A6D-3A9973E14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6B0578-8CF1-4B4D-BE7C-228028F04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43D40-DA94-467F-AEA9-C9F8E53BA0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262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A97D599F-E853-4A9F-AE46-F8A774199E59}"/>
              </a:ext>
            </a:extLst>
          </p:cNvPr>
          <p:cNvSpPr/>
          <p:nvPr/>
        </p:nvSpPr>
        <p:spPr>
          <a:xfrm>
            <a:off x="6401945" y="562474"/>
            <a:ext cx="3420000" cy="410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7A94F51-4C72-4CD1-A644-E032E1A25982}"/>
              </a:ext>
            </a:extLst>
          </p:cNvPr>
          <p:cNvSpPr/>
          <p:nvPr/>
        </p:nvSpPr>
        <p:spPr>
          <a:xfrm>
            <a:off x="1997057" y="562474"/>
            <a:ext cx="3420000" cy="410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352DB67-3A2C-4DFF-BB8C-FF3595E12C9A}"/>
              </a:ext>
            </a:extLst>
          </p:cNvPr>
          <p:cNvSpPr txBox="1"/>
          <p:nvPr/>
        </p:nvSpPr>
        <p:spPr>
          <a:xfrm>
            <a:off x="2277103" y="708500"/>
            <a:ext cx="319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rebuchet MS" panose="020B0703020202090204" pitchFamily="34" charset="0"/>
              </a:rPr>
              <a:t>Static Oriented Reasoning</a:t>
            </a:r>
            <a:endParaRPr lang="zh-CN" altLang="en-US" b="1" dirty="0">
              <a:latin typeface="Trebuchet MS" panose="020B070302020209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9BD72B-E7FD-0AA3-4386-A7AC55898061}"/>
              </a:ext>
            </a:extLst>
          </p:cNvPr>
          <p:cNvSpPr txBox="1"/>
          <p:nvPr/>
        </p:nvSpPr>
        <p:spPr>
          <a:xfrm>
            <a:off x="770373" y="238516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rebuchet MS" panose="020B0703020202090204" pitchFamily="34" charset="0"/>
              </a:rPr>
              <a:t>API</a:t>
            </a:r>
            <a:r>
              <a:rPr lang="en-US" baseline="-25000" dirty="0" err="1">
                <a:latin typeface="Trebuchet MS" panose="020B0703020202090204" pitchFamily="34" charset="0"/>
              </a:rPr>
              <a:t>b</a:t>
            </a:r>
            <a:endParaRPr lang="en-CN" baseline="-25000" dirty="0">
              <a:latin typeface="Trebuchet MS" panose="020B070302020209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FCA205B-8E98-6E0E-6B93-0CAC0B6996F0}"/>
              </a:ext>
            </a:extLst>
          </p:cNvPr>
          <p:cNvSpPr txBox="1"/>
          <p:nvPr/>
        </p:nvSpPr>
        <p:spPr>
          <a:xfrm>
            <a:off x="772777" y="385428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rebuchet MS" panose="020B0703020202090204" pitchFamily="34" charset="0"/>
              </a:rPr>
              <a:t>API</a:t>
            </a:r>
            <a:r>
              <a:rPr lang="en-US" baseline="-25000" dirty="0" err="1">
                <a:latin typeface="Trebuchet MS" panose="020B0703020202090204" pitchFamily="34" charset="0"/>
              </a:rPr>
              <a:t>a</a:t>
            </a:r>
            <a:endParaRPr lang="en-CN" baseline="-25000" dirty="0">
              <a:latin typeface="Trebuchet MS" panose="020B0703020202090204" pitchFamily="34" charset="0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0BD79563-4515-FC5F-B158-06B9B8991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026" y="1387676"/>
            <a:ext cx="982935" cy="98293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65595BA-078F-084A-4DE6-91EA6506C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026" y="2842232"/>
            <a:ext cx="982935" cy="982935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1E7B98E0-BB67-ED0B-84D3-BD40F5D11CDB}"/>
              </a:ext>
            </a:extLst>
          </p:cNvPr>
          <p:cNvSpPr/>
          <p:nvPr/>
        </p:nvSpPr>
        <p:spPr>
          <a:xfrm>
            <a:off x="2286196" y="2233229"/>
            <a:ext cx="1980000" cy="57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dirty="0">
                <a:latin typeface="Trebuchet MS" panose="020B0703020202090204" pitchFamily="34" charset="0"/>
              </a:rPr>
              <a:t>Source-Sink Labeling 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CAB0127-4A03-5F71-B855-8A5F6BB1B3FA}"/>
              </a:ext>
            </a:extLst>
          </p:cNvPr>
          <p:cNvSpPr/>
          <p:nvPr/>
        </p:nvSpPr>
        <p:spPr>
          <a:xfrm>
            <a:off x="2286196" y="1368646"/>
            <a:ext cx="1980000" cy="57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dirty="0">
                <a:latin typeface="Trebuchet MS" panose="020B0703020202090204" pitchFamily="34" charset="0"/>
              </a:rPr>
              <a:t>Control Flow Graph Construction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8E7C6C3-1B44-3271-7690-BE7ADADB2CE6}"/>
              </a:ext>
            </a:extLst>
          </p:cNvPr>
          <p:cNvSpPr/>
          <p:nvPr/>
        </p:nvSpPr>
        <p:spPr>
          <a:xfrm>
            <a:off x="2287329" y="3937426"/>
            <a:ext cx="1980000" cy="57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dirty="0">
                <a:latin typeface="Trebuchet MS" panose="020B0703020202090204" pitchFamily="34" charset="0"/>
              </a:rPr>
              <a:t>Incompatibility Analysis</a:t>
            </a:r>
          </a:p>
        </p:txBody>
      </p:sp>
      <p:sp>
        <p:nvSpPr>
          <p:cNvPr id="79" name="文本框 30">
            <a:extLst>
              <a:ext uri="{FF2B5EF4-FFF2-40B4-BE49-F238E27FC236}">
                <a16:creationId xmlns:a16="http://schemas.microsoft.com/office/drawing/2014/main" id="{F758A1AD-CD57-465D-AF65-B714E397C517}"/>
              </a:ext>
            </a:extLst>
          </p:cNvPr>
          <p:cNvSpPr txBox="1"/>
          <p:nvPr/>
        </p:nvSpPr>
        <p:spPr>
          <a:xfrm>
            <a:off x="6408944" y="708500"/>
            <a:ext cx="356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rebuchet MS" panose="020B0703020202090204" pitchFamily="34" charset="0"/>
              </a:rPr>
              <a:t>Dynamic Simulated Reflection</a:t>
            </a:r>
            <a:endParaRPr lang="zh-CN" altLang="en-US" b="1" dirty="0">
              <a:latin typeface="Trebuchet MS" panose="020B0703020202090204" pitchFamily="34" charset="0"/>
            </a:endParaRPr>
          </a:p>
        </p:txBody>
      </p:sp>
      <p:sp>
        <p:nvSpPr>
          <p:cNvPr id="80" name="Right Arrow 79">
            <a:extLst>
              <a:ext uri="{FF2B5EF4-FFF2-40B4-BE49-F238E27FC236}">
                <a16:creationId xmlns:a16="http://schemas.microsoft.com/office/drawing/2014/main" id="{0A60A0A1-F2B5-A72C-235C-40813C87D59E}"/>
              </a:ext>
            </a:extLst>
          </p:cNvPr>
          <p:cNvSpPr/>
          <p:nvPr/>
        </p:nvSpPr>
        <p:spPr>
          <a:xfrm>
            <a:off x="1491492" y="2546555"/>
            <a:ext cx="342103" cy="511916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06227448-4CCC-3B21-3FE0-E0E9325DE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844" y="2700175"/>
            <a:ext cx="634088" cy="634088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1145BEF3-11E7-2903-E7DE-C4174AD55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844" y="3879338"/>
            <a:ext cx="608993" cy="608993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5DAE0655-831C-D5DC-C252-AB44F54DFD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844" y="1339428"/>
            <a:ext cx="634435" cy="634435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8C02FABA-AFE0-1239-58E8-F5086809B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6429" y="1951642"/>
            <a:ext cx="982935" cy="982935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0C7618AF-72BA-525D-752F-4847D658A9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6335" y="1979821"/>
            <a:ext cx="583119" cy="583119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4D06255C-3345-429B-81A1-7A73A9164B42}"/>
              </a:ext>
            </a:extLst>
          </p:cNvPr>
          <p:cNvSpPr txBox="1"/>
          <p:nvPr/>
        </p:nvSpPr>
        <p:spPr>
          <a:xfrm>
            <a:off x="9827900" y="2926621"/>
            <a:ext cx="2266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rebuchet MS" panose="020B0703020202090204" pitchFamily="34" charset="0"/>
              </a:rPr>
              <a:t>Identified Incompatibilities</a:t>
            </a:r>
            <a:endParaRPr lang="en-CN" baseline="-25000" dirty="0">
              <a:latin typeface="Trebuchet MS" panose="020B0703020202090204" pitchFamily="34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E053EBC-B6CE-CE03-B650-A608F27E516E}"/>
              </a:ext>
            </a:extLst>
          </p:cNvPr>
          <p:cNvSpPr/>
          <p:nvPr/>
        </p:nvSpPr>
        <p:spPr>
          <a:xfrm>
            <a:off x="2287329" y="3097812"/>
            <a:ext cx="1980000" cy="57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dirty="0">
                <a:latin typeface="Trebuchet MS" panose="020B0703020202090204" pitchFamily="34" charset="0"/>
              </a:rPr>
              <a:t>Graph Traversing</a:t>
            </a:r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D1E746EB-5CB1-DB0D-D934-1E7AE2F2986E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30538" y="1561861"/>
            <a:ext cx="823307" cy="823307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A6878319-CC03-0456-3DF5-C2B9F489AE58}"/>
              </a:ext>
            </a:extLst>
          </p:cNvPr>
          <p:cNvSpPr txBox="1"/>
          <p:nvPr/>
        </p:nvSpPr>
        <p:spPr>
          <a:xfrm>
            <a:off x="5668089" y="1814976"/>
            <a:ext cx="576000" cy="252000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CN" b="1" dirty="0">
                <a:latin typeface="Arial Rounded MT Bold" panose="020F0704030504030204" pitchFamily="34" charset="77"/>
              </a:rPr>
              <a:t>LLM</a:t>
            </a:r>
          </a:p>
        </p:txBody>
      </p:sp>
      <p:sp>
        <p:nvSpPr>
          <p:cNvPr id="110" name="Right Arrow 109">
            <a:extLst>
              <a:ext uri="{FF2B5EF4-FFF2-40B4-BE49-F238E27FC236}">
                <a16:creationId xmlns:a16="http://schemas.microsoft.com/office/drawing/2014/main" id="{96D317D5-E4AA-04C1-5B3C-EF1DB5644496}"/>
              </a:ext>
            </a:extLst>
          </p:cNvPr>
          <p:cNvSpPr/>
          <p:nvPr/>
        </p:nvSpPr>
        <p:spPr>
          <a:xfrm>
            <a:off x="9912755" y="2505714"/>
            <a:ext cx="342103" cy="511916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C4E794E4-ACFC-6AEA-6E65-8080795B3B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3130" y="1312581"/>
            <a:ext cx="611660" cy="611660"/>
          </a:xfrm>
          <a:prstGeom prst="rect">
            <a:avLst/>
          </a:prstGeom>
        </p:spPr>
      </p:pic>
      <p:sp>
        <p:nvSpPr>
          <p:cNvPr id="112" name="Rectangle 111">
            <a:extLst>
              <a:ext uri="{FF2B5EF4-FFF2-40B4-BE49-F238E27FC236}">
                <a16:creationId xmlns:a16="http://schemas.microsoft.com/office/drawing/2014/main" id="{91D39842-1216-AF3A-5124-AD3E6DF9BF1F}"/>
              </a:ext>
            </a:extLst>
          </p:cNvPr>
          <p:cNvSpPr/>
          <p:nvPr/>
        </p:nvSpPr>
        <p:spPr>
          <a:xfrm>
            <a:off x="7653589" y="1368646"/>
            <a:ext cx="1905006" cy="57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rebuchet MS" panose="020B0703020202090204" pitchFamily="34" charset="0"/>
                <a:cs typeface="Arial" panose="020B0604020202020204" pitchFamily="34" charset="0"/>
              </a:rPr>
              <a:t>Test Case Generator</a:t>
            </a:r>
            <a:endParaRPr lang="zh-CN" altLang="en-US" sz="1400" dirty="0">
              <a:solidFill>
                <a:schemeClr val="tx1"/>
              </a:solidFill>
              <a:latin typeface="Trebuchet MS" panose="020B070302020209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DF5097A0-6680-1C8C-4F03-C260DA5FEEA3}"/>
              </a:ext>
            </a:extLst>
          </p:cNvPr>
          <p:cNvSpPr/>
          <p:nvPr/>
        </p:nvSpPr>
        <p:spPr>
          <a:xfrm>
            <a:off x="7653589" y="2653036"/>
            <a:ext cx="1905006" cy="57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rebuchet MS" panose="020B0703020202090204" pitchFamily="34" charset="0"/>
                <a:cs typeface="Arial" panose="020B0604020202020204" pitchFamily="34" charset="0"/>
              </a:rPr>
              <a:t>Step-by-Step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rebuchet MS" panose="020B0703020202090204" pitchFamily="34" charset="0"/>
                <a:cs typeface="Arial" panose="020B0604020202020204" pitchFamily="34" charset="0"/>
              </a:rPr>
              <a:t>Simulator</a:t>
            </a:r>
            <a:endParaRPr lang="zh-CN" altLang="en-US" sz="1400" dirty="0">
              <a:solidFill>
                <a:schemeClr val="tx1"/>
              </a:solidFill>
              <a:latin typeface="Trebuchet MS" panose="020B070302020209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CC90CA70-E21D-C282-B516-45B289E68012}"/>
              </a:ext>
            </a:extLst>
          </p:cNvPr>
          <p:cNvSpPr/>
          <p:nvPr/>
        </p:nvSpPr>
        <p:spPr>
          <a:xfrm>
            <a:off x="7653589" y="3937426"/>
            <a:ext cx="1905006" cy="57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rebuchet MS" panose="020B0703020202090204" pitchFamily="34" charset="0"/>
                <a:cs typeface="Arial" panose="020B0604020202020204" pitchFamily="34" charset="0"/>
              </a:rPr>
              <a:t>Simulated Result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rebuchet MS" panose="020B0703020202090204" pitchFamily="34" charset="0"/>
                <a:cs typeface="Arial" panose="020B0604020202020204" pitchFamily="34" charset="0"/>
              </a:rPr>
              <a:t>Analyzer</a:t>
            </a:r>
            <a:endParaRPr lang="zh-CN" altLang="en-US" sz="1400" dirty="0">
              <a:solidFill>
                <a:schemeClr val="tx1"/>
              </a:solidFill>
              <a:latin typeface="Trebuchet MS" panose="020B0703020202090204" pitchFamily="34" charset="0"/>
              <a:cs typeface="Arial" panose="020B0604020202020204" pitchFamily="34" charset="0"/>
            </a:endParaRP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F3B5E59-5F89-13F4-D4B9-15078C8CAF08}"/>
              </a:ext>
            </a:extLst>
          </p:cNvPr>
          <p:cNvCxnSpPr>
            <a:cxnSpLocks/>
            <a:stCxn id="59" idx="2"/>
            <a:endCxn id="58" idx="0"/>
          </p:cNvCxnSpPr>
          <p:nvPr/>
        </p:nvCxnSpPr>
        <p:spPr>
          <a:xfrm>
            <a:off x="3276196" y="1944646"/>
            <a:ext cx="0" cy="28858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81CBDC16-EFA6-180B-3425-D44F24BB8045}"/>
              </a:ext>
            </a:extLst>
          </p:cNvPr>
          <p:cNvCxnSpPr>
            <a:cxnSpLocks/>
            <a:stCxn id="58" idx="2"/>
            <a:endCxn id="103" idx="0"/>
          </p:cNvCxnSpPr>
          <p:nvPr/>
        </p:nvCxnSpPr>
        <p:spPr>
          <a:xfrm>
            <a:off x="3276196" y="2809229"/>
            <a:ext cx="1133" cy="28858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04776EBD-4CE8-7DCF-7D36-F87E58FE2A8D}"/>
              </a:ext>
            </a:extLst>
          </p:cNvPr>
          <p:cNvCxnSpPr>
            <a:cxnSpLocks/>
            <a:stCxn id="103" idx="2"/>
            <a:endCxn id="60" idx="0"/>
          </p:cNvCxnSpPr>
          <p:nvPr/>
        </p:nvCxnSpPr>
        <p:spPr>
          <a:xfrm>
            <a:off x="3277329" y="3673812"/>
            <a:ext cx="0" cy="26361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57938524-4248-56A3-90D2-9FA014BB5889}"/>
              </a:ext>
            </a:extLst>
          </p:cNvPr>
          <p:cNvCxnSpPr>
            <a:cxnSpLocks/>
            <a:stCxn id="112" idx="2"/>
            <a:endCxn id="113" idx="0"/>
          </p:cNvCxnSpPr>
          <p:nvPr/>
        </p:nvCxnSpPr>
        <p:spPr>
          <a:xfrm>
            <a:off x="8606092" y="1944646"/>
            <a:ext cx="0" cy="70839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21245212-ED58-BE2E-3F0B-F333C97C1B04}"/>
              </a:ext>
            </a:extLst>
          </p:cNvPr>
          <p:cNvCxnSpPr>
            <a:cxnSpLocks/>
            <a:stCxn id="113" idx="2"/>
            <a:endCxn id="114" idx="0"/>
          </p:cNvCxnSpPr>
          <p:nvPr/>
        </p:nvCxnSpPr>
        <p:spPr>
          <a:xfrm>
            <a:off x="8606092" y="3229036"/>
            <a:ext cx="0" cy="708390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7" name="Picture 136">
            <a:extLst>
              <a:ext uri="{FF2B5EF4-FFF2-40B4-BE49-F238E27FC236}">
                <a16:creationId xmlns:a16="http://schemas.microsoft.com/office/drawing/2014/main" id="{031AB534-DC78-8182-4373-D7456200BE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3130" y="2175073"/>
            <a:ext cx="661282" cy="661282"/>
          </a:xfrm>
          <a:prstGeom prst="rect">
            <a:avLst/>
          </a:prstGeom>
        </p:spPr>
      </p:pic>
      <p:sp>
        <p:nvSpPr>
          <p:cNvPr id="138" name="Rectangle 137">
            <a:extLst>
              <a:ext uri="{FF2B5EF4-FFF2-40B4-BE49-F238E27FC236}">
                <a16:creationId xmlns:a16="http://schemas.microsoft.com/office/drawing/2014/main" id="{C695B0B2-2968-8171-75E4-6E802C023E59}"/>
              </a:ext>
            </a:extLst>
          </p:cNvPr>
          <p:cNvSpPr/>
          <p:nvPr/>
        </p:nvSpPr>
        <p:spPr>
          <a:xfrm>
            <a:off x="4822016" y="2186049"/>
            <a:ext cx="166141" cy="98258"/>
          </a:xfrm>
          <a:prstGeom prst="rect">
            <a:avLst/>
          </a:prstGeom>
          <a:solidFill>
            <a:srgbClr val="60C4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F92BFB1-7516-8B56-408B-2AA42280971A}"/>
              </a:ext>
            </a:extLst>
          </p:cNvPr>
          <p:cNvSpPr/>
          <p:nvPr/>
        </p:nvSpPr>
        <p:spPr>
          <a:xfrm>
            <a:off x="4820700" y="2724133"/>
            <a:ext cx="166141" cy="98258"/>
          </a:xfrm>
          <a:prstGeom prst="rect">
            <a:avLst/>
          </a:prstGeom>
          <a:solidFill>
            <a:srgbClr val="FFA0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1B86995-CF18-D45B-0521-60DD89E518D1}"/>
              </a:ext>
            </a:extLst>
          </p:cNvPr>
          <p:cNvSpPr/>
          <p:nvPr/>
        </p:nvSpPr>
        <p:spPr>
          <a:xfrm>
            <a:off x="4826924" y="2487265"/>
            <a:ext cx="166141" cy="98258"/>
          </a:xfrm>
          <a:prstGeom prst="rect">
            <a:avLst/>
          </a:prstGeom>
          <a:solidFill>
            <a:srgbClr val="FFA0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C8F4B4B3-B030-D39E-70ED-1400BD22A7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5695" y="3061738"/>
            <a:ext cx="661282" cy="661282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85505D60-BE7B-A676-B992-89A59D5F60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8967" y="3897511"/>
            <a:ext cx="576001" cy="576001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8B52D511-D8DE-459D-73C5-EE7E372034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44435" y="2638283"/>
            <a:ext cx="823307" cy="82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501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CAD1C7E5-F4E9-4BC4-91CD-89BCD5F76F39}"/>
              </a:ext>
            </a:extLst>
          </p:cNvPr>
          <p:cNvSpPr txBox="1"/>
          <p:nvPr/>
        </p:nvSpPr>
        <p:spPr>
          <a:xfrm>
            <a:off x="718914" y="2325771"/>
            <a:ext cx="6086964" cy="214397"/>
          </a:xfrm>
          <a:prstGeom prst="rect">
            <a:avLst/>
          </a:prstGeom>
          <a:solidFill>
            <a:srgbClr val="FFCCCC"/>
          </a:solidFill>
        </p:spPr>
        <p:txBody>
          <a:bodyPr wrap="none" anchor="ctr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400" b="0" i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3F5F44-852A-48D9-A1D2-9A3E844B38E9}"/>
              </a:ext>
            </a:extLst>
          </p:cNvPr>
          <p:cNvSpPr txBox="1"/>
          <p:nvPr/>
        </p:nvSpPr>
        <p:spPr>
          <a:xfrm>
            <a:off x="718104" y="1907655"/>
            <a:ext cx="6086964" cy="216000"/>
          </a:xfrm>
          <a:prstGeom prst="rect">
            <a:avLst/>
          </a:prstGeom>
          <a:solidFill>
            <a:srgbClr val="EBF1DD"/>
          </a:solidFill>
        </p:spPr>
        <p:txBody>
          <a:bodyPr wrap="square">
            <a:sp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400" b="0" i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08FC6E6-3290-4F4F-B402-323CAA6F87D1}"/>
              </a:ext>
            </a:extLst>
          </p:cNvPr>
          <p:cNvSpPr txBox="1"/>
          <p:nvPr/>
        </p:nvSpPr>
        <p:spPr>
          <a:xfrm>
            <a:off x="708050" y="1674706"/>
            <a:ext cx="6086964" cy="216000"/>
          </a:xfrm>
          <a:prstGeom prst="rect">
            <a:avLst/>
          </a:prstGeom>
          <a:solidFill>
            <a:srgbClr val="FFCCCC"/>
          </a:solidFill>
        </p:spPr>
        <p:txBody>
          <a:bodyPr wrap="square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400" b="0" i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C2A0947-CE02-429D-B0D7-4D0FBD112E4F}"/>
              </a:ext>
            </a:extLst>
          </p:cNvPr>
          <p:cNvSpPr txBox="1"/>
          <p:nvPr/>
        </p:nvSpPr>
        <p:spPr>
          <a:xfrm>
            <a:off x="718098" y="2938796"/>
            <a:ext cx="6086964" cy="648000"/>
          </a:xfrm>
          <a:prstGeom prst="rect">
            <a:avLst/>
          </a:prstGeom>
          <a:solidFill>
            <a:srgbClr val="FFCCCC"/>
          </a:solidFill>
        </p:spPr>
        <p:txBody>
          <a:bodyPr wrap="none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400" b="0" i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E2F20C6-E145-4FBB-A523-D3469EDC0CBB}"/>
              </a:ext>
            </a:extLst>
          </p:cNvPr>
          <p:cNvSpPr txBox="1"/>
          <p:nvPr/>
        </p:nvSpPr>
        <p:spPr>
          <a:xfrm>
            <a:off x="705219" y="4672201"/>
            <a:ext cx="6086964" cy="216000"/>
          </a:xfrm>
          <a:prstGeom prst="rect">
            <a:avLst/>
          </a:prstGeom>
          <a:solidFill>
            <a:srgbClr val="FFCCCC"/>
          </a:solidFill>
        </p:spPr>
        <p:txBody>
          <a:bodyPr wrap="none">
            <a:noAutofit/>
          </a:bodyPr>
          <a:lstStyle/>
          <a:p>
            <a:pPr marL="0" marR="0" lvl="0" indent="0" algn="l" defTabSz="3600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9F0A67A-830A-41D3-9F6C-AB59C13A0F83}"/>
              </a:ext>
            </a:extLst>
          </p:cNvPr>
          <p:cNvSpPr txBox="1"/>
          <p:nvPr/>
        </p:nvSpPr>
        <p:spPr>
          <a:xfrm>
            <a:off x="718089" y="4888201"/>
            <a:ext cx="6086965" cy="216000"/>
          </a:xfrm>
          <a:prstGeom prst="rect">
            <a:avLst/>
          </a:prstGeom>
          <a:solidFill>
            <a:srgbClr val="EBF1DD"/>
          </a:solidFill>
        </p:spPr>
        <p:txBody>
          <a:bodyPr wrap="none">
            <a:noAutofit/>
          </a:bodyPr>
          <a:lstStyle/>
          <a:p>
            <a:pPr marL="0" marR="0" lvl="0" indent="0" algn="l" defTabSz="3600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7D5D352C-20FE-4AD1-A4E0-FD2B1AF2AD4D}"/>
              </a:ext>
            </a:extLst>
          </p:cNvPr>
          <p:cNvSpPr txBox="1"/>
          <p:nvPr/>
        </p:nvSpPr>
        <p:spPr>
          <a:xfrm>
            <a:off x="731689" y="3602762"/>
            <a:ext cx="6086964" cy="648000"/>
          </a:xfrm>
          <a:prstGeom prst="rect">
            <a:avLst/>
          </a:prstGeom>
          <a:solidFill>
            <a:srgbClr val="EBF1DD"/>
          </a:solidFill>
        </p:spPr>
        <p:txBody>
          <a:bodyPr wrap="none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400" b="0" i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文本框 60">
            <a:extLst>
              <a:ext uri="{FF2B5EF4-FFF2-40B4-BE49-F238E27FC236}">
                <a16:creationId xmlns:a16="http://schemas.microsoft.com/office/drawing/2014/main" id="{71177549-5C4A-9C40-B0B9-B15ADB70481C}"/>
              </a:ext>
            </a:extLst>
          </p:cNvPr>
          <p:cNvSpPr txBox="1"/>
          <p:nvPr/>
        </p:nvSpPr>
        <p:spPr>
          <a:xfrm>
            <a:off x="708048" y="1635064"/>
            <a:ext cx="373314" cy="376676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1 -	   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2 +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4 -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7 -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8 -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9 -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10+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11+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12+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13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14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15-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16+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17</a:t>
            </a:r>
          </a:p>
        </p:txBody>
      </p:sp>
      <p:sp>
        <p:nvSpPr>
          <p:cNvPr id="3" name="文本框 60">
            <a:extLst>
              <a:ext uri="{FF2B5EF4-FFF2-40B4-BE49-F238E27FC236}">
                <a16:creationId xmlns:a16="http://schemas.microsoft.com/office/drawing/2014/main" id="{2D34E9BC-9A6E-89DC-57BB-C1DF6C9C3422}"/>
              </a:ext>
            </a:extLst>
          </p:cNvPr>
          <p:cNvSpPr txBox="1"/>
          <p:nvPr/>
        </p:nvSpPr>
        <p:spPr>
          <a:xfrm>
            <a:off x="1061484" y="1637391"/>
            <a:ext cx="5743577" cy="37667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720000"/>
            <a:r>
              <a:rPr lang="en-US" altLang="zh-CN" sz="14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amount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n_size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b="0" i="0" dirty="0">
                <a:solidFill>
                  <a:srgbClr val="8C817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flag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**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kwargs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): </a:t>
            </a:r>
          </a:p>
          <a:p>
            <a:pPr defTabSz="720000"/>
            <a:r>
              <a:rPr lang="en-US" altLang="zh-CN" sz="14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n_dim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is_good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**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kwargs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): </a:t>
            </a:r>
          </a:p>
          <a:p>
            <a:pPr defTabSz="720000"/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global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GLOBALX</a:t>
            </a:r>
          </a:p>
          <a:p>
            <a:pPr defTabSz="720000"/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self.amount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amount 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flag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GLOBALX =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n_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720000"/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new_var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 *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n_size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720000"/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kwargs.get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'key</a:t>
            </a:r>
            <a:r>
              <a:rPr lang="en-US" altLang="zh-CN" sz="14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GLOBALX = </a:t>
            </a:r>
            <a:r>
              <a:rPr lang="pt-BR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n_dim</a:t>
            </a:r>
            <a:r>
              <a:rPr lang="pt-BR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if</a:t>
            </a:r>
            <a:r>
              <a:rPr lang="pt-BR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n_dim</a:t>
            </a:r>
            <a:r>
              <a:rPr lang="pt-BR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</a:t>
            </a:r>
            <a:r>
              <a:rPr lang="pt-BR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else</a:t>
            </a:r>
            <a:r>
              <a:rPr lang="pt-BR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None</a:t>
            </a:r>
            <a:r>
              <a:rPr lang="pt-BR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ea typeface="等线" panose="02010600030101010101" pitchFamily="2" charset="-122"/>
              <a:cs typeface="Consolas" panose="020B0609020204030204" pitchFamily="49" charset="0"/>
            </a:endParaRPr>
          </a:p>
          <a:p>
            <a:pPr defTabSz="720000"/>
            <a:r>
              <a:rPr lang="en-US" altLang="zh-CN" sz="14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new_var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 *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n_dim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720000"/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kwargs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.get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key_for_check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and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.type_bad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</a:p>
          <a:p>
            <a:pPr defTabSz="720000"/>
            <a:r>
              <a:rPr kumimoji="0" lang="en-US" altLang="zh-CN" sz="1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  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raise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TypeError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'message’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if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len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new_var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 ==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: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  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raise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ValueError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msg1'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  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raise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LENError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‘msg2’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return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new_var</a:t>
            </a:r>
            <a:endParaRPr lang="en-US" altLang="zh-CN" sz="1400" b="0" i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6CAEF1-957B-58D9-13C6-CAAD20D440FF}"/>
              </a:ext>
            </a:extLst>
          </p:cNvPr>
          <p:cNvSpPr/>
          <p:nvPr/>
        </p:nvSpPr>
        <p:spPr>
          <a:xfrm>
            <a:off x="708048" y="1674705"/>
            <a:ext cx="6097013" cy="3695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AD23FC2-0E99-420E-B3F0-81BA7A5AD441}"/>
              </a:ext>
            </a:extLst>
          </p:cNvPr>
          <p:cNvSpPr/>
          <p:nvPr/>
        </p:nvSpPr>
        <p:spPr>
          <a:xfrm>
            <a:off x="2519261" y="1674706"/>
            <a:ext cx="576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9FE0670-69E4-47DD-97B1-207229DC7E64}"/>
              </a:ext>
            </a:extLst>
          </p:cNvPr>
          <p:cNvSpPr/>
          <p:nvPr/>
        </p:nvSpPr>
        <p:spPr>
          <a:xfrm>
            <a:off x="3488061" y="1685090"/>
            <a:ext cx="432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DEFBBBF-2474-4DEB-9009-53A5B1FC641F}"/>
              </a:ext>
            </a:extLst>
          </p:cNvPr>
          <p:cNvSpPr/>
          <p:nvPr/>
        </p:nvSpPr>
        <p:spPr>
          <a:xfrm>
            <a:off x="5446594" y="1677408"/>
            <a:ext cx="468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ECA2AE-2CD0-49DC-8DD6-AA7848E579F7}"/>
              </a:ext>
            </a:extLst>
          </p:cNvPr>
          <p:cNvSpPr/>
          <p:nvPr/>
        </p:nvSpPr>
        <p:spPr>
          <a:xfrm>
            <a:off x="2695749" y="1901772"/>
            <a:ext cx="324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E210D9-B60C-4B80-939A-03D4EBDECED9}"/>
              </a:ext>
            </a:extLst>
          </p:cNvPr>
          <p:cNvSpPr/>
          <p:nvPr/>
        </p:nvSpPr>
        <p:spPr>
          <a:xfrm>
            <a:off x="4557608" y="1890706"/>
            <a:ext cx="540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7A8B6CF-5DD4-450B-A2B8-4F4267E37EC8}"/>
              </a:ext>
            </a:extLst>
          </p:cNvPr>
          <p:cNvSpPr/>
          <p:nvPr/>
        </p:nvSpPr>
        <p:spPr>
          <a:xfrm>
            <a:off x="3306516" y="3165181"/>
            <a:ext cx="432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F29C126-103C-4602-9466-FD2828F07BDB}"/>
              </a:ext>
            </a:extLst>
          </p:cNvPr>
          <p:cNvSpPr/>
          <p:nvPr/>
        </p:nvSpPr>
        <p:spPr>
          <a:xfrm>
            <a:off x="2709422" y="2935877"/>
            <a:ext cx="432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E016B36-1C75-4B2E-8ED5-A5768E166053}"/>
              </a:ext>
            </a:extLst>
          </p:cNvPr>
          <p:cNvSpPr/>
          <p:nvPr/>
        </p:nvSpPr>
        <p:spPr>
          <a:xfrm>
            <a:off x="2967768" y="4018620"/>
            <a:ext cx="1368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17ABDFB-03B3-468C-BA40-214515C172DD}"/>
              </a:ext>
            </a:extLst>
          </p:cNvPr>
          <p:cNvSpPr/>
          <p:nvPr/>
        </p:nvSpPr>
        <p:spPr>
          <a:xfrm>
            <a:off x="2713342" y="3608539"/>
            <a:ext cx="360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71EE7DD-5395-44AE-958E-41703F9438A7}"/>
              </a:ext>
            </a:extLst>
          </p:cNvPr>
          <p:cNvSpPr/>
          <p:nvPr/>
        </p:nvSpPr>
        <p:spPr>
          <a:xfrm>
            <a:off x="2507229" y="4899015"/>
            <a:ext cx="828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0465493-2F74-4BD6-897B-007885F9B5FB}"/>
              </a:ext>
            </a:extLst>
          </p:cNvPr>
          <p:cNvSpPr/>
          <p:nvPr/>
        </p:nvSpPr>
        <p:spPr>
          <a:xfrm>
            <a:off x="2513806" y="4656059"/>
            <a:ext cx="1008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矩形 56">
            <a:extLst>
              <a:ext uri="{FF2B5EF4-FFF2-40B4-BE49-F238E27FC236}">
                <a16:creationId xmlns:a16="http://schemas.microsoft.com/office/drawing/2014/main" id="{FC38D87B-4C54-6E36-0BAB-8B69A4503BD9}"/>
              </a:ext>
            </a:extLst>
          </p:cNvPr>
          <p:cNvSpPr/>
          <p:nvPr/>
        </p:nvSpPr>
        <p:spPr>
          <a:xfrm>
            <a:off x="3599669" y="3616561"/>
            <a:ext cx="360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矩形 56">
            <a:extLst>
              <a:ext uri="{FF2B5EF4-FFF2-40B4-BE49-F238E27FC236}">
                <a16:creationId xmlns:a16="http://schemas.microsoft.com/office/drawing/2014/main" id="{E33459E9-7C99-B4F0-5358-53B1795707E8}"/>
              </a:ext>
            </a:extLst>
          </p:cNvPr>
          <p:cNvSpPr/>
          <p:nvPr/>
        </p:nvSpPr>
        <p:spPr>
          <a:xfrm>
            <a:off x="3282833" y="3805057"/>
            <a:ext cx="360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矩形 51">
            <a:extLst>
              <a:ext uri="{FF2B5EF4-FFF2-40B4-BE49-F238E27FC236}">
                <a16:creationId xmlns:a16="http://schemas.microsoft.com/office/drawing/2014/main" id="{B5041CA0-552C-509F-A7C3-2134AD463FCA}"/>
              </a:ext>
            </a:extLst>
          </p:cNvPr>
          <p:cNvSpPr/>
          <p:nvPr/>
        </p:nvSpPr>
        <p:spPr>
          <a:xfrm>
            <a:off x="3013744" y="3377739"/>
            <a:ext cx="324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文本框 37">
            <a:extLst>
              <a:ext uri="{FF2B5EF4-FFF2-40B4-BE49-F238E27FC236}">
                <a16:creationId xmlns:a16="http://schemas.microsoft.com/office/drawing/2014/main" id="{D98B9D30-6E85-DB91-4FDE-B84D46DE14B9}"/>
              </a:ext>
            </a:extLst>
          </p:cNvPr>
          <p:cNvSpPr txBox="1"/>
          <p:nvPr/>
        </p:nvSpPr>
        <p:spPr>
          <a:xfrm>
            <a:off x="7078296" y="876984"/>
            <a:ext cx="33768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i="0" dirty="0">
                <a:effectLst/>
                <a:latin typeface="Inter"/>
              </a:rPr>
              <a:t>CI1: </a:t>
            </a:r>
            <a:r>
              <a:rPr lang="en-US" altLang="zh-CN" sz="1100" dirty="0" err="1">
                <a:latin typeface="Inter"/>
              </a:rPr>
              <a:t>API</a:t>
            </a:r>
            <a:r>
              <a:rPr lang="en-US" altLang="zh-CN" sz="1100" baseline="-25000" dirty="0" err="1">
                <a:latin typeface="Inter"/>
              </a:rPr>
              <a:t>before</a:t>
            </a:r>
            <a:r>
              <a:rPr lang="en-US" altLang="zh-CN" sz="1100" b="0" i="0" dirty="0">
                <a:effectLst/>
                <a:latin typeface="Inter"/>
              </a:rPr>
              <a:t> removes required parameter ‘amount’. Using old arguments like ‘amount=1’ triggers “unexpected keyword argument” errors</a:t>
            </a:r>
            <a:r>
              <a:rPr lang="en-US" altLang="zh-CN" sz="1100" dirty="0">
                <a:latin typeface="Inter"/>
              </a:rPr>
              <a:t>.</a:t>
            </a:r>
            <a:endParaRPr lang="zh-CN" altLang="en-US" sz="1100" dirty="0"/>
          </a:p>
        </p:txBody>
      </p:sp>
      <p:sp>
        <p:nvSpPr>
          <p:cNvPr id="11" name="文本框 52">
            <a:extLst>
              <a:ext uri="{FF2B5EF4-FFF2-40B4-BE49-F238E27FC236}">
                <a16:creationId xmlns:a16="http://schemas.microsoft.com/office/drawing/2014/main" id="{5F2E2DC4-892F-B8FD-7341-EFA35B680679}"/>
              </a:ext>
            </a:extLst>
          </p:cNvPr>
          <p:cNvSpPr txBox="1"/>
          <p:nvPr/>
        </p:nvSpPr>
        <p:spPr>
          <a:xfrm>
            <a:off x="7050817" y="3657659"/>
            <a:ext cx="3384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i="0" dirty="0">
                <a:effectLst/>
                <a:latin typeface="Inter"/>
              </a:rPr>
              <a:t>CI2: </a:t>
            </a:r>
            <a:r>
              <a:rPr lang="en-US" altLang="zh-CN" sz="1100" dirty="0" err="1">
                <a:latin typeface="Inter"/>
              </a:rPr>
              <a:t>API</a:t>
            </a:r>
            <a:r>
              <a:rPr lang="en-US" altLang="zh-CN" sz="1100" baseline="-25000" dirty="0" err="1">
                <a:latin typeface="Inter"/>
              </a:rPr>
              <a:t>after</a:t>
            </a:r>
            <a:r>
              <a:rPr lang="en-US" altLang="zh-CN" sz="1100" b="0" i="0" dirty="0">
                <a:effectLst/>
                <a:latin typeface="Inter"/>
              </a:rPr>
              <a:t> changes the </a:t>
            </a:r>
            <a:r>
              <a:rPr lang="en-US" altLang="zh-CN" sz="1100" b="0" i="0" dirty="0" err="1">
                <a:effectLst/>
                <a:latin typeface="Inter"/>
              </a:rPr>
              <a:t>TypeError</a:t>
            </a:r>
            <a:r>
              <a:rPr lang="en-US" altLang="zh-CN" sz="1100" b="0" i="0" dirty="0">
                <a:effectLst/>
                <a:latin typeface="Inter"/>
              </a:rPr>
              <a:t> trigger key from 'key' to '</a:t>
            </a:r>
            <a:r>
              <a:rPr lang="en-US" altLang="zh-CN" sz="1100" b="0" i="0" dirty="0" err="1">
                <a:effectLst/>
                <a:latin typeface="Inter"/>
              </a:rPr>
              <a:t>key_for_check</a:t>
            </a:r>
            <a:r>
              <a:rPr lang="en-US" altLang="zh-CN" sz="1100" b="0" i="0" dirty="0">
                <a:effectLst/>
                <a:latin typeface="Inter"/>
              </a:rPr>
              <a:t>’. Only passing 'key=test’ may raise a </a:t>
            </a:r>
            <a:r>
              <a:rPr lang="en-US" altLang="zh-CN" sz="1100" b="0" i="0" dirty="0" err="1">
                <a:effectLst/>
                <a:latin typeface="Inter"/>
              </a:rPr>
              <a:t>KeyError</a:t>
            </a:r>
            <a:r>
              <a:rPr lang="en-US" altLang="zh-CN" sz="1100" b="0" i="0" dirty="0">
                <a:effectLst/>
                <a:latin typeface="Inter"/>
              </a:rPr>
              <a:t> in new API.</a:t>
            </a:r>
            <a:endParaRPr lang="zh-CN" altLang="en-US" sz="1100" dirty="0"/>
          </a:p>
        </p:txBody>
      </p:sp>
      <p:cxnSp>
        <p:nvCxnSpPr>
          <p:cNvPr id="12" name="直接箭头连接符 75">
            <a:extLst>
              <a:ext uri="{FF2B5EF4-FFF2-40B4-BE49-F238E27FC236}">
                <a16:creationId xmlns:a16="http://schemas.microsoft.com/office/drawing/2014/main" id="{DD7ED2C2-FBB2-A74F-0708-17CECB9A6E93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721428" y="3949524"/>
            <a:ext cx="3329389" cy="8217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77">
            <a:extLst>
              <a:ext uri="{FF2B5EF4-FFF2-40B4-BE49-F238E27FC236}">
                <a16:creationId xmlns:a16="http://schemas.microsoft.com/office/drawing/2014/main" id="{B81FD181-416B-2E11-E04D-BA525BC67DED}"/>
              </a:ext>
            </a:extLst>
          </p:cNvPr>
          <p:cNvCxnSpPr>
            <a:cxnSpLocks/>
            <a:stCxn id="56" idx="3"/>
            <a:endCxn id="11" idx="1"/>
          </p:cNvCxnSpPr>
          <p:nvPr/>
        </p:nvCxnSpPr>
        <p:spPr>
          <a:xfrm flipV="1">
            <a:off x="4335768" y="3957741"/>
            <a:ext cx="2715049" cy="168879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本框 54">
            <a:extLst>
              <a:ext uri="{FF2B5EF4-FFF2-40B4-BE49-F238E27FC236}">
                <a16:creationId xmlns:a16="http://schemas.microsoft.com/office/drawing/2014/main" id="{CCCF99B5-7263-A0DE-91BE-FDF3254980B8}"/>
              </a:ext>
            </a:extLst>
          </p:cNvPr>
          <p:cNvSpPr txBox="1"/>
          <p:nvPr/>
        </p:nvSpPr>
        <p:spPr>
          <a:xfrm>
            <a:off x="7050817" y="1534656"/>
            <a:ext cx="3384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i="0" dirty="0">
                <a:effectLst/>
                <a:latin typeface="Inter"/>
              </a:rPr>
              <a:t>CI3: </a:t>
            </a:r>
            <a:r>
              <a:rPr lang="en-US" altLang="zh-CN" sz="1100" dirty="0" err="1">
                <a:latin typeface="Inter"/>
              </a:rPr>
              <a:t>API</a:t>
            </a:r>
            <a:r>
              <a:rPr lang="en-US" altLang="zh-CN" sz="1100" baseline="-25000" dirty="0" err="1">
                <a:latin typeface="Inter"/>
              </a:rPr>
              <a:t>after</a:t>
            </a:r>
            <a:r>
              <a:rPr lang="en-US" altLang="zh-CN" sz="1100" baseline="-25000" dirty="0">
                <a:latin typeface="Inter"/>
              </a:rPr>
              <a:t> </a:t>
            </a:r>
            <a:r>
              <a:rPr lang="en-US" altLang="zh-CN" sz="1100" b="0" i="0" dirty="0">
                <a:effectLst/>
                <a:latin typeface="Inter"/>
              </a:rPr>
              <a:t> renames '</a:t>
            </a:r>
            <a:r>
              <a:rPr lang="en-US" altLang="zh-CN" sz="1100" b="0" i="0" dirty="0" err="1">
                <a:effectLst/>
                <a:latin typeface="Inter"/>
              </a:rPr>
              <a:t>n_size</a:t>
            </a:r>
            <a:r>
              <a:rPr lang="en-US" altLang="zh-CN" sz="1100" b="0" i="0" dirty="0">
                <a:effectLst/>
                <a:latin typeface="Inter"/>
              </a:rPr>
              <a:t>' to '</a:t>
            </a:r>
            <a:r>
              <a:rPr lang="en-US" altLang="zh-CN" sz="1100" b="0" i="0" dirty="0" err="1">
                <a:effectLst/>
                <a:latin typeface="Inter"/>
              </a:rPr>
              <a:t>n_dim</a:t>
            </a:r>
            <a:r>
              <a:rPr lang="en-US" altLang="zh-CN" sz="1100" b="0" i="0" dirty="0">
                <a:effectLst/>
                <a:latin typeface="Inter"/>
              </a:rPr>
              <a:t>'. Using '</a:t>
            </a:r>
            <a:r>
              <a:rPr lang="en-US" altLang="zh-CN" sz="1100" b="0" i="0" dirty="0" err="1">
                <a:effectLst/>
                <a:latin typeface="Inter"/>
              </a:rPr>
              <a:t>n_size</a:t>
            </a:r>
            <a:r>
              <a:rPr lang="en-US" altLang="zh-CN" sz="1100" b="0" i="0" dirty="0">
                <a:effectLst/>
                <a:latin typeface="Inter"/>
              </a:rPr>
              <a:t>=10' in the new API throws "unexpected keyword argument" error</a:t>
            </a:r>
            <a:endParaRPr lang="zh-CN" altLang="en-US" sz="1100" dirty="0"/>
          </a:p>
        </p:txBody>
      </p:sp>
      <p:cxnSp>
        <p:nvCxnSpPr>
          <p:cNvPr id="29" name="直接箭头连接符 65">
            <a:extLst>
              <a:ext uri="{FF2B5EF4-FFF2-40B4-BE49-F238E27FC236}">
                <a16:creationId xmlns:a16="http://schemas.microsoft.com/office/drawing/2014/main" id="{E7643F67-360F-A31B-0FD9-C8CA55551EBB}"/>
              </a:ext>
            </a:extLst>
          </p:cNvPr>
          <p:cNvCxnSpPr>
            <a:cxnSpLocks/>
            <a:stCxn id="17" idx="0"/>
            <a:endCxn id="27" idx="1"/>
          </p:cNvCxnSpPr>
          <p:nvPr/>
        </p:nvCxnSpPr>
        <p:spPr>
          <a:xfrm>
            <a:off x="3704061" y="1685090"/>
            <a:ext cx="3346756" cy="149648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65">
            <a:extLst>
              <a:ext uri="{FF2B5EF4-FFF2-40B4-BE49-F238E27FC236}">
                <a16:creationId xmlns:a16="http://schemas.microsoft.com/office/drawing/2014/main" id="{8AD55944-9A26-7D13-0A71-12889F0F0488}"/>
              </a:ext>
            </a:extLst>
          </p:cNvPr>
          <p:cNvCxnSpPr>
            <a:cxnSpLocks/>
            <a:stCxn id="21" idx="2"/>
            <a:endCxn id="27" idx="1"/>
          </p:cNvCxnSpPr>
          <p:nvPr/>
        </p:nvCxnSpPr>
        <p:spPr>
          <a:xfrm flipV="1">
            <a:off x="2857749" y="1834738"/>
            <a:ext cx="4193068" cy="283034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文本框 56">
            <a:extLst>
              <a:ext uri="{FF2B5EF4-FFF2-40B4-BE49-F238E27FC236}">
                <a16:creationId xmlns:a16="http://schemas.microsoft.com/office/drawing/2014/main" id="{D3897CE9-B2BE-E12E-363E-182531400B4A}"/>
              </a:ext>
            </a:extLst>
          </p:cNvPr>
          <p:cNvSpPr txBox="1"/>
          <p:nvPr/>
        </p:nvSpPr>
        <p:spPr>
          <a:xfrm>
            <a:off x="7050817" y="2272588"/>
            <a:ext cx="338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i="0" dirty="0">
                <a:effectLst/>
                <a:latin typeface="Inter"/>
              </a:rPr>
              <a:t>CI4: </a:t>
            </a:r>
            <a:r>
              <a:rPr lang="en-US" altLang="zh-CN" sz="1100" dirty="0" err="1">
                <a:latin typeface="Inter"/>
              </a:rPr>
              <a:t>API</a:t>
            </a:r>
            <a:r>
              <a:rPr lang="en-US" altLang="zh-CN" sz="1100" baseline="-25000" dirty="0" err="1">
                <a:latin typeface="Inter"/>
              </a:rPr>
              <a:t>after</a:t>
            </a:r>
            <a:r>
              <a:rPr lang="en-US" altLang="zh-CN" sz="1100" b="0" i="0" dirty="0">
                <a:effectLst/>
                <a:latin typeface="Inter"/>
              </a:rPr>
              <a:t> changes '</a:t>
            </a:r>
            <a:r>
              <a:rPr lang="en-US" altLang="zh-CN" sz="1100" b="0" i="0" dirty="0" err="1">
                <a:effectLst/>
                <a:latin typeface="Inter"/>
              </a:rPr>
              <a:t>is_good’'s</a:t>
            </a:r>
            <a:r>
              <a:rPr lang="en-US" altLang="zh-CN" sz="1100" b="0" i="0" dirty="0">
                <a:effectLst/>
                <a:latin typeface="Inter"/>
              </a:rPr>
              <a:t> default from True to False. Without explicit assignment, the old API returns True, while the new API returns a list, causing behavioral differences.</a:t>
            </a:r>
            <a:endParaRPr lang="zh-CN" altLang="en-US" sz="1100" dirty="0"/>
          </a:p>
        </p:txBody>
      </p:sp>
      <p:cxnSp>
        <p:nvCxnSpPr>
          <p:cNvPr id="41" name="直接箭头连接符 118">
            <a:extLst>
              <a:ext uri="{FF2B5EF4-FFF2-40B4-BE49-F238E27FC236}">
                <a16:creationId xmlns:a16="http://schemas.microsoft.com/office/drawing/2014/main" id="{60BA7F75-1B9D-89DB-8C6A-5C82F46234E3}"/>
              </a:ext>
            </a:extLst>
          </p:cNvPr>
          <p:cNvCxnSpPr>
            <a:cxnSpLocks/>
            <a:stCxn id="18" idx="2"/>
            <a:endCxn id="39" idx="1"/>
          </p:cNvCxnSpPr>
          <p:nvPr/>
        </p:nvCxnSpPr>
        <p:spPr>
          <a:xfrm>
            <a:off x="5680594" y="1893408"/>
            <a:ext cx="1370223" cy="763901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118">
            <a:extLst>
              <a:ext uri="{FF2B5EF4-FFF2-40B4-BE49-F238E27FC236}">
                <a16:creationId xmlns:a16="http://schemas.microsoft.com/office/drawing/2014/main" id="{4F4F31D9-D93D-1FAD-0F39-92B262F763A2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4553552" y="1981577"/>
            <a:ext cx="2497265" cy="675732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文本框 57">
            <a:extLst>
              <a:ext uri="{FF2B5EF4-FFF2-40B4-BE49-F238E27FC236}">
                <a16:creationId xmlns:a16="http://schemas.microsoft.com/office/drawing/2014/main" id="{70635DF6-7D53-F473-B82D-9E4D976402F6}"/>
              </a:ext>
            </a:extLst>
          </p:cNvPr>
          <p:cNvSpPr txBox="1"/>
          <p:nvPr/>
        </p:nvSpPr>
        <p:spPr>
          <a:xfrm>
            <a:off x="7076373" y="5610445"/>
            <a:ext cx="35761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i="0" dirty="0">
                <a:solidFill>
                  <a:srgbClr val="FF0000"/>
                </a:solidFill>
                <a:effectLst/>
                <a:latin typeface="Inter"/>
              </a:rPr>
              <a:t>CI5: </a:t>
            </a:r>
            <a:r>
              <a:rPr lang="en-US" altLang="zh-CN" sz="1100" b="0" i="0" dirty="0">
                <a:solidFill>
                  <a:srgbClr val="FF0000"/>
                </a:solidFill>
                <a:effectLst/>
                <a:latin typeface="Inter"/>
              </a:rPr>
              <a:t>The same input leads to inconsistent exception triggering (e.g., 'key=test' no longer raises </a:t>
            </a:r>
            <a:r>
              <a:rPr lang="en-US" altLang="zh-CN" sz="1100" b="0" i="0" dirty="0" err="1">
                <a:solidFill>
                  <a:srgbClr val="FF0000"/>
                </a:solidFill>
                <a:effectLst/>
                <a:latin typeface="Inter"/>
              </a:rPr>
              <a:t>TypeError</a:t>
            </a:r>
            <a:r>
              <a:rPr lang="en-US" altLang="zh-CN" sz="1100" b="0" i="0" dirty="0">
                <a:solidFill>
                  <a:srgbClr val="FF0000"/>
                </a:solidFill>
                <a:effectLst/>
                <a:latin typeface="Inter"/>
              </a:rPr>
              <a:t>).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sp>
        <p:nvSpPr>
          <p:cNvPr id="62" name="文本框 58">
            <a:extLst>
              <a:ext uri="{FF2B5EF4-FFF2-40B4-BE49-F238E27FC236}">
                <a16:creationId xmlns:a16="http://schemas.microsoft.com/office/drawing/2014/main" id="{F35AB8D9-FB34-A337-87EB-C8A9F798C74C}"/>
              </a:ext>
            </a:extLst>
          </p:cNvPr>
          <p:cNvSpPr txBox="1"/>
          <p:nvPr/>
        </p:nvSpPr>
        <p:spPr>
          <a:xfrm>
            <a:off x="7050817" y="4411302"/>
            <a:ext cx="338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i="0" dirty="0">
                <a:effectLst/>
                <a:latin typeface="Inter"/>
              </a:rPr>
              <a:t>CI6: </a:t>
            </a:r>
            <a:r>
              <a:rPr lang="en-US" altLang="zh-CN" sz="1100" b="0" i="0" dirty="0">
                <a:effectLst/>
                <a:latin typeface="Inter"/>
              </a:rPr>
              <a:t>Code_v2 replaces </a:t>
            </a:r>
            <a:r>
              <a:rPr lang="en-US" altLang="zh-CN" sz="1100" b="0" i="0" dirty="0" err="1">
                <a:effectLst/>
                <a:latin typeface="Inter"/>
              </a:rPr>
              <a:t>ValueError</a:t>
            </a:r>
            <a:r>
              <a:rPr lang="en-US" altLang="zh-CN" sz="1100" b="0" i="0" dirty="0">
                <a:effectLst/>
                <a:latin typeface="Inter"/>
              </a:rPr>
              <a:t> with custom </a:t>
            </a:r>
            <a:r>
              <a:rPr lang="en-US" altLang="zh-CN" sz="1100" b="0" i="0" dirty="0" err="1">
                <a:effectLst/>
                <a:latin typeface="Inter"/>
              </a:rPr>
              <a:t>LENError</a:t>
            </a:r>
            <a:r>
              <a:rPr lang="en-US" altLang="zh-CN" sz="1100" b="0" i="0" dirty="0">
                <a:effectLst/>
                <a:latin typeface="Inter"/>
              </a:rPr>
              <a:t> when </a:t>
            </a:r>
            <a:r>
              <a:rPr lang="en-US" altLang="zh-CN" sz="1100" b="0" i="0" dirty="0" err="1">
                <a:effectLst/>
                <a:latin typeface="Inter"/>
              </a:rPr>
              <a:t>len</a:t>
            </a:r>
            <a:r>
              <a:rPr lang="en-US" altLang="zh-CN" sz="1100" b="0" i="0" dirty="0">
                <a:effectLst/>
                <a:latin typeface="Inter"/>
              </a:rPr>
              <a:t>(</a:t>
            </a:r>
            <a:r>
              <a:rPr lang="en-US" altLang="zh-CN" sz="1100" b="0" i="0" dirty="0" err="1">
                <a:effectLst/>
                <a:latin typeface="Inter"/>
              </a:rPr>
              <a:t>new_var</a:t>
            </a:r>
            <a:r>
              <a:rPr lang="en-US" altLang="zh-CN" sz="1100" b="0" i="0" dirty="0">
                <a:effectLst/>
                <a:latin typeface="Inter"/>
              </a:rPr>
              <a:t>)==0. The new API raises different exception</a:t>
            </a:r>
            <a:endParaRPr lang="zh-CN" altLang="en-US" sz="1100" dirty="0"/>
          </a:p>
        </p:txBody>
      </p:sp>
      <p:cxnSp>
        <p:nvCxnSpPr>
          <p:cNvPr id="74" name="直接箭头连接符 103">
            <a:extLst>
              <a:ext uri="{FF2B5EF4-FFF2-40B4-BE49-F238E27FC236}">
                <a16:creationId xmlns:a16="http://schemas.microsoft.com/office/drawing/2014/main" id="{6CF567E1-9484-284C-D250-F45DE00053A9}"/>
              </a:ext>
            </a:extLst>
          </p:cNvPr>
          <p:cNvCxnSpPr>
            <a:cxnSpLocks/>
            <a:endCxn id="62" idx="1"/>
          </p:cNvCxnSpPr>
          <p:nvPr/>
        </p:nvCxnSpPr>
        <p:spPr>
          <a:xfrm flipV="1">
            <a:off x="3363199" y="4626746"/>
            <a:ext cx="3687618" cy="45454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箭头连接符 106">
            <a:extLst>
              <a:ext uri="{FF2B5EF4-FFF2-40B4-BE49-F238E27FC236}">
                <a16:creationId xmlns:a16="http://schemas.microsoft.com/office/drawing/2014/main" id="{5E6F2496-C622-4FF2-A6F6-B1BD86F720B4}"/>
              </a:ext>
            </a:extLst>
          </p:cNvPr>
          <p:cNvCxnSpPr>
            <a:cxnSpLocks/>
            <a:endCxn id="62" idx="1"/>
          </p:cNvCxnSpPr>
          <p:nvPr/>
        </p:nvCxnSpPr>
        <p:spPr>
          <a:xfrm flipV="1">
            <a:off x="3251591" y="4626746"/>
            <a:ext cx="3799226" cy="392676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文本框 59">
            <a:extLst>
              <a:ext uri="{FF2B5EF4-FFF2-40B4-BE49-F238E27FC236}">
                <a16:creationId xmlns:a16="http://schemas.microsoft.com/office/drawing/2014/main" id="{0782537B-E222-E4A2-83F9-F6483A84CBD2}"/>
              </a:ext>
            </a:extLst>
          </p:cNvPr>
          <p:cNvSpPr txBox="1"/>
          <p:nvPr/>
        </p:nvSpPr>
        <p:spPr>
          <a:xfrm>
            <a:off x="7050817" y="4968667"/>
            <a:ext cx="338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i="0" dirty="0">
                <a:effectLst/>
                <a:latin typeface="Inter"/>
              </a:rPr>
              <a:t>CI7: </a:t>
            </a:r>
            <a:r>
              <a:rPr lang="en-US" altLang="zh-CN" sz="1100" b="0" i="0" dirty="0">
                <a:effectLst/>
                <a:latin typeface="Inter"/>
              </a:rPr>
              <a:t>With the same input (e.g., no explicit </a:t>
            </a:r>
            <a:r>
              <a:rPr lang="en-US" altLang="zh-CN" sz="1100" b="0" i="0" dirty="0" err="1">
                <a:effectLst/>
                <a:latin typeface="Inter"/>
              </a:rPr>
              <a:t>is_good</a:t>
            </a:r>
            <a:r>
              <a:rPr lang="en-US" altLang="zh-CN" sz="1100" b="0" i="0" dirty="0">
                <a:effectLst/>
                <a:latin typeface="Inter"/>
              </a:rPr>
              <a:t>), the old API returns True, while the new one returns a list of length </a:t>
            </a:r>
            <a:r>
              <a:rPr lang="en-US" altLang="zh-CN" sz="1100" b="0" i="0" dirty="0" err="1">
                <a:effectLst/>
                <a:latin typeface="Inter"/>
              </a:rPr>
              <a:t>n_dim</a:t>
            </a:r>
            <a:r>
              <a:rPr lang="en-US" altLang="zh-CN" sz="1100" b="0" i="0" dirty="0">
                <a:effectLst/>
                <a:latin typeface="Inter"/>
              </a:rPr>
              <a:t>. </a:t>
            </a:r>
            <a:endParaRPr lang="zh-CN" altLang="en-US" sz="1100" dirty="0"/>
          </a:p>
        </p:txBody>
      </p:sp>
      <p:cxnSp>
        <p:nvCxnSpPr>
          <p:cNvPr id="80" name="直接箭头连接符 68">
            <a:extLst>
              <a:ext uri="{FF2B5EF4-FFF2-40B4-BE49-F238E27FC236}">
                <a16:creationId xmlns:a16="http://schemas.microsoft.com/office/drawing/2014/main" id="{7EBE0CA3-14C3-643F-34A8-456C0F625534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3098759" y="5184111"/>
            <a:ext cx="3952058" cy="0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文本框 61">
            <a:extLst>
              <a:ext uri="{FF2B5EF4-FFF2-40B4-BE49-F238E27FC236}">
                <a16:creationId xmlns:a16="http://schemas.microsoft.com/office/drawing/2014/main" id="{114738D9-051A-FC3C-160D-5FCB71575AB7}"/>
              </a:ext>
            </a:extLst>
          </p:cNvPr>
          <p:cNvSpPr txBox="1"/>
          <p:nvPr/>
        </p:nvSpPr>
        <p:spPr>
          <a:xfrm>
            <a:off x="7050817" y="2935877"/>
            <a:ext cx="338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i="0" dirty="0">
                <a:effectLst/>
                <a:latin typeface="Inter"/>
              </a:rPr>
              <a:t>CI9: </a:t>
            </a:r>
            <a:r>
              <a:rPr lang="en-US" altLang="zh-CN" sz="1100" dirty="0" err="1">
                <a:latin typeface="Inter"/>
              </a:rPr>
              <a:t>API</a:t>
            </a:r>
            <a:r>
              <a:rPr lang="en-US" altLang="zh-CN" sz="1100" baseline="-25000" dirty="0" err="1">
                <a:latin typeface="Inter"/>
              </a:rPr>
              <a:t>after</a:t>
            </a:r>
            <a:r>
              <a:rPr lang="en-US" altLang="zh-CN" sz="1100" b="0" i="0" dirty="0">
                <a:effectLst/>
                <a:latin typeface="Inter"/>
              </a:rPr>
              <a:t> deletes '</a:t>
            </a:r>
            <a:r>
              <a:rPr lang="en-US" altLang="zh-CN" sz="1100" b="0" i="0" dirty="0" err="1">
                <a:effectLst/>
                <a:latin typeface="Inter"/>
              </a:rPr>
              <a:t>self.amount</a:t>
            </a:r>
            <a:r>
              <a:rPr lang="en-US" altLang="zh-CN" sz="1100" b="0" i="0" dirty="0">
                <a:effectLst/>
                <a:latin typeface="Inter"/>
              </a:rPr>
              <a:t> = amount', so </a:t>
            </a:r>
            <a:r>
              <a:rPr lang="en-US" altLang="zh-CN" sz="1100" b="0" i="0" dirty="0" err="1">
                <a:effectLst/>
                <a:latin typeface="Inter"/>
              </a:rPr>
              <a:t>self.amount</a:t>
            </a:r>
            <a:r>
              <a:rPr lang="en-US" altLang="zh-CN" sz="1100" b="0" i="0" dirty="0">
                <a:effectLst/>
                <a:latin typeface="Inter"/>
              </a:rPr>
              <a:t> is unassigned after calling the new API. Accessing </a:t>
            </a:r>
            <a:r>
              <a:rPr lang="en-US" altLang="zh-CN" sz="1100" b="0" i="0" dirty="0" err="1">
                <a:effectLst/>
                <a:latin typeface="Inter"/>
              </a:rPr>
              <a:t>obj.amount</a:t>
            </a:r>
            <a:r>
              <a:rPr lang="en-US" altLang="zh-CN" sz="1100" b="0" i="0" dirty="0">
                <a:effectLst/>
                <a:latin typeface="Inter"/>
              </a:rPr>
              <a:t> in upper code triggers </a:t>
            </a:r>
            <a:r>
              <a:rPr lang="en-US" altLang="zh-CN" sz="1100" b="0" i="0" dirty="0" err="1">
                <a:effectLst/>
                <a:latin typeface="Inter"/>
              </a:rPr>
              <a:t>AttributeError</a:t>
            </a:r>
            <a:r>
              <a:rPr lang="en-US" altLang="zh-CN" sz="1100" b="0" i="0" dirty="0">
                <a:effectLst/>
                <a:latin typeface="Inter"/>
              </a:rPr>
              <a:t> or gets unexpected values.</a:t>
            </a:r>
            <a:endParaRPr lang="zh-CN" altLang="en-US" sz="1100" dirty="0"/>
          </a:p>
        </p:txBody>
      </p:sp>
      <p:cxnSp>
        <p:nvCxnSpPr>
          <p:cNvPr id="88" name="直接箭头连接符 92">
            <a:extLst>
              <a:ext uri="{FF2B5EF4-FFF2-40B4-BE49-F238E27FC236}">
                <a16:creationId xmlns:a16="http://schemas.microsoft.com/office/drawing/2014/main" id="{611BA73C-A801-B1E6-0E98-D12BAFEFAE27}"/>
              </a:ext>
            </a:extLst>
          </p:cNvPr>
          <p:cNvCxnSpPr>
            <a:cxnSpLocks/>
            <a:endCxn id="87" idx="1"/>
          </p:cNvCxnSpPr>
          <p:nvPr/>
        </p:nvCxnSpPr>
        <p:spPr>
          <a:xfrm>
            <a:off x="2404238" y="2540168"/>
            <a:ext cx="4646579" cy="780430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直接箭头连接符 65">
            <a:extLst>
              <a:ext uri="{FF2B5EF4-FFF2-40B4-BE49-F238E27FC236}">
                <a16:creationId xmlns:a16="http://schemas.microsoft.com/office/drawing/2014/main" id="{1B9A44DD-F8DB-CAD6-AC69-16C2C56B5299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2559121" y="1177066"/>
            <a:ext cx="4519175" cy="507509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352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7140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7A5DB6-80D9-8BE6-4360-A5AAF7B8EC09}"/>
              </a:ext>
            </a:extLst>
          </p:cNvPr>
          <p:cNvSpPr txBox="1"/>
          <p:nvPr/>
        </p:nvSpPr>
        <p:spPr>
          <a:xfrm>
            <a:off x="4506886" y="267009"/>
            <a:ext cx="3302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dirty="0">
                <a:latin typeface="HarmonyOS Sans SC" pitchFamily="2" charset="-122"/>
                <a:ea typeface="HarmonyOS Sans SC" pitchFamily="2" charset="-122"/>
              </a:rPr>
              <a:t>One-by-one API Incompatibilities Prompting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A0BEB3-8DE9-4751-B659-6C353F058D03}"/>
              </a:ext>
            </a:extLst>
          </p:cNvPr>
          <p:cNvSpPr txBox="1"/>
          <p:nvPr/>
        </p:nvSpPr>
        <p:spPr>
          <a:xfrm>
            <a:off x="7933020" y="220843"/>
            <a:ext cx="3302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dirty="0">
                <a:latin typeface="HarmonyOS Sans SC" pitchFamily="2" charset="-122"/>
                <a:ea typeface="HarmonyOS Sans SC" pitchFamily="2" charset="-122"/>
              </a:rPr>
              <a:t>One-in-all API Incompatibilities Prompting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F1F1EDB-A63F-4191-FA80-3CD65DB73892}"/>
              </a:ext>
            </a:extLst>
          </p:cNvPr>
          <p:cNvSpPr/>
          <p:nvPr/>
        </p:nvSpPr>
        <p:spPr>
          <a:xfrm>
            <a:off x="4506886" y="1138423"/>
            <a:ext cx="2986269" cy="2515659"/>
          </a:xfrm>
          <a:prstGeom prst="roundRect">
            <a:avLst>
              <a:gd name="adj" fmla="val 7925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BEBC637-37D3-D620-7B44-EBDE7EC2FFBC}"/>
              </a:ext>
            </a:extLst>
          </p:cNvPr>
          <p:cNvSpPr/>
          <p:nvPr/>
        </p:nvSpPr>
        <p:spPr>
          <a:xfrm>
            <a:off x="7933020" y="1138423"/>
            <a:ext cx="2986269" cy="2515659"/>
          </a:xfrm>
          <a:prstGeom prst="roundRect">
            <a:avLst>
              <a:gd name="adj" fmla="val 7925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19E610D-267C-A704-9B76-5BA8AE1A9DD7}"/>
              </a:ext>
            </a:extLst>
          </p:cNvPr>
          <p:cNvSpPr/>
          <p:nvPr/>
        </p:nvSpPr>
        <p:spPr>
          <a:xfrm>
            <a:off x="5403923" y="945774"/>
            <a:ext cx="1384154" cy="4783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dirty="0">
                <a:latin typeface="Trebuchet MS" panose="020B0703020202090204" pitchFamily="34" charset="0"/>
              </a:rPr>
              <a:t>Model Input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F39BCD4-4000-97D8-EFAA-D90C92FB3E5C}"/>
              </a:ext>
            </a:extLst>
          </p:cNvPr>
          <p:cNvSpPr/>
          <p:nvPr/>
        </p:nvSpPr>
        <p:spPr>
          <a:xfrm>
            <a:off x="8821001" y="945774"/>
            <a:ext cx="1384154" cy="4783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dirty="0">
                <a:latin typeface="Trebuchet MS" panose="020B0703020202090204" pitchFamily="34" charset="0"/>
              </a:rPr>
              <a:t>Model Input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DA34514-20A4-4FB3-6A3B-FAE133B68B29}"/>
              </a:ext>
            </a:extLst>
          </p:cNvPr>
          <p:cNvSpPr/>
          <p:nvPr/>
        </p:nvSpPr>
        <p:spPr>
          <a:xfrm>
            <a:off x="1813002" y="2101850"/>
            <a:ext cx="2135068" cy="74951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D09568-D32D-C9CB-9A4E-EE45ADEC6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148" y="4006631"/>
            <a:ext cx="5087110" cy="25843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7214899-0F66-7F36-842B-E031CBEADA78}"/>
              </a:ext>
            </a:extLst>
          </p:cNvPr>
          <p:cNvSpPr txBox="1"/>
          <p:nvPr/>
        </p:nvSpPr>
        <p:spPr>
          <a:xfrm>
            <a:off x="4617211" y="1433344"/>
            <a:ext cx="590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Trebuchet MS" panose="020B0703020202090204" pitchFamily="34" charset="0"/>
              </a:rPr>
              <a:t>Q</a:t>
            </a:r>
            <a:r>
              <a:rPr lang="zh-CN" altLang="en-US" dirty="0">
                <a:latin typeface="Trebuchet MS" panose="020B0703020202090204" pitchFamily="34" charset="0"/>
              </a:rPr>
              <a:t>：</a:t>
            </a:r>
            <a:endParaRPr lang="en-CN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571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>
            <a:extLst>
              <a:ext uri="{FF2B5EF4-FFF2-40B4-BE49-F238E27FC236}">
                <a16:creationId xmlns:a16="http://schemas.microsoft.com/office/drawing/2014/main" id="{A05CA6C5-965E-4C62-AC5C-BE9B2A5C07AA}"/>
              </a:ext>
            </a:extLst>
          </p:cNvPr>
          <p:cNvSpPr txBox="1"/>
          <p:nvPr/>
        </p:nvSpPr>
        <p:spPr>
          <a:xfrm>
            <a:off x="376239" y="1881188"/>
            <a:ext cx="5224462" cy="29758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def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050" b="0" i="0" dirty="0">
                <a:solidFill>
                  <a:srgbClr val="A31515"/>
                </a:solidFill>
                <a:effectLst/>
                <a:latin typeface="Lucida Console" panose="020B0609040504020204" pitchFamily="49" charset="0"/>
              </a:rPr>
              <a:t>fun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(self, amount,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n_size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= 0,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is_good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= </a:t>
            </a:r>
            <a:r>
              <a:rPr lang="en-US" altLang="zh-CN" sz="1050" b="0" i="0" dirty="0">
                <a:solidFill>
                  <a:srgbClr val="A31515"/>
                </a:solidFill>
                <a:effectLst/>
                <a:latin typeface="Lucida Console" panose="020B0609040504020204" pitchFamily="49" charset="0"/>
              </a:rPr>
              <a:t>True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 **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kwargs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): </a:t>
            </a:r>
          </a:p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		</a:t>
            </a:r>
            <a:r>
              <a:rPr lang="en-US" altLang="zh-CN" sz="105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nonlocal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GLOBALX </a:t>
            </a:r>
          </a:p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		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self.amount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= amount </a:t>
            </a:r>
          </a:p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		</a:t>
            </a:r>
            <a:r>
              <a:rPr lang="en-US" altLang="zh-CN" sz="105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if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is_good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: </a:t>
            </a:r>
          </a:p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			</a:t>
            </a:r>
            <a:r>
              <a:rPr lang="en-US" altLang="zh-CN" sz="105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return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050" b="0" i="0" dirty="0">
                <a:solidFill>
                  <a:srgbClr val="A31515"/>
                </a:solidFill>
                <a:effectLst/>
                <a:latin typeface="Lucida Console" panose="020B0609040504020204" pitchFamily="49" charset="0"/>
              </a:rPr>
              <a:t>True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		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GLOBALX =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n_dim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		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new_var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= [0] *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n_size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		</a:t>
            </a:r>
            <a:r>
              <a:rPr lang="en-US" altLang="zh-CN" sz="105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if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kwargs.get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zh-CN" sz="1050" b="0" i="0" dirty="0">
                <a:solidFill>
                  <a:srgbClr val="A31515"/>
                </a:solidFill>
                <a:effectLst/>
                <a:latin typeface="Lucida Console" panose="020B0609040504020204" pitchFamily="49" charset="0"/>
              </a:rPr>
              <a:t>'key’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): </a:t>
            </a:r>
          </a:p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			</a:t>
            </a:r>
            <a:r>
              <a:rPr lang="en-US" altLang="zh-CN" sz="105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raise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TypeError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zh-CN" sz="1050" b="0" i="0" dirty="0">
                <a:solidFill>
                  <a:srgbClr val="A31515"/>
                </a:solidFill>
                <a:effectLst/>
                <a:latin typeface="Lucida Console" panose="020B0609040504020204" pitchFamily="49" charset="0"/>
              </a:rPr>
              <a:t>'message’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) </a:t>
            </a:r>
          </a:p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		</a:t>
            </a:r>
            <a:r>
              <a:rPr lang="en-US" altLang="zh-CN" sz="105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if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050" b="0" i="0" dirty="0" err="1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len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new_var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) == 0: </a:t>
            </a:r>
            <a:endParaRPr lang="en-US" altLang="zh-CN" sz="1050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			</a:t>
            </a:r>
            <a:r>
              <a:rPr lang="en-US" altLang="zh-CN" sz="105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raise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ValueError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zh-CN" sz="1050" b="0" i="0" dirty="0">
                <a:solidFill>
                  <a:srgbClr val="A31515"/>
                </a:solidFill>
                <a:effectLst/>
                <a:latin typeface="Lucida Console" panose="020B0609040504020204" pitchFamily="49" charset="0"/>
              </a:rPr>
              <a:t>'another message’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) 	</a:t>
            </a:r>
          </a:p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dirty="0">
                <a:solidFill>
                  <a:srgbClr val="000000"/>
                </a:solidFill>
                <a:latin typeface="Lucida Console" panose="020B0609040504020204" pitchFamily="49" charset="0"/>
              </a:rPr>
              <a:t>		</a:t>
            </a:r>
            <a:r>
              <a:rPr lang="en-US" altLang="zh-CN" sz="105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return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new_var</a:t>
            </a:r>
            <a:endParaRPr lang="zh-CN" altLang="en-US" sz="105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73C2E37-599F-4272-B2CF-1119D35DF5AA}"/>
              </a:ext>
            </a:extLst>
          </p:cNvPr>
          <p:cNvSpPr txBox="1"/>
          <p:nvPr/>
        </p:nvSpPr>
        <p:spPr>
          <a:xfrm>
            <a:off x="6096000" y="1881188"/>
            <a:ext cx="5224462" cy="29758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def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050" b="0" i="0" dirty="0">
                <a:solidFill>
                  <a:srgbClr val="A31515"/>
                </a:solidFill>
                <a:effectLst/>
                <a:latin typeface="Lucida Console" panose="020B0609040504020204" pitchFamily="49" charset="0"/>
              </a:rPr>
              <a:t>fun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(self,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n_dim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= 0,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is_good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= </a:t>
            </a:r>
            <a:r>
              <a:rPr lang="en-US" altLang="zh-CN" sz="1050" b="0" i="0" dirty="0">
                <a:solidFill>
                  <a:srgbClr val="A31515"/>
                </a:solidFill>
                <a:effectLst/>
                <a:latin typeface="Lucida Console" panose="020B0609040504020204" pitchFamily="49" charset="0"/>
              </a:rPr>
              <a:t>False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, **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kwargs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): </a:t>
            </a:r>
          </a:p>
          <a:p>
            <a:pPr lvl="1"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nonlocal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GLOBALX </a:t>
            </a:r>
          </a:p>
          <a:p>
            <a:pPr lvl="1"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050" b="0" i="0" dirty="0"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lvl="1"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if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is_good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: </a:t>
            </a:r>
          </a:p>
          <a:p>
            <a:pPr lvl="1"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	return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050" b="0" i="0" dirty="0">
                <a:solidFill>
                  <a:srgbClr val="A31515"/>
                </a:solidFill>
                <a:effectLst/>
                <a:latin typeface="Lucida Console" panose="020B0609040504020204" pitchFamily="49" charset="0"/>
              </a:rPr>
              <a:t>True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pPr lvl="1"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GLOBALX =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n_</a:t>
            </a:r>
            <a:r>
              <a:rPr lang="en-US" altLang="zh-CN" sz="105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dim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05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if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n_dim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&gt; 0 </a:t>
            </a:r>
            <a:r>
              <a:rPr lang="en-US" altLang="zh-CN" sz="105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else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050" b="0" i="0" dirty="0">
                <a:solidFill>
                  <a:srgbClr val="A31515"/>
                </a:solidFill>
                <a:effectLst/>
                <a:latin typeface="Lucida Console" panose="020B0609040504020204" pitchFamily="49" charset="0"/>
              </a:rPr>
              <a:t>None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pPr lvl="1"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new_var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= [0] *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n_dim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pPr lvl="1"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if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kwargs.get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zh-CN" sz="1050" b="0" i="0" dirty="0">
                <a:solidFill>
                  <a:srgbClr val="A31515"/>
                </a:solidFill>
                <a:effectLst/>
                <a:latin typeface="Lucida Console" panose="020B0609040504020204" pitchFamily="49" charset="0"/>
              </a:rPr>
              <a:t>‘</a:t>
            </a:r>
            <a:r>
              <a:rPr lang="en-US" altLang="zh-CN" sz="1050" b="0" i="0" dirty="0" err="1">
                <a:solidFill>
                  <a:srgbClr val="A31515"/>
                </a:solidFill>
                <a:effectLst/>
                <a:latin typeface="Lucida Console" panose="020B0609040504020204" pitchFamily="49" charset="0"/>
              </a:rPr>
              <a:t>key_for_check</a:t>
            </a:r>
            <a:r>
              <a:rPr lang="en-US" altLang="zh-CN" sz="1050" b="0" i="0" dirty="0">
                <a:solidFill>
                  <a:srgbClr val="A31515"/>
                </a:solidFill>
                <a:effectLst/>
                <a:latin typeface="Lucida Console" panose="020B0609040504020204" pitchFamily="49" charset="0"/>
              </a:rPr>
              <a:t>’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) </a:t>
            </a:r>
            <a:r>
              <a:rPr lang="en-US" altLang="zh-CN" sz="105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and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self.type_bad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(): </a:t>
            </a:r>
            <a:endParaRPr lang="en-US" altLang="zh-CN" sz="1050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lvl="1"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	raise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TypeError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zh-CN" sz="1050" b="0" i="0" dirty="0">
                <a:solidFill>
                  <a:srgbClr val="A31515"/>
                </a:solidFill>
                <a:effectLst/>
                <a:latin typeface="Lucida Console" panose="020B0609040504020204" pitchFamily="49" charset="0"/>
              </a:rPr>
              <a:t>'message’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) </a:t>
            </a:r>
          </a:p>
          <a:p>
            <a:pPr lvl="1"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if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050" b="0" i="0" dirty="0" err="1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len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new_var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) == 0: </a:t>
            </a:r>
          </a:p>
          <a:p>
            <a:pPr lvl="1"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	raise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LENError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altLang="zh-CN" sz="1050" b="0" i="0" dirty="0">
                <a:solidFill>
                  <a:srgbClr val="A31515"/>
                </a:solidFill>
                <a:effectLst/>
                <a:latin typeface="Lucida Console" panose="020B0609040504020204" pitchFamily="49" charset="0"/>
              </a:rPr>
              <a:t>'another message’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) </a:t>
            </a:r>
          </a:p>
          <a:p>
            <a:pPr lvl="1" defTabSz="360000">
              <a:lnSpc>
                <a:spcPct val="150000"/>
              </a:lnSpc>
              <a:tabLst>
                <a:tab pos="0" algn="l"/>
              </a:tabLst>
            </a:pPr>
            <a:r>
              <a:rPr lang="en-US" altLang="zh-CN" sz="1050" b="0" i="0" dirty="0">
                <a:solidFill>
                  <a:srgbClr val="0000FF"/>
                </a:solidFill>
                <a:effectLst/>
                <a:latin typeface="Lucida Console" panose="020B0609040504020204" pitchFamily="49" charset="0"/>
              </a:rPr>
              <a:t>return</a:t>
            </a:r>
            <a:r>
              <a:rPr lang="en-US" altLang="zh-CN" sz="1050" b="0" i="0" dirty="0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altLang="zh-CN" sz="1050" b="0" i="0" dirty="0" err="1"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new_var</a:t>
            </a:r>
            <a:endParaRPr lang="zh-CN" altLang="en-US" sz="1050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D411D75-4888-48E6-992A-42DAE9A13CCC}"/>
              </a:ext>
            </a:extLst>
          </p:cNvPr>
          <p:cNvSpPr/>
          <p:nvPr/>
        </p:nvSpPr>
        <p:spPr>
          <a:xfrm>
            <a:off x="1566862" y="1962033"/>
            <a:ext cx="604837" cy="2381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9FF062F5-9304-4218-8434-51C5657BE81D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1869280" y="1191786"/>
            <a:ext cx="302419" cy="747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DB1B2305-446E-4C9E-9974-F89912C6C666}"/>
              </a:ext>
            </a:extLst>
          </p:cNvPr>
          <p:cNvSpPr txBox="1"/>
          <p:nvPr/>
        </p:nvSpPr>
        <p:spPr>
          <a:xfrm>
            <a:off x="247649" y="591622"/>
            <a:ext cx="38481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i="0" dirty="0">
                <a:effectLst/>
                <a:latin typeface="Inter"/>
              </a:rPr>
              <a:t>CI1: </a:t>
            </a:r>
            <a:r>
              <a:rPr lang="en-US" altLang="zh-CN" sz="1100" b="0" i="0" dirty="0">
                <a:effectLst/>
                <a:latin typeface="Inter"/>
              </a:rPr>
              <a:t>Code_v2 removes required parameter ‘amount’. Using old arguments like ‘amount=1’ triggers “unexpected keyword argument” errors</a:t>
            </a:r>
            <a:r>
              <a:rPr lang="en-US" altLang="zh-CN" sz="1100" dirty="0">
                <a:latin typeface="Inter"/>
              </a:rPr>
              <a:t>.</a:t>
            </a:r>
            <a:endParaRPr lang="zh-CN" altLang="en-US" sz="1100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CFC0BB1A-0EE8-4B2C-8CE1-AD761D7406D6}"/>
              </a:ext>
            </a:extLst>
          </p:cNvPr>
          <p:cNvSpPr txBox="1"/>
          <p:nvPr/>
        </p:nvSpPr>
        <p:spPr>
          <a:xfrm>
            <a:off x="2881312" y="2573520"/>
            <a:ext cx="24431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i="0" dirty="0">
                <a:effectLst/>
                <a:latin typeface="Inter"/>
              </a:rPr>
              <a:t>CI2: </a:t>
            </a:r>
            <a:r>
              <a:rPr lang="en-US" altLang="zh-CN" sz="1100" b="0" i="0" dirty="0">
                <a:effectLst/>
                <a:latin typeface="Inter"/>
              </a:rPr>
              <a:t>Code_v2 changes the </a:t>
            </a:r>
            <a:r>
              <a:rPr lang="en-US" altLang="zh-CN" sz="1100" b="0" i="0" dirty="0" err="1">
                <a:effectLst/>
                <a:latin typeface="Inter"/>
              </a:rPr>
              <a:t>TypeError</a:t>
            </a:r>
            <a:r>
              <a:rPr lang="en-US" altLang="zh-CN" sz="1100" b="0" i="0" dirty="0">
                <a:effectLst/>
                <a:latin typeface="Inter"/>
              </a:rPr>
              <a:t> trigger key from 'key' to '</a:t>
            </a:r>
            <a:r>
              <a:rPr lang="en-US" altLang="zh-CN" sz="1100" b="0" i="0" dirty="0" err="1">
                <a:effectLst/>
                <a:latin typeface="Inter"/>
              </a:rPr>
              <a:t>key_for_check</a:t>
            </a:r>
            <a:r>
              <a:rPr lang="en-US" altLang="zh-CN" sz="1100" b="0" i="0" dirty="0">
                <a:effectLst/>
                <a:latin typeface="Inter"/>
              </a:rPr>
              <a:t>’. Only passing 'key=test’ may raise a </a:t>
            </a:r>
            <a:r>
              <a:rPr lang="en-US" altLang="zh-CN" sz="1100" b="0" i="0" dirty="0" err="1">
                <a:effectLst/>
                <a:latin typeface="Inter"/>
              </a:rPr>
              <a:t>KeyError</a:t>
            </a:r>
            <a:r>
              <a:rPr lang="en-US" altLang="zh-CN" sz="1100" b="0" i="0" dirty="0">
                <a:effectLst/>
                <a:latin typeface="Inter"/>
              </a:rPr>
              <a:t> in new API</a:t>
            </a:r>
            <a:endParaRPr lang="zh-CN" altLang="en-US" sz="11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D430B7A-B95C-4310-AE4D-371AD8F5FD6D}"/>
              </a:ext>
            </a:extLst>
          </p:cNvPr>
          <p:cNvSpPr txBox="1"/>
          <p:nvPr/>
        </p:nvSpPr>
        <p:spPr>
          <a:xfrm>
            <a:off x="3995736" y="1197887"/>
            <a:ext cx="38481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i="0" dirty="0">
                <a:effectLst/>
                <a:latin typeface="Inter"/>
              </a:rPr>
              <a:t>CI3: </a:t>
            </a:r>
            <a:r>
              <a:rPr lang="en-US" altLang="zh-CN" sz="1100" b="0" i="0" dirty="0">
                <a:effectLst/>
                <a:latin typeface="Inter"/>
              </a:rPr>
              <a:t>Code_v2 renames '</a:t>
            </a:r>
            <a:r>
              <a:rPr lang="en-US" altLang="zh-CN" sz="1100" b="0" i="0" dirty="0" err="1">
                <a:effectLst/>
                <a:latin typeface="Inter"/>
              </a:rPr>
              <a:t>n_size</a:t>
            </a:r>
            <a:r>
              <a:rPr lang="en-US" altLang="zh-CN" sz="1100" b="0" i="0" dirty="0">
                <a:effectLst/>
                <a:latin typeface="Inter"/>
              </a:rPr>
              <a:t>' to '</a:t>
            </a:r>
            <a:r>
              <a:rPr lang="en-US" altLang="zh-CN" sz="1100" b="0" i="0" dirty="0" err="1">
                <a:effectLst/>
                <a:latin typeface="Inter"/>
              </a:rPr>
              <a:t>n_dim</a:t>
            </a:r>
            <a:r>
              <a:rPr lang="en-US" altLang="zh-CN" sz="1100" b="0" i="0" dirty="0">
                <a:effectLst/>
                <a:latin typeface="Inter"/>
              </a:rPr>
              <a:t>'. Using '</a:t>
            </a:r>
            <a:r>
              <a:rPr lang="en-US" altLang="zh-CN" sz="1100" b="0" i="0" dirty="0" err="1">
                <a:effectLst/>
                <a:latin typeface="Inter"/>
              </a:rPr>
              <a:t>n_size</a:t>
            </a:r>
            <a:r>
              <a:rPr lang="en-US" altLang="zh-CN" sz="1100" b="0" i="0" dirty="0">
                <a:effectLst/>
                <a:latin typeface="Inter"/>
              </a:rPr>
              <a:t>=10' in the new API throws "unexpected keyword argument" error</a:t>
            </a:r>
            <a:endParaRPr lang="zh-CN" altLang="en-US" sz="11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2DE8D88-7B00-490D-9B7A-BF67879D4BC3}"/>
              </a:ext>
            </a:extLst>
          </p:cNvPr>
          <p:cNvSpPr txBox="1"/>
          <p:nvPr/>
        </p:nvSpPr>
        <p:spPr>
          <a:xfrm>
            <a:off x="5353050" y="194707"/>
            <a:ext cx="38481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i="0" dirty="0">
                <a:effectLst/>
                <a:latin typeface="Inter"/>
              </a:rPr>
              <a:t>CI4: </a:t>
            </a:r>
            <a:r>
              <a:rPr lang="en-US" altLang="zh-CN" sz="1100" b="0" i="0" dirty="0">
                <a:effectLst/>
                <a:latin typeface="Inter"/>
              </a:rPr>
              <a:t>Code_v2 changes '</a:t>
            </a:r>
            <a:r>
              <a:rPr lang="en-US" altLang="zh-CN" sz="1100" b="0" i="0" dirty="0" err="1">
                <a:effectLst/>
                <a:latin typeface="Inter"/>
              </a:rPr>
              <a:t>is_good’'s</a:t>
            </a:r>
            <a:r>
              <a:rPr lang="en-US" altLang="zh-CN" sz="1100" b="0" i="0" dirty="0">
                <a:effectLst/>
                <a:latin typeface="Inter"/>
              </a:rPr>
              <a:t> default from True to False. Without explicit assignment, the old API returns True, while the new API returns a list, causing behavioral differences.</a:t>
            </a:r>
            <a:endParaRPr lang="zh-CN" altLang="en-US" sz="11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E92A101-87FB-4790-8FFE-4538D16AE5E5}"/>
              </a:ext>
            </a:extLst>
          </p:cNvPr>
          <p:cNvSpPr txBox="1"/>
          <p:nvPr/>
        </p:nvSpPr>
        <p:spPr>
          <a:xfrm>
            <a:off x="3429000" y="3409223"/>
            <a:ext cx="18097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i="0" dirty="0">
                <a:effectLst/>
                <a:latin typeface="Inter"/>
              </a:rPr>
              <a:t>CI5: </a:t>
            </a:r>
            <a:r>
              <a:rPr lang="en-US" altLang="zh-CN" sz="1100" b="0" i="0" dirty="0">
                <a:effectLst/>
                <a:latin typeface="Inter"/>
              </a:rPr>
              <a:t>The same input leads to inconsistent exception triggering (e.g., 'key=test' no longer raises </a:t>
            </a:r>
            <a:r>
              <a:rPr lang="en-US" altLang="zh-CN" sz="1100" b="0" i="0" dirty="0" err="1">
                <a:effectLst/>
                <a:latin typeface="Inter"/>
              </a:rPr>
              <a:t>TypeError</a:t>
            </a:r>
            <a:r>
              <a:rPr lang="en-US" altLang="zh-CN" sz="1100" b="0" i="0" dirty="0">
                <a:effectLst/>
                <a:latin typeface="Inter"/>
              </a:rPr>
              <a:t>).</a:t>
            </a:r>
            <a:endParaRPr lang="zh-CN" altLang="en-US" sz="11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A145B5D-558E-42DF-8D8C-BBF4C2700F7D}"/>
              </a:ext>
            </a:extLst>
          </p:cNvPr>
          <p:cNvSpPr txBox="1"/>
          <p:nvPr/>
        </p:nvSpPr>
        <p:spPr>
          <a:xfrm>
            <a:off x="3940969" y="5307783"/>
            <a:ext cx="276701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i="0" dirty="0">
                <a:effectLst/>
                <a:latin typeface="Inter"/>
              </a:rPr>
              <a:t>CI6: </a:t>
            </a:r>
            <a:r>
              <a:rPr lang="en-US" altLang="zh-CN" sz="1100" b="0" i="0" dirty="0">
                <a:effectLst/>
                <a:latin typeface="Inter"/>
              </a:rPr>
              <a:t>Code_v2 replaces </a:t>
            </a:r>
            <a:r>
              <a:rPr lang="en-US" altLang="zh-CN" sz="1100" b="0" i="0" dirty="0" err="1">
                <a:effectLst/>
                <a:latin typeface="Inter"/>
              </a:rPr>
              <a:t>ValueError</a:t>
            </a:r>
            <a:r>
              <a:rPr lang="en-US" altLang="zh-CN" sz="1100" b="0" i="0" dirty="0">
                <a:effectLst/>
                <a:latin typeface="Inter"/>
              </a:rPr>
              <a:t> with custom </a:t>
            </a:r>
            <a:r>
              <a:rPr lang="en-US" altLang="zh-CN" sz="1100" b="0" i="0" dirty="0" err="1">
                <a:effectLst/>
                <a:latin typeface="Inter"/>
              </a:rPr>
              <a:t>LENError</a:t>
            </a:r>
            <a:r>
              <a:rPr lang="en-US" altLang="zh-CN" sz="1100" b="0" i="0" dirty="0">
                <a:effectLst/>
                <a:latin typeface="Inter"/>
              </a:rPr>
              <a:t> when </a:t>
            </a:r>
            <a:r>
              <a:rPr lang="en-US" altLang="zh-CN" sz="1100" b="0" i="0" dirty="0" err="1">
                <a:effectLst/>
                <a:latin typeface="Inter"/>
              </a:rPr>
              <a:t>len</a:t>
            </a:r>
            <a:r>
              <a:rPr lang="en-US" altLang="zh-CN" sz="1100" b="0" i="0" dirty="0">
                <a:effectLst/>
                <a:latin typeface="Inter"/>
              </a:rPr>
              <a:t>(</a:t>
            </a:r>
            <a:r>
              <a:rPr lang="en-US" altLang="zh-CN" sz="1100" b="0" i="0" dirty="0" err="1">
                <a:effectLst/>
                <a:latin typeface="Inter"/>
              </a:rPr>
              <a:t>new_var</a:t>
            </a:r>
            <a:r>
              <a:rPr lang="en-US" altLang="zh-CN" sz="1100" b="0" i="0" dirty="0">
                <a:effectLst/>
                <a:latin typeface="Inter"/>
              </a:rPr>
              <a:t>)==0. The new API raises different exception</a:t>
            </a:r>
            <a:endParaRPr lang="zh-CN" altLang="en-US" sz="11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CE660A7-5233-4D94-901D-4601F5F8035A}"/>
              </a:ext>
            </a:extLst>
          </p:cNvPr>
          <p:cNvSpPr txBox="1"/>
          <p:nvPr/>
        </p:nvSpPr>
        <p:spPr>
          <a:xfrm>
            <a:off x="8343900" y="848062"/>
            <a:ext cx="38481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i="0" dirty="0">
                <a:effectLst/>
                <a:latin typeface="Inter"/>
              </a:rPr>
              <a:t>CI7: </a:t>
            </a:r>
            <a:r>
              <a:rPr lang="en-US" altLang="zh-CN" sz="1100" b="0" i="0" dirty="0">
                <a:effectLst/>
                <a:latin typeface="Inter"/>
              </a:rPr>
              <a:t>With the same input (e.g., no explicit </a:t>
            </a:r>
            <a:r>
              <a:rPr lang="en-US" altLang="zh-CN" sz="1100" b="0" i="0" dirty="0" err="1">
                <a:effectLst/>
                <a:latin typeface="Inter"/>
              </a:rPr>
              <a:t>is_good</a:t>
            </a:r>
            <a:r>
              <a:rPr lang="en-US" altLang="zh-CN" sz="1100" b="0" i="0" dirty="0">
                <a:effectLst/>
                <a:latin typeface="Inter"/>
              </a:rPr>
              <a:t>), the old API returns True, while the new one returns a list of length </a:t>
            </a:r>
            <a:r>
              <a:rPr lang="en-US" altLang="zh-CN" sz="1100" b="0" i="0" dirty="0" err="1">
                <a:effectLst/>
                <a:latin typeface="Inter"/>
              </a:rPr>
              <a:t>n_dim</a:t>
            </a:r>
            <a:r>
              <a:rPr lang="en-US" altLang="zh-CN" sz="1100" b="0" i="0" dirty="0">
                <a:effectLst/>
                <a:latin typeface="Inter"/>
              </a:rPr>
              <a:t>. </a:t>
            </a:r>
            <a:endParaRPr lang="zh-CN" altLang="en-US" sz="11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5D04CA8-817D-4BD7-A5C0-01C353293E4D}"/>
              </a:ext>
            </a:extLst>
          </p:cNvPr>
          <p:cNvSpPr txBox="1"/>
          <p:nvPr/>
        </p:nvSpPr>
        <p:spPr>
          <a:xfrm>
            <a:off x="8539162" y="2245522"/>
            <a:ext cx="28527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i="0" dirty="0">
                <a:effectLst/>
                <a:latin typeface="Inter"/>
              </a:rPr>
              <a:t>CI8: </a:t>
            </a:r>
            <a:r>
              <a:rPr lang="en-US" altLang="zh-CN" sz="1100" b="0" i="0" dirty="0">
                <a:effectLst/>
                <a:latin typeface="Inter"/>
              </a:rPr>
              <a:t>Code_v2 assigns </a:t>
            </a:r>
            <a:r>
              <a:rPr lang="en-US" altLang="zh-CN" sz="1100" b="0" i="0" dirty="0" err="1">
                <a:effectLst/>
                <a:latin typeface="Inter"/>
              </a:rPr>
              <a:t>n_dim</a:t>
            </a:r>
            <a:r>
              <a:rPr lang="en-US" altLang="zh-CN" sz="1100" b="0" i="0" dirty="0">
                <a:effectLst/>
                <a:latin typeface="Inter"/>
              </a:rPr>
              <a:t>/None to GLOBALX, while the old only assigns </a:t>
            </a:r>
            <a:r>
              <a:rPr lang="en-US" altLang="zh-CN" sz="1100" b="0" i="0" dirty="0" err="1">
                <a:effectLst/>
                <a:latin typeface="Inter"/>
              </a:rPr>
              <a:t>n_dim</a:t>
            </a:r>
            <a:r>
              <a:rPr lang="en-US" altLang="zh-CN" sz="1100" b="0" i="0" dirty="0">
                <a:effectLst/>
                <a:latin typeface="Inter"/>
              </a:rPr>
              <a:t>. The same input leads to different GLOBALX values/types, breaking dependent logic.</a:t>
            </a:r>
            <a:endParaRPr lang="zh-CN" altLang="en-US" sz="11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96DE8C0-4A9F-495C-86B1-5F629AFC8D80}"/>
              </a:ext>
            </a:extLst>
          </p:cNvPr>
          <p:cNvSpPr txBox="1"/>
          <p:nvPr/>
        </p:nvSpPr>
        <p:spPr>
          <a:xfrm>
            <a:off x="195264" y="5204118"/>
            <a:ext cx="287655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i="0" dirty="0">
                <a:effectLst/>
                <a:latin typeface="Inter"/>
              </a:rPr>
              <a:t>CI9: </a:t>
            </a:r>
            <a:r>
              <a:rPr lang="en-US" altLang="zh-CN" sz="1100" b="0" i="0" dirty="0">
                <a:effectLst/>
                <a:latin typeface="Inter"/>
              </a:rPr>
              <a:t>Code_v2 deletes '</a:t>
            </a:r>
            <a:r>
              <a:rPr lang="en-US" altLang="zh-CN" sz="1100" b="0" i="0" dirty="0" err="1">
                <a:effectLst/>
                <a:latin typeface="Inter"/>
              </a:rPr>
              <a:t>self.amount</a:t>
            </a:r>
            <a:r>
              <a:rPr lang="en-US" altLang="zh-CN" sz="1100" b="0" i="0" dirty="0">
                <a:effectLst/>
                <a:latin typeface="Inter"/>
              </a:rPr>
              <a:t> = amount', so </a:t>
            </a:r>
            <a:r>
              <a:rPr lang="en-US" altLang="zh-CN" sz="1100" b="0" i="0" dirty="0" err="1">
                <a:effectLst/>
                <a:latin typeface="Inter"/>
              </a:rPr>
              <a:t>self.amount</a:t>
            </a:r>
            <a:r>
              <a:rPr lang="en-US" altLang="zh-CN" sz="1100" b="0" i="0" dirty="0">
                <a:effectLst/>
                <a:latin typeface="Inter"/>
              </a:rPr>
              <a:t> is unassigned after calling the new API. Accessing </a:t>
            </a:r>
            <a:r>
              <a:rPr lang="en-US" altLang="zh-CN" sz="1100" b="0" i="0" dirty="0" err="1">
                <a:effectLst/>
                <a:latin typeface="Inter"/>
              </a:rPr>
              <a:t>obj.amount</a:t>
            </a:r>
            <a:r>
              <a:rPr lang="en-US" altLang="zh-CN" sz="1100" b="0" i="0" dirty="0">
                <a:effectLst/>
                <a:latin typeface="Inter"/>
              </a:rPr>
              <a:t> in upper code triggers </a:t>
            </a:r>
            <a:r>
              <a:rPr lang="en-US" altLang="zh-CN" sz="1100" b="0" i="0" dirty="0" err="1">
                <a:effectLst/>
                <a:latin typeface="Inter"/>
              </a:rPr>
              <a:t>AttributeError</a:t>
            </a:r>
            <a:r>
              <a:rPr lang="en-US" altLang="zh-CN" sz="1100" b="0" i="0" dirty="0">
                <a:effectLst/>
                <a:latin typeface="Inter"/>
              </a:rPr>
              <a:t> or gets unexpected values.</a:t>
            </a:r>
            <a:endParaRPr lang="zh-CN" altLang="en-US" sz="1100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1B9B0A2-97A9-4242-8DCA-0F1C24900C0D}"/>
              </a:ext>
            </a:extLst>
          </p:cNvPr>
          <p:cNvSpPr/>
          <p:nvPr/>
        </p:nvSpPr>
        <p:spPr>
          <a:xfrm>
            <a:off x="8953500" y="1962033"/>
            <a:ext cx="604837" cy="2381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4C256E3-14FE-455A-BA8B-F04125536EC4}"/>
              </a:ext>
            </a:extLst>
          </p:cNvPr>
          <p:cNvSpPr/>
          <p:nvPr/>
        </p:nvSpPr>
        <p:spPr>
          <a:xfrm>
            <a:off x="7277100" y="1939068"/>
            <a:ext cx="519112" cy="2381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78F0473-6B64-4A17-9519-D436B20B8F95}"/>
              </a:ext>
            </a:extLst>
          </p:cNvPr>
          <p:cNvSpPr/>
          <p:nvPr/>
        </p:nvSpPr>
        <p:spPr>
          <a:xfrm>
            <a:off x="2231230" y="1962763"/>
            <a:ext cx="531019" cy="2381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A9679469-80C1-4B34-A084-65F3E02B4AE9}"/>
              </a:ext>
            </a:extLst>
          </p:cNvPr>
          <p:cNvCxnSpPr>
            <a:cxnSpLocks/>
            <a:stCxn id="65" idx="0"/>
            <a:endCxn id="55" idx="1"/>
          </p:cNvCxnSpPr>
          <p:nvPr/>
        </p:nvCxnSpPr>
        <p:spPr>
          <a:xfrm flipV="1">
            <a:off x="2496740" y="1413331"/>
            <a:ext cx="1498996" cy="549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EF156020-3497-4764-8066-63FC4283A6CC}"/>
              </a:ext>
            </a:extLst>
          </p:cNvPr>
          <p:cNvCxnSpPr>
            <a:cxnSpLocks/>
            <a:stCxn id="63" idx="0"/>
            <a:endCxn id="60" idx="2"/>
          </p:cNvCxnSpPr>
          <p:nvPr/>
        </p:nvCxnSpPr>
        <p:spPr>
          <a:xfrm flipV="1">
            <a:off x="9255919" y="1278949"/>
            <a:ext cx="1012031" cy="683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矩形 73">
            <a:extLst>
              <a:ext uri="{FF2B5EF4-FFF2-40B4-BE49-F238E27FC236}">
                <a16:creationId xmlns:a16="http://schemas.microsoft.com/office/drawing/2014/main" id="{7E5D7B64-16AE-42E4-A4FF-464BFC471D02}"/>
              </a:ext>
            </a:extLst>
          </p:cNvPr>
          <p:cNvSpPr/>
          <p:nvPr/>
        </p:nvSpPr>
        <p:spPr>
          <a:xfrm>
            <a:off x="1906189" y="3615350"/>
            <a:ext cx="531019" cy="2381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26B27E26-26D6-4B53-98E3-4A1A2EA19E7C}"/>
              </a:ext>
            </a:extLst>
          </p:cNvPr>
          <p:cNvSpPr/>
          <p:nvPr/>
        </p:nvSpPr>
        <p:spPr>
          <a:xfrm>
            <a:off x="7754539" y="3615349"/>
            <a:ext cx="1260874" cy="2381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0797512C-C5A4-42AA-8F90-6B315A60A4B1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2437208" y="2958241"/>
            <a:ext cx="444104" cy="745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07E0F085-8C4B-4CFB-A98B-F9C64FD996ED}"/>
              </a:ext>
            </a:extLst>
          </p:cNvPr>
          <p:cNvCxnSpPr>
            <a:cxnSpLocks/>
            <a:stCxn id="75" idx="1"/>
            <a:endCxn id="53" idx="3"/>
          </p:cNvCxnSpPr>
          <p:nvPr/>
        </p:nvCxnSpPr>
        <p:spPr>
          <a:xfrm flipH="1" flipV="1">
            <a:off x="5324475" y="2958241"/>
            <a:ext cx="2430064" cy="776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09E9F6C7-61C6-40E8-91D9-6FFA2CC7FDAE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2437208" y="3727682"/>
            <a:ext cx="991792" cy="66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90EE3003-67B9-444B-ACE9-E6EFA1B8B78B}"/>
              </a:ext>
            </a:extLst>
          </p:cNvPr>
          <p:cNvCxnSpPr>
            <a:cxnSpLocks/>
            <a:endCxn id="58" idx="3"/>
          </p:cNvCxnSpPr>
          <p:nvPr/>
        </p:nvCxnSpPr>
        <p:spPr>
          <a:xfrm flipH="1">
            <a:off x="5238750" y="3716508"/>
            <a:ext cx="2515790" cy="77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矩形 91">
            <a:extLst>
              <a:ext uri="{FF2B5EF4-FFF2-40B4-BE49-F238E27FC236}">
                <a16:creationId xmlns:a16="http://schemas.microsoft.com/office/drawing/2014/main" id="{DEB13A27-4D85-455C-9171-B134D04F9801}"/>
              </a:ext>
            </a:extLst>
          </p:cNvPr>
          <p:cNvSpPr/>
          <p:nvPr/>
        </p:nvSpPr>
        <p:spPr>
          <a:xfrm>
            <a:off x="716757" y="2419233"/>
            <a:ext cx="1888329" cy="2381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C5DBF715-3452-49F1-93A6-C701E6FE250E}"/>
              </a:ext>
            </a:extLst>
          </p:cNvPr>
          <p:cNvCxnSpPr>
            <a:cxnSpLocks/>
            <a:endCxn id="62" idx="0"/>
          </p:cNvCxnSpPr>
          <p:nvPr/>
        </p:nvCxnSpPr>
        <p:spPr>
          <a:xfrm flipH="1">
            <a:off x="1633539" y="2657358"/>
            <a:ext cx="27382" cy="2546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矩形 101">
            <a:extLst>
              <a:ext uri="{FF2B5EF4-FFF2-40B4-BE49-F238E27FC236}">
                <a16:creationId xmlns:a16="http://schemas.microsoft.com/office/drawing/2014/main" id="{F684E71D-C1EC-4D98-8CB3-439B461E40FD}"/>
              </a:ext>
            </a:extLst>
          </p:cNvPr>
          <p:cNvSpPr/>
          <p:nvPr/>
        </p:nvSpPr>
        <p:spPr>
          <a:xfrm>
            <a:off x="1622228" y="4370356"/>
            <a:ext cx="874512" cy="19862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C7695456-64F7-49D8-B4BA-72502FFDD839}"/>
              </a:ext>
            </a:extLst>
          </p:cNvPr>
          <p:cNvSpPr/>
          <p:nvPr/>
        </p:nvSpPr>
        <p:spPr>
          <a:xfrm>
            <a:off x="7358956" y="4370355"/>
            <a:ext cx="713482" cy="2381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809B9A04-B4E3-45F8-93CF-7EE006EEB1AE}"/>
              </a:ext>
            </a:extLst>
          </p:cNvPr>
          <p:cNvCxnSpPr>
            <a:cxnSpLocks/>
            <a:stCxn id="102" idx="3"/>
            <a:endCxn id="59" idx="1"/>
          </p:cNvCxnSpPr>
          <p:nvPr/>
        </p:nvCxnSpPr>
        <p:spPr>
          <a:xfrm>
            <a:off x="2496740" y="4469670"/>
            <a:ext cx="1444229" cy="1138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8EBEAD56-732B-4758-B65F-9B672538EAF2}"/>
              </a:ext>
            </a:extLst>
          </p:cNvPr>
          <p:cNvCxnSpPr>
            <a:cxnSpLocks/>
            <a:stCxn id="103" idx="1"/>
            <a:endCxn id="59" idx="3"/>
          </p:cNvCxnSpPr>
          <p:nvPr/>
        </p:nvCxnSpPr>
        <p:spPr>
          <a:xfrm flipH="1">
            <a:off x="6707980" y="4489418"/>
            <a:ext cx="650976" cy="1118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矩形 113">
            <a:extLst>
              <a:ext uri="{FF2B5EF4-FFF2-40B4-BE49-F238E27FC236}">
                <a16:creationId xmlns:a16="http://schemas.microsoft.com/office/drawing/2014/main" id="{98B67D8C-D8FC-49FD-8707-CCEE21624A77}"/>
              </a:ext>
            </a:extLst>
          </p:cNvPr>
          <p:cNvSpPr/>
          <p:nvPr/>
        </p:nvSpPr>
        <p:spPr>
          <a:xfrm>
            <a:off x="6535338" y="3173401"/>
            <a:ext cx="3499250" cy="18187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942C40AB-A548-4183-AE71-FCD66F299099}"/>
              </a:ext>
            </a:extLst>
          </p:cNvPr>
          <p:cNvCxnSpPr>
            <a:cxnSpLocks/>
            <a:endCxn id="61" idx="1"/>
          </p:cNvCxnSpPr>
          <p:nvPr/>
        </p:nvCxnSpPr>
        <p:spPr>
          <a:xfrm flipV="1">
            <a:off x="8284963" y="2630243"/>
            <a:ext cx="254199" cy="543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1C3DEB67-0453-49CA-8299-97523A0BCD89}"/>
              </a:ext>
            </a:extLst>
          </p:cNvPr>
          <p:cNvCxnSpPr>
            <a:cxnSpLocks/>
            <a:stCxn id="63" idx="0"/>
            <a:endCxn id="57" idx="2"/>
          </p:cNvCxnSpPr>
          <p:nvPr/>
        </p:nvCxnSpPr>
        <p:spPr>
          <a:xfrm flipH="1" flipV="1">
            <a:off x="7277100" y="794871"/>
            <a:ext cx="1978819" cy="1167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F17B5879-59B1-4EE9-8FAF-4F165F04121E}"/>
              </a:ext>
            </a:extLst>
          </p:cNvPr>
          <p:cNvSpPr txBox="1"/>
          <p:nvPr/>
        </p:nvSpPr>
        <p:spPr>
          <a:xfrm>
            <a:off x="7636890" y="5015662"/>
            <a:ext cx="3676202" cy="161582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1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CI1     param add or delete</a:t>
            </a:r>
          </a:p>
          <a:p>
            <a:r>
              <a:rPr lang="en-US" altLang="zh-CN" sz="11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CI2     key of keyword argument add or delete</a:t>
            </a:r>
          </a:p>
          <a:p>
            <a:r>
              <a:rPr lang="en-US" altLang="zh-CN" sz="11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CI3     param rename</a:t>
            </a:r>
          </a:p>
          <a:p>
            <a:r>
              <a:rPr lang="en-US" altLang="zh-CN" sz="11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CI4     param default value change</a:t>
            </a:r>
          </a:p>
          <a:p>
            <a:r>
              <a:rPr lang="en-US" altLang="zh-CN" sz="11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CI5     param range change</a:t>
            </a:r>
          </a:p>
          <a:p>
            <a:r>
              <a:rPr lang="en-US" altLang="zh-CN" sz="11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CI6     throw different exception</a:t>
            </a:r>
          </a:p>
          <a:p>
            <a:r>
              <a:rPr lang="en-US" altLang="zh-CN" sz="11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CI7     return value change</a:t>
            </a:r>
          </a:p>
          <a:p>
            <a:r>
              <a:rPr lang="en-US" altLang="zh-CN" sz="11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CI8     global variable change</a:t>
            </a:r>
          </a:p>
          <a:p>
            <a:r>
              <a:rPr lang="en-US" altLang="zh-CN" sz="11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CI9     reference parameter change</a:t>
            </a:r>
          </a:p>
        </p:txBody>
      </p:sp>
    </p:spTree>
    <p:extLst>
      <p:ext uri="{BB962C8B-B14F-4D97-AF65-F5344CB8AC3E}">
        <p14:creationId xmlns:p14="http://schemas.microsoft.com/office/powerpoint/2010/main" val="861370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CAD1C7E5-F4E9-4BC4-91CD-89BCD5F76F39}"/>
              </a:ext>
            </a:extLst>
          </p:cNvPr>
          <p:cNvSpPr txBox="1"/>
          <p:nvPr/>
        </p:nvSpPr>
        <p:spPr>
          <a:xfrm>
            <a:off x="443018" y="2234000"/>
            <a:ext cx="6443999" cy="214397"/>
          </a:xfrm>
          <a:prstGeom prst="rect">
            <a:avLst/>
          </a:prstGeom>
          <a:solidFill>
            <a:srgbClr val="FFCCCC"/>
          </a:solidFill>
        </p:spPr>
        <p:txBody>
          <a:bodyPr wrap="none" anchor="ctr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400" b="0" i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3F5F44-852A-48D9-A1D2-9A3E844B38E9}"/>
              </a:ext>
            </a:extLst>
          </p:cNvPr>
          <p:cNvSpPr txBox="1"/>
          <p:nvPr/>
        </p:nvSpPr>
        <p:spPr>
          <a:xfrm>
            <a:off x="442208" y="1815884"/>
            <a:ext cx="6443999" cy="216000"/>
          </a:xfrm>
          <a:prstGeom prst="rect">
            <a:avLst/>
          </a:prstGeom>
          <a:solidFill>
            <a:srgbClr val="EBF1DD"/>
          </a:solidFill>
        </p:spPr>
        <p:txBody>
          <a:bodyPr wrap="square">
            <a:sp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400" b="0" i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3A35B29-2893-4AF4-81C2-6D992F513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9730" y="2811725"/>
            <a:ext cx="5377192" cy="2694531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D08FC6E6-3290-4F4F-B402-323CAA6F87D1}"/>
              </a:ext>
            </a:extLst>
          </p:cNvPr>
          <p:cNvSpPr txBox="1"/>
          <p:nvPr/>
        </p:nvSpPr>
        <p:spPr>
          <a:xfrm>
            <a:off x="432154" y="1582935"/>
            <a:ext cx="6443999" cy="216000"/>
          </a:xfrm>
          <a:prstGeom prst="rect">
            <a:avLst/>
          </a:prstGeom>
          <a:solidFill>
            <a:srgbClr val="FFCCCC"/>
          </a:solidFill>
        </p:spPr>
        <p:txBody>
          <a:bodyPr wrap="square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400" b="0" i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C2A0947-CE02-429D-B0D7-4D0FBD112E4F}"/>
              </a:ext>
            </a:extLst>
          </p:cNvPr>
          <p:cNvSpPr txBox="1"/>
          <p:nvPr/>
        </p:nvSpPr>
        <p:spPr>
          <a:xfrm>
            <a:off x="442202" y="2847025"/>
            <a:ext cx="6443999" cy="648000"/>
          </a:xfrm>
          <a:prstGeom prst="rect">
            <a:avLst/>
          </a:prstGeom>
          <a:solidFill>
            <a:srgbClr val="FFCCCC"/>
          </a:solidFill>
        </p:spPr>
        <p:txBody>
          <a:bodyPr wrap="none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400" b="0" i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E2F20C6-E145-4FBB-A523-D3469EDC0CBB}"/>
              </a:ext>
            </a:extLst>
          </p:cNvPr>
          <p:cNvSpPr txBox="1"/>
          <p:nvPr/>
        </p:nvSpPr>
        <p:spPr>
          <a:xfrm>
            <a:off x="429323" y="4580430"/>
            <a:ext cx="6443999" cy="216000"/>
          </a:xfrm>
          <a:prstGeom prst="rect">
            <a:avLst/>
          </a:prstGeom>
          <a:solidFill>
            <a:srgbClr val="FFCCCC"/>
          </a:solidFill>
        </p:spPr>
        <p:txBody>
          <a:bodyPr wrap="none">
            <a:noAutofit/>
          </a:bodyPr>
          <a:lstStyle/>
          <a:p>
            <a:pPr marL="0" marR="0" lvl="0" indent="0" algn="l" defTabSz="3600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9F0A67A-830A-41D3-9F6C-AB59C13A0F83}"/>
              </a:ext>
            </a:extLst>
          </p:cNvPr>
          <p:cNvSpPr txBox="1"/>
          <p:nvPr/>
        </p:nvSpPr>
        <p:spPr>
          <a:xfrm>
            <a:off x="442194" y="4796430"/>
            <a:ext cx="6444000" cy="216000"/>
          </a:xfrm>
          <a:prstGeom prst="rect">
            <a:avLst/>
          </a:prstGeom>
          <a:solidFill>
            <a:srgbClr val="EBF1DD"/>
          </a:solidFill>
        </p:spPr>
        <p:txBody>
          <a:bodyPr wrap="none">
            <a:noAutofit/>
          </a:bodyPr>
          <a:lstStyle/>
          <a:p>
            <a:pPr marL="0" marR="0" lvl="0" indent="0" algn="l" defTabSz="3600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等线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7D5D352C-20FE-4AD1-A4E0-FD2B1AF2AD4D}"/>
              </a:ext>
            </a:extLst>
          </p:cNvPr>
          <p:cNvSpPr txBox="1"/>
          <p:nvPr/>
        </p:nvSpPr>
        <p:spPr>
          <a:xfrm>
            <a:off x="455793" y="3510991"/>
            <a:ext cx="6443999" cy="648000"/>
          </a:xfrm>
          <a:prstGeom prst="rect">
            <a:avLst/>
          </a:prstGeom>
          <a:solidFill>
            <a:srgbClr val="EBF1DD"/>
          </a:solidFill>
        </p:spPr>
        <p:txBody>
          <a:bodyPr wrap="none">
            <a:noAutofit/>
          </a:bodyPr>
          <a:lstStyle/>
          <a:p>
            <a:pPr defTabSz="360000">
              <a:lnSpc>
                <a:spcPct val="150000"/>
              </a:lnSpc>
              <a:tabLst>
                <a:tab pos="0" algn="l"/>
              </a:tabLst>
            </a:pPr>
            <a:endParaRPr lang="en-US" altLang="zh-CN" sz="1400" b="0" i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文本框 60">
            <a:extLst>
              <a:ext uri="{FF2B5EF4-FFF2-40B4-BE49-F238E27FC236}">
                <a16:creationId xmlns:a16="http://schemas.microsoft.com/office/drawing/2014/main" id="{71177549-5C4A-9C40-B0B9-B15ADB70481C}"/>
              </a:ext>
            </a:extLst>
          </p:cNvPr>
          <p:cNvSpPr txBox="1"/>
          <p:nvPr/>
        </p:nvSpPr>
        <p:spPr>
          <a:xfrm>
            <a:off x="432153" y="1543293"/>
            <a:ext cx="373314" cy="376676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1 -	   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2 +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4 -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7 -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8 -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9 -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10+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11+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12+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13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14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15-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16+</a:t>
            </a:r>
          </a:p>
          <a:p>
            <a:pPr defTabSz="720000"/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17</a:t>
            </a:r>
          </a:p>
        </p:txBody>
      </p:sp>
      <p:sp>
        <p:nvSpPr>
          <p:cNvPr id="3" name="文本框 60">
            <a:extLst>
              <a:ext uri="{FF2B5EF4-FFF2-40B4-BE49-F238E27FC236}">
                <a16:creationId xmlns:a16="http://schemas.microsoft.com/office/drawing/2014/main" id="{2D34E9BC-9A6E-89DC-57BB-C1DF6C9C3422}"/>
              </a:ext>
            </a:extLst>
          </p:cNvPr>
          <p:cNvSpPr txBox="1"/>
          <p:nvPr/>
        </p:nvSpPr>
        <p:spPr>
          <a:xfrm>
            <a:off x="785589" y="1545620"/>
            <a:ext cx="6098604" cy="37667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720000"/>
            <a:r>
              <a:rPr lang="en-US" altLang="zh-CN" sz="14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amount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n_size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is_good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**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kwargs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): </a:t>
            </a:r>
          </a:p>
          <a:p>
            <a:pPr defTabSz="720000"/>
            <a:r>
              <a:rPr lang="en-US" altLang="zh-CN" sz="14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n_dim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is_good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**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kwargs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): </a:t>
            </a:r>
          </a:p>
          <a:p>
            <a:pPr defTabSz="720000"/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global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GLOBALX</a:t>
            </a:r>
          </a:p>
          <a:p>
            <a:pPr defTabSz="720000"/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self.amount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amount 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i="0" dirty="0" err="1">
                <a:solidFill>
                  <a:srgbClr val="8C817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is_good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GLOBALX =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n_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720000"/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new_var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 *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n_size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720000"/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kwargs.get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'key</a:t>
            </a:r>
            <a:r>
              <a:rPr lang="en-US" altLang="zh-CN" sz="1400" b="0" i="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GLOBALX = </a:t>
            </a:r>
            <a:r>
              <a:rPr lang="pt-BR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n_dim</a:t>
            </a:r>
            <a:r>
              <a:rPr lang="pt-BR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if</a:t>
            </a:r>
            <a:r>
              <a:rPr lang="pt-BR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n_dim</a:t>
            </a:r>
            <a:r>
              <a:rPr lang="pt-BR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</a:t>
            </a:r>
            <a:r>
              <a:rPr lang="pt-BR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else</a:t>
            </a:r>
            <a:r>
              <a:rPr lang="pt-BR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None</a:t>
            </a:r>
            <a:r>
              <a:rPr lang="pt-BR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endParaRPr lang="en-US" altLang="zh-CN" sz="1400" dirty="0">
              <a:solidFill>
                <a:srgbClr val="0000FF"/>
              </a:solidFill>
              <a:latin typeface="Consolas" panose="020B0609020204030204" pitchFamily="49" charset="0"/>
              <a:ea typeface="等线" panose="02010600030101010101" pitchFamily="2" charset="-122"/>
              <a:cs typeface="Consolas" panose="020B0609020204030204" pitchFamily="49" charset="0"/>
            </a:endParaRPr>
          </a:p>
          <a:p>
            <a:pPr defTabSz="720000"/>
            <a:r>
              <a:rPr lang="en-US" altLang="zh-CN" sz="14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new_var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 *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n_dim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defTabSz="720000"/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kwargs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.get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key_for_check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and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.type_bad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</a:p>
          <a:p>
            <a:pPr defTabSz="720000"/>
            <a:r>
              <a:rPr kumimoji="0" lang="en-US" altLang="zh-CN" sz="1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  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raise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TypeError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'message’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if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len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new_var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 == </a:t>
            </a:r>
            <a:r>
              <a:rPr lang="en-US" altLang="zh-CN" sz="1400" dirty="0">
                <a:solidFill>
                  <a:srgbClr val="8C817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: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  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raise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ValueError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'another message'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  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raise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LENError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'another message’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)</a:t>
            </a:r>
          </a:p>
          <a:p>
            <a:pPr defTabSz="720000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return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new_var</a:t>
            </a:r>
            <a:endParaRPr lang="en-US" altLang="zh-CN" sz="1400" b="0" i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6CAEF1-957B-58D9-13C6-CAAD20D440FF}"/>
              </a:ext>
            </a:extLst>
          </p:cNvPr>
          <p:cNvSpPr/>
          <p:nvPr/>
        </p:nvSpPr>
        <p:spPr>
          <a:xfrm>
            <a:off x="432153" y="1582934"/>
            <a:ext cx="6452040" cy="3695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AD23FC2-0E99-420E-B3F0-81BA7A5AD441}"/>
              </a:ext>
            </a:extLst>
          </p:cNvPr>
          <p:cNvSpPr/>
          <p:nvPr/>
        </p:nvSpPr>
        <p:spPr>
          <a:xfrm>
            <a:off x="2243366" y="1582935"/>
            <a:ext cx="576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9FE0670-69E4-47DD-97B1-207229DC7E64}"/>
              </a:ext>
            </a:extLst>
          </p:cNvPr>
          <p:cNvSpPr/>
          <p:nvPr/>
        </p:nvSpPr>
        <p:spPr>
          <a:xfrm>
            <a:off x="3212166" y="1593319"/>
            <a:ext cx="432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DEFBBBF-2474-4DEB-9009-53A5B1FC641F}"/>
              </a:ext>
            </a:extLst>
          </p:cNvPr>
          <p:cNvSpPr/>
          <p:nvPr/>
        </p:nvSpPr>
        <p:spPr>
          <a:xfrm>
            <a:off x="5170699" y="1585637"/>
            <a:ext cx="468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ECA2AE-2CD0-49DC-8DD6-AA7848E579F7}"/>
              </a:ext>
            </a:extLst>
          </p:cNvPr>
          <p:cNvSpPr/>
          <p:nvPr/>
        </p:nvSpPr>
        <p:spPr>
          <a:xfrm>
            <a:off x="2419854" y="1810001"/>
            <a:ext cx="324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E210D9-B60C-4B80-939A-03D4EBDECED9}"/>
              </a:ext>
            </a:extLst>
          </p:cNvPr>
          <p:cNvSpPr/>
          <p:nvPr/>
        </p:nvSpPr>
        <p:spPr>
          <a:xfrm>
            <a:off x="4281713" y="1798935"/>
            <a:ext cx="540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84AD037-93AB-4498-8EB6-1A0610F35A66}"/>
              </a:ext>
            </a:extLst>
          </p:cNvPr>
          <p:cNvSpPr/>
          <p:nvPr/>
        </p:nvSpPr>
        <p:spPr>
          <a:xfrm>
            <a:off x="7479427" y="1755677"/>
            <a:ext cx="2236494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7A8B6CF-5DD4-450B-A2B8-4F4267E37EC8}"/>
              </a:ext>
            </a:extLst>
          </p:cNvPr>
          <p:cNvSpPr/>
          <p:nvPr/>
        </p:nvSpPr>
        <p:spPr>
          <a:xfrm>
            <a:off x="3030621" y="3073410"/>
            <a:ext cx="432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F29C126-103C-4602-9466-FD2828F07BDB}"/>
              </a:ext>
            </a:extLst>
          </p:cNvPr>
          <p:cNvSpPr/>
          <p:nvPr/>
        </p:nvSpPr>
        <p:spPr>
          <a:xfrm>
            <a:off x="2433527" y="2844106"/>
            <a:ext cx="432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E016B36-1C75-4B2E-8ED5-A5768E166053}"/>
              </a:ext>
            </a:extLst>
          </p:cNvPr>
          <p:cNvSpPr/>
          <p:nvPr/>
        </p:nvSpPr>
        <p:spPr>
          <a:xfrm>
            <a:off x="2691873" y="3926849"/>
            <a:ext cx="1368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17ABDFB-03B3-468C-BA40-214515C172DD}"/>
              </a:ext>
            </a:extLst>
          </p:cNvPr>
          <p:cNvSpPr/>
          <p:nvPr/>
        </p:nvSpPr>
        <p:spPr>
          <a:xfrm>
            <a:off x="2437447" y="3516768"/>
            <a:ext cx="360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403773C-892E-4F24-807F-0D68C875AF51}"/>
              </a:ext>
            </a:extLst>
          </p:cNvPr>
          <p:cNvSpPr/>
          <p:nvPr/>
        </p:nvSpPr>
        <p:spPr>
          <a:xfrm>
            <a:off x="6183539" y="823808"/>
            <a:ext cx="3532382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71EE7DD-5395-44AE-958E-41703F9438A7}"/>
              </a:ext>
            </a:extLst>
          </p:cNvPr>
          <p:cNvSpPr/>
          <p:nvPr/>
        </p:nvSpPr>
        <p:spPr>
          <a:xfrm>
            <a:off x="2231334" y="4807244"/>
            <a:ext cx="828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0465493-2F74-4BD6-897B-007885F9B5FB}"/>
              </a:ext>
            </a:extLst>
          </p:cNvPr>
          <p:cNvSpPr/>
          <p:nvPr/>
        </p:nvSpPr>
        <p:spPr>
          <a:xfrm>
            <a:off x="2237911" y="4564288"/>
            <a:ext cx="1008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矩形 56">
            <a:extLst>
              <a:ext uri="{FF2B5EF4-FFF2-40B4-BE49-F238E27FC236}">
                <a16:creationId xmlns:a16="http://schemas.microsoft.com/office/drawing/2014/main" id="{FC38D87B-4C54-6E36-0BAB-8B69A4503BD9}"/>
              </a:ext>
            </a:extLst>
          </p:cNvPr>
          <p:cNvSpPr/>
          <p:nvPr/>
        </p:nvSpPr>
        <p:spPr>
          <a:xfrm>
            <a:off x="3323774" y="3524790"/>
            <a:ext cx="360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矩形 56">
            <a:extLst>
              <a:ext uri="{FF2B5EF4-FFF2-40B4-BE49-F238E27FC236}">
                <a16:creationId xmlns:a16="http://schemas.microsoft.com/office/drawing/2014/main" id="{E33459E9-7C99-B4F0-5358-53B1795707E8}"/>
              </a:ext>
            </a:extLst>
          </p:cNvPr>
          <p:cNvSpPr/>
          <p:nvPr/>
        </p:nvSpPr>
        <p:spPr>
          <a:xfrm>
            <a:off x="3006938" y="3713286"/>
            <a:ext cx="360000" cy="216000"/>
          </a:xfrm>
          <a:prstGeom prst="rect">
            <a:avLst/>
          </a:prstGeom>
          <a:solidFill>
            <a:schemeClr val="accent6">
              <a:lumMod val="75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矩形 51">
            <a:extLst>
              <a:ext uri="{FF2B5EF4-FFF2-40B4-BE49-F238E27FC236}">
                <a16:creationId xmlns:a16="http://schemas.microsoft.com/office/drawing/2014/main" id="{B5041CA0-552C-509F-A7C3-2134AD463FCA}"/>
              </a:ext>
            </a:extLst>
          </p:cNvPr>
          <p:cNvSpPr/>
          <p:nvPr/>
        </p:nvSpPr>
        <p:spPr>
          <a:xfrm>
            <a:off x="2737849" y="3285968"/>
            <a:ext cx="324000" cy="216000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16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8" name="直接箭头连接符 35">
            <a:extLst>
              <a:ext uri="{FF2B5EF4-FFF2-40B4-BE49-F238E27FC236}">
                <a16:creationId xmlns:a16="http://schemas.microsoft.com/office/drawing/2014/main" id="{9CD87EB6-4600-CD97-F712-ECF76FB7C8DE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2495028" y="829087"/>
            <a:ext cx="302419" cy="747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37">
            <a:extLst>
              <a:ext uri="{FF2B5EF4-FFF2-40B4-BE49-F238E27FC236}">
                <a16:creationId xmlns:a16="http://schemas.microsoft.com/office/drawing/2014/main" id="{D98B9D30-6E85-DB91-4FDE-B84D46DE14B9}"/>
              </a:ext>
            </a:extLst>
          </p:cNvPr>
          <p:cNvSpPr txBox="1"/>
          <p:nvPr/>
        </p:nvSpPr>
        <p:spPr>
          <a:xfrm>
            <a:off x="873397" y="228923"/>
            <a:ext cx="38481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i="0" dirty="0">
                <a:effectLst/>
                <a:latin typeface="Inter"/>
              </a:rPr>
              <a:t>CI1: </a:t>
            </a:r>
            <a:r>
              <a:rPr lang="en-US" altLang="zh-CN" sz="1100" b="0" i="0" dirty="0">
                <a:effectLst/>
                <a:latin typeface="Inter"/>
              </a:rPr>
              <a:t>Code_v2 removes required parameter ‘amount’. Using old arguments like ‘amount=1’ triggers “unexpected keyword argument” errors</a:t>
            </a:r>
            <a:r>
              <a:rPr lang="en-US" altLang="zh-CN" sz="1100" dirty="0">
                <a:latin typeface="Inter"/>
              </a:rPr>
              <a:t>.</a:t>
            </a:r>
            <a:endParaRPr lang="zh-CN" altLang="en-US" sz="1100" dirty="0"/>
          </a:p>
        </p:txBody>
      </p:sp>
      <p:sp>
        <p:nvSpPr>
          <p:cNvPr id="11" name="文本框 52">
            <a:extLst>
              <a:ext uri="{FF2B5EF4-FFF2-40B4-BE49-F238E27FC236}">
                <a16:creationId xmlns:a16="http://schemas.microsoft.com/office/drawing/2014/main" id="{5F2E2DC4-892F-B8FD-7341-EFA35B680679}"/>
              </a:ext>
            </a:extLst>
          </p:cNvPr>
          <p:cNvSpPr txBox="1"/>
          <p:nvPr/>
        </p:nvSpPr>
        <p:spPr>
          <a:xfrm>
            <a:off x="5614803" y="-14986"/>
            <a:ext cx="24431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i="0" dirty="0">
                <a:effectLst/>
                <a:latin typeface="Inter"/>
              </a:rPr>
              <a:t>CI2: </a:t>
            </a:r>
            <a:r>
              <a:rPr lang="en-US" altLang="zh-CN" sz="1100" b="0" i="0" dirty="0">
                <a:effectLst/>
                <a:latin typeface="Inter"/>
              </a:rPr>
              <a:t>Code_v2 changes the </a:t>
            </a:r>
            <a:r>
              <a:rPr lang="en-US" altLang="zh-CN" sz="1100" b="0" i="0" dirty="0" err="1">
                <a:effectLst/>
                <a:latin typeface="Inter"/>
              </a:rPr>
              <a:t>TypeError</a:t>
            </a:r>
            <a:r>
              <a:rPr lang="en-US" altLang="zh-CN" sz="1100" b="0" i="0" dirty="0">
                <a:effectLst/>
                <a:latin typeface="Inter"/>
              </a:rPr>
              <a:t> trigger key from 'key' to '</a:t>
            </a:r>
            <a:r>
              <a:rPr lang="en-US" altLang="zh-CN" sz="1100" b="0" i="0" dirty="0" err="1">
                <a:effectLst/>
                <a:latin typeface="Inter"/>
              </a:rPr>
              <a:t>key_for_check</a:t>
            </a:r>
            <a:r>
              <a:rPr lang="en-US" altLang="zh-CN" sz="1100" b="0" i="0" dirty="0">
                <a:effectLst/>
                <a:latin typeface="Inter"/>
              </a:rPr>
              <a:t>’. Only passing 'key=test’ may raise a </a:t>
            </a:r>
            <a:r>
              <a:rPr lang="en-US" altLang="zh-CN" sz="1100" b="0" i="0" dirty="0" err="1">
                <a:effectLst/>
                <a:latin typeface="Inter"/>
              </a:rPr>
              <a:t>KeyError</a:t>
            </a:r>
            <a:r>
              <a:rPr lang="en-US" altLang="zh-CN" sz="1100" b="0" i="0" dirty="0">
                <a:effectLst/>
                <a:latin typeface="Inter"/>
              </a:rPr>
              <a:t> in new API</a:t>
            </a:r>
            <a:endParaRPr lang="zh-CN" altLang="en-US" sz="1100" dirty="0"/>
          </a:p>
        </p:txBody>
      </p:sp>
      <p:cxnSp>
        <p:nvCxnSpPr>
          <p:cNvPr id="12" name="直接箭头连接符 75">
            <a:extLst>
              <a:ext uri="{FF2B5EF4-FFF2-40B4-BE49-F238E27FC236}">
                <a16:creationId xmlns:a16="http://schemas.microsoft.com/office/drawing/2014/main" id="{DD7ED2C2-FBB2-A74F-0708-17CECB9A6E93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5170699" y="369735"/>
            <a:ext cx="444104" cy="745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77">
            <a:extLst>
              <a:ext uri="{FF2B5EF4-FFF2-40B4-BE49-F238E27FC236}">
                <a16:creationId xmlns:a16="http://schemas.microsoft.com/office/drawing/2014/main" id="{B81FD181-416B-2E11-E04D-BA525BC67DED}"/>
              </a:ext>
            </a:extLst>
          </p:cNvPr>
          <p:cNvCxnSpPr>
            <a:cxnSpLocks/>
            <a:endCxn id="11" idx="3"/>
          </p:cNvCxnSpPr>
          <p:nvPr/>
        </p:nvCxnSpPr>
        <p:spPr>
          <a:xfrm flipH="1" flipV="1">
            <a:off x="8057966" y="369735"/>
            <a:ext cx="2430064" cy="776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190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FC6181A-0904-5324-C9AA-1263B18E9129}"/>
              </a:ext>
            </a:extLst>
          </p:cNvPr>
          <p:cNvSpPr/>
          <p:nvPr/>
        </p:nvSpPr>
        <p:spPr>
          <a:xfrm>
            <a:off x="254002" y="380012"/>
            <a:ext cx="11134434" cy="32538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9DE59D-9217-A57B-BED2-51E85532C347}"/>
              </a:ext>
            </a:extLst>
          </p:cNvPr>
          <p:cNvSpPr/>
          <p:nvPr/>
        </p:nvSpPr>
        <p:spPr>
          <a:xfrm>
            <a:off x="708977" y="822221"/>
            <a:ext cx="4001984" cy="3087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73C157-7A97-1CF3-11C4-9C60128C3C51}"/>
              </a:ext>
            </a:extLst>
          </p:cNvPr>
          <p:cNvSpPr txBox="1"/>
          <p:nvPr/>
        </p:nvSpPr>
        <p:spPr>
          <a:xfrm>
            <a:off x="1436914" y="843148"/>
            <a:ext cx="2504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URL</a:t>
            </a:r>
            <a:r>
              <a:rPr lang="zh-CN" altLang="en-US" dirty="0"/>
              <a:t> </a:t>
            </a:r>
            <a:r>
              <a:rPr lang="en-US" altLang="zh-CN" dirty="0" err="1"/>
              <a:t>Stackoverflow</a:t>
            </a:r>
            <a:r>
              <a:rPr lang="en-US" altLang="zh-CN" dirty="0"/>
              <a:t> Post</a:t>
            </a:r>
            <a:endParaRPr lang="en-C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6011EDB-C6D1-1B94-AC52-D03AEDCA3120}"/>
              </a:ext>
            </a:extLst>
          </p:cNvPr>
          <p:cNvSpPr/>
          <p:nvPr/>
        </p:nvSpPr>
        <p:spPr>
          <a:xfrm>
            <a:off x="961902" y="5118265"/>
            <a:ext cx="1555667" cy="896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FA81B4-0BBF-92D2-54F7-B3ECB38CF3D1}"/>
              </a:ext>
            </a:extLst>
          </p:cNvPr>
          <p:cNvSpPr txBox="1"/>
          <p:nvPr/>
        </p:nvSpPr>
        <p:spPr>
          <a:xfrm>
            <a:off x="969694" y="5977467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Stackoverflow DB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38D20A8-3442-F163-C9DF-484A0F76BEC3}"/>
              </a:ext>
            </a:extLst>
          </p:cNvPr>
          <p:cNvCxnSpPr/>
          <p:nvPr/>
        </p:nvCxnSpPr>
        <p:spPr>
          <a:xfrm>
            <a:off x="1436914" y="3752603"/>
            <a:ext cx="0" cy="1270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B5FCC20-4BB3-D27C-891F-AAFA2CA71E55}"/>
              </a:ext>
            </a:extLst>
          </p:cNvPr>
          <p:cNvSpPr/>
          <p:nvPr/>
        </p:nvSpPr>
        <p:spPr>
          <a:xfrm>
            <a:off x="669390" y="1323378"/>
            <a:ext cx="4001984" cy="17076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N" dirty="0"/>
              <a:t>Title</a:t>
            </a:r>
          </a:p>
          <a:p>
            <a:r>
              <a:rPr lang="en-CN" dirty="0"/>
              <a:t>Body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7990FED-C744-F6A7-5CB4-BA281854CF60}"/>
              </a:ext>
            </a:extLst>
          </p:cNvPr>
          <p:cNvSpPr/>
          <p:nvPr/>
        </p:nvSpPr>
        <p:spPr>
          <a:xfrm>
            <a:off x="4067301" y="3562679"/>
            <a:ext cx="1555667" cy="896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base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03D3EF-7E51-C2C5-8A6B-F41B85D63EBF}"/>
              </a:ext>
            </a:extLst>
          </p:cNvPr>
          <p:cNvSpPr txBox="1"/>
          <p:nvPr/>
        </p:nvSpPr>
        <p:spPr>
          <a:xfrm>
            <a:off x="3887933" y="5751224"/>
            <a:ext cx="599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LLM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7F7DF5-87F2-265B-9905-9A79818BFB10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2670382" y="3031031"/>
            <a:ext cx="2174753" cy="531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8C8543-4487-3C57-C514-C1CB203D2107}"/>
              </a:ext>
            </a:extLst>
          </p:cNvPr>
          <p:cNvSpPr txBox="1"/>
          <p:nvPr/>
        </p:nvSpPr>
        <p:spPr>
          <a:xfrm>
            <a:off x="5380014" y="1344305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I &amp; II &amp; Others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A02D32-3FFF-C41E-6286-03BA89EA17BF}"/>
              </a:ext>
            </a:extLst>
          </p:cNvPr>
          <p:cNvSpPr txBox="1"/>
          <p:nvPr/>
        </p:nvSpPr>
        <p:spPr>
          <a:xfrm>
            <a:off x="5380013" y="2308598"/>
            <a:ext cx="2770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II Package Name+ version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95D9C04-CCD2-1993-9129-7F2C3738BA30}"/>
              </a:ext>
            </a:extLst>
          </p:cNvPr>
          <p:cNvSpPr/>
          <p:nvPr/>
        </p:nvSpPr>
        <p:spPr>
          <a:xfrm>
            <a:off x="7099190" y="5118265"/>
            <a:ext cx="1555667" cy="896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7D74D-4DCC-F71F-1C51-88BF3D229FB0}"/>
              </a:ext>
            </a:extLst>
          </p:cNvPr>
          <p:cNvSpPr txBox="1"/>
          <p:nvPr/>
        </p:nvSpPr>
        <p:spPr>
          <a:xfrm>
            <a:off x="8866360" y="5381892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RiskDB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F95884E-B5DF-AF49-1927-AB26E8C8F56D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6790337" y="2677930"/>
            <a:ext cx="1086687" cy="2440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84FFBA8-7B73-D2DA-0455-5CECBD05E979}"/>
              </a:ext>
            </a:extLst>
          </p:cNvPr>
          <p:cNvSpPr txBox="1"/>
          <p:nvPr/>
        </p:nvSpPr>
        <p:spPr>
          <a:xfrm>
            <a:off x="8502733" y="229193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II’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A992C3C-1C10-1C0F-1FE1-7F0B8FFAE875}"/>
              </a:ext>
            </a:extLst>
          </p:cNvPr>
          <p:cNvSpPr/>
          <p:nvPr/>
        </p:nvSpPr>
        <p:spPr>
          <a:xfrm>
            <a:off x="9532847" y="4765549"/>
            <a:ext cx="1555667" cy="896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DD4170-F11C-7462-7478-C93CF62B9A55}"/>
              </a:ext>
            </a:extLst>
          </p:cNvPr>
          <p:cNvSpPr txBox="1"/>
          <p:nvPr/>
        </p:nvSpPr>
        <p:spPr>
          <a:xfrm>
            <a:off x="11177069" y="5118265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LLM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055955F-FD8B-7FFC-F117-3F3E63331EC7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9725891" y="2553195"/>
            <a:ext cx="584790" cy="2212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9952E4D-BDEE-292B-6798-A01C2A8E8D93}"/>
              </a:ext>
            </a:extLst>
          </p:cNvPr>
          <p:cNvSpPr txBox="1"/>
          <p:nvPr/>
        </p:nvSpPr>
        <p:spPr>
          <a:xfrm>
            <a:off x="9679786" y="1873906"/>
            <a:ext cx="920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Rewrite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DA12EBF-26DD-0011-9366-78C5E9AE282D}"/>
              </a:ext>
            </a:extLst>
          </p:cNvPr>
          <p:cNvSpPr/>
          <p:nvPr/>
        </p:nvSpPr>
        <p:spPr>
          <a:xfrm>
            <a:off x="6765168" y="447718"/>
            <a:ext cx="4154382" cy="58860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738DCC-1583-E738-A051-9B2A23B3ED30}"/>
              </a:ext>
            </a:extLst>
          </p:cNvPr>
          <p:cNvSpPr txBox="1"/>
          <p:nvPr/>
        </p:nvSpPr>
        <p:spPr>
          <a:xfrm>
            <a:off x="7162249" y="569128"/>
            <a:ext cx="4145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I: </a:t>
            </a:r>
            <a:r>
              <a:rPr lang="en-US" altLang="zh-CN" dirty="0"/>
              <a:t>10</a:t>
            </a:r>
            <a:r>
              <a:rPr lang="zh-CN" altLang="en-US" dirty="0"/>
              <a:t> </a:t>
            </a:r>
            <a:r>
              <a:rPr lang="en-CN" dirty="0"/>
              <a:t>Post, II: </a:t>
            </a:r>
            <a:r>
              <a:rPr lang="en-US" altLang="zh-CN" dirty="0"/>
              <a:t>2</a:t>
            </a:r>
            <a:r>
              <a:rPr lang="en-CN" dirty="0"/>
              <a:t> Post, II’ </a:t>
            </a:r>
            <a:r>
              <a:rPr lang="en-US" altLang="zh-CN" dirty="0"/>
              <a:t>1</a:t>
            </a:r>
            <a:r>
              <a:rPr lang="en-CN" dirty="0"/>
              <a:t> Post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A55200-52F5-7FD1-9C75-FB40199D0CCB}"/>
              </a:ext>
            </a:extLst>
          </p:cNvPr>
          <p:cNvSpPr txBox="1"/>
          <p:nvPr/>
        </p:nvSpPr>
        <p:spPr>
          <a:xfrm>
            <a:off x="4546271" y="5992519"/>
            <a:ext cx="2311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CN" dirty="0"/>
              <a:t>emantic理解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CN" dirty="0"/>
              <a:t>Filter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4A334C-2D7A-4C80-28AB-9FF7FA6834E9}"/>
              </a:ext>
            </a:extLst>
          </p:cNvPr>
          <p:cNvSpPr txBox="1"/>
          <p:nvPr/>
        </p:nvSpPr>
        <p:spPr>
          <a:xfrm>
            <a:off x="8365067" y="597746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匹配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8E301E-8578-B52C-9F3C-7B919897217D}"/>
              </a:ext>
            </a:extLst>
          </p:cNvPr>
          <p:cNvSpPr txBox="1"/>
          <p:nvPr/>
        </p:nvSpPr>
        <p:spPr>
          <a:xfrm>
            <a:off x="11277600" y="597746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重写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39C2FF-A6DE-1FED-C1BF-2C7682F02872}"/>
              </a:ext>
            </a:extLst>
          </p:cNvPr>
          <p:cNvSpPr txBox="1"/>
          <p:nvPr/>
        </p:nvSpPr>
        <p:spPr>
          <a:xfrm>
            <a:off x="511821" y="6647685"/>
            <a:ext cx="18501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I</a:t>
            </a:r>
          </a:p>
          <a:p>
            <a:r>
              <a:rPr lang="en-CN" dirty="0"/>
              <a:t>Q:What library?</a:t>
            </a:r>
          </a:p>
          <a:p>
            <a:r>
              <a:rPr lang="en-CN" dirty="0"/>
              <a:t>LLM: log4j 1.0  ?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FE34FC-159F-15D2-14DA-364F05CB2E10}"/>
              </a:ext>
            </a:extLst>
          </p:cNvPr>
          <p:cNvSpPr txBox="1"/>
          <p:nvPr/>
        </p:nvSpPr>
        <p:spPr>
          <a:xfrm>
            <a:off x="2994949" y="6646268"/>
            <a:ext cx="79480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II</a:t>
            </a:r>
          </a:p>
          <a:p>
            <a:r>
              <a:rPr lang="en-CN" dirty="0"/>
              <a:t>Q:I am using log4j, 1.0? </a:t>
            </a:r>
            <a:r>
              <a:rPr lang="en-GB" dirty="0"/>
              <a:t>H</a:t>
            </a:r>
            <a:r>
              <a:rPr lang="en-CN" dirty="0"/>
              <a:t>owever vul, how to adapt to new code in version 2.0 </a:t>
            </a:r>
          </a:p>
          <a:p>
            <a:r>
              <a:rPr lang="en-CN" dirty="0"/>
              <a:t>LLM: aaa(); -</a:t>
            </a:r>
            <a:r>
              <a:rPr lang="en-CN" dirty="0">
                <a:sym typeface="Wingdings" pitchFamily="2" charset="2"/>
              </a:rPr>
              <a:t> aaa(true);</a:t>
            </a:r>
            <a:endParaRPr lang="en-C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01282B-9A4A-CE89-BC7A-32AAA226666D}"/>
              </a:ext>
            </a:extLst>
          </p:cNvPr>
          <p:cNvSpPr txBox="1"/>
          <p:nvPr/>
        </p:nvSpPr>
        <p:spPr>
          <a:xfrm>
            <a:off x="0" y="-565788"/>
            <a:ext cx="6725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用户使用LLM</a:t>
            </a:r>
            <a:r>
              <a:rPr lang="zh-CN" altLang="en-US" dirty="0"/>
              <a:t>推荐的</a:t>
            </a:r>
            <a:r>
              <a:rPr lang="en-US" altLang="zh-CN" dirty="0"/>
              <a:t>lib</a:t>
            </a:r>
            <a:r>
              <a:rPr lang="zh-CN" altLang="en-US" dirty="0"/>
              <a:t>版本存在</a:t>
            </a:r>
            <a:r>
              <a:rPr lang="en-US" altLang="zh-CN" dirty="0" err="1"/>
              <a:t>vul</a:t>
            </a:r>
            <a:r>
              <a:rPr lang="zh-CN" altLang="en-US" dirty="0"/>
              <a:t>，需要推荐无</a:t>
            </a:r>
            <a:r>
              <a:rPr lang="en-US" altLang="zh-CN" dirty="0" err="1"/>
              <a:t>vul</a:t>
            </a:r>
            <a:r>
              <a:rPr lang="zh-CN" altLang="en-US" dirty="0"/>
              <a:t>的版本；使用</a:t>
            </a:r>
            <a:r>
              <a:rPr lang="en-US" altLang="zh-CN" dirty="0"/>
              <a:t>LLM</a:t>
            </a:r>
            <a:r>
              <a:rPr lang="zh-CN" altLang="en-US" dirty="0"/>
              <a:t>推荐的</a:t>
            </a:r>
            <a:r>
              <a:rPr lang="en-US" altLang="zh-CN" dirty="0"/>
              <a:t>lib</a:t>
            </a:r>
            <a:r>
              <a:rPr lang="zh-CN" altLang="en-US" dirty="0"/>
              <a:t>存在漏洞的版本，需要做自动化</a:t>
            </a:r>
            <a:r>
              <a:rPr lang="en-US" altLang="zh-CN" dirty="0"/>
              <a:t>code</a:t>
            </a:r>
            <a:r>
              <a:rPr lang="zh-CN" altLang="en-US" dirty="0"/>
              <a:t> 适配</a:t>
            </a:r>
            <a:endParaRPr lang="en-CN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7B7DEB3-71BB-3EE3-97A0-3B4588F036F1}"/>
              </a:ext>
            </a:extLst>
          </p:cNvPr>
          <p:cNvSpPr/>
          <p:nvPr/>
        </p:nvSpPr>
        <p:spPr>
          <a:xfrm>
            <a:off x="3417998" y="4840392"/>
            <a:ext cx="1555667" cy="896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CD0B9E5-6035-6ED7-440F-5C9F415DC5C6}"/>
              </a:ext>
            </a:extLst>
          </p:cNvPr>
          <p:cNvSpPr/>
          <p:nvPr/>
        </p:nvSpPr>
        <p:spPr>
          <a:xfrm>
            <a:off x="4924362" y="4840392"/>
            <a:ext cx="1555667" cy="896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8EF6EE-EF1C-5537-4F3C-D15CCD414700}"/>
              </a:ext>
            </a:extLst>
          </p:cNvPr>
          <p:cNvSpPr txBox="1"/>
          <p:nvPr/>
        </p:nvSpPr>
        <p:spPr>
          <a:xfrm>
            <a:off x="5371513" y="5681361"/>
            <a:ext cx="599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LLM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E189013-3793-788F-74FF-AC7765F4195E}"/>
              </a:ext>
            </a:extLst>
          </p:cNvPr>
          <p:cNvSpPr/>
          <p:nvPr/>
        </p:nvSpPr>
        <p:spPr>
          <a:xfrm>
            <a:off x="10744983" y="1527456"/>
            <a:ext cx="1940487" cy="17076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N" dirty="0"/>
              <a:t>Title</a:t>
            </a:r>
          </a:p>
          <a:p>
            <a:r>
              <a:rPr lang="en-CN" dirty="0"/>
              <a:t>Body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BBFED4-0117-A9F9-5A28-00D66C75B44D}"/>
              </a:ext>
            </a:extLst>
          </p:cNvPr>
          <p:cNvSpPr txBox="1"/>
          <p:nvPr/>
        </p:nvSpPr>
        <p:spPr>
          <a:xfrm>
            <a:off x="8201891" y="-387927"/>
            <a:ext cx="2520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Create R Update Delete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760E984-2C16-CE2D-4609-F64A799130EF}"/>
              </a:ext>
            </a:extLst>
          </p:cNvPr>
          <p:cNvSpPr/>
          <p:nvPr/>
        </p:nvSpPr>
        <p:spPr>
          <a:xfrm>
            <a:off x="11177532" y="3575048"/>
            <a:ext cx="1555667" cy="896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8527B5-6D93-EF8B-A4DA-EFFAEE26E1C9}"/>
              </a:ext>
            </a:extLst>
          </p:cNvPr>
          <p:cNvSpPr txBox="1"/>
          <p:nvPr/>
        </p:nvSpPr>
        <p:spPr>
          <a:xfrm>
            <a:off x="12821754" y="3927764"/>
            <a:ext cx="599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DB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81FA03-7F53-ABA7-B7BA-87864F4B6ADC}"/>
              </a:ext>
            </a:extLst>
          </p:cNvPr>
          <p:cNvSpPr txBox="1"/>
          <p:nvPr/>
        </p:nvSpPr>
        <p:spPr>
          <a:xfrm>
            <a:off x="12555805" y="3351397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Signed by?</a:t>
            </a:r>
          </a:p>
        </p:txBody>
      </p:sp>
    </p:spTree>
    <p:extLst>
      <p:ext uri="{BB962C8B-B14F-4D97-AF65-F5344CB8AC3E}">
        <p14:creationId xmlns:p14="http://schemas.microsoft.com/office/powerpoint/2010/main" val="1254303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CCD95E-8068-CED8-B6D2-157BFF4F645D}"/>
              </a:ext>
            </a:extLst>
          </p:cNvPr>
          <p:cNvSpPr txBox="1"/>
          <p:nvPr/>
        </p:nvSpPr>
        <p:spPr>
          <a:xfrm>
            <a:off x="1413164" y="762000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User Input: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90F5571-AD72-B1BB-980C-AD18CFA94409}"/>
              </a:ext>
            </a:extLst>
          </p:cNvPr>
          <p:cNvSpPr/>
          <p:nvPr/>
        </p:nvSpPr>
        <p:spPr>
          <a:xfrm>
            <a:off x="4275621" y="3387000"/>
            <a:ext cx="1555667" cy="896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9E6FAEF-C862-EEC4-4870-5FBFFD28E8AB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2533906" y="1424027"/>
            <a:ext cx="2519549" cy="1962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C8164F3-272D-D706-EDA9-20B665396FC1}"/>
              </a:ext>
            </a:extLst>
          </p:cNvPr>
          <p:cNvSpPr txBox="1"/>
          <p:nvPr/>
        </p:nvSpPr>
        <p:spPr>
          <a:xfrm>
            <a:off x="4805045" y="842158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Answer: 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86453F6-B6C8-D610-7631-E24936F7870C}"/>
              </a:ext>
            </a:extLst>
          </p:cNvPr>
          <p:cNvSpPr/>
          <p:nvPr/>
        </p:nvSpPr>
        <p:spPr>
          <a:xfrm>
            <a:off x="7448163" y="3571667"/>
            <a:ext cx="1555667" cy="8965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97E41A-3D09-F6E0-B495-14CCD509CBD2}"/>
              </a:ext>
            </a:extLst>
          </p:cNvPr>
          <p:cNvSpPr txBox="1"/>
          <p:nvPr/>
        </p:nvSpPr>
        <p:spPr>
          <a:xfrm>
            <a:off x="9215333" y="3835294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RiskDB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ECFB4F-BCD0-E7A2-B557-7D06D3153F3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7139310" y="1131332"/>
            <a:ext cx="1086687" cy="2440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3B902BD-D2F4-E5A1-56FB-A2187480A306}"/>
              </a:ext>
            </a:extLst>
          </p:cNvPr>
          <p:cNvSpPr txBox="1"/>
          <p:nvPr/>
        </p:nvSpPr>
        <p:spPr>
          <a:xfrm>
            <a:off x="1413164" y="5064641"/>
            <a:ext cx="2371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User Input: 1.0 -&gt; 2.0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A184E5-06EE-C513-4F98-79EEBCC3BB02}"/>
              </a:ext>
            </a:extLst>
          </p:cNvPr>
          <p:cNvSpPr txBox="1"/>
          <p:nvPr/>
        </p:nvSpPr>
        <p:spPr>
          <a:xfrm>
            <a:off x="5053454" y="5165307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Answer: </a:t>
            </a:r>
          </a:p>
        </p:txBody>
      </p:sp>
    </p:spTree>
    <p:extLst>
      <p:ext uri="{BB962C8B-B14F-4D97-AF65-F5344CB8AC3E}">
        <p14:creationId xmlns:p14="http://schemas.microsoft.com/office/powerpoint/2010/main" val="1667631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6100</TotalTime>
  <Words>1430</Words>
  <Application>Microsoft Macintosh PowerPoint</Application>
  <PresentationFormat>Widescreen</PresentationFormat>
  <Paragraphs>177</Paragraphs>
  <Slides>8</Slides>
  <Notes>2</Notes>
  <HiddenSlides>5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等线</vt:lpstr>
      <vt:lpstr>等线 Light</vt:lpstr>
      <vt:lpstr>HarmonyOS Sans SC</vt:lpstr>
      <vt:lpstr>Inter</vt:lpstr>
      <vt:lpstr>Arial</vt:lpstr>
      <vt:lpstr>Arial Rounded MT Bold</vt:lpstr>
      <vt:lpstr>Calibri</vt:lpstr>
      <vt:lpstr>Consolas</vt:lpstr>
      <vt:lpstr>Lucida Console</vt:lpstr>
      <vt:lpstr>Trebuchet MS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锦洋 何</dc:creator>
  <cp:lastModifiedBy>Kaifeng Huang</cp:lastModifiedBy>
  <cp:revision>23</cp:revision>
  <dcterms:created xsi:type="dcterms:W3CDTF">2025-12-06T06:52:14Z</dcterms:created>
  <dcterms:modified xsi:type="dcterms:W3CDTF">2025-12-11T11:51:59Z</dcterms:modified>
</cp:coreProperties>
</file>