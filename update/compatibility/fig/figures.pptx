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2" r:id="rId3"/>
    <p:sldId id="265" r:id="rId4"/>
    <p:sldId id="264" r:id="rId5"/>
    <p:sldId id="257" r:id="rId6"/>
    <p:sldId id="261" r:id="rId7"/>
    <p:sldId id="263" r:id="rId8"/>
    <p:sldId id="258" r:id="rId9"/>
    <p:sldId id="259" r:id="rId10"/>
  </p:sldIdLst>
  <p:sldSz cx="157924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FFA01C"/>
    <a:srgbClr val="60C4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/>
    <p:restoredTop sz="81020"/>
  </p:normalViewPr>
  <p:slideViewPr>
    <p:cSldViewPr snapToGrid="0">
      <p:cViewPr varScale="1">
        <p:scale>
          <a:sx n="48" d="100"/>
          <a:sy n="48" d="100"/>
        </p:scale>
        <p:origin x="20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13074-F728-EE48-B854-93E8AA892F55}" type="datetimeFigureOut">
              <a:rPr lang="en-CN" smtClean="0"/>
              <a:t>2025/12/28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3825" y="1143000"/>
            <a:ext cx="71056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078F3-C152-A44F-A3F6-3FBFC37C75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3893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23825" y="1143000"/>
            <a:ext cx="71056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Compatibility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078F3-C152-A44F-A3F6-3FBFC37C75C8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5662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23825" y="1143000"/>
            <a:ext cx="71056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Compatibility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078F3-C152-A44F-A3F6-3FBFC37C75C8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19920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23825" y="1143000"/>
            <a:ext cx="71056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078F3-C152-A44F-A3F6-3FBFC37C75C8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94712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4056" y="1122363"/>
            <a:ext cx="1184433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74056" y="3602038"/>
            <a:ext cx="1184433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553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55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7506" y="1709738"/>
            <a:ext cx="1362098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7506" y="4589464"/>
            <a:ext cx="1362098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865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731" y="1825625"/>
            <a:ext cx="671179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94928" y="1825625"/>
            <a:ext cx="671179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0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788" y="365126"/>
            <a:ext cx="136209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7789" y="1681163"/>
            <a:ext cx="66809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7789" y="2505075"/>
            <a:ext cx="668094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94928" y="1681163"/>
            <a:ext cx="671384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94928" y="2505075"/>
            <a:ext cx="67138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913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2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40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788" y="457200"/>
            <a:ext cx="509347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3848" y="987426"/>
            <a:ext cx="799492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88" y="2057400"/>
            <a:ext cx="509347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48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788" y="457200"/>
            <a:ext cx="509347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13848" y="987426"/>
            <a:ext cx="799492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88" y="2057400"/>
            <a:ext cx="509347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412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00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01472" y="365125"/>
            <a:ext cx="340524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5731" y="365125"/>
            <a:ext cx="1001833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24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5731" y="365126"/>
            <a:ext cx="136209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731" y="1825625"/>
            <a:ext cx="136209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5731" y="6356351"/>
            <a:ext cx="35533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1A4E7-0000-4A2B-B918-ABE935630511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31249" y="6356351"/>
            <a:ext cx="5329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3418" y="6356351"/>
            <a:ext cx="35533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942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A97D599F-E853-4A9F-AE46-F8A774199E59}"/>
              </a:ext>
            </a:extLst>
          </p:cNvPr>
          <p:cNvSpPr/>
          <p:nvPr/>
        </p:nvSpPr>
        <p:spPr>
          <a:xfrm>
            <a:off x="8202170" y="562474"/>
            <a:ext cx="3420000" cy="410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7A94F51-4C72-4CD1-A644-E032E1A25982}"/>
              </a:ext>
            </a:extLst>
          </p:cNvPr>
          <p:cNvSpPr/>
          <p:nvPr/>
        </p:nvSpPr>
        <p:spPr>
          <a:xfrm>
            <a:off x="3797282" y="562474"/>
            <a:ext cx="3420000" cy="410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352DB67-3A2C-4DFF-BB8C-FF3595E12C9A}"/>
              </a:ext>
            </a:extLst>
          </p:cNvPr>
          <p:cNvSpPr txBox="1"/>
          <p:nvPr/>
        </p:nvSpPr>
        <p:spPr>
          <a:xfrm>
            <a:off x="4077328" y="708500"/>
            <a:ext cx="319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rebuchet MS" panose="020B0703020202090204" pitchFamily="34" charset="0"/>
              </a:rPr>
              <a:t>Static Oriented Reasoning</a:t>
            </a:r>
            <a:endParaRPr lang="zh-CN" altLang="en-US" b="1" dirty="0">
              <a:latin typeface="Trebuchet MS" panose="020B070302020209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9BD72B-E7FD-0AA3-4386-A7AC55898061}"/>
              </a:ext>
            </a:extLst>
          </p:cNvPr>
          <p:cNvSpPr txBox="1"/>
          <p:nvPr/>
        </p:nvSpPr>
        <p:spPr>
          <a:xfrm>
            <a:off x="2570599" y="23851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rebuchet MS" panose="020B0703020202090204" pitchFamily="34" charset="0"/>
              </a:rPr>
              <a:t>API</a:t>
            </a:r>
            <a:r>
              <a:rPr lang="en-US" baseline="-25000" dirty="0" err="1">
                <a:latin typeface="Trebuchet MS" panose="020B0703020202090204" pitchFamily="34" charset="0"/>
              </a:rPr>
              <a:t>b</a:t>
            </a:r>
            <a:endParaRPr lang="en-CN" baseline="-25000" dirty="0">
              <a:latin typeface="Trebuchet MS" panose="020B070302020209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CA205B-8E98-6E0E-6B93-0CAC0B6996F0}"/>
              </a:ext>
            </a:extLst>
          </p:cNvPr>
          <p:cNvSpPr txBox="1"/>
          <p:nvPr/>
        </p:nvSpPr>
        <p:spPr>
          <a:xfrm>
            <a:off x="2573002" y="385428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rebuchet MS" panose="020B0703020202090204" pitchFamily="34" charset="0"/>
              </a:rPr>
              <a:t>API</a:t>
            </a:r>
            <a:r>
              <a:rPr lang="en-US" baseline="-25000" dirty="0" err="1">
                <a:latin typeface="Trebuchet MS" panose="020B0703020202090204" pitchFamily="34" charset="0"/>
              </a:rPr>
              <a:t>a</a:t>
            </a:r>
            <a:endParaRPr lang="en-CN" baseline="-25000" dirty="0">
              <a:latin typeface="Trebuchet MS" panose="020B0703020202090204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BD79563-4515-FC5F-B158-06B9B8991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252" y="1387677"/>
            <a:ext cx="982935" cy="98293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65595BA-078F-084A-4DE6-91EA6506C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252" y="2842233"/>
            <a:ext cx="982935" cy="982935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1E7B98E0-BB67-ED0B-84D3-BD40F5D11CDB}"/>
              </a:ext>
            </a:extLst>
          </p:cNvPr>
          <p:cNvSpPr/>
          <p:nvPr/>
        </p:nvSpPr>
        <p:spPr>
          <a:xfrm>
            <a:off x="4086421" y="2233229"/>
            <a:ext cx="1980000" cy="57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solidFill>
                  <a:schemeClr val="tx1"/>
                </a:solidFill>
                <a:latin typeface="Trebuchet MS" panose="020B0703020202090204" pitchFamily="34" charset="0"/>
              </a:rPr>
              <a:t>Source-Sink Labeling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CAB0127-4A03-5F71-B855-8A5F6BB1B3FA}"/>
              </a:ext>
            </a:extLst>
          </p:cNvPr>
          <p:cNvSpPr/>
          <p:nvPr/>
        </p:nvSpPr>
        <p:spPr>
          <a:xfrm>
            <a:off x="4086421" y="1368646"/>
            <a:ext cx="1980000" cy="57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solidFill>
                  <a:schemeClr val="tx1"/>
                </a:solidFill>
                <a:latin typeface="Trebuchet MS" panose="020B0703020202090204" pitchFamily="34" charset="0"/>
              </a:rPr>
              <a:t>Control Flow Graph Construction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8E7C6C3-1B44-3271-7690-BE7ADADB2CE6}"/>
              </a:ext>
            </a:extLst>
          </p:cNvPr>
          <p:cNvSpPr/>
          <p:nvPr/>
        </p:nvSpPr>
        <p:spPr>
          <a:xfrm>
            <a:off x="4087554" y="3937426"/>
            <a:ext cx="1980000" cy="57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solidFill>
                  <a:schemeClr val="tx1"/>
                </a:solidFill>
                <a:latin typeface="Trebuchet MS" panose="020B0703020202090204" pitchFamily="34" charset="0"/>
              </a:rPr>
              <a:t>Incompatibility Analysis</a:t>
            </a:r>
          </a:p>
        </p:txBody>
      </p:sp>
      <p:sp>
        <p:nvSpPr>
          <p:cNvPr id="79" name="文本框 30">
            <a:extLst>
              <a:ext uri="{FF2B5EF4-FFF2-40B4-BE49-F238E27FC236}">
                <a16:creationId xmlns:a16="http://schemas.microsoft.com/office/drawing/2014/main" id="{F758A1AD-CD57-465D-AF65-B714E397C517}"/>
              </a:ext>
            </a:extLst>
          </p:cNvPr>
          <p:cNvSpPr txBox="1"/>
          <p:nvPr/>
        </p:nvSpPr>
        <p:spPr>
          <a:xfrm>
            <a:off x="8209170" y="708500"/>
            <a:ext cx="356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rebuchet MS" panose="020B0703020202090204" pitchFamily="34" charset="0"/>
              </a:rPr>
              <a:t>Dynamic Simulated Reflection</a:t>
            </a:r>
            <a:endParaRPr lang="zh-CN" altLang="en-US" b="1" dirty="0">
              <a:latin typeface="Trebuchet MS" panose="020B0703020202090204" pitchFamily="34" charset="0"/>
            </a:endParaRPr>
          </a:p>
        </p:txBody>
      </p:sp>
      <p:sp>
        <p:nvSpPr>
          <p:cNvPr id="80" name="Right Arrow 79">
            <a:extLst>
              <a:ext uri="{FF2B5EF4-FFF2-40B4-BE49-F238E27FC236}">
                <a16:creationId xmlns:a16="http://schemas.microsoft.com/office/drawing/2014/main" id="{0A60A0A1-F2B5-A72C-235C-40813C87D59E}"/>
              </a:ext>
            </a:extLst>
          </p:cNvPr>
          <p:cNvSpPr/>
          <p:nvPr/>
        </p:nvSpPr>
        <p:spPr>
          <a:xfrm>
            <a:off x="3291718" y="2546555"/>
            <a:ext cx="342103" cy="511916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6227448-4CCC-3B21-3FE0-E0E9325DE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069" y="2700175"/>
            <a:ext cx="634088" cy="634088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1145BEF3-11E7-2903-E7DE-C4174AD55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070" y="3879339"/>
            <a:ext cx="608993" cy="608993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5DAE0655-831C-D5DC-C252-AB44F54DF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070" y="1339429"/>
            <a:ext cx="634435" cy="634435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8C02FABA-AFE0-1239-58E8-F5086809B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6655" y="1951643"/>
            <a:ext cx="982935" cy="982935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0C7618AF-72BA-525D-752F-4847D658A9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46561" y="1979822"/>
            <a:ext cx="583119" cy="583119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4D06255C-3345-429B-81A1-7A73A9164B42}"/>
              </a:ext>
            </a:extLst>
          </p:cNvPr>
          <p:cNvSpPr txBox="1"/>
          <p:nvPr/>
        </p:nvSpPr>
        <p:spPr>
          <a:xfrm>
            <a:off x="11628125" y="2926622"/>
            <a:ext cx="2266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 panose="020B0703020202090204" pitchFamily="34" charset="0"/>
              </a:rPr>
              <a:t>Identified Incompatibilities</a:t>
            </a:r>
            <a:endParaRPr lang="en-CN" baseline="-25000" dirty="0">
              <a:latin typeface="Trebuchet MS" panose="020B070302020209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E053EBC-B6CE-CE03-B650-A608F27E516E}"/>
              </a:ext>
            </a:extLst>
          </p:cNvPr>
          <p:cNvSpPr/>
          <p:nvPr/>
        </p:nvSpPr>
        <p:spPr>
          <a:xfrm>
            <a:off x="4087554" y="3097812"/>
            <a:ext cx="1980000" cy="57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solidFill>
                  <a:schemeClr val="tx1"/>
                </a:solidFill>
                <a:latin typeface="Trebuchet MS" panose="020B0703020202090204" pitchFamily="34" charset="0"/>
              </a:rPr>
              <a:t>Graph Traversing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D1E746EB-5CB1-DB0D-D934-1E7AE2F2986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30764" y="1561862"/>
            <a:ext cx="823307" cy="823307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A6878319-CC03-0456-3DF5-C2B9F489AE58}"/>
              </a:ext>
            </a:extLst>
          </p:cNvPr>
          <p:cNvSpPr txBox="1"/>
          <p:nvPr/>
        </p:nvSpPr>
        <p:spPr>
          <a:xfrm>
            <a:off x="7468314" y="1814976"/>
            <a:ext cx="576000" cy="25200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CN" b="1" dirty="0">
                <a:latin typeface="Arial Rounded MT Bold" panose="020F0704030504030204" pitchFamily="34" charset="77"/>
              </a:rPr>
              <a:t>LLM</a:t>
            </a:r>
          </a:p>
        </p:txBody>
      </p:sp>
      <p:sp>
        <p:nvSpPr>
          <p:cNvPr id="110" name="Right Arrow 109">
            <a:extLst>
              <a:ext uri="{FF2B5EF4-FFF2-40B4-BE49-F238E27FC236}">
                <a16:creationId xmlns:a16="http://schemas.microsoft.com/office/drawing/2014/main" id="{96D317D5-E4AA-04C1-5B3C-EF1DB5644496}"/>
              </a:ext>
            </a:extLst>
          </p:cNvPr>
          <p:cNvSpPr/>
          <p:nvPr/>
        </p:nvSpPr>
        <p:spPr>
          <a:xfrm>
            <a:off x="11712981" y="2505714"/>
            <a:ext cx="342103" cy="511916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C4E794E4-ACFC-6AEA-6E65-8080795B3B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55" y="1312581"/>
            <a:ext cx="611660" cy="61166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91D39842-1216-AF3A-5124-AD3E6DF9BF1F}"/>
              </a:ext>
            </a:extLst>
          </p:cNvPr>
          <p:cNvSpPr/>
          <p:nvPr/>
        </p:nvSpPr>
        <p:spPr>
          <a:xfrm>
            <a:off x="9453814" y="1368646"/>
            <a:ext cx="1905006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rebuchet MS" panose="020B0703020202090204" pitchFamily="34" charset="0"/>
                <a:cs typeface="Arial" panose="020B0604020202020204" pitchFamily="34" charset="0"/>
              </a:rPr>
              <a:t>Test Case Generator</a:t>
            </a:r>
            <a:endParaRPr lang="zh-CN" altLang="en-US" sz="1400" dirty="0">
              <a:solidFill>
                <a:schemeClr val="tx1"/>
              </a:solidFill>
              <a:latin typeface="Trebuchet MS" panose="020B070302020209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F5097A0-6680-1C8C-4F03-C260DA5FEEA3}"/>
              </a:ext>
            </a:extLst>
          </p:cNvPr>
          <p:cNvSpPr/>
          <p:nvPr/>
        </p:nvSpPr>
        <p:spPr>
          <a:xfrm>
            <a:off x="9453814" y="2653036"/>
            <a:ext cx="1905006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rebuchet MS" panose="020B0703020202090204" pitchFamily="34" charset="0"/>
                <a:cs typeface="Arial" panose="020B0604020202020204" pitchFamily="34" charset="0"/>
              </a:rPr>
              <a:t>Step-by-Step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rebuchet MS" panose="020B0703020202090204" pitchFamily="34" charset="0"/>
                <a:cs typeface="Arial" panose="020B0604020202020204" pitchFamily="34" charset="0"/>
              </a:rPr>
              <a:t>Simulator</a:t>
            </a:r>
            <a:endParaRPr lang="zh-CN" altLang="en-US" sz="1400" dirty="0">
              <a:solidFill>
                <a:schemeClr val="tx1"/>
              </a:solidFill>
              <a:latin typeface="Trebuchet MS" panose="020B070302020209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C90CA70-E21D-C282-B516-45B289E68012}"/>
              </a:ext>
            </a:extLst>
          </p:cNvPr>
          <p:cNvSpPr/>
          <p:nvPr/>
        </p:nvSpPr>
        <p:spPr>
          <a:xfrm>
            <a:off x="9453814" y="3937426"/>
            <a:ext cx="1905006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rebuchet MS" panose="020B0703020202090204" pitchFamily="34" charset="0"/>
                <a:cs typeface="Arial" panose="020B0604020202020204" pitchFamily="34" charset="0"/>
              </a:rPr>
              <a:t>Simulated Result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rebuchet MS" panose="020B0703020202090204" pitchFamily="34" charset="0"/>
                <a:cs typeface="Arial" panose="020B0604020202020204" pitchFamily="34" charset="0"/>
              </a:rPr>
              <a:t>Analyzer</a:t>
            </a:r>
            <a:endParaRPr lang="zh-CN" altLang="en-US" sz="1400" dirty="0">
              <a:solidFill>
                <a:schemeClr val="tx1"/>
              </a:solidFill>
              <a:latin typeface="Trebuchet MS" panose="020B0703020202090204" pitchFamily="34" charset="0"/>
              <a:cs typeface="Arial" panose="020B0604020202020204" pitchFamily="34" charset="0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F3B5E59-5F89-13F4-D4B9-15078C8CAF08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>
            <a:off x="5076421" y="1944647"/>
            <a:ext cx="0" cy="2885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81CBDC16-EFA6-180B-3425-D44F24BB8045}"/>
              </a:ext>
            </a:extLst>
          </p:cNvPr>
          <p:cNvCxnSpPr>
            <a:cxnSpLocks/>
            <a:stCxn id="58" idx="2"/>
            <a:endCxn id="103" idx="0"/>
          </p:cNvCxnSpPr>
          <p:nvPr/>
        </p:nvCxnSpPr>
        <p:spPr>
          <a:xfrm>
            <a:off x="5076422" y="2809230"/>
            <a:ext cx="1133" cy="2885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04776EBD-4CE8-7DCF-7D36-F87E58FE2A8D}"/>
              </a:ext>
            </a:extLst>
          </p:cNvPr>
          <p:cNvCxnSpPr>
            <a:cxnSpLocks/>
            <a:stCxn id="103" idx="2"/>
            <a:endCxn id="60" idx="0"/>
          </p:cNvCxnSpPr>
          <p:nvPr/>
        </p:nvCxnSpPr>
        <p:spPr>
          <a:xfrm>
            <a:off x="5077554" y="3673812"/>
            <a:ext cx="0" cy="2636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7938524-4248-56A3-90D2-9FA014BB5889}"/>
              </a:ext>
            </a:extLst>
          </p:cNvPr>
          <p:cNvCxnSpPr>
            <a:cxnSpLocks/>
            <a:stCxn id="112" idx="2"/>
            <a:endCxn id="113" idx="0"/>
          </p:cNvCxnSpPr>
          <p:nvPr/>
        </p:nvCxnSpPr>
        <p:spPr>
          <a:xfrm>
            <a:off x="10406317" y="1944646"/>
            <a:ext cx="0" cy="70839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21245212-ED58-BE2E-3F0B-F333C97C1B04}"/>
              </a:ext>
            </a:extLst>
          </p:cNvPr>
          <p:cNvCxnSpPr>
            <a:cxnSpLocks/>
            <a:stCxn id="113" idx="2"/>
            <a:endCxn id="114" idx="0"/>
          </p:cNvCxnSpPr>
          <p:nvPr/>
        </p:nvCxnSpPr>
        <p:spPr>
          <a:xfrm>
            <a:off x="10406317" y="3229036"/>
            <a:ext cx="0" cy="70839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Picture 136">
            <a:extLst>
              <a:ext uri="{FF2B5EF4-FFF2-40B4-BE49-F238E27FC236}">
                <a16:creationId xmlns:a16="http://schemas.microsoft.com/office/drawing/2014/main" id="{031AB534-DC78-8182-4373-D7456200BE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55" y="2175073"/>
            <a:ext cx="661282" cy="661282"/>
          </a:xfrm>
          <a:prstGeom prst="rect">
            <a:avLst/>
          </a:prstGeom>
        </p:spPr>
      </p:pic>
      <p:sp>
        <p:nvSpPr>
          <p:cNvPr id="138" name="Rectangle 137">
            <a:extLst>
              <a:ext uri="{FF2B5EF4-FFF2-40B4-BE49-F238E27FC236}">
                <a16:creationId xmlns:a16="http://schemas.microsoft.com/office/drawing/2014/main" id="{C695B0B2-2968-8171-75E4-6E802C023E59}"/>
              </a:ext>
            </a:extLst>
          </p:cNvPr>
          <p:cNvSpPr/>
          <p:nvPr/>
        </p:nvSpPr>
        <p:spPr>
          <a:xfrm>
            <a:off x="6622242" y="2186049"/>
            <a:ext cx="166141" cy="98258"/>
          </a:xfrm>
          <a:prstGeom prst="rect">
            <a:avLst/>
          </a:prstGeom>
          <a:solidFill>
            <a:srgbClr val="60C4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F92BFB1-7516-8B56-408B-2AA42280971A}"/>
              </a:ext>
            </a:extLst>
          </p:cNvPr>
          <p:cNvSpPr/>
          <p:nvPr/>
        </p:nvSpPr>
        <p:spPr>
          <a:xfrm>
            <a:off x="6620926" y="2724133"/>
            <a:ext cx="166141" cy="98258"/>
          </a:xfrm>
          <a:prstGeom prst="rect">
            <a:avLst/>
          </a:prstGeom>
          <a:solidFill>
            <a:srgbClr val="FFA0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1B86995-CF18-D45B-0521-60DD89E518D1}"/>
              </a:ext>
            </a:extLst>
          </p:cNvPr>
          <p:cNvSpPr/>
          <p:nvPr/>
        </p:nvSpPr>
        <p:spPr>
          <a:xfrm>
            <a:off x="6627150" y="2487265"/>
            <a:ext cx="166141" cy="98258"/>
          </a:xfrm>
          <a:prstGeom prst="rect">
            <a:avLst/>
          </a:prstGeom>
          <a:solidFill>
            <a:srgbClr val="FFA0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C8F4B4B3-B030-D39E-70ED-1400BD22A7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5920" y="3061738"/>
            <a:ext cx="661282" cy="661282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85505D60-BE7B-A676-B992-89A59D5F60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9193" y="3897512"/>
            <a:ext cx="576001" cy="57600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8B52D511-D8DE-459D-73C5-EE7E372034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4661" y="2638284"/>
            <a:ext cx="823307" cy="82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01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CAD1C7E5-F4E9-4BC4-91CD-89BCD5F76F39}"/>
              </a:ext>
            </a:extLst>
          </p:cNvPr>
          <p:cNvSpPr txBox="1"/>
          <p:nvPr/>
        </p:nvSpPr>
        <p:spPr>
          <a:xfrm>
            <a:off x="561466" y="1521100"/>
            <a:ext cx="6086964" cy="214397"/>
          </a:xfrm>
          <a:prstGeom prst="rect">
            <a:avLst/>
          </a:prstGeom>
          <a:solidFill>
            <a:srgbClr val="FFCCCC"/>
          </a:solidFill>
        </p:spPr>
        <p:txBody>
          <a:bodyPr wrap="none" anchor="ctr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3F5F44-852A-48D9-A1D2-9A3E844B38E9}"/>
              </a:ext>
            </a:extLst>
          </p:cNvPr>
          <p:cNvSpPr txBox="1"/>
          <p:nvPr/>
        </p:nvSpPr>
        <p:spPr>
          <a:xfrm>
            <a:off x="560656" y="1102984"/>
            <a:ext cx="6086964" cy="380873"/>
          </a:xfrm>
          <a:prstGeom prst="rect">
            <a:avLst/>
          </a:prstGeom>
          <a:solidFill>
            <a:srgbClr val="EBF1DD"/>
          </a:solidFill>
        </p:spPr>
        <p:txBody>
          <a:bodyPr wrap="square">
            <a:sp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8FC6E6-3290-4F4F-B402-323CAA6F87D1}"/>
              </a:ext>
            </a:extLst>
          </p:cNvPr>
          <p:cNvSpPr txBox="1"/>
          <p:nvPr/>
        </p:nvSpPr>
        <p:spPr>
          <a:xfrm>
            <a:off x="550602" y="870034"/>
            <a:ext cx="6086964" cy="216000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C2A0947-CE02-429D-B0D7-4D0FBD112E4F}"/>
              </a:ext>
            </a:extLst>
          </p:cNvPr>
          <p:cNvSpPr txBox="1"/>
          <p:nvPr/>
        </p:nvSpPr>
        <p:spPr>
          <a:xfrm>
            <a:off x="560650" y="2134124"/>
            <a:ext cx="6086964" cy="648000"/>
          </a:xfrm>
          <a:prstGeom prst="rect">
            <a:avLst/>
          </a:prstGeom>
          <a:solidFill>
            <a:srgbClr val="FFCCCC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2F20C6-E145-4FBB-A523-D3469EDC0CBB}"/>
              </a:ext>
            </a:extLst>
          </p:cNvPr>
          <p:cNvSpPr txBox="1"/>
          <p:nvPr/>
        </p:nvSpPr>
        <p:spPr>
          <a:xfrm>
            <a:off x="547771" y="3867529"/>
            <a:ext cx="6086964" cy="216000"/>
          </a:xfrm>
          <a:prstGeom prst="rect">
            <a:avLst/>
          </a:prstGeom>
          <a:solidFill>
            <a:srgbClr val="FFCCCC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  <a:defRPr/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9F0A67A-830A-41D3-9F6C-AB59C13A0F83}"/>
              </a:ext>
            </a:extLst>
          </p:cNvPr>
          <p:cNvSpPr txBox="1"/>
          <p:nvPr/>
        </p:nvSpPr>
        <p:spPr>
          <a:xfrm>
            <a:off x="560642" y="4083529"/>
            <a:ext cx="6086965" cy="216000"/>
          </a:xfrm>
          <a:prstGeom prst="rect">
            <a:avLst/>
          </a:prstGeom>
          <a:solidFill>
            <a:srgbClr val="EBF1DD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  <a:defRPr/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D5D352C-20FE-4AD1-A4E0-FD2B1AF2AD4D}"/>
              </a:ext>
            </a:extLst>
          </p:cNvPr>
          <p:cNvSpPr txBox="1"/>
          <p:nvPr/>
        </p:nvSpPr>
        <p:spPr>
          <a:xfrm>
            <a:off x="574241" y="2798090"/>
            <a:ext cx="6086964" cy="648000"/>
          </a:xfrm>
          <a:prstGeom prst="rect">
            <a:avLst/>
          </a:prstGeom>
          <a:solidFill>
            <a:srgbClr val="EBF1DD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60">
            <a:extLst>
              <a:ext uri="{FF2B5EF4-FFF2-40B4-BE49-F238E27FC236}">
                <a16:creationId xmlns:a16="http://schemas.microsoft.com/office/drawing/2014/main" id="{71177549-5C4A-9C40-B0B9-B15ADB70481C}"/>
              </a:ext>
            </a:extLst>
          </p:cNvPr>
          <p:cNvSpPr txBox="1"/>
          <p:nvPr/>
        </p:nvSpPr>
        <p:spPr>
          <a:xfrm>
            <a:off x="550600" y="830392"/>
            <a:ext cx="373314" cy="37667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1 -	   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2 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4 -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7 -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8 -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9 -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10+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11+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12+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15-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16+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3" name="文本框 60">
            <a:extLst>
              <a:ext uri="{FF2B5EF4-FFF2-40B4-BE49-F238E27FC236}">
                <a16:creationId xmlns:a16="http://schemas.microsoft.com/office/drawing/2014/main" id="{2D34E9BC-9A6E-89DC-57BB-C1DF6C9C3422}"/>
              </a:ext>
            </a:extLst>
          </p:cNvPr>
          <p:cNvSpPr txBox="1"/>
          <p:nvPr/>
        </p:nvSpPr>
        <p:spPr>
          <a:xfrm>
            <a:off x="904037" y="832720"/>
            <a:ext cx="5743577" cy="37667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7200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amount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**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pPr defTabSz="7200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**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GLOBALX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self.mFlag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flag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GLOBALX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*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kwargs.get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'key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’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and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GLOBALX = </a:t>
            </a:r>
            <a:r>
              <a:rPr lang="pt-BR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pt-BR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pt-BR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else</a:t>
            </a:r>
            <a:r>
              <a:rPr lang="pt-BR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None</a:t>
            </a:r>
            <a:r>
              <a:rPr lang="pt-BR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*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.get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key_for_check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n_dim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&gt;= 0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TypeError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'message’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len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new_var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 ==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ValueError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'msg1'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LENError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‘msg2’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new_var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CAEF1-957B-58D9-13C6-CAAD20D440FF}"/>
              </a:ext>
            </a:extLst>
          </p:cNvPr>
          <p:cNvSpPr/>
          <p:nvPr/>
        </p:nvSpPr>
        <p:spPr>
          <a:xfrm>
            <a:off x="550601" y="870034"/>
            <a:ext cx="6097013" cy="3695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D23FC2-0E99-420E-B3F0-81BA7A5AD441}"/>
              </a:ext>
            </a:extLst>
          </p:cNvPr>
          <p:cNvSpPr/>
          <p:nvPr/>
        </p:nvSpPr>
        <p:spPr>
          <a:xfrm>
            <a:off x="2361813" y="870034"/>
            <a:ext cx="576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FE0670-69E4-47DD-97B1-207229DC7E64}"/>
              </a:ext>
            </a:extLst>
          </p:cNvPr>
          <p:cNvSpPr/>
          <p:nvPr/>
        </p:nvSpPr>
        <p:spPr>
          <a:xfrm>
            <a:off x="3330613" y="880418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EFBBBF-2474-4DEB-9009-53A5B1FC641F}"/>
              </a:ext>
            </a:extLst>
          </p:cNvPr>
          <p:cNvSpPr/>
          <p:nvPr/>
        </p:nvSpPr>
        <p:spPr>
          <a:xfrm>
            <a:off x="4989888" y="872736"/>
            <a:ext cx="468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ECA2AE-2CD0-49DC-8DD6-AA7848E579F7}"/>
              </a:ext>
            </a:extLst>
          </p:cNvPr>
          <p:cNvSpPr/>
          <p:nvPr/>
        </p:nvSpPr>
        <p:spPr>
          <a:xfrm>
            <a:off x="2538301" y="1097100"/>
            <a:ext cx="324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E210D9-B60C-4B80-939A-03D4EBDECED9}"/>
              </a:ext>
            </a:extLst>
          </p:cNvPr>
          <p:cNvSpPr/>
          <p:nvPr/>
        </p:nvSpPr>
        <p:spPr>
          <a:xfrm>
            <a:off x="4100902" y="1086034"/>
            <a:ext cx="54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7A8B6CF-5DD4-450B-A2B8-4F4267E37EC8}"/>
              </a:ext>
            </a:extLst>
          </p:cNvPr>
          <p:cNvSpPr/>
          <p:nvPr/>
        </p:nvSpPr>
        <p:spPr>
          <a:xfrm>
            <a:off x="3149068" y="2360509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F29C126-103C-4602-9466-FD2828F07BDB}"/>
              </a:ext>
            </a:extLst>
          </p:cNvPr>
          <p:cNvSpPr/>
          <p:nvPr/>
        </p:nvSpPr>
        <p:spPr>
          <a:xfrm>
            <a:off x="2551974" y="2131205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E016B36-1C75-4B2E-8ED5-A5768E166053}"/>
              </a:ext>
            </a:extLst>
          </p:cNvPr>
          <p:cNvSpPr/>
          <p:nvPr/>
        </p:nvSpPr>
        <p:spPr>
          <a:xfrm>
            <a:off x="2810320" y="3213948"/>
            <a:ext cx="1368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17ABDFB-03B3-468C-BA40-214515C172DD}"/>
              </a:ext>
            </a:extLst>
          </p:cNvPr>
          <p:cNvSpPr/>
          <p:nvPr/>
        </p:nvSpPr>
        <p:spPr>
          <a:xfrm>
            <a:off x="2555894" y="2803867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71EE7DD-5395-44AE-958E-41703F9438A7}"/>
              </a:ext>
            </a:extLst>
          </p:cNvPr>
          <p:cNvSpPr/>
          <p:nvPr/>
        </p:nvSpPr>
        <p:spPr>
          <a:xfrm>
            <a:off x="2349781" y="4094343"/>
            <a:ext cx="828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0465493-2F74-4BD6-897B-007885F9B5FB}"/>
              </a:ext>
            </a:extLst>
          </p:cNvPr>
          <p:cNvSpPr/>
          <p:nvPr/>
        </p:nvSpPr>
        <p:spPr>
          <a:xfrm>
            <a:off x="2356358" y="3851387"/>
            <a:ext cx="1008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56">
            <a:extLst>
              <a:ext uri="{FF2B5EF4-FFF2-40B4-BE49-F238E27FC236}">
                <a16:creationId xmlns:a16="http://schemas.microsoft.com/office/drawing/2014/main" id="{FC38D87B-4C54-6E36-0BAB-8B69A4503BD9}"/>
              </a:ext>
            </a:extLst>
          </p:cNvPr>
          <p:cNvSpPr/>
          <p:nvPr/>
        </p:nvSpPr>
        <p:spPr>
          <a:xfrm>
            <a:off x="3442221" y="2811889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6">
            <a:extLst>
              <a:ext uri="{FF2B5EF4-FFF2-40B4-BE49-F238E27FC236}">
                <a16:creationId xmlns:a16="http://schemas.microsoft.com/office/drawing/2014/main" id="{E33459E9-7C99-B4F0-5358-53B1795707E8}"/>
              </a:ext>
            </a:extLst>
          </p:cNvPr>
          <p:cNvSpPr/>
          <p:nvPr/>
        </p:nvSpPr>
        <p:spPr>
          <a:xfrm>
            <a:off x="3125385" y="3000385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51">
            <a:extLst>
              <a:ext uri="{FF2B5EF4-FFF2-40B4-BE49-F238E27FC236}">
                <a16:creationId xmlns:a16="http://schemas.microsoft.com/office/drawing/2014/main" id="{B5041CA0-552C-509F-A7C3-2134AD463FCA}"/>
              </a:ext>
            </a:extLst>
          </p:cNvPr>
          <p:cNvSpPr/>
          <p:nvPr/>
        </p:nvSpPr>
        <p:spPr>
          <a:xfrm>
            <a:off x="2856296" y="2573067"/>
            <a:ext cx="324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文本框 37">
            <a:extLst>
              <a:ext uri="{FF2B5EF4-FFF2-40B4-BE49-F238E27FC236}">
                <a16:creationId xmlns:a16="http://schemas.microsoft.com/office/drawing/2014/main" id="{D98B9D30-6E85-DB91-4FDE-B84D46DE14B9}"/>
              </a:ext>
            </a:extLst>
          </p:cNvPr>
          <p:cNvSpPr txBox="1"/>
          <p:nvPr/>
        </p:nvSpPr>
        <p:spPr>
          <a:xfrm>
            <a:off x="6893362" y="386753"/>
            <a:ext cx="3456000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100" b="1" dirty="0">
                <a:latin typeface="Trebuchet MS" panose="020B0703020202090204" pitchFamily="34" charset="0"/>
              </a:rPr>
              <a:t>CI1: </a:t>
            </a:r>
            <a:r>
              <a:rPr lang="en-US" altLang="zh-CN" sz="1100" dirty="0">
                <a:latin typeface="Trebuchet MS" panose="020B0703020202090204" pitchFamily="34" charset="0"/>
              </a:rPr>
              <a:t>The required parameter ‘amount’ from </a:t>
            </a:r>
            <a:r>
              <a:rPr lang="en-US" altLang="zh-CN" sz="1100" dirty="0" err="1">
                <a:latin typeface="Trebuchet MS" panose="020B0703020202090204" pitchFamily="34" charset="0"/>
              </a:rPr>
              <a:t>API</a:t>
            </a:r>
            <a:r>
              <a:rPr lang="en-US" altLang="zh-CN" sz="1100" baseline="-25000" dirty="0" err="1">
                <a:latin typeface="Trebuchet MS" panose="020B0703020202090204" pitchFamily="34" charset="0"/>
              </a:rPr>
              <a:t>b</a:t>
            </a:r>
            <a:r>
              <a:rPr lang="en-US" altLang="zh-CN" sz="1100" dirty="0">
                <a:latin typeface="Trebuchet MS" panose="020B0703020202090204" pitchFamily="34" charset="0"/>
              </a:rPr>
              <a:t> is removed in </a:t>
            </a:r>
            <a:r>
              <a:rPr lang="en-US" altLang="zh-CN" sz="1100" dirty="0" err="1">
                <a:latin typeface="Trebuchet MS" panose="020B0703020202090204" pitchFamily="34" charset="0"/>
              </a:rPr>
              <a:t>API</a:t>
            </a:r>
            <a:r>
              <a:rPr lang="en-US" altLang="zh-CN" sz="1100" baseline="-25000" dirty="0" err="1">
                <a:latin typeface="Trebuchet MS" panose="020B0703020202090204" pitchFamily="34" charset="0"/>
              </a:rPr>
              <a:t>a</a:t>
            </a:r>
            <a:r>
              <a:rPr lang="en-US" altLang="zh-CN" sz="1100" dirty="0">
                <a:latin typeface="Trebuchet MS" panose="020B0703020202090204" pitchFamily="34" charset="0"/>
              </a:rPr>
              <a:t>. </a:t>
            </a:r>
            <a:endParaRPr lang="zh-CN" altLang="en-US" sz="1100" dirty="0">
              <a:latin typeface="Trebuchet MS" panose="020B0703020202090204" pitchFamily="34" charset="0"/>
            </a:endParaRPr>
          </a:p>
        </p:txBody>
      </p:sp>
      <p:sp>
        <p:nvSpPr>
          <p:cNvPr id="11" name="文本框 52">
            <a:extLst>
              <a:ext uri="{FF2B5EF4-FFF2-40B4-BE49-F238E27FC236}">
                <a16:creationId xmlns:a16="http://schemas.microsoft.com/office/drawing/2014/main" id="{5F2E2DC4-892F-B8FD-7341-EFA35B680679}"/>
              </a:ext>
            </a:extLst>
          </p:cNvPr>
          <p:cNvSpPr txBox="1"/>
          <p:nvPr/>
        </p:nvSpPr>
        <p:spPr>
          <a:xfrm>
            <a:off x="6893361" y="2782824"/>
            <a:ext cx="3456000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100" b="1" dirty="0">
                <a:latin typeface="Trebuchet MS" panose="020B0703020202090204" pitchFamily="34" charset="0"/>
              </a:rPr>
              <a:t>CI2: </a:t>
            </a:r>
            <a:r>
              <a:rPr lang="en-US" altLang="zh-CN" sz="1100" dirty="0">
                <a:latin typeface="Trebuchet MS" panose="020B0703020202090204" pitchFamily="34" charset="0"/>
              </a:rPr>
              <a:t>The</a:t>
            </a:r>
            <a:r>
              <a:rPr lang="zh-CN" altLang="en-US" sz="1100" dirty="0">
                <a:latin typeface="Trebuchet MS" panose="020B0703020202090204" pitchFamily="34" charset="0"/>
              </a:rPr>
              <a:t> </a:t>
            </a:r>
            <a:r>
              <a:rPr lang="en-US" altLang="zh-CN" sz="1100" dirty="0">
                <a:latin typeface="Trebuchet MS" panose="020B0703020202090204" pitchFamily="34" charset="0"/>
              </a:rPr>
              <a:t>'key’ in </a:t>
            </a:r>
            <a:r>
              <a:rPr lang="en-US" altLang="zh-CN" sz="1100" dirty="0" err="1">
                <a:latin typeface="Trebuchet MS" panose="020B0703020202090204" pitchFamily="34" charset="0"/>
              </a:rPr>
              <a:t>kwargs</a:t>
            </a:r>
            <a:r>
              <a:rPr lang="en-US" altLang="zh-CN" sz="1100" dirty="0">
                <a:latin typeface="Trebuchet MS" panose="020B0703020202090204" pitchFamily="34" charset="0"/>
              </a:rPr>
              <a:t> from from </a:t>
            </a:r>
            <a:r>
              <a:rPr lang="en-US" altLang="zh-CN" sz="1100" dirty="0" err="1">
                <a:latin typeface="Trebuchet MS" panose="020B0703020202090204" pitchFamily="34" charset="0"/>
              </a:rPr>
              <a:t>API</a:t>
            </a:r>
            <a:r>
              <a:rPr lang="en-US" altLang="zh-CN" sz="1100" baseline="-25000" dirty="0" err="1">
                <a:latin typeface="Trebuchet MS" panose="020B0703020202090204" pitchFamily="34" charset="0"/>
              </a:rPr>
              <a:t>b</a:t>
            </a:r>
            <a:r>
              <a:rPr lang="en-US" altLang="zh-CN" sz="1100" dirty="0">
                <a:latin typeface="Trebuchet MS" panose="020B0703020202090204" pitchFamily="34" charset="0"/>
              </a:rPr>
              <a:t> is changed to '</a:t>
            </a:r>
            <a:r>
              <a:rPr lang="en-US" altLang="zh-CN" sz="1100" dirty="0" err="1">
                <a:latin typeface="Trebuchet MS" panose="020B0703020202090204" pitchFamily="34" charset="0"/>
              </a:rPr>
              <a:t>key_for_check</a:t>
            </a:r>
            <a:r>
              <a:rPr lang="en-US" altLang="zh-CN" sz="1100" dirty="0">
                <a:latin typeface="Trebuchet MS" panose="020B0703020202090204" pitchFamily="34" charset="0"/>
              </a:rPr>
              <a:t> ' in </a:t>
            </a:r>
            <a:r>
              <a:rPr lang="en-US" altLang="zh-CN" sz="1100" dirty="0" err="1">
                <a:latin typeface="Trebuchet MS" panose="020B0703020202090204" pitchFamily="34" charset="0"/>
              </a:rPr>
              <a:t>API</a:t>
            </a:r>
            <a:r>
              <a:rPr lang="en-US" altLang="zh-CN" sz="1100" baseline="-25000" dirty="0" err="1">
                <a:latin typeface="Trebuchet MS" panose="020B0703020202090204" pitchFamily="34" charset="0"/>
              </a:rPr>
              <a:t>a</a:t>
            </a:r>
            <a:r>
              <a:rPr lang="en-US" altLang="zh-CN" sz="1100" dirty="0">
                <a:latin typeface="Trebuchet MS" panose="020B0703020202090204" pitchFamily="34" charset="0"/>
              </a:rPr>
              <a:t>. </a:t>
            </a:r>
          </a:p>
        </p:txBody>
      </p:sp>
      <p:sp>
        <p:nvSpPr>
          <p:cNvPr id="27" name="文本框 54">
            <a:extLst>
              <a:ext uri="{FF2B5EF4-FFF2-40B4-BE49-F238E27FC236}">
                <a16:creationId xmlns:a16="http://schemas.microsoft.com/office/drawing/2014/main" id="{CCCF99B5-7263-A0DE-91BE-FDF3254980B8}"/>
              </a:ext>
            </a:extLst>
          </p:cNvPr>
          <p:cNvSpPr txBox="1"/>
          <p:nvPr/>
        </p:nvSpPr>
        <p:spPr>
          <a:xfrm>
            <a:off x="6893362" y="828826"/>
            <a:ext cx="3456000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100" b="1" dirty="0">
                <a:latin typeface="Trebuchet MS" panose="020B0703020202090204" pitchFamily="34" charset="0"/>
              </a:rPr>
              <a:t>CI3: </a:t>
            </a:r>
            <a:r>
              <a:rPr lang="en-US" altLang="zh-CN" sz="1100" dirty="0">
                <a:latin typeface="Trebuchet MS" panose="020B0703020202090204" pitchFamily="34" charset="0"/>
              </a:rPr>
              <a:t>The parameter '</a:t>
            </a:r>
            <a:r>
              <a:rPr lang="en-US" altLang="zh-CN" sz="1100" dirty="0" err="1">
                <a:latin typeface="Trebuchet MS" panose="020B0703020202090204" pitchFamily="34" charset="0"/>
              </a:rPr>
              <a:t>n_size</a:t>
            </a:r>
            <a:r>
              <a:rPr lang="en-US" altLang="zh-CN" sz="1100" dirty="0">
                <a:latin typeface="Trebuchet MS" panose="020B0703020202090204" pitchFamily="34" charset="0"/>
              </a:rPr>
              <a:t>' from </a:t>
            </a:r>
            <a:r>
              <a:rPr lang="en-US" altLang="zh-CN" sz="1100" dirty="0" err="1">
                <a:latin typeface="Trebuchet MS" panose="020B0703020202090204" pitchFamily="34" charset="0"/>
              </a:rPr>
              <a:t>API</a:t>
            </a:r>
            <a:r>
              <a:rPr lang="en-US" altLang="zh-CN" sz="1100" baseline="-25000" dirty="0" err="1">
                <a:latin typeface="Trebuchet MS" panose="020B0703020202090204" pitchFamily="34" charset="0"/>
              </a:rPr>
              <a:t>b</a:t>
            </a:r>
            <a:r>
              <a:rPr lang="en-US" altLang="zh-CN" sz="1100" dirty="0">
                <a:latin typeface="Trebuchet MS" panose="020B0703020202090204" pitchFamily="34" charset="0"/>
              </a:rPr>
              <a:t> is renamed to '</a:t>
            </a:r>
            <a:r>
              <a:rPr lang="en-US" altLang="zh-CN" sz="1100" dirty="0" err="1">
                <a:latin typeface="Trebuchet MS" panose="020B0703020202090204" pitchFamily="34" charset="0"/>
              </a:rPr>
              <a:t>n_dim</a:t>
            </a:r>
            <a:r>
              <a:rPr lang="en-US" altLang="zh-CN" sz="1100" dirty="0">
                <a:latin typeface="Trebuchet MS" panose="020B0703020202090204" pitchFamily="34" charset="0"/>
              </a:rPr>
              <a:t>' in </a:t>
            </a:r>
            <a:r>
              <a:rPr lang="en-US" altLang="zh-CN" sz="1100" dirty="0" err="1">
                <a:latin typeface="Trebuchet MS" panose="020B0703020202090204" pitchFamily="34" charset="0"/>
              </a:rPr>
              <a:t>API</a:t>
            </a:r>
            <a:r>
              <a:rPr lang="en-US" altLang="zh-CN" sz="1100" baseline="-25000" dirty="0" err="1">
                <a:latin typeface="Trebuchet MS" panose="020B0703020202090204" pitchFamily="34" charset="0"/>
              </a:rPr>
              <a:t>a</a:t>
            </a:r>
            <a:r>
              <a:rPr lang="en-US" altLang="zh-CN" sz="1100" dirty="0">
                <a:latin typeface="Trebuchet MS" panose="020B0703020202090204" pitchFamily="34" charset="0"/>
              </a:rPr>
              <a:t>. </a:t>
            </a:r>
          </a:p>
        </p:txBody>
      </p:sp>
      <p:sp>
        <p:nvSpPr>
          <p:cNvPr id="39" name="文本框 56">
            <a:extLst>
              <a:ext uri="{FF2B5EF4-FFF2-40B4-BE49-F238E27FC236}">
                <a16:creationId xmlns:a16="http://schemas.microsoft.com/office/drawing/2014/main" id="{D3897CE9-B2BE-E12E-363E-182531400B4A}"/>
              </a:ext>
            </a:extLst>
          </p:cNvPr>
          <p:cNvSpPr txBox="1"/>
          <p:nvPr/>
        </p:nvSpPr>
        <p:spPr>
          <a:xfrm>
            <a:off x="6893361" y="1270899"/>
            <a:ext cx="3456000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100" b="1" dirty="0">
                <a:latin typeface="Trebuchet MS" panose="020B0703020202090204" pitchFamily="34" charset="0"/>
              </a:rPr>
              <a:t>CI4: </a:t>
            </a:r>
            <a:r>
              <a:rPr lang="en-US" altLang="zh-CN" sz="1100" dirty="0">
                <a:latin typeface="Trebuchet MS" panose="020B0703020202090204" pitchFamily="34" charset="0"/>
              </a:rPr>
              <a:t>The default value of parameter 'flag' is changed from True in </a:t>
            </a:r>
            <a:r>
              <a:rPr lang="en-US" altLang="zh-CN" sz="1100" dirty="0" err="1">
                <a:latin typeface="Trebuchet MS" panose="020B0703020202090204" pitchFamily="34" charset="0"/>
              </a:rPr>
              <a:t>API</a:t>
            </a:r>
            <a:r>
              <a:rPr lang="en-US" altLang="zh-CN" sz="1100" baseline="-25000" dirty="0" err="1">
                <a:latin typeface="Trebuchet MS" panose="020B0703020202090204" pitchFamily="34" charset="0"/>
              </a:rPr>
              <a:t>b</a:t>
            </a:r>
            <a:r>
              <a:rPr lang="en-US" altLang="zh-CN" sz="1100" dirty="0">
                <a:latin typeface="Trebuchet MS" panose="020B0703020202090204" pitchFamily="34" charset="0"/>
              </a:rPr>
              <a:t> to False in </a:t>
            </a:r>
            <a:r>
              <a:rPr lang="en-US" altLang="zh-CN" sz="1100" dirty="0" err="1">
                <a:latin typeface="Trebuchet MS" panose="020B0703020202090204" pitchFamily="34" charset="0"/>
              </a:rPr>
              <a:t>API</a:t>
            </a:r>
            <a:r>
              <a:rPr lang="en-US" altLang="zh-CN" sz="1100" baseline="-25000" dirty="0" err="1">
                <a:latin typeface="Trebuchet MS" panose="020B0703020202090204" pitchFamily="34" charset="0"/>
              </a:rPr>
              <a:t>a</a:t>
            </a:r>
            <a:r>
              <a:rPr lang="en-US" altLang="zh-CN" sz="1100" dirty="0">
                <a:latin typeface="Trebuchet MS" panose="020B0703020202090204" pitchFamily="34" charset="0"/>
              </a:rPr>
              <a:t>.</a:t>
            </a:r>
            <a:endParaRPr lang="zh-CN" altLang="en-US" sz="1100" dirty="0">
              <a:latin typeface="Trebuchet MS" panose="020B0703020202090204" pitchFamily="34" charset="0"/>
            </a:endParaRPr>
          </a:p>
        </p:txBody>
      </p:sp>
      <p:sp>
        <p:nvSpPr>
          <p:cNvPr id="54" name="文本框 57">
            <a:extLst>
              <a:ext uri="{FF2B5EF4-FFF2-40B4-BE49-F238E27FC236}">
                <a16:creationId xmlns:a16="http://schemas.microsoft.com/office/drawing/2014/main" id="{70635DF6-7D53-F473-B82D-9E4D976402F6}"/>
              </a:ext>
            </a:extLst>
          </p:cNvPr>
          <p:cNvSpPr txBox="1"/>
          <p:nvPr/>
        </p:nvSpPr>
        <p:spPr>
          <a:xfrm>
            <a:off x="6893361" y="3645200"/>
            <a:ext cx="3456000" cy="5984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GB" sz="1100" b="1" dirty="0">
                <a:latin typeface="Trebuchet MS" panose="020B0703020202090204" pitchFamily="34" charset="0"/>
              </a:rPr>
              <a:t>CI5:</a:t>
            </a:r>
            <a:r>
              <a:rPr lang="en-GB" sz="1100" dirty="0">
                <a:latin typeface="Trebuchet MS" panose="020B0703020202090204" pitchFamily="34" charset="0"/>
              </a:rPr>
              <a:t> The condition that triggers the </a:t>
            </a:r>
            <a:r>
              <a:rPr lang="en-GB" sz="1100" dirty="0" err="1">
                <a:latin typeface="Trebuchet MS" panose="020B0703020202090204" pitchFamily="34" charset="0"/>
              </a:rPr>
              <a:t>TypeError</a:t>
            </a:r>
            <a:r>
              <a:rPr lang="en-GB" sz="1100" dirty="0">
                <a:latin typeface="Trebuchet MS" panose="020B0703020202090204" pitchFamily="34" charset="0"/>
              </a:rPr>
              <a:t> exception is changed from Line 9 in </a:t>
            </a:r>
            <a:r>
              <a:rPr lang="en-GB" sz="1100" dirty="0" err="1">
                <a:latin typeface="Trebuchet MS" panose="020B0703020202090204" pitchFamily="34" charset="0"/>
              </a:rPr>
              <a:t>API</a:t>
            </a:r>
            <a:r>
              <a:rPr lang="en-GB" sz="1100" baseline="-25000" dirty="0" err="1">
                <a:latin typeface="Trebuchet MS" panose="020B0703020202090204" pitchFamily="34" charset="0"/>
              </a:rPr>
              <a:t>b</a:t>
            </a:r>
            <a:r>
              <a:rPr lang="en-GB" sz="1100" dirty="0">
                <a:latin typeface="Trebuchet MS" panose="020B0703020202090204" pitchFamily="34" charset="0"/>
              </a:rPr>
              <a:t> to Line 12 in </a:t>
            </a:r>
            <a:r>
              <a:rPr lang="en-GB" sz="1100" dirty="0" err="1">
                <a:latin typeface="Trebuchet MS" panose="020B0703020202090204" pitchFamily="34" charset="0"/>
              </a:rPr>
              <a:t>API</a:t>
            </a:r>
            <a:r>
              <a:rPr lang="en-GB" sz="1100" baseline="-25000" dirty="0" err="1">
                <a:latin typeface="Trebuchet MS" panose="020B0703020202090204" pitchFamily="34" charset="0"/>
              </a:rPr>
              <a:t>a</a:t>
            </a:r>
            <a:r>
              <a:rPr lang="en-GB" sz="1100" dirty="0">
                <a:latin typeface="Trebuchet MS" panose="020B0703020202090204" pitchFamily="34" charset="0"/>
              </a:rPr>
              <a:t>.</a:t>
            </a:r>
            <a:endParaRPr lang="en-US" altLang="zh-CN" sz="1100" b="1" dirty="0">
              <a:latin typeface="Trebuchet MS" panose="020B0703020202090204" pitchFamily="34" charset="0"/>
            </a:endParaRPr>
          </a:p>
        </p:txBody>
      </p:sp>
      <p:sp>
        <p:nvSpPr>
          <p:cNvPr id="62" name="文本框 58">
            <a:extLst>
              <a:ext uri="{FF2B5EF4-FFF2-40B4-BE49-F238E27FC236}">
                <a16:creationId xmlns:a16="http://schemas.microsoft.com/office/drawing/2014/main" id="{F35AB8D9-FB34-A337-87EB-C8A9F798C74C}"/>
              </a:ext>
            </a:extLst>
          </p:cNvPr>
          <p:cNvSpPr txBox="1"/>
          <p:nvPr/>
        </p:nvSpPr>
        <p:spPr>
          <a:xfrm>
            <a:off x="6893361" y="3203125"/>
            <a:ext cx="3456000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100" b="1" dirty="0">
                <a:latin typeface="Trebuchet MS" panose="020B0703020202090204" pitchFamily="34" charset="0"/>
              </a:rPr>
              <a:t>CI6: </a:t>
            </a:r>
            <a:r>
              <a:rPr lang="en-US" altLang="zh-CN" sz="1100" dirty="0">
                <a:latin typeface="Trebuchet MS" panose="020B0703020202090204" pitchFamily="34" charset="0"/>
              </a:rPr>
              <a:t>The raised exception </a:t>
            </a:r>
            <a:r>
              <a:rPr lang="en-US" altLang="zh-CN" sz="1100" dirty="0" err="1">
                <a:latin typeface="Trebuchet MS" panose="020B0703020202090204" pitchFamily="34" charset="0"/>
              </a:rPr>
              <a:t>ValueError</a:t>
            </a:r>
            <a:r>
              <a:rPr lang="en-US" altLang="zh-CN" sz="1100" dirty="0">
                <a:latin typeface="Trebuchet MS" panose="020B0703020202090204" pitchFamily="34" charset="0"/>
              </a:rPr>
              <a:t> from </a:t>
            </a:r>
            <a:r>
              <a:rPr lang="en-US" altLang="zh-CN" sz="1100" dirty="0" err="1">
                <a:latin typeface="Trebuchet MS" panose="020B0703020202090204" pitchFamily="34" charset="0"/>
              </a:rPr>
              <a:t>API</a:t>
            </a:r>
            <a:r>
              <a:rPr lang="en-US" altLang="zh-CN" sz="1100" baseline="-25000" dirty="0" err="1">
                <a:latin typeface="Trebuchet MS" panose="020B0703020202090204" pitchFamily="34" charset="0"/>
              </a:rPr>
              <a:t>b</a:t>
            </a:r>
            <a:r>
              <a:rPr lang="en-US" altLang="zh-CN" sz="1100" dirty="0">
                <a:latin typeface="Trebuchet MS" panose="020B0703020202090204" pitchFamily="34" charset="0"/>
              </a:rPr>
              <a:t> is changed to </a:t>
            </a:r>
            <a:r>
              <a:rPr lang="en-US" altLang="zh-CN" sz="1100" dirty="0" err="1">
                <a:latin typeface="Trebuchet MS" panose="020B0703020202090204" pitchFamily="34" charset="0"/>
              </a:rPr>
              <a:t>LENError</a:t>
            </a:r>
            <a:r>
              <a:rPr lang="en-US" altLang="zh-CN" sz="1100" dirty="0">
                <a:latin typeface="Trebuchet MS" panose="020B0703020202090204" pitchFamily="34" charset="0"/>
              </a:rPr>
              <a:t> in </a:t>
            </a:r>
            <a:r>
              <a:rPr lang="en-US" altLang="zh-CN" sz="1100" dirty="0" err="1">
                <a:latin typeface="Trebuchet MS" panose="020B0703020202090204" pitchFamily="34" charset="0"/>
              </a:rPr>
              <a:t>API</a:t>
            </a:r>
            <a:r>
              <a:rPr lang="en-US" altLang="zh-CN" sz="1100" baseline="-25000" dirty="0" err="1">
                <a:latin typeface="Trebuchet MS" panose="020B0703020202090204" pitchFamily="34" charset="0"/>
              </a:rPr>
              <a:t>a</a:t>
            </a:r>
            <a:r>
              <a:rPr lang="en-US" altLang="zh-CN" sz="1100" dirty="0">
                <a:latin typeface="Trebuchet MS" panose="020B0703020202090204" pitchFamily="34" charset="0"/>
              </a:rPr>
              <a:t>. </a:t>
            </a:r>
          </a:p>
        </p:txBody>
      </p:sp>
      <p:sp>
        <p:nvSpPr>
          <p:cNvPr id="79" name="文本框 59">
            <a:extLst>
              <a:ext uri="{FF2B5EF4-FFF2-40B4-BE49-F238E27FC236}">
                <a16:creationId xmlns:a16="http://schemas.microsoft.com/office/drawing/2014/main" id="{0782537B-E222-E4A2-83F9-F6483A84CBD2}"/>
              </a:ext>
            </a:extLst>
          </p:cNvPr>
          <p:cNvSpPr txBox="1"/>
          <p:nvPr/>
        </p:nvSpPr>
        <p:spPr>
          <a:xfrm>
            <a:off x="6893361" y="4255395"/>
            <a:ext cx="3456000" cy="442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100" b="1" dirty="0">
                <a:latin typeface="Trebuchet MS" panose="020B0703020202090204" pitchFamily="34" charset="0"/>
              </a:rPr>
              <a:t>CI7: </a:t>
            </a:r>
            <a:r>
              <a:rPr lang="en-GB" sz="1100" dirty="0">
                <a:latin typeface="Trebuchet MS" panose="020B0703020202090204" pitchFamily="34" charset="0"/>
              </a:rPr>
              <a:t>Given flag as the default input value, </a:t>
            </a:r>
            <a:r>
              <a:rPr lang="en-GB" sz="1100" dirty="0" err="1">
                <a:latin typeface="Trebuchet MS" panose="020B0703020202090204" pitchFamily="34" charset="0"/>
              </a:rPr>
              <a:t>API</a:t>
            </a:r>
            <a:r>
              <a:rPr lang="en-GB" sz="1100" baseline="-25000" dirty="0" err="1">
                <a:latin typeface="Trebuchet MS" panose="020B0703020202090204" pitchFamily="34" charset="0"/>
              </a:rPr>
              <a:t>b</a:t>
            </a:r>
            <a:r>
              <a:rPr lang="en-GB" sz="1100" dirty="0">
                <a:latin typeface="Trebuchet MS" panose="020B0703020202090204" pitchFamily="34" charset="0"/>
              </a:rPr>
              <a:t> returns true at Line 5, while </a:t>
            </a:r>
            <a:r>
              <a:rPr lang="en-GB" sz="1100" dirty="0" err="1">
                <a:latin typeface="Trebuchet MS" panose="020B0703020202090204" pitchFamily="34" charset="0"/>
              </a:rPr>
              <a:t>API</a:t>
            </a:r>
            <a:r>
              <a:rPr lang="en-GB" sz="1100" baseline="-25000" dirty="0" err="1">
                <a:latin typeface="Trebuchet MS" panose="020B0703020202090204" pitchFamily="34" charset="0"/>
              </a:rPr>
              <a:t>a</a:t>
            </a:r>
            <a:r>
              <a:rPr lang="en-GB" sz="1100" dirty="0">
                <a:latin typeface="Trebuchet MS" panose="020B0703020202090204" pitchFamily="34" charset="0"/>
              </a:rPr>
              <a:t> returns </a:t>
            </a:r>
            <a:r>
              <a:rPr lang="en-GB" sz="1100" dirty="0" err="1">
                <a:latin typeface="Trebuchet MS" panose="020B0703020202090204" pitchFamily="34" charset="0"/>
              </a:rPr>
              <a:t>new_var</a:t>
            </a:r>
            <a:r>
              <a:rPr lang="en-GB" sz="1100" dirty="0">
                <a:latin typeface="Trebuchet MS" panose="020B0703020202090204" pitchFamily="34" charset="0"/>
              </a:rPr>
              <a:t>. </a:t>
            </a:r>
            <a:endParaRPr lang="zh-CN" altLang="en-US" sz="1100" dirty="0">
              <a:latin typeface="Trebuchet MS" panose="020B0703020202090204" pitchFamily="34" charset="0"/>
            </a:endParaRPr>
          </a:p>
        </p:txBody>
      </p:sp>
      <p:sp>
        <p:nvSpPr>
          <p:cNvPr id="87" name="文本框 61">
            <a:extLst>
              <a:ext uri="{FF2B5EF4-FFF2-40B4-BE49-F238E27FC236}">
                <a16:creationId xmlns:a16="http://schemas.microsoft.com/office/drawing/2014/main" id="{114738D9-051A-FC3C-160D-5FCB71575AB7}"/>
              </a:ext>
            </a:extLst>
          </p:cNvPr>
          <p:cNvSpPr txBox="1"/>
          <p:nvPr/>
        </p:nvSpPr>
        <p:spPr>
          <a:xfrm>
            <a:off x="6893361" y="1712972"/>
            <a:ext cx="3456000" cy="557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GB" sz="1100" b="1" dirty="0">
                <a:latin typeface="Trebuchet MS" panose="020B0703020202090204" pitchFamily="34" charset="0"/>
              </a:rPr>
              <a:t>CI9:</a:t>
            </a:r>
            <a:r>
              <a:rPr lang="en-GB" sz="1100" dirty="0">
                <a:latin typeface="Trebuchet MS" panose="020B0703020202090204" pitchFamily="34" charset="0"/>
              </a:rPr>
              <a:t> The assignment statement in </a:t>
            </a:r>
            <a:r>
              <a:rPr lang="en-GB" sz="1100" dirty="0" err="1">
                <a:latin typeface="Trebuchet MS" panose="020B0703020202090204" pitchFamily="34" charset="0"/>
              </a:rPr>
              <a:t>API</a:t>
            </a:r>
            <a:r>
              <a:rPr lang="en-GB" sz="1100" baseline="-25000" dirty="0" err="1">
                <a:latin typeface="Trebuchet MS" panose="020B0703020202090204" pitchFamily="34" charset="0"/>
              </a:rPr>
              <a:t>b</a:t>
            </a:r>
            <a:r>
              <a:rPr lang="en-GB" sz="1100" dirty="0">
                <a:latin typeface="Trebuchet MS" panose="020B0703020202090204" pitchFamily="34" charset="0"/>
              </a:rPr>
              <a:t> is removed in </a:t>
            </a:r>
            <a:r>
              <a:rPr lang="en-GB" sz="1100" dirty="0" err="1">
                <a:latin typeface="Trebuchet MS" panose="020B0703020202090204" pitchFamily="34" charset="0"/>
              </a:rPr>
              <a:t>API</a:t>
            </a:r>
            <a:r>
              <a:rPr lang="en-GB" sz="1100" baseline="-25000" dirty="0" err="1">
                <a:latin typeface="Trebuchet MS" panose="020B0703020202090204" pitchFamily="34" charset="0"/>
              </a:rPr>
              <a:t>a</a:t>
            </a:r>
            <a:r>
              <a:rPr lang="en-GB" sz="1100" dirty="0">
                <a:latin typeface="Trebuchet MS" panose="020B0703020202090204" pitchFamily="34" charset="0"/>
              </a:rPr>
              <a:t>. Consequently, </a:t>
            </a:r>
            <a:r>
              <a:rPr lang="en-GB" sz="1100" dirty="0" err="1">
                <a:latin typeface="Trebuchet MS" panose="020B0703020202090204" pitchFamily="34" charset="0"/>
              </a:rPr>
              <a:t>API</a:t>
            </a:r>
            <a:r>
              <a:rPr lang="en-GB" sz="1100" baseline="-25000" dirty="0" err="1">
                <a:latin typeface="Trebuchet MS" panose="020B0703020202090204" pitchFamily="34" charset="0"/>
              </a:rPr>
              <a:t>a</a:t>
            </a:r>
            <a:r>
              <a:rPr lang="en-GB" sz="1100" dirty="0">
                <a:latin typeface="Trebuchet MS" panose="020B0703020202090204" pitchFamily="34" charset="0"/>
              </a:rPr>
              <a:t> no longer defines the instance attribute </a:t>
            </a:r>
            <a:r>
              <a:rPr lang="en-GB" sz="1100" dirty="0" err="1">
                <a:latin typeface="Trebuchet MS" panose="020B0703020202090204" pitchFamily="34" charset="0"/>
              </a:rPr>
              <a:t>mFlag</a:t>
            </a:r>
            <a:r>
              <a:rPr lang="en-GB" sz="1100" dirty="0">
                <a:latin typeface="Trebuchet MS" panose="020B0703020202090204" pitchFamily="34" charset="0"/>
              </a:rPr>
              <a:t>. </a:t>
            </a:r>
            <a:endParaRPr lang="en-US" altLang="zh-CN" sz="1100" dirty="0">
              <a:solidFill>
                <a:srgbClr val="FF0000"/>
              </a:solidFill>
              <a:latin typeface="Trebuchet MS" panose="020B070302020209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155D43-6FCC-FBC2-3939-45771B9F26C4}"/>
              </a:ext>
            </a:extLst>
          </p:cNvPr>
          <p:cNvSpPr txBox="1"/>
          <p:nvPr/>
        </p:nvSpPr>
        <p:spPr>
          <a:xfrm>
            <a:off x="10579857" y="390765"/>
            <a:ext cx="3859623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GB" sz="1100" dirty="0">
                <a:latin typeface="Trebuchet MS" panose="020B0703020202090204" pitchFamily="34" charset="0"/>
              </a:rPr>
              <a:t>Passing deprecated arguments (e.g., amount=1) triggers an </a:t>
            </a:r>
            <a:r>
              <a:rPr lang="en-GB" sz="1100" i="1" dirty="0">
                <a:latin typeface="Trebuchet MS" panose="020B0703020202090204" pitchFamily="34" charset="0"/>
              </a:rPr>
              <a:t>“unexpected keyword argument”</a:t>
            </a:r>
            <a:r>
              <a:rPr lang="en-GB" sz="1100" dirty="0">
                <a:latin typeface="Trebuchet MS" panose="020B0703020202090204" pitchFamily="34" charset="0"/>
              </a:rPr>
              <a:t> exception</a:t>
            </a:r>
            <a:r>
              <a:rPr lang="zh-CN" altLang="en-US" sz="1100" dirty="0">
                <a:latin typeface="Trebuchet MS" panose="020B0703020202090204" pitchFamily="34" charset="0"/>
              </a:rPr>
              <a:t> </a:t>
            </a:r>
            <a:r>
              <a:rPr lang="en-US" altLang="zh-CN" sz="1100" dirty="0">
                <a:latin typeface="Trebuchet MS" panose="020B0703020202090204" pitchFamily="34" charset="0"/>
              </a:rPr>
              <a:t>in</a:t>
            </a:r>
            <a:r>
              <a:rPr lang="zh-CN" altLang="en-US" sz="1100" dirty="0">
                <a:latin typeface="Trebuchet MS" panose="020B0703020202090204" pitchFamily="34" charset="0"/>
              </a:rPr>
              <a:t> </a:t>
            </a:r>
            <a:r>
              <a:rPr lang="en-US" altLang="zh-CN" sz="1100" dirty="0" err="1">
                <a:latin typeface="Trebuchet MS" panose="020B0703020202090204" pitchFamily="34" charset="0"/>
              </a:rPr>
              <a:t>API</a:t>
            </a:r>
            <a:r>
              <a:rPr lang="en-US" altLang="zh-CN" sz="1100" baseline="-25000" dirty="0" err="1">
                <a:latin typeface="Trebuchet MS" panose="020B0703020202090204" pitchFamily="34" charset="0"/>
              </a:rPr>
              <a:t>a</a:t>
            </a:r>
            <a:r>
              <a:rPr lang="en-US" altLang="zh-CN" sz="1100" dirty="0">
                <a:latin typeface="Trebuchet MS" panose="020B0703020202090204" pitchFamily="34" charset="0"/>
              </a:rPr>
              <a:t>. </a:t>
            </a:r>
            <a:endParaRPr lang="en-CN" sz="1100" dirty="0">
              <a:latin typeface="Trebuchet MS" panose="020B0703020202090204" pitchFamily="34" charset="0"/>
            </a:endParaRPr>
          </a:p>
        </p:txBody>
      </p:sp>
      <p:sp>
        <p:nvSpPr>
          <p:cNvPr id="23" name="文本框 54">
            <a:extLst>
              <a:ext uri="{FF2B5EF4-FFF2-40B4-BE49-F238E27FC236}">
                <a16:creationId xmlns:a16="http://schemas.microsoft.com/office/drawing/2014/main" id="{32FD9544-BB53-69CB-BBE4-B27975D1F9D0}"/>
              </a:ext>
            </a:extLst>
          </p:cNvPr>
          <p:cNvSpPr txBox="1"/>
          <p:nvPr/>
        </p:nvSpPr>
        <p:spPr>
          <a:xfrm>
            <a:off x="10579857" y="828826"/>
            <a:ext cx="3859623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100" dirty="0">
                <a:latin typeface="Trebuchet MS" panose="020B0703020202090204" pitchFamily="34" charset="0"/>
              </a:rPr>
              <a:t>Passing the argument </a:t>
            </a:r>
            <a:r>
              <a:rPr lang="en-US" altLang="zh-CN" sz="1100" dirty="0" err="1">
                <a:latin typeface="Trebuchet MS" panose="020B0703020202090204" pitchFamily="34" charset="0"/>
              </a:rPr>
              <a:t>n_size</a:t>
            </a:r>
            <a:r>
              <a:rPr lang="en-US" altLang="zh-CN" sz="1100" dirty="0">
                <a:latin typeface="Trebuchet MS" panose="020B0703020202090204" pitchFamily="34" charset="0"/>
              </a:rPr>
              <a:t>=10 to </a:t>
            </a:r>
            <a:r>
              <a:rPr lang="en-US" altLang="zh-CN" sz="1100" dirty="0" err="1">
                <a:latin typeface="Trebuchet MS" panose="020B0703020202090204" pitchFamily="34" charset="0"/>
              </a:rPr>
              <a:t>API</a:t>
            </a:r>
            <a:r>
              <a:rPr lang="en-US" altLang="zh-CN" sz="1100" baseline="-25000" dirty="0" err="1">
                <a:latin typeface="Trebuchet MS" panose="020B0703020202090204" pitchFamily="34" charset="0"/>
              </a:rPr>
              <a:t>a</a:t>
            </a:r>
            <a:r>
              <a:rPr lang="en-US" altLang="zh-CN" sz="1100" dirty="0">
                <a:latin typeface="Trebuchet MS" panose="020B0703020202090204" pitchFamily="34" charset="0"/>
              </a:rPr>
              <a:t> triggers an “unexpected keyword argument” exception. </a:t>
            </a:r>
            <a:endParaRPr lang="zh-CN" altLang="en-US" sz="1100" dirty="0">
              <a:latin typeface="Trebuchet MS" panose="020B0703020202090204" pitchFamily="34" charset="0"/>
            </a:endParaRPr>
          </a:p>
        </p:txBody>
      </p:sp>
      <p:sp>
        <p:nvSpPr>
          <p:cNvPr id="26" name="文本框 56">
            <a:extLst>
              <a:ext uri="{FF2B5EF4-FFF2-40B4-BE49-F238E27FC236}">
                <a16:creationId xmlns:a16="http://schemas.microsoft.com/office/drawing/2014/main" id="{0EC29268-52E6-9315-B865-26078BC53D2C}"/>
              </a:ext>
            </a:extLst>
          </p:cNvPr>
          <p:cNvSpPr txBox="1"/>
          <p:nvPr/>
        </p:nvSpPr>
        <p:spPr>
          <a:xfrm>
            <a:off x="10579857" y="3645199"/>
            <a:ext cx="3859623" cy="5984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GB" sz="1100" dirty="0">
                <a:latin typeface="Trebuchet MS" panose="020B0703020202090204" pitchFamily="34" charset="0"/>
              </a:rPr>
              <a:t>The assumed exception value changes, which may not be correctly handled by existing exception-handling logic. </a:t>
            </a:r>
            <a:endParaRPr lang="zh-CN" altLang="en-US" sz="1100" dirty="0">
              <a:latin typeface="Trebuchet MS" panose="020B0703020202090204" pitchFamily="34" charset="0"/>
            </a:endParaRPr>
          </a:p>
        </p:txBody>
      </p:sp>
      <p:sp>
        <p:nvSpPr>
          <p:cNvPr id="32" name="文本框 52">
            <a:extLst>
              <a:ext uri="{FF2B5EF4-FFF2-40B4-BE49-F238E27FC236}">
                <a16:creationId xmlns:a16="http://schemas.microsoft.com/office/drawing/2014/main" id="{4CD68459-8D40-397B-ADC1-1B9DEC76184A}"/>
              </a:ext>
            </a:extLst>
          </p:cNvPr>
          <p:cNvSpPr txBox="1"/>
          <p:nvPr/>
        </p:nvSpPr>
        <p:spPr>
          <a:xfrm>
            <a:off x="10579857" y="3203125"/>
            <a:ext cx="3859623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GB" sz="1100" dirty="0" err="1">
                <a:latin typeface="Trebuchet MS" panose="020B0703020202090204" pitchFamily="34" charset="0"/>
              </a:rPr>
              <a:t>API</a:t>
            </a:r>
            <a:r>
              <a:rPr lang="en-GB" sz="1100" baseline="-25000" dirty="0" err="1">
                <a:latin typeface="Trebuchet MS" panose="020B0703020202090204" pitchFamily="34" charset="0"/>
              </a:rPr>
              <a:t>a</a:t>
            </a:r>
            <a:r>
              <a:rPr lang="en-GB" sz="1100" dirty="0">
                <a:latin typeface="Trebuchet MS" panose="020B0703020202090204" pitchFamily="34" charset="0"/>
              </a:rPr>
              <a:t> raises a different exception, which may not be properly handled by existing exception-handling logic. </a:t>
            </a:r>
            <a:endParaRPr lang="zh-CN" altLang="en-US" sz="1100" dirty="0">
              <a:latin typeface="Trebuchet MS" panose="020B0703020202090204" pitchFamily="34" charset="0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E19717F8-0754-E439-FC0A-19254D457461}"/>
              </a:ext>
            </a:extLst>
          </p:cNvPr>
          <p:cNvCxnSpPr>
            <a:cxnSpLocks/>
            <a:stCxn id="16" idx="0"/>
            <a:endCxn id="10" idx="0"/>
          </p:cNvCxnSpPr>
          <p:nvPr/>
        </p:nvCxnSpPr>
        <p:spPr>
          <a:xfrm rot="5400000" flipH="1" flipV="1">
            <a:off x="5393947" y="-2357380"/>
            <a:ext cx="483281" cy="5971549"/>
          </a:xfrm>
          <a:prstGeom prst="bentConnector3">
            <a:avLst>
              <a:gd name="adj1" fmla="val 147302"/>
            </a:avLst>
          </a:prstGeom>
          <a:ln w="1270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D7802B4A-27FF-94DF-0D45-4063E537D124}"/>
              </a:ext>
            </a:extLst>
          </p:cNvPr>
          <p:cNvCxnSpPr>
            <a:cxnSpLocks/>
            <a:stCxn id="21" idx="2"/>
            <a:endCxn id="27" idx="1"/>
          </p:cNvCxnSpPr>
          <p:nvPr/>
        </p:nvCxnSpPr>
        <p:spPr>
          <a:xfrm rot="5400000" flipH="1" flipV="1">
            <a:off x="4662416" y="-917846"/>
            <a:ext cx="268830" cy="4193061"/>
          </a:xfrm>
          <a:prstGeom prst="bentConnector4">
            <a:avLst>
              <a:gd name="adj1" fmla="val -85035"/>
              <a:gd name="adj2" fmla="val 51932"/>
            </a:avLst>
          </a:prstGeom>
          <a:ln w="1270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92">
            <a:extLst>
              <a:ext uri="{FF2B5EF4-FFF2-40B4-BE49-F238E27FC236}">
                <a16:creationId xmlns:a16="http://schemas.microsoft.com/office/drawing/2014/main" id="{54356AF3-F698-32FA-1612-75F823E211B0}"/>
              </a:ext>
            </a:extLst>
          </p:cNvPr>
          <p:cNvCxnSpPr>
            <a:cxnSpLocks/>
          </p:cNvCxnSpPr>
          <p:nvPr/>
        </p:nvCxnSpPr>
        <p:spPr>
          <a:xfrm>
            <a:off x="3414994" y="1096418"/>
            <a:ext cx="0" cy="297769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12AD005A-6028-9B85-8D7C-C2B10B103CA4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3180296" y="2681067"/>
            <a:ext cx="3713065" cy="317201"/>
          </a:xfrm>
          <a:prstGeom prst="bentConnector3">
            <a:avLst>
              <a:gd name="adj1" fmla="val 50000"/>
            </a:avLst>
          </a:prstGeom>
          <a:ln w="1270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DE1F34B9-7A2F-74C3-C24F-FEEE1AF65906}"/>
              </a:ext>
            </a:extLst>
          </p:cNvPr>
          <p:cNvCxnSpPr>
            <a:cxnSpLocks/>
            <a:stCxn id="56" idx="0"/>
            <a:endCxn id="11" idx="1"/>
          </p:cNvCxnSpPr>
          <p:nvPr/>
        </p:nvCxnSpPr>
        <p:spPr>
          <a:xfrm rot="5400000" flipH="1" flipV="1">
            <a:off x="5086000" y="1406588"/>
            <a:ext cx="215680" cy="3399041"/>
          </a:xfrm>
          <a:prstGeom prst="bentConnector2">
            <a:avLst/>
          </a:prstGeom>
          <a:ln w="1270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8666D252-90E5-DD1F-7A6D-FB2520D3BFD8}"/>
              </a:ext>
            </a:extLst>
          </p:cNvPr>
          <p:cNvCxnSpPr>
            <a:cxnSpLocks/>
            <a:stCxn id="60" idx="0"/>
            <a:endCxn id="62" idx="1"/>
          </p:cNvCxnSpPr>
          <p:nvPr/>
        </p:nvCxnSpPr>
        <p:spPr>
          <a:xfrm rot="5400000" flipH="1" flipV="1">
            <a:off x="4660450" y="1618477"/>
            <a:ext cx="432818" cy="4033003"/>
          </a:xfrm>
          <a:prstGeom prst="bentConnector2">
            <a:avLst/>
          </a:prstGeom>
          <a:ln w="1270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31AC966E-12E2-2918-F930-431BECBD4AC8}"/>
              </a:ext>
            </a:extLst>
          </p:cNvPr>
          <p:cNvCxnSpPr>
            <a:cxnSpLocks/>
            <a:stCxn id="59" idx="3"/>
            <a:endCxn id="62" idx="1"/>
          </p:cNvCxnSpPr>
          <p:nvPr/>
        </p:nvCxnSpPr>
        <p:spPr>
          <a:xfrm flipV="1">
            <a:off x="3177781" y="3418569"/>
            <a:ext cx="3715580" cy="783774"/>
          </a:xfrm>
          <a:prstGeom prst="bentConnector3">
            <a:avLst>
              <a:gd name="adj1" fmla="val 50000"/>
            </a:avLst>
          </a:prstGeom>
          <a:ln w="1270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9DCCB83F-3371-4837-7FEE-E92CAD42AD15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3305385" y="1641211"/>
            <a:ext cx="3587976" cy="350458"/>
          </a:xfrm>
          <a:prstGeom prst="bentConnector3">
            <a:avLst>
              <a:gd name="adj1" fmla="val 50000"/>
            </a:avLst>
          </a:prstGeom>
          <a:ln w="1270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6426DBDE-8DA2-29CC-6772-FF2A9CBA88B1}"/>
              </a:ext>
            </a:extLst>
          </p:cNvPr>
          <p:cNvCxnSpPr>
            <a:cxnSpLocks/>
            <a:stCxn id="56" idx="3"/>
            <a:endCxn id="54" idx="1"/>
          </p:cNvCxnSpPr>
          <p:nvPr/>
        </p:nvCxnSpPr>
        <p:spPr>
          <a:xfrm>
            <a:off x="4178320" y="3321948"/>
            <a:ext cx="2715041" cy="622499"/>
          </a:xfrm>
          <a:prstGeom prst="bentConnector3">
            <a:avLst>
              <a:gd name="adj1" fmla="val 50000"/>
            </a:avLst>
          </a:prstGeom>
          <a:ln w="1270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Elbow Connector 134">
            <a:extLst>
              <a:ext uri="{FF2B5EF4-FFF2-40B4-BE49-F238E27FC236}">
                <a16:creationId xmlns:a16="http://schemas.microsoft.com/office/drawing/2014/main" id="{DC73EC80-F489-5959-D770-F3BCB1645095}"/>
              </a:ext>
            </a:extLst>
          </p:cNvPr>
          <p:cNvCxnSpPr>
            <a:cxnSpLocks/>
            <a:stCxn id="22" idx="2"/>
            <a:endCxn id="39" idx="1"/>
          </p:cNvCxnSpPr>
          <p:nvPr/>
        </p:nvCxnSpPr>
        <p:spPr>
          <a:xfrm rot="16200000" flipH="1">
            <a:off x="5539977" y="132958"/>
            <a:ext cx="184309" cy="2522459"/>
          </a:xfrm>
          <a:prstGeom prst="bentConnector2">
            <a:avLst/>
          </a:prstGeom>
          <a:ln w="1270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2D7F56C4-AC8A-EE99-FEF8-D79C44AEA789}"/>
              </a:ext>
            </a:extLst>
          </p:cNvPr>
          <p:cNvCxnSpPr>
            <a:cxnSpLocks/>
            <a:stCxn id="18" idx="2"/>
            <a:endCxn id="39" idx="1"/>
          </p:cNvCxnSpPr>
          <p:nvPr/>
        </p:nvCxnSpPr>
        <p:spPr>
          <a:xfrm rot="16200000" flipH="1">
            <a:off x="5859821" y="452802"/>
            <a:ext cx="397607" cy="1669473"/>
          </a:xfrm>
          <a:prstGeom prst="bentConnector2">
            <a:avLst/>
          </a:prstGeom>
          <a:ln w="1270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本框 61">
            <a:extLst>
              <a:ext uri="{FF2B5EF4-FFF2-40B4-BE49-F238E27FC236}">
                <a16:creationId xmlns:a16="http://schemas.microsoft.com/office/drawing/2014/main" id="{E8979D04-3E58-6714-B144-6AFF459C07AF}"/>
              </a:ext>
            </a:extLst>
          </p:cNvPr>
          <p:cNvSpPr txBox="1"/>
          <p:nvPr/>
        </p:nvSpPr>
        <p:spPr>
          <a:xfrm>
            <a:off x="6893361" y="2241709"/>
            <a:ext cx="3456000" cy="557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GB" sz="1100" b="1" dirty="0">
                <a:latin typeface="Trebuchet MS" panose="020B0703020202090204" pitchFamily="34" charset="0"/>
              </a:rPr>
              <a:t>CI8:</a:t>
            </a:r>
            <a:r>
              <a:rPr lang="en-GB" sz="1100" dirty="0">
                <a:latin typeface="Trebuchet MS" panose="020B0703020202090204" pitchFamily="34" charset="0"/>
              </a:rPr>
              <a:t> </a:t>
            </a:r>
            <a:r>
              <a:rPr lang="en-GB" sz="1100" dirty="0" err="1">
                <a:latin typeface="Trebuchet MS" panose="020B0703020202090204" pitchFamily="34" charset="0"/>
              </a:rPr>
              <a:t>API</a:t>
            </a:r>
            <a:r>
              <a:rPr lang="en-GB" sz="1100" baseline="-25000" dirty="0" err="1">
                <a:latin typeface="Trebuchet MS" panose="020B0703020202090204" pitchFamily="34" charset="0"/>
              </a:rPr>
              <a:t>a</a:t>
            </a:r>
            <a:r>
              <a:rPr lang="en-GB" sz="1100" baseline="-25000" dirty="0">
                <a:latin typeface="Trebuchet MS" panose="020B0703020202090204" pitchFamily="34" charset="0"/>
              </a:rPr>
              <a:t> </a:t>
            </a:r>
            <a:r>
              <a:rPr lang="en-GB" sz="1100" dirty="0">
                <a:latin typeface="Trebuchet MS" panose="020B0703020202090204" pitchFamily="34" charset="0"/>
              </a:rPr>
              <a:t>explicitly assigns None to the global variable when </a:t>
            </a:r>
            <a:r>
              <a:rPr lang="en-GB" sz="1100" dirty="0" err="1">
                <a:latin typeface="Trebuchet MS" panose="020B0703020202090204" pitchFamily="34" charset="0"/>
              </a:rPr>
              <a:t>n_dim</a:t>
            </a:r>
            <a:r>
              <a:rPr lang="en-GB" sz="1100" dirty="0">
                <a:latin typeface="Trebuchet MS" panose="020B0703020202090204" pitchFamily="34" charset="0"/>
              </a:rPr>
              <a:t> is less than zero, while </a:t>
            </a:r>
            <a:r>
              <a:rPr lang="en-GB" sz="1100" dirty="0" err="1">
                <a:latin typeface="Trebuchet MS" panose="020B0703020202090204" pitchFamily="34" charset="0"/>
              </a:rPr>
              <a:t>API</a:t>
            </a:r>
            <a:r>
              <a:rPr lang="en-GB" sz="1100" baseline="-25000" dirty="0" err="1">
                <a:latin typeface="Trebuchet MS" panose="020B0703020202090204" pitchFamily="34" charset="0"/>
              </a:rPr>
              <a:t>b</a:t>
            </a:r>
            <a:r>
              <a:rPr lang="en-GB" sz="1100" dirty="0">
                <a:latin typeface="Trebuchet MS" panose="020B0703020202090204" pitchFamily="34" charset="0"/>
              </a:rPr>
              <a:t> may assign an empty instance. </a:t>
            </a:r>
            <a:endParaRPr lang="en-US" altLang="zh-CN" sz="1100" dirty="0">
              <a:solidFill>
                <a:srgbClr val="FF0000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395FC50E-29BA-B384-5B25-CCABF0FDAF48}"/>
              </a:ext>
            </a:extLst>
          </p:cNvPr>
          <p:cNvCxnSpPr>
            <a:cxnSpLocks/>
            <a:stCxn id="55" idx="3"/>
            <a:endCxn id="150" idx="1"/>
          </p:cNvCxnSpPr>
          <p:nvPr/>
        </p:nvCxnSpPr>
        <p:spPr>
          <a:xfrm>
            <a:off x="2983974" y="2239205"/>
            <a:ext cx="3909387" cy="281201"/>
          </a:xfrm>
          <a:prstGeom prst="bentConnector3">
            <a:avLst>
              <a:gd name="adj1" fmla="val 50000"/>
            </a:avLst>
          </a:prstGeom>
          <a:ln w="1270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E30DE6F-3A31-36D5-CAC8-2E0A31990022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2915894" y="4472546"/>
            <a:ext cx="3977467" cy="3905"/>
          </a:xfrm>
          <a:prstGeom prst="straightConnector1">
            <a:avLst/>
          </a:prstGeom>
          <a:ln w="1270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92">
            <a:extLst>
              <a:ext uri="{FF2B5EF4-FFF2-40B4-BE49-F238E27FC236}">
                <a16:creationId xmlns:a16="http://schemas.microsoft.com/office/drawing/2014/main" id="{3B3B9FF0-EC34-C2EE-5B83-9F140CAA9CE8}"/>
              </a:ext>
            </a:extLst>
          </p:cNvPr>
          <p:cNvCxnSpPr>
            <a:cxnSpLocks/>
          </p:cNvCxnSpPr>
          <p:nvPr/>
        </p:nvCxnSpPr>
        <p:spPr>
          <a:xfrm>
            <a:off x="5103595" y="2521031"/>
            <a:ext cx="0" cy="297769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1A8159B7-DC6C-E043-BF77-54213F6FF769}"/>
              </a:ext>
            </a:extLst>
          </p:cNvPr>
          <p:cNvSpPr txBox="1"/>
          <p:nvPr/>
        </p:nvSpPr>
        <p:spPr>
          <a:xfrm>
            <a:off x="7534364" y="4775696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Trebuchet MS" panose="020B0703020202090204" pitchFamily="34" charset="0"/>
              </a:rPr>
              <a:t>Change Description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CC576F7-07C4-0138-D589-4DF01B8CA596}"/>
              </a:ext>
            </a:extLst>
          </p:cNvPr>
          <p:cNvSpPr txBox="1"/>
          <p:nvPr/>
        </p:nvSpPr>
        <p:spPr>
          <a:xfrm>
            <a:off x="10790706" y="4775696"/>
            <a:ext cx="3437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Trebuchet MS" panose="020B0703020202090204" pitchFamily="34" charset="0"/>
              </a:rPr>
              <a:t>Incompatible API Consequences</a:t>
            </a:r>
          </a:p>
        </p:txBody>
      </p:sp>
      <p:sp>
        <p:nvSpPr>
          <p:cNvPr id="168" name="文本框 54">
            <a:extLst>
              <a:ext uri="{FF2B5EF4-FFF2-40B4-BE49-F238E27FC236}">
                <a16:creationId xmlns:a16="http://schemas.microsoft.com/office/drawing/2014/main" id="{1FD3936E-8E9A-5E70-7DB1-DE9C1A84EB2B}"/>
              </a:ext>
            </a:extLst>
          </p:cNvPr>
          <p:cNvSpPr txBox="1"/>
          <p:nvPr/>
        </p:nvSpPr>
        <p:spPr>
          <a:xfrm>
            <a:off x="10579857" y="1270899"/>
            <a:ext cx="3859623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CN" sz="1100" dirty="0">
                <a:latin typeface="Trebuchet MS" panose="020B0703020202090204" pitchFamily="34" charset="0"/>
              </a:rPr>
              <a:t>Without explicitly altering the default value, the same client code may lead to divergent execution logic.</a:t>
            </a:r>
            <a:endParaRPr lang="zh-CN" altLang="en-US" sz="1100" dirty="0">
              <a:latin typeface="Trebuchet MS" panose="020B0703020202090204" pitchFamily="34" charset="0"/>
            </a:endParaRPr>
          </a:p>
        </p:txBody>
      </p:sp>
      <p:sp>
        <p:nvSpPr>
          <p:cNvPr id="169" name="文本框 54">
            <a:extLst>
              <a:ext uri="{FF2B5EF4-FFF2-40B4-BE49-F238E27FC236}">
                <a16:creationId xmlns:a16="http://schemas.microsoft.com/office/drawing/2014/main" id="{20783B54-C75A-4032-EC6B-FE81433A9599}"/>
              </a:ext>
            </a:extLst>
          </p:cNvPr>
          <p:cNvSpPr txBox="1"/>
          <p:nvPr/>
        </p:nvSpPr>
        <p:spPr>
          <a:xfrm>
            <a:off x="10579857" y="1712972"/>
            <a:ext cx="3859623" cy="557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GB" sz="1100" dirty="0">
                <a:latin typeface="Trebuchet MS" panose="020B0703020202090204" pitchFamily="34" charset="0"/>
              </a:rPr>
              <a:t>The use of </a:t>
            </a:r>
            <a:r>
              <a:rPr lang="en-GB" sz="1100" dirty="0" err="1">
                <a:latin typeface="Trebuchet MS" panose="020B0703020202090204" pitchFamily="34" charset="0"/>
              </a:rPr>
              <a:t>mFlag</a:t>
            </a:r>
            <a:r>
              <a:rPr lang="en-GB" sz="1100" dirty="0">
                <a:latin typeface="Trebuchet MS" panose="020B0703020202090204" pitchFamily="34" charset="0"/>
              </a:rPr>
              <a:t> in other APIs (i.e., </a:t>
            </a:r>
            <a:r>
              <a:rPr lang="en-GB" sz="1100" dirty="0" err="1">
                <a:latin typeface="Trebuchet MS" panose="020B0703020202090204" pitchFamily="34" charset="0"/>
              </a:rPr>
              <a:t>self.mFlag</a:t>
            </a:r>
            <a:r>
              <a:rPr lang="en-GB" sz="1100" dirty="0">
                <a:latin typeface="Trebuchet MS" panose="020B0703020202090204" pitchFamily="34" charset="0"/>
              </a:rPr>
              <a:t>) may trigger an “object has no attribute '</a:t>
            </a:r>
            <a:r>
              <a:rPr lang="en-GB" sz="1100" dirty="0" err="1">
                <a:latin typeface="Trebuchet MS" panose="020B0703020202090204" pitchFamily="34" charset="0"/>
              </a:rPr>
              <a:t>mFlag</a:t>
            </a:r>
            <a:r>
              <a:rPr lang="en-GB" sz="1100" dirty="0">
                <a:latin typeface="Trebuchet MS" panose="020B0703020202090204" pitchFamily="34" charset="0"/>
              </a:rPr>
              <a:t>’ ” exception. </a:t>
            </a:r>
            <a:endParaRPr lang="zh-CN" altLang="en-US" sz="1100" dirty="0">
              <a:latin typeface="Trebuchet MS" panose="020B0703020202090204" pitchFamily="34" charset="0"/>
            </a:endParaRPr>
          </a:p>
        </p:txBody>
      </p:sp>
      <p:sp>
        <p:nvSpPr>
          <p:cNvPr id="170" name="文本框 54">
            <a:extLst>
              <a:ext uri="{FF2B5EF4-FFF2-40B4-BE49-F238E27FC236}">
                <a16:creationId xmlns:a16="http://schemas.microsoft.com/office/drawing/2014/main" id="{CBA002BB-1D65-6B0C-192E-DCF97BEA9CF4}"/>
              </a:ext>
            </a:extLst>
          </p:cNvPr>
          <p:cNvSpPr txBox="1"/>
          <p:nvPr/>
        </p:nvSpPr>
        <p:spPr>
          <a:xfrm>
            <a:off x="10579857" y="2241709"/>
            <a:ext cx="3859623" cy="556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GB" sz="1100" dirty="0">
                <a:latin typeface="Trebuchet MS" panose="020B0703020202090204" pitchFamily="34" charset="0"/>
              </a:rPr>
              <a:t>Changes to the value of GLOBALX in other APIs may result in inconsistent </a:t>
            </a:r>
            <a:r>
              <a:rPr lang="en-GB" sz="1100" dirty="0" err="1">
                <a:latin typeface="Trebuchet MS" panose="020B0703020202090204" pitchFamily="34" charset="0"/>
              </a:rPr>
              <a:t>behavior</a:t>
            </a:r>
            <a:r>
              <a:rPr lang="en-GB" sz="1100" dirty="0">
                <a:latin typeface="Trebuchet MS" panose="020B0703020202090204" pitchFamily="34" charset="0"/>
              </a:rPr>
              <a:t>. </a:t>
            </a:r>
            <a:endParaRPr lang="zh-CN" altLang="en-US" sz="1100" dirty="0">
              <a:latin typeface="Trebuchet MS" panose="020B0703020202090204" pitchFamily="34" charset="0"/>
            </a:endParaRPr>
          </a:p>
        </p:txBody>
      </p:sp>
      <p:sp>
        <p:nvSpPr>
          <p:cNvPr id="171" name="文本框 54">
            <a:extLst>
              <a:ext uri="{FF2B5EF4-FFF2-40B4-BE49-F238E27FC236}">
                <a16:creationId xmlns:a16="http://schemas.microsoft.com/office/drawing/2014/main" id="{ED63D212-2357-A1AB-B1F6-9DE765BC103D}"/>
              </a:ext>
            </a:extLst>
          </p:cNvPr>
          <p:cNvSpPr txBox="1"/>
          <p:nvPr/>
        </p:nvSpPr>
        <p:spPr>
          <a:xfrm>
            <a:off x="10579857" y="2782824"/>
            <a:ext cx="3859623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GB" sz="1100" dirty="0">
                <a:latin typeface="Trebuchet MS" panose="020B0703020202090204" pitchFamily="34" charset="0"/>
              </a:rPr>
              <a:t>Using the same </a:t>
            </a:r>
            <a:r>
              <a:rPr lang="en-GB" sz="1100" dirty="0" err="1">
                <a:latin typeface="Trebuchet MS" panose="020B0703020202090204" pitchFamily="34" charset="0"/>
              </a:rPr>
              <a:t>kwargs</a:t>
            </a:r>
            <a:r>
              <a:rPr lang="en-GB" sz="1100" dirty="0">
                <a:latin typeface="Trebuchet MS" panose="020B0703020202090204" pitchFamily="34" charset="0"/>
              </a:rPr>
              <a:t> as in </a:t>
            </a:r>
            <a:r>
              <a:rPr lang="en-GB" sz="1100" dirty="0" err="1">
                <a:latin typeface="Trebuchet MS" panose="020B0703020202090204" pitchFamily="34" charset="0"/>
              </a:rPr>
              <a:t>API</a:t>
            </a:r>
            <a:r>
              <a:rPr lang="en-GB" sz="1100" baseline="-25000" dirty="0" err="1">
                <a:latin typeface="Trebuchet MS" panose="020B0703020202090204" pitchFamily="34" charset="0"/>
              </a:rPr>
              <a:t>b</a:t>
            </a:r>
            <a:r>
              <a:rPr lang="en-GB" sz="1100" dirty="0">
                <a:latin typeface="Trebuchet MS" panose="020B0703020202090204" pitchFamily="34" charset="0"/>
              </a:rPr>
              <a:t> when invoking </a:t>
            </a:r>
            <a:r>
              <a:rPr lang="en-GB" sz="1100" dirty="0" err="1">
                <a:latin typeface="Trebuchet MS" panose="020B0703020202090204" pitchFamily="34" charset="0"/>
              </a:rPr>
              <a:t>API</a:t>
            </a:r>
            <a:r>
              <a:rPr lang="en-GB" sz="1100" baseline="-25000" dirty="0" err="1">
                <a:latin typeface="Trebuchet MS" panose="020B0703020202090204" pitchFamily="34" charset="0"/>
              </a:rPr>
              <a:t>a</a:t>
            </a:r>
            <a:r>
              <a:rPr lang="en-GB" sz="1100" dirty="0">
                <a:latin typeface="Trebuchet MS" panose="020B0703020202090204" pitchFamily="34" charset="0"/>
              </a:rPr>
              <a:t> may trigger an </a:t>
            </a:r>
            <a:r>
              <a:rPr lang="en-GB" sz="1100" dirty="0" err="1">
                <a:latin typeface="Trebuchet MS" panose="020B0703020202090204" pitchFamily="34" charset="0"/>
              </a:rPr>
              <a:t>KeyError</a:t>
            </a:r>
            <a:r>
              <a:rPr lang="en-GB" sz="1100" dirty="0">
                <a:latin typeface="Trebuchet MS" panose="020B0703020202090204" pitchFamily="34" charset="0"/>
              </a:rPr>
              <a:t> exception. </a:t>
            </a:r>
            <a:endParaRPr lang="zh-CN" altLang="en-US" sz="1100" dirty="0">
              <a:latin typeface="Trebuchet MS" panose="020B0703020202090204" pitchFamily="34" charset="0"/>
            </a:endParaRPr>
          </a:p>
        </p:txBody>
      </p:sp>
      <p:sp>
        <p:nvSpPr>
          <p:cNvPr id="172" name="文本框 56">
            <a:extLst>
              <a:ext uri="{FF2B5EF4-FFF2-40B4-BE49-F238E27FC236}">
                <a16:creationId xmlns:a16="http://schemas.microsoft.com/office/drawing/2014/main" id="{A6034F2C-0A3A-62EE-9ACD-3B1C84EEF820}"/>
              </a:ext>
            </a:extLst>
          </p:cNvPr>
          <p:cNvSpPr txBox="1"/>
          <p:nvPr/>
        </p:nvSpPr>
        <p:spPr>
          <a:xfrm>
            <a:off x="10579857" y="4255395"/>
            <a:ext cx="3859623" cy="442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A6A6A6"/>
            </a:solidFill>
          </a:ln>
        </p:spPr>
        <p:txBody>
          <a:bodyPr wrap="square" rtlCol="0">
            <a:noAutofit/>
          </a:bodyPr>
          <a:lstStyle/>
          <a:p>
            <a:r>
              <a:rPr lang="en-GB" sz="1100" dirty="0">
                <a:latin typeface="Trebuchet MS" panose="020B0703020202090204" pitchFamily="34" charset="0"/>
              </a:rPr>
              <a:t>The returned value differs for the same input, leading to inconsistent results. </a:t>
            </a:r>
            <a:endParaRPr lang="zh-CN" altLang="en-US" sz="1100" dirty="0">
              <a:latin typeface="Trebuchet MS" panose="020B0703020202090204" pitchFamily="34" charset="0"/>
            </a:endParaRP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7294A203-23E8-1E6D-09F6-6C6D5D5AC688}"/>
              </a:ext>
            </a:extLst>
          </p:cNvPr>
          <p:cNvCxnSpPr>
            <a:stCxn id="10" idx="3"/>
            <a:endCxn id="20" idx="1"/>
          </p:cNvCxnSpPr>
          <p:nvPr/>
        </p:nvCxnSpPr>
        <p:spPr>
          <a:xfrm>
            <a:off x="10349362" y="602197"/>
            <a:ext cx="230495" cy="4568"/>
          </a:xfrm>
          <a:prstGeom prst="line">
            <a:avLst/>
          </a:prstGeom>
          <a:ln w="12700">
            <a:solidFill>
              <a:srgbClr val="A6A6A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DD49F2D6-A7C2-5A87-73E7-146354B1BD11}"/>
              </a:ext>
            </a:extLst>
          </p:cNvPr>
          <p:cNvCxnSpPr>
            <a:cxnSpLocks/>
            <a:stCxn id="27" idx="3"/>
            <a:endCxn id="23" idx="1"/>
          </p:cNvCxnSpPr>
          <p:nvPr/>
        </p:nvCxnSpPr>
        <p:spPr>
          <a:xfrm>
            <a:off x="10349362" y="1044270"/>
            <a:ext cx="230495" cy="0"/>
          </a:xfrm>
          <a:prstGeom prst="line">
            <a:avLst/>
          </a:prstGeom>
          <a:ln w="12700">
            <a:solidFill>
              <a:srgbClr val="A6A6A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DAED4DDB-06D7-9658-9156-445E65364EDD}"/>
              </a:ext>
            </a:extLst>
          </p:cNvPr>
          <p:cNvCxnSpPr>
            <a:cxnSpLocks/>
            <a:stCxn id="39" idx="3"/>
            <a:endCxn id="168" idx="1"/>
          </p:cNvCxnSpPr>
          <p:nvPr/>
        </p:nvCxnSpPr>
        <p:spPr>
          <a:xfrm>
            <a:off x="10349361" y="1486343"/>
            <a:ext cx="230496" cy="0"/>
          </a:xfrm>
          <a:prstGeom prst="line">
            <a:avLst/>
          </a:prstGeom>
          <a:ln w="12700">
            <a:solidFill>
              <a:srgbClr val="A6A6A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1BECC419-2262-9797-D2E0-0882875AD348}"/>
              </a:ext>
            </a:extLst>
          </p:cNvPr>
          <p:cNvCxnSpPr>
            <a:cxnSpLocks/>
            <a:stCxn id="87" idx="3"/>
            <a:endCxn id="169" idx="1"/>
          </p:cNvCxnSpPr>
          <p:nvPr/>
        </p:nvCxnSpPr>
        <p:spPr>
          <a:xfrm>
            <a:off x="10349361" y="1991669"/>
            <a:ext cx="230496" cy="0"/>
          </a:xfrm>
          <a:prstGeom prst="line">
            <a:avLst/>
          </a:prstGeom>
          <a:ln w="12700">
            <a:solidFill>
              <a:srgbClr val="A6A6A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1128BA31-90AB-3DD7-A5A9-9B1E2AC9CC30}"/>
              </a:ext>
            </a:extLst>
          </p:cNvPr>
          <p:cNvCxnSpPr>
            <a:cxnSpLocks/>
            <a:stCxn id="150" idx="3"/>
            <a:endCxn id="170" idx="1"/>
          </p:cNvCxnSpPr>
          <p:nvPr/>
        </p:nvCxnSpPr>
        <p:spPr>
          <a:xfrm flipV="1">
            <a:off x="10349361" y="2519899"/>
            <a:ext cx="230496" cy="507"/>
          </a:xfrm>
          <a:prstGeom prst="line">
            <a:avLst/>
          </a:prstGeom>
          <a:ln w="12700">
            <a:solidFill>
              <a:srgbClr val="A6A6A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3887FA69-9878-F9CA-99CD-CE29F1FB90D7}"/>
              </a:ext>
            </a:extLst>
          </p:cNvPr>
          <p:cNvCxnSpPr>
            <a:cxnSpLocks/>
            <a:stCxn id="11" idx="3"/>
            <a:endCxn id="171" idx="1"/>
          </p:cNvCxnSpPr>
          <p:nvPr/>
        </p:nvCxnSpPr>
        <p:spPr>
          <a:xfrm>
            <a:off x="10349361" y="2998268"/>
            <a:ext cx="230496" cy="0"/>
          </a:xfrm>
          <a:prstGeom prst="line">
            <a:avLst/>
          </a:prstGeom>
          <a:ln w="12700">
            <a:solidFill>
              <a:srgbClr val="A6A6A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ABF7145A-AE9E-8349-BE72-FC6BCA6DC1F5}"/>
              </a:ext>
            </a:extLst>
          </p:cNvPr>
          <p:cNvCxnSpPr>
            <a:cxnSpLocks/>
            <a:stCxn id="62" idx="3"/>
            <a:endCxn id="32" idx="1"/>
          </p:cNvCxnSpPr>
          <p:nvPr/>
        </p:nvCxnSpPr>
        <p:spPr>
          <a:xfrm>
            <a:off x="10349361" y="3418569"/>
            <a:ext cx="230496" cy="0"/>
          </a:xfrm>
          <a:prstGeom prst="line">
            <a:avLst/>
          </a:prstGeom>
          <a:ln w="12700">
            <a:solidFill>
              <a:srgbClr val="A6A6A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C9DFEDAE-153B-A0CE-6FD4-E9679BFC42E2}"/>
              </a:ext>
            </a:extLst>
          </p:cNvPr>
          <p:cNvCxnSpPr>
            <a:cxnSpLocks/>
            <a:stCxn id="54" idx="3"/>
            <a:endCxn id="26" idx="1"/>
          </p:cNvCxnSpPr>
          <p:nvPr/>
        </p:nvCxnSpPr>
        <p:spPr>
          <a:xfrm flipV="1">
            <a:off x="10349361" y="3944446"/>
            <a:ext cx="230496" cy="1"/>
          </a:xfrm>
          <a:prstGeom prst="line">
            <a:avLst/>
          </a:prstGeom>
          <a:ln w="12700">
            <a:solidFill>
              <a:srgbClr val="A6A6A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641AD55-7EFF-4EDD-7329-14A517BA5D89}"/>
              </a:ext>
            </a:extLst>
          </p:cNvPr>
          <p:cNvCxnSpPr>
            <a:cxnSpLocks/>
            <a:stCxn id="79" idx="3"/>
            <a:endCxn id="172" idx="1"/>
          </p:cNvCxnSpPr>
          <p:nvPr/>
        </p:nvCxnSpPr>
        <p:spPr>
          <a:xfrm>
            <a:off x="10349361" y="4476451"/>
            <a:ext cx="230496" cy="0"/>
          </a:xfrm>
          <a:prstGeom prst="line">
            <a:avLst/>
          </a:prstGeom>
          <a:ln w="12700">
            <a:solidFill>
              <a:srgbClr val="A6A6A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35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CAD1C7E5-F4E9-4BC4-91CD-89BCD5F76F39}"/>
              </a:ext>
            </a:extLst>
          </p:cNvPr>
          <p:cNvSpPr txBox="1"/>
          <p:nvPr/>
        </p:nvSpPr>
        <p:spPr>
          <a:xfrm>
            <a:off x="2519139" y="2325772"/>
            <a:ext cx="6086964" cy="214397"/>
          </a:xfrm>
          <a:prstGeom prst="rect">
            <a:avLst/>
          </a:prstGeom>
          <a:solidFill>
            <a:srgbClr val="FFCCCC"/>
          </a:solidFill>
        </p:spPr>
        <p:txBody>
          <a:bodyPr wrap="none" anchor="ctr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3F5F44-852A-48D9-A1D2-9A3E844B38E9}"/>
              </a:ext>
            </a:extLst>
          </p:cNvPr>
          <p:cNvSpPr txBox="1"/>
          <p:nvPr/>
        </p:nvSpPr>
        <p:spPr>
          <a:xfrm>
            <a:off x="2518329" y="1907656"/>
            <a:ext cx="6086964" cy="380873"/>
          </a:xfrm>
          <a:prstGeom prst="rect">
            <a:avLst/>
          </a:prstGeom>
          <a:solidFill>
            <a:srgbClr val="EBF1DD"/>
          </a:solidFill>
        </p:spPr>
        <p:txBody>
          <a:bodyPr wrap="square">
            <a:sp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8FC6E6-3290-4F4F-B402-323CAA6F87D1}"/>
              </a:ext>
            </a:extLst>
          </p:cNvPr>
          <p:cNvSpPr txBox="1"/>
          <p:nvPr/>
        </p:nvSpPr>
        <p:spPr>
          <a:xfrm>
            <a:off x="2508275" y="1674706"/>
            <a:ext cx="6086964" cy="216000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C2A0947-CE02-429D-B0D7-4D0FBD112E4F}"/>
              </a:ext>
            </a:extLst>
          </p:cNvPr>
          <p:cNvSpPr txBox="1"/>
          <p:nvPr/>
        </p:nvSpPr>
        <p:spPr>
          <a:xfrm>
            <a:off x="2518323" y="2938796"/>
            <a:ext cx="6086964" cy="648000"/>
          </a:xfrm>
          <a:prstGeom prst="rect">
            <a:avLst/>
          </a:prstGeom>
          <a:solidFill>
            <a:srgbClr val="FFCCCC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2F20C6-E145-4FBB-A523-D3469EDC0CBB}"/>
              </a:ext>
            </a:extLst>
          </p:cNvPr>
          <p:cNvSpPr txBox="1"/>
          <p:nvPr/>
        </p:nvSpPr>
        <p:spPr>
          <a:xfrm>
            <a:off x="2505444" y="4672201"/>
            <a:ext cx="6086964" cy="216000"/>
          </a:xfrm>
          <a:prstGeom prst="rect">
            <a:avLst/>
          </a:prstGeom>
          <a:solidFill>
            <a:srgbClr val="FFCCCC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  <a:defRPr/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9F0A67A-830A-41D3-9F6C-AB59C13A0F83}"/>
              </a:ext>
            </a:extLst>
          </p:cNvPr>
          <p:cNvSpPr txBox="1"/>
          <p:nvPr/>
        </p:nvSpPr>
        <p:spPr>
          <a:xfrm>
            <a:off x="2518315" y="4888201"/>
            <a:ext cx="6086965" cy="216000"/>
          </a:xfrm>
          <a:prstGeom prst="rect">
            <a:avLst/>
          </a:prstGeom>
          <a:solidFill>
            <a:srgbClr val="EBF1DD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  <a:defRPr/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D5D352C-20FE-4AD1-A4E0-FD2B1AF2AD4D}"/>
              </a:ext>
            </a:extLst>
          </p:cNvPr>
          <p:cNvSpPr txBox="1"/>
          <p:nvPr/>
        </p:nvSpPr>
        <p:spPr>
          <a:xfrm>
            <a:off x="2531914" y="3602762"/>
            <a:ext cx="6086964" cy="648000"/>
          </a:xfrm>
          <a:prstGeom prst="rect">
            <a:avLst/>
          </a:prstGeom>
          <a:solidFill>
            <a:srgbClr val="EBF1DD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60">
            <a:extLst>
              <a:ext uri="{FF2B5EF4-FFF2-40B4-BE49-F238E27FC236}">
                <a16:creationId xmlns:a16="http://schemas.microsoft.com/office/drawing/2014/main" id="{71177549-5C4A-9C40-B0B9-B15ADB70481C}"/>
              </a:ext>
            </a:extLst>
          </p:cNvPr>
          <p:cNvSpPr txBox="1"/>
          <p:nvPr/>
        </p:nvSpPr>
        <p:spPr>
          <a:xfrm>
            <a:off x="2508273" y="1635064"/>
            <a:ext cx="373314" cy="37667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1 -	   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2 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4 -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7 -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8 -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9 -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10+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11+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12+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15-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16+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3" name="文本框 60">
            <a:extLst>
              <a:ext uri="{FF2B5EF4-FFF2-40B4-BE49-F238E27FC236}">
                <a16:creationId xmlns:a16="http://schemas.microsoft.com/office/drawing/2014/main" id="{2D34E9BC-9A6E-89DC-57BB-C1DF6C9C3422}"/>
              </a:ext>
            </a:extLst>
          </p:cNvPr>
          <p:cNvSpPr txBox="1"/>
          <p:nvPr/>
        </p:nvSpPr>
        <p:spPr>
          <a:xfrm>
            <a:off x="2861710" y="1637392"/>
            <a:ext cx="5743577" cy="37667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7200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amount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**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pPr defTabSz="7200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is_good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**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GLOBALX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self.amount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amount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GLOBALX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*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kwargs.get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'key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GLOBALX = </a:t>
            </a:r>
            <a:r>
              <a:rPr lang="pt-BR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pt-BR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pt-BR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else</a:t>
            </a:r>
            <a:r>
              <a:rPr lang="pt-BR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None</a:t>
            </a:r>
            <a:r>
              <a:rPr lang="pt-BR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*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.get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key_for_check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.type_bad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TypeError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'message’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len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new_var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 ==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ValueError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'msg1'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LENError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‘msg2’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new_var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CAEF1-957B-58D9-13C6-CAAD20D440FF}"/>
              </a:ext>
            </a:extLst>
          </p:cNvPr>
          <p:cNvSpPr/>
          <p:nvPr/>
        </p:nvSpPr>
        <p:spPr>
          <a:xfrm>
            <a:off x="2508274" y="1674706"/>
            <a:ext cx="6097013" cy="3695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D23FC2-0E99-420E-B3F0-81BA7A5AD441}"/>
              </a:ext>
            </a:extLst>
          </p:cNvPr>
          <p:cNvSpPr/>
          <p:nvPr/>
        </p:nvSpPr>
        <p:spPr>
          <a:xfrm>
            <a:off x="4319486" y="1674706"/>
            <a:ext cx="576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FE0670-69E4-47DD-97B1-207229DC7E64}"/>
              </a:ext>
            </a:extLst>
          </p:cNvPr>
          <p:cNvSpPr/>
          <p:nvPr/>
        </p:nvSpPr>
        <p:spPr>
          <a:xfrm>
            <a:off x="5288286" y="1685090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EFBBBF-2474-4DEB-9009-53A5B1FC641F}"/>
              </a:ext>
            </a:extLst>
          </p:cNvPr>
          <p:cNvSpPr/>
          <p:nvPr/>
        </p:nvSpPr>
        <p:spPr>
          <a:xfrm>
            <a:off x="7246819" y="1677408"/>
            <a:ext cx="468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ECA2AE-2CD0-49DC-8DD6-AA7848E579F7}"/>
              </a:ext>
            </a:extLst>
          </p:cNvPr>
          <p:cNvSpPr/>
          <p:nvPr/>
        </p:nvSpPr>
        <p:spPr>
          <a:xfrm>
            <a:off x="4495974" y="1901772"/>
            <a:ext cx="324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E210D9-B60C-4B80-939A-03D4EBDECED9}"/>
              </a:ext>
            </a:extLst>
          </p:cNvPr>
          <p:cNvSpPr/>
          <p:nvPr/>
        </p:nvSpPr>
        <p:spPr>
          <a:xfrm>
            <a:off x="6357833" y="1890706"/>
            <a:ext cx="54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7A8B6CF-5DD4-450B-A2B8-4F4267E37EC8}"/>
              </a:ext>
            </a:extLst>
          </p:cNvPr>
          <p:cNvSpPr/>
          <p:nvPr/>
        </p:nvSpPr>
        <p:spPr>
          <a:xfrm>
            <a:off x="5106741" y="3165181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F29C126-103C-4602-9466-FD2828F07BDB}"/>
              </a:ext>
            </a:extLst>
          </p:cNvPr>
          <p:cNvSpPr/>
          <p:nvPr/>
        </p:nvSpPr>
        <p:spPr>
          <a:xfrm>
            <a:off x="4509647" y="2935877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E016B36-1C75-4B2E-8ED5-A5768E166053}"/>
              </a:ext>
            </a:extLst>
          </p:cNvPr>
          <p:cNvSpPr/>
          <p:nvPr/>
        </p:nvSpPr>
        <p:spPr>
          <a:xfrm>
            <a:off x="4767993" y="4018620"/>
            <a:ext cx="1368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17ABDFB-03B3-468C-BA40-214515C172DD}"/>
              </a:ext>
            </a:extLst>
          </p:cNvPr>
          <p:cNvSpPr/>
          <p:nvPr/>
        </p:nvSpPr>
        <p:spPr>
          <a:xfrm>
            <a:off x="4513567" y="3608539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71EE7DD-5395-44AE-958E-41703F9438A7}"/>
              </a:ext>
            </a:extLst>
          </p:cNvPr>
          <p:cNvSpPr/>
          <p:nvPr/>
        </p:nvSpPr>
        <p:spPr>
          <a:xfrm>
            <a:off x="4307454" y="4899015"/>
            <a:ext cx="828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0465493-2F74-4BD6-897B-007885F9B5FB}"/>
              </a:ext>
            </a:extLst>
          </p:cNvPr>
          <p:cNvSpPr/>
          <p:nvPr/>
        </p:nvSpPr>
        <p:spPr>
          <a:xfrm>
            <a:off x="4314031" y="4656059"/>
            <a:ext cx="1008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56">
            <a:extLst>
              <a:ext uri="{FF2B5EF4-FFF2-40B4-BE49-F238E27FC236}">
                <a16:creationId xmlns:a16="http://schemas.microsoft.com/office/drawing/2014/main" id="{FC38D87B-4C54-6E36-0BAB-8B69A4503BD9}"/>
              </a:ext>
            </a:extLst>
          </p:cNvPr>
          <p:cNvSpPr/>
          <p:nvPr/>
        </p:nvSpPr>
        <p:spPr>
          <a:xfrm>
            <a:off x="5399894" y="3616561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6">
            <a:extLst>
              <a:ext uri="{FF2B5EF4-FFF2-40B4-BE49-F238E27FC236}">
                <a16:creationId xmlns:a16="http://schemas.microsoft.com/office/drawing/2014/main" id="{E33459E9-7C99-B4F0-5358-53B1795707E8}"/>
              </a:ext>
            </a:extLst>
          </p:cNvPr>
          <p:cNvSpPr/>
          <p:nvPr/>
        </p:nvSpPr>
        <p:spPr>
          <a:xfrm>
            <a:off x="5083058" y="3805057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51">
            <a:extLst>
              <a:ext uri="{FF2B5EF4-FFF2-40B4-BE49-F238E27FC236}">
                <a16:creationId xmlns:a16="http://schemas.microsoft.com/office/drawing/2014/main" id="{B5041CA0-552C-509F-A7C3-2134AD463FCA}"/>
              </a:ext>
            </a:extLst>
          </p:cNvPr>
          <p:cNvSpPr/>
          <p:nvPr/>
        </p:nvSpPr>
        <p:spPr>
          <a:xfrm>
            <a:off x="4813969" y="3377739"/>
            <a:ext cx="324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文本框 37">
            <a:extLst>
              <a:ext uri="{FF2B5EF4-FFF2-40B4-BE49-F238E27FC236}">
                <a16:creationId xmlns:a16="http://schemas.microsoft.com/office/drawing/2014/main" id="{D98B9D30-6E85-DB91-4FDE-B84D46DE14B9}"/>
              </a:ext>
            </a:extLst>
          </p:cNvPr>
          <p:cNvSpPr txBox="1"/>
          <p:nvPr/>
        </p:nvSpPr>
        <p:spPr>
          <a:xfrm>
            <a:off x="8878522" y="876985"/>
            <a:ext cx="337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CI1: </a:t>
            </a:r>
            <a:r>
              <a:rPr lang="en-US" altLang="zh-CN" sz="1100" dirty="0" err="1">
                <a:latin typeface="Inter"/>
              </a:rPr>
              <a:t>API</a:t>
            </a:r>
            <a:r>
              <a:rPr lang="en-US" altLang="zh-CN" sz="1100" baseline="-25000" dirty="0" err="1">
                <a:latin typeface="Inter"/>
              </a:rPr>
              <a:t>b</a:t>
            </a:r>
            <a:r>
              <a:rPr lang="en-US" altLang="zh-CN" sz="1100" dirty="0">
                <a:latin typeface="Inter"/>
              </a:rPr>
              <a:t> removes The required parameter ‘amount’ from </a:t>
            </a:r>
            <a:r>
              <a:rPr lang="en-US" altLang="zh-CN" sz="1100" dirty="0" err="1">
                <a:latin typeface="Inter"/>
              </a:rPr>
              <a:t>API</a:t>
            </a:r>
            <a:r>
              <a:rPr lang="en-US" altLang="zh-CN" sz="1100" baseline="-25000" dirty="0" err="1">
                <a:latin typeface="Inter"/>
              </a:rPr>
              <a:t>b</a:t>
            </a:r>
            <a:r>
              <a:rPr lang="en-US" altLang="zh-CN" sz="1100" dirty="0">
                <a:latin typeface="Inter"/>
              </a:rPr>
              <a:t> is removed in </a:t>
            </a:r>
            <a:r>
              <a:rPr lang="en-US" altLang="zh-CN" sz="1100" dirty="0" err="1">
                <a:latin typeface="Inter"/>
              </a:rPr>
              <a:t>API</a:t>
            </a:r>
            <a:r>
              <a:rPr lang="en-US" altLang="zh-CN" sz="1100" baseline="-25000" dirty="0" err="1">
                <a:latin typeface="Inter"/>
              </a:rPr>
              <a:t>a</a:t>
            </a:r>
            <a:r>
              <a:rPr lang="en-US" altLang="zh-CN" sz="1100" dirty="0">
                <a:latin typeface="Inter"/>
              </a:rPr>
              <a:t>. Using old arguments like ‘amount=1’ triggers “unexpected keyword argument” errors.</a:t>
            </a:r>
            <a:endParaRPr lang="zh-CN" altLang="en-US" sz="1100" dirty="0"/>
          </a:p>
        </p:txBody>
      </p:sp>
      <p:sp>
        <p:nvSpPr>
          <p:cNvPr id="11" name="文本框 52">
            <a:extLst>
              <a:ext uri="{FF2B5EF4-FFF2-40B4-BE49-F238E27FC236}">
                <a16:creationId xmlns:a16="http://schemas.microsoft.com/office/drawing/2014/main" id="{5F2E2DC4-892F-B8FD-7341-EFA35B680679}"/>
              </a:ext>
            </a:extLst>
          </p:cNvPr>
          <p:cNvSpPr txBox="1"/>
          <p:nvPr/>
        </p:nvSpPr>
        <p:spPr>
          <a:xfrm>
            <a:off x="8851042" y="3657659"/>
            <a:ext cx="338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CI2: </a:t>
            </a:r>
            <a:r>
              <a:rPr lang="en-US" altLang="zh-CN" sz="1100" dirty="0" err="1">
                <a:latin typeface="Inter"/>
              </a:rPr>
              <a:t>API</a:t>
            </a:r>
            <a:r>
              <a:rPr lang="en-US" altLang="zh-CN" sz="1100" baseline="-25000" dirty="0" err="1">
                <a:latin typeface="Inter"/>
              </a:rPr>
              <a:t>a</a:t>
            </a:r>
            <a:r>
              <a:rPr lang="en-US" altLang="zh-CN" sz="1100" dirty="0">
                <a:latin typeface="Inter"/>
              </a:rPr>
              <a:t> changes the </a:t>
            </a:r>
            <a:r>
              <a:rPr lang="en-US" altLang="zh-CN" sz="1100" dirty="0" err="1">
                <a:latin typeface="Inter"/>
              </a:rPr>
              <a:t>TypeError</a:t>
            </a:r>
            <a:r>
              <a:rPr lang="en-US" altLang="zh-CN" sz="1100" dirty="0">
                <a:latin typeface="Inter"/>
              </a:rPr>
              <a:t> trigger key from 'key' to '</a:t>
            </a:r>
            <a:r>
              <a:rPr lang="en-US" altLang="zh-CN" sz="1100" dirty="0" err="1">
                <a:latin typeface="Inter"/>
              </a:rPr>
              <a:t>key_for_check</a:t>
            </a:r>
            <a:r>
              <a:rPr lang="en-US" altLang="zh-CN" sz="1100" dirty="0">
                <a:latin typeface="Inter"/>
              </a:rPr>
              <a:t>’. Only passing 'key=test’ may raise a </a:t>
            </a:r>
            <a:r>
              <a:rPr lang="en-US" altLang="zh-CN" sz="1100" dirty="0" err="1">
                <a:latin typeface="Inter"/>
              </a:rPr>
              <a:t>KeyError</a:t>
            </a:r>
            <a:r>
              <a:rPr lang="en-US" altLang="zh-CN" sz="1100" dirty="0">
                <a:latin typeface="Inter"/>
              </a:rPr>
              <a:t> in new API.</a:t>
            </a:r>
            <a:endParaRPr lang="zh-CN" altLang="en-US" sz="1100" dirty="0"/>
          </a:p>
        </p:txBody>
      </p:sp>
      <p:cxnSp>
        <p:nvCxnSpPr>
          <p:cNvPr id="12" name="直接箭头连接符 75">
            <a:extLst>
              <a:ext uri="{FF2B5EF4-FFF2-40B4-BE49-F238E27FC236}">
                <a16:creationId xmlns:a16="http://schemas.microsoft.com/office/drawing/2014/main" id="{DD7ED2C2-FBB2-A74F-0708-17CECB9A6E93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521654" y="3949525"/>
            <a:ext cx="3329389" cy="8217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77">
            <a:extLst>
              <a:ext uri="{FF2B5EF4-FFF2-40B4-BE49-F238E27FC236}">
                <a16:creationId xmlns:a16="http://schemas.microsoft.com/office/drawing/2014/main" id="{B81FD181-416B-2E11-E04D-BA525BC67DED}"/>
              </a:ext>
            </a:extLst>
          </p:cNvPr>
          <p:cNvCxnSpPr>
            <a:cxnSpLocks/>
            <a:stCxn id="56" idx="3"/>
            <a:endCxn id="11" idx="1"/>
          </p:cNvCxnSpPr>
          <p:nvPr/>
        </p:nvCxnSpPr>
        <p:spPr>
          <a:xfrm flipV="1">
            <a:off x="6135994" y="3957742"/>
            <a:ext cx="2715049" cy="168879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54">
            <a:extLst>
              <a:ext uri="{FF2B5EF4-FFF2-40B4-BE49-F238E27FC236}">
                <a16:creationId xmlns:a16="http://schemas.microsoft.com/office/drawing/2014/main" id="{CCCF99B5-7263-A0DE-91BE-FDF3254980B8}"/>
              </a:ext>
            </a:extLst>
          </p:cNvPr>
          <p:cNvSpPr txBox="1"/>
          <p:nvPr/>
        </p:nvSpPr>
        <p:spPr>
          <a:xfrm>
            <a:off x="8851042" y="1534656"/>
            <a:ext cx="338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CI3: </a:t>
            </a:r>
            <a:r>
              <a:rPr lang="en-US" altLang="zh-CN" sz="1100" dirty="0" err="1">
                <a:latin typeface="Inter"/>
              </a:rPr>
              <a:t>API</a:t>
            </a:r>
            <a:r>
              <a:rPr lang="en-US" altLang="zh-CN" sz="1100" baseline="-25000" dirty="0" err="1">
                <a:latin typeface="Inter"/>
              </a:rPr>
              <a:t>a</a:t>
            </a:r>
            <a:r>
              <a:rPr lang="en-US" altLang="zh-CN" sz="1100" baseline="-25000" dirty="0">
                <a:latin typeface="Inter"/>
              </a:rPr>
              <a:t> </a:t>
            </a:r>
            <a:r>
              <a:rPr lang="en-US" altLang="zh-CN" sz="1100" dirty="0">
                <a:latin typeface="Inter"/>
              </a:rPr>
              <a:t> renames '</a:t>
            </a:r>
            <a:r>
              <a:rPr lang="en-US" altLang="zh-CN" sz="1100" dirty="0" err="1">
                <a:latin typeface="Inter"/>
              </a:rPr>
              <a:t>n_size</a:t>
            </a:r>
            <a:r>
              <a:rPr lang="en-US" altLang="zh-CN" sz="1100" dirty="0">
                <a:latin typeface="Inter"/>
              </a:rPr>
              <a:t>' to '</a:t>
            </a:r>
            <a:r>
              <a:rPr lang="en-US" altLang="zh-CN" sz="1100" dirty="0" err="1">
                <a:latin typeface="Inter"/>
              </a:rPr>
              <a:t>n_dim</a:t>
            </a:r>
            <a:r>
              <a:rPr lang="en-US" altLang="zh-CN" sz="1100" dirty="0">
                <a:latin typeface="Inter"/>
              </a:rPr>
              <a:t>'. Using '</a:t>
            </a:r>
            <a:r>
              <a:rPr lang="en-US" altLang="zh-CN" sz="1100" dirty="0" err="1">
                <a:latin typeface="Inter"/>
              </a:rPr>
              <a:t>n_size</a:t>
            </a:r>
            <a:r>
              <a:rPr lang="en-US" altLang="zh-CN" sz="1100" dirty="0">
                <a:latin typeface="Inter"/>
              </a:rPr>
              <a:t>=10' in the new API throws "unexpected keyword argument" error</a:t>
            </a:r>
            <a:endParaRPr lang="zh-CN" altLang="en-US" sz="1100" dirty="0"/>
          </a:p>
        </p:txBody>
      </p:sp>
      <p:cxnSp>
        <p:nvCxnSpPr>
          <p:cNvPr id="29" name="直接箭头连接符 65">
            <a:extLst>
              <a:ext uri="{FF2B5EF4-FFF2-40B4-BE49-F238E27FC236}">
                <a16:creationId xmlns:a16="http://schemas.microsoft.com/office/drawing/2014/main" id="{E7643F67-360F-A31B-0FD9-C8CA55551EBB}"/>
              </a:ext>
            </a:extLst>
          </p:cNvPr>
          <p:cNvCxnSpPr>
            <a:cxnSpLocks/>
            <a:stCxn id="17" idx="0"/>
            <a:endCxn id="27" idx="1"/>
          </p:cNvCxnSpPr>
          <p:nvPr/>
        </p:nvCxnSpPr>
        <p:spPr>
          <a:xfrm>
            <a:off x="5504286" y="1685090"/>
            <a:ext cx="3346756" cy="149648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65">
            <a:extLst>
              <a:ext uri="{FF2B5EF4-FFF2-40B4-BE49-F238E27FC236}">
                <a16:creationId xmlns:a16="http://schemas.microsoft.com/office/drawing/2014/main" id="{8AD55944-9A26-7D13-0A71-12889F0F0488}"/>
              </a:ext>
            </a:extLst>
          </p:cNvPr>
          <p:cNvCxnSpPr>
            <a:cxnSpLocks/>
            <a:stCxn id="21" idx="2"/>
            <a:endCxn id="27" idx="1"/>
          </p:cNvCxnSpPr>
          <p:nvPr/>
        </p:nvCxnSpPr>
        <p:spPr>
          <a:xfrm flipV="1">
            <a:off x="4657974" y="1834738"/>
            <a:ext cx="4193068" cy="283034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框 56">
            <a:extLst>
              <a:ext uri="{FF2B5EF4-FFF2-40B4-BE49-F238E27FC236}">
                <a16:creationId xmlns:a16="http://schemas.microsoft.com/office/drawing/2014/main" id="{D3897CE9-B2BE-E12E-363E-182531400B4A}"/>
              </a:ext>
            </a:extLst>
          </p:cNvPr>
          <p:cNvSpPr txBox="1"/>
          <p:nvPr/>
        </p:nvSpPr>
        <p:spPr>
          <a:xfrm>
            <a:off x="8851042" y="2272589"/>
            <a:ext cx="338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CI4: </a:t>
            </a:r>
            <a:r>
              <a:rPr lang="en-US" altLang="zh-CN" sz="1100" dirty="0" err="1">
                <a:latin typeface="Inter"/>
              </a:rPr>
              <a:t>API</a:t>
            </a:r>
            <a:r>
              <a:rPr lang="en-US" altLang="zh-CN" sz="1100" baseline="-25000" dirty="0" err="1">
                <a:latin typeface="Inter"/>
              </a:rPr>
              <a:t>a</a:t>
            </a:r>
            <a:r>
              <a:rPr lang="en-US" altLang="zh-CN" sz="1100" dirty="0">
                <a:latin typeface="Inter"/>
              </a:rPr>
              <a:t> changes '</a:t>
            </a:r>
            <a:r>
              <a:rPr lang="en-US" altLang="zh-CN" sz="1100" dirty="0" err="1">
                <a:latin typeface="Inter"/>
              </a:rPr>
              <a:t>is_good’'s</a:t>
            </a:r>
            <a:r>
              <a:rPr lang="en-US" altLang="zh-CN" sz="1100" dirty="0">
                <a:latin typeface="Inter"/>
              </a:rPr>
              <a:t> default from True to False. Without explicit assignment, the old API returns True, while the new API returns a list, causing behavioral differences.</a:t>
            </a:r>
            <a:endParaRPr lang="zh-CN" altLang="en-US" sz="1100" dirty="0"/>
          </a:p>
        </p:txBody>
      </p:sp>
      <p:cxnSp>
        <p:nvCxnSpPr>
          <p:cNvPr id="41" name="直接箭头连接符 118">
            <a:extLst>
              <a:ext uri="{FF2B5EF4-FFF2-40B4-BE49-F238E27FC236}">
                <a16:creationId xmlns:a16="http://schemas.microsoft.com/office/drawing/2014/main" id="{60BA7F75-1B9D-89DB-8C6A-5C82F46234E3}"/>
              </a:ext>
            </a:extLst>
          </p:cNvPr>
          <p:cNvCxnSpPr>
            <a:cxnSpLocks/>
            <a:stCxn id="18" idx="2"/>
            <a:endCxn id="39" idx="1"/>
          </p:cNvCxnSpPr>
          <p:nvPr/>
        </p:nvCxnSpPr>
        <p:spPr>
          <a:xfrm>
            <a:off x="7480820" y="1893409"/>
            <a:ext cx="1370223" cy="763901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118">
            <a:extLst>
              <a:ext uri="{FF2B5EF4-FFF2-40B4-BE49-F238E27FC236}">
                <a16:creationId xmlns:a16="http://schemas.microsoft.com/office/drawing/2014/main" id="{4F4F31D9-D93D-1FAD-0F39-92B262F763A2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6353778" y="1981577"/>
            <a:ext cx="2497265" cy="675732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7">
            <a:extLst>
              <a:ext uri="{FF2B5EF4-FFF2-40B4-BE49-F238E27FC236}">
                <a16:creationId xmlns:a16="http://schemas.microsoft.com/office/drawing/2014/main" id="{70635DF6-7D53-F473-B82D-9E4D976402F6}"/>
              </a:ext>
            </a:extLst>
          </p:cNvPr>
          <p:cNvSpPr txBox="1"/>
          <p:nvPr/>
        </p:nvSpPr>
        <p:spPr>
          <a:xfrm>
            <a:off x="8876598" y="5610446"/>
            <a:ext cx="35761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Inter"/>
              </a:rPr>
              <a:t>CI5: </a:t>
            </a:r>
            <a:r>
              <a:rPr lang="en-US" altLang="zh-CN" sz="1100" dirty="0">
                <a:solidFill>
                  <a:srgbClr val="FF0000"/>
                </a:solidFill>
                <a:latin typeface="Inter"/>
              </a:rPr>
              <a:t>The same input leads to inconsistent exception triggering (e.g., 'key=test' no longer raises </a:t>
            </a:r>
            <a:r>
              <a:rPr lang="en-US" altLang="zh-CN" sz="1100" dirty="0" err="1">
                <a:solidFill>
                  <a:srgbClr val="FF0000"/>
                </a:solidFill>
                <a:latin typeface="Inter"/>
              </a:rPr>
              <a:t>TypeError</a:t>
            </a:r>
            <a:r>
              <a:rPr lang="en-US" altLang="zh-CN" sz="1100" dirty="0">
                <a:solidFill>
                  <a:srgbClr val="FF0000"/>
                </a:solidFill>
                <a:latin typeface="Inter"/>
              </a:rPr>
              <a:t>).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62" name="文本框 58">
            <a:extLst>
              <a:ext uri="{FF2B5EF4-FFF2-40B4-BE49-F238E27FC236}">
                <a16:creationId xmlns:a16="http://schemas.microsoft.com/office/drawing/2014/main" id="{F35AB8D9-FB34-A337-87EB-C8A9F798C74C}"/>
              </a:ext>
            </a:extLst>
          </p:cNvPr>
          <p:cNvSpPr txBox="1"/>
          <p:nvPr/>
        </p:nvSpPr>
        <p:spPr>
          <a:xfrm>
            <a:off x="8851042" y="4411302"/>
            <a:ext cx="338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CI6: </a:t>
            </a:r>
            <a:r>
              <a:rPr lang="en-US" altLang="zh-CN" sz="1100" dirty="0">
                <a:latin typeface="Inter"/>
              </a:rPr>
              <a:t>Code_v2 replaces </a:t>
            </a:r>
            <a:r>
              <a:rPr lang="en-US" altLang="zh-CN" sz="1100" dirty="0" err="1">
                <a:latin typeface="Inter"/>
              </a:rPr>
              <a:t>ValueError</a:t>
            </a:r>
            <a:r>
              <a:rPr lang="en-US" altLang="zh-CN" sz="1100" dirty="0">
                <a:latin typeface="Inter"/>
              </a:rPr>
              <a:t> with custom </a:t>
            </a:r>
            <a:r>
              <a:rPr lang="en-US" altLang="zh-CN" sz="1100" dirty="0" err="1">
                <a:latin typeface="Inter"/>
              </a:rPr>
              <a:t>LENError</a:t>
            </a:r>
            <a:r>
              <a:rPr lang="en-US" altLang="zh-CN" sz="1100" dirty="0">
                <a:latin typeface="Inter"/>
              </a:rPr>
              <a:t> when </a:t>
            </a:r>
            <a:r>
              <a:rPr lang="en-US" altLang="zh-CN" sz="1100" dirty="0" err="1">
                <a:latin typeface="Inter"/>
              </a:rPr>
              <a:t>len</a:t>
            </a:r>
            <a:r>
              <a:rPr lang="en-US" altLang="zh-CN" sz="1100" dirty="0">
                <a:latin typeface="Inter"/>
              </a:rPr>
              <a:t>(</a:t>
            </a:r>
            <a:r>
              <a:rPr lang="en-US" altLang="zh-CN" sz="1100" dirty="0" err="1">
                <a:latin typeface="Inter"/>
              </a:rPr>
              <a:t>new_var</a:t>
            </a:r>
            <a:r>
              <a:rPr lang="en-US" altLang="zh-CN" sz="1100" dirty="0">
                <a:latin typeface="Inter"/>
              </a:rPr>
              <a:t>)==0. The new API raises different exception</a:t>
            </a:r>
            <a:endParaRPr lang="zh-CN" altLang="en-US" sz="1100" dirty="0"/>
          </a:p>
        </p:txBody>
      </p:sp>
      <p:cxnSp>
        <p:nvCxnSpPr>
          <p:cNvPr id="74" name="直接箭头连接符 103">
            <a:extLst>
              <a:ext uri="{FF2B5EF4-FFF2-40B4-BE49-F238E27FC236}">
                <a16:creationId xmlns:a16="http://schemas.microsoft.com/office/drawing/2014/main" id="{6CF567E1-9484-284C-D250-F45DE00053A9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5163424" y="4672200"/>
            <a:ext cx="3687618" cy="39184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106">
            <a:extLst>
              <a:ext uri="{FF2B5EF4-FFF2-40B4-BE49-F238E27FC236}">
                <a16:creationId xmlns:a16="http://schemas.microsoft.com/office/drawing/2014/main" id="{5E6F2496-C622-4FF2-A6F6-B1BD86F720B4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5051816" y="4711384"/>
            <a:ext cx="3799226" cy="308038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文本框 59">
            <a:extLst>
              <a:ext uri="{FF2B5EF4-FFF2-40B4-BE49-F238E27FC236}">
                <a16:creationId xmlns:a16="http://schemas.microsoft.com/office/drawing/2014/main" id="{0782537B-E222-E4A2-83F9-F6483A84CBD2}"/>
              </a:ext>
            </a:extLst>
          </p:cNvPr>
          <p:cNvSpPr txBox="1"/>
          <p:nvPr/>
        </p:nvSpPr>
        <p:spPr>
          <a:xfrm>
            <a:off x="8851042" y="4968667"/>
            <a:ext cx="338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CI7: </a:t>
            </a:r>
            <a:r>
              <a:rPr lang="en-US" altLang="zh-CN" sz="1100" dirty="0">
                <a:latin typeface="Inter"/>
              </a:rPr>
              <a:t>With the same input (e.g., no explicit </a:t>
            </a:r>
            <a:r>
              <a:rPr lang="en-US" altLang="zh-CN" sz="1100" dirty="0" err="1">
                <a:latin typeface="Inter"/>
              </a:rPr>
              <a:t>is_good</a:t>
            </a:r>
            <a:r>
              <a:rPr lang="en-US" altLang="zh-CN" sz="1100" dirty="0">
                <a:latin typeface="Inter"/>
              </a:rPr>
              <a:t>), the old API returns True, while the new one returns a list of length </a:t>
            </a:r>
            <a:r>
              <a:rPr lang="en-US" altLang="zh-CN" sz="1100" dirty="0" err="1">
                <a:latin typeface="Inter"/>
              </a:rPr>
              <a:t>n_dim</a:t>
            </a:r>
            <a:r>
              <a:rPr lang="en-US" altLang="zh-CN" sz="1100" dirty="0">
                <a:latin typeface="Inter"/>
              </a:rPr>
              <a:t>. </a:t>
            </a:r>
            <a:endParaRPr lang="zh-CN" altLang="en-US" sz="1100" dirty="0"/>
          </a:p>
        </p:txBody>
      </p:sp>
      <p:cxnSp>
        <p:nvCxnSpPr>
          <p:cNvPr id="80" name="直接箭头连接符 68">
            <a:extLst>
              <a:ext uri="{FF2B5EF4-FFF2-40B4-BE49-F238E27FC236}">
                <a16:creationId xmlns:a16="http://schemas.microsoft.com/office/drawing/2014/main" id="{7EBE0CA3-14C3-643F-34A8-456C0F625534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4898984" y="5184111"/>
            <a:ext cx="3952058" cy="84638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文本框 61">
            <a:extLst>
              <a:ext uri="{FF2B5EF4-FFF2-40B4-BE49-F238E27FC236}">
                <a16:creationId xmlns:a16="http://schemas.microsoft.com/office/drawing/2014/main" id="{114738D9-051A-FC3C-160D-5FCB71575AB7}"/>
              </a:ext>
            </a:extLst>
          </p:cNvPr>
          <p:cNvSpPr txBox="1"/>
          <p:nvPr/>
        </p:nvSpPr>
        <p:spPr>
          <a:xfrm>
            <a:off x="8851042" y="2935878"/>
            <a:ext cx="338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CI9: </a:t>
            </a:r>
            <a:r>
              <a:rPr lang="en-US" altLang="zh-CN" sz="1100" dirty="0" err="1">
                <a:latin typeface="Inter"/>
              </a:rPr>
              <a:t>API</a:t>
            </a:r>
            <a:r>
              <a:rPr lang="en-US" altLang="zh-CN" sz="1100" baseline="-25000" dirty="0" err="1">
                <a:latin typeface="Inter"/>
              </a:rPr>
              <a:t>a</a:t>
            </a:r>
            <a:r>
              <a:rPr lang="en-US" altLang="zh-CN" sz="1100" dirty="0">
                <a:latin typeface="Inter"/>
              </a:rPr>
              <a:t> deletes '</a:t>
            </a:r>
            <a:r>
              <a:rPr lang="en-US" altLang="zh-CN" sz="1100" dirty="0" err="1">
                <a:latin typeface="Inter"/>
              </a:rPr>
              <a:t>self.amount</a:t>
            </a:r>
            <a:r>
              <a:rPr lang="en-US" altLang="zh-CN" sz="1100" dirty="0">
                <a:latin typeface="Inter"/>
              </a:rPr>
              <a:t> = amount', so </a:t>
            </a:r>
            <a:r>
              <a:rPr lang="en-US" altLang="zh-CN" sz="1100" dirty="0" err="1">
                <a:latin typeface="Inter"/>
              </a:rPr>
              <a:t>self.amount</a:t>
            </a:r>
            <a:r>
              <a:rPr lang="en-US" altLang="zh-CN" sz="1100" dirty="0">
                <a:latin typeface="Inter"/>
              </a:rPr>
              <a:t> is unassigned after calling the new API. Accessing </a:t>
            </a:r>
            <a:r>
              <a:rPr lang="en-US" altLang="zh-CN" sz="1100" dirty="0" err="1">
                <a:latin typeface="Inter"/>
              </a:rPr>
              <a:t>obj.amount</a:t>
            </a:r>
            <a:r>
              <a:rPr lang="en-US" altLang="zh-CN" sz="1100" dirty="0">
                <a:latin typeface="Inter"/>
              </a:rPr>
              <a:t> in upper code triggers </a:t>
            </a:r>
            <a:r>
              <a:rPr lang="en-US" altLang="zh-CN" sz="1100" dirty="0" err="1">
                <a:latin typeface="Inter"/>
              </a:rPr>
              <a:t>AttributeError</a:t>
            </a:r>
            <a:r>
              <a:rPr lang="en-US" altLang="zh-CN" sz="1100" dirty="0">
                <a:latin typeface="Inter"/>
              </a:rPr>
              <a:t> or gets unexpected values.</a:t>
            </a:r>
            <a:endParaRPr lang="zh-CN" altLang="en-US" sz="1100" dirty="0"/>
          </a:p>
        </p:txBody>
      </p:sp>
      <p:cxnSp>
        <p:nvCxnSpPr>
          <p:cNvPr id="88" name="直接箭头连接符 92">
            <a:extLst>
              <a:ext uri="{FF2B5EF4-FFF2-40B4-BE49-F238E27FC236}">
                <a16:creationId xmlns:a16="http://schemas.microsoft.com/office/drawing/2014/main" id="{611BA73C-A801-B1E6-0E98-D12BAFEFAE27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4204464" y="2540168"/>
            <a:ext cx="4646579" cy="780430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接箭头连接符 65">
            <a:extLst>
              <a:ext uri="{FF2B5EF4-FFF2-40B4-BE49-F238E27FC236}">
                <a16:creationId xmlns:a16="http://schemas.microsoft.com/office/drawing/2014/main" id="{1B9A44DD-F8DB-CAD6-AC69-16C2C56B5299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4359347" y="1261705"/>
            <a:ext cx="4519175" cy="422870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573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140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7A5DB6-80D9-8BE6-4360-A5AAF7B8EC09}"/>
              </a:ext>
            </a:extLst>
          </p:cNvPr>
          <p:cNvSpPr txBox="1"/>
          <p:nvPr/>
        </p:nvSpPr>
        <p:spPr>
          <a:xfrm>
            <a:off x="6307112" y="267010"/>
            <a:ext cx="3302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HarmonyOS Sans SC" pitchFamily="2" charset="-122"/>
                <a:ea typeface="HarmonyOS Sans SC" pitchFamily="2" charset="-122"/>
              </a:rPr>
              <a:t>One-by-one API Incompatibilities Prompting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0BEB3-8DE9-4751-B659-6C353F058D03}"/>
              </a:ext>
            </a:extLst>
          </p:cNvPr>
          <p:cNvSpPr txBox="1"/>
          <p:nvPr/>
        </p:nvSpPr>
        <p:spPr>
          <a:xfrm>
            <a:off x="9733246" y="220844"/>
            <a:ext cx="3302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HarmonyOS Sans SC" pitchFamily="2" charset="-122"/>
                <a:ea typeface="HarmonyOS Sans SC" pitchFamily="2" charset="-122"/>
              </a:rPr>
              <a:t>One-in-all API Incompatibilities Prompting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F1F1EDB-A63F-4191-FA80-3CD65DB73892}"/>
              </a:ext>
            </a:extLst>
          </p:cNvPr>
          <p:cNvSpPr/>
          <p:nvPr/>
        </p:nvSpPr>
        <p:spPr>
          <a:xfrm>
            <a:off x="6307112" y="1138424"/>
            <a:ext cx="2986269" cy="2515659"/>
          </a:xfrm>
          <a:prstGeom prst="roundRect">
            <a:avLst>
              <a:gd name="adj" fmla="val 7925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BEBC637-37D3-D620-7B44-EBDE7EC2FFBC}"/>
              </a:ext>
            </a:extLst>
          </p:cNvPr>
          <p:cNvSpPr/>
          <p:nvPr/>
        </p:nvSpPr>
        <p:spPr>
          <a:xfrm>
            <a:off x="9733246" y="1138424"/>
            <a:ext cx="2986269" cy="2515659"/>
          </a:xfrm>
          <a:prstGeom prst="roundRect">
            <a:avLst>
              <a:gd name="adj" fmla="val 7925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19E610D-267C-A704-9B76-5BA8AE1A9DD7}"/>
              </a:ext>
            </a:extLst>
          </p:cNvPr>
          <p:cNvSpPr/>
          <p:nvPr/>
        </p:nvSpPr>
        <p:spPr>
          <a:xfrm>
            <a:off x="7204148" y="945774"/>
            <a:ext cx="1384154" cy="4783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latin typeface="Trebuchet MS" panose="020B0703020202090204" pitchFamily="34" charset="0"/>
              </a:rPr>
              <a:t>Model Input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F39BCD4-4000-97D8-EFAA-D90C92FB3E5C}"/>
              </a:ext>
            </a:extLst>
          </p:cNvPr>
          <p:cNvSpPr/>
          <p:nvPr/>
        </p:nvSpPr>
        <p:spPr>
          <a:xfrm>
            <a:off x="10621226" y="945774"/>
            <a:ext cx="1384154" cy="4783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latin typeface="Trebuchet MS" panose="020B0703020202090204" pitchFamily="34" charset="0"/>
              </a:rPr>
              <a:t>Model Input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A34514-20A4-4FB3-6A3B-FAE133B68B29}"/>
              </a:ext>
            </a:extLst>
          </p:cNvPr>
          <p:cNvSpPr/>
          <p:nvPr/>
        </p:nvSpPr>
        <p:spPr>
          <a:xfrm>
            <a:off x="3613227" y="2101851"/>
            <a:ext cx="2135068" cy="74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D09568-D32D-C9CB-9A4E-EE45ADEC6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373" y="4006631"/>
            <a:ext cx="5087110" cy="25843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214899-0F66-7F36-842B-E031CBEADA78}"/>
              </a:ext>
            </a:extLst>
          </p:cNvPr>
          <p:cNvSpPr txBox="1"/>
          <p:nvPr/>
        </p:nvSpPr>
        <p:spPr>
          <a:xfrm>
            <a:off x="6417436" y="1433344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Trebuchet MS" panose="020B0703020202090204" pitchFamily="34" charset="0"/>
              </a:rPr>
              <a:t>Q</a:t>
            </a:r>
            <a:r>
              <a:rPr lang="zh-CN" altLang="en-US" dirty="0">
                <a:latin typeface="Trebuchet MS" panose="020B0703020202090204" pitchFamily="34" charset="0"/>
              </a:rPr>
              <a:t>：</a:t>
            </a:r>
            <a:endParaRPr lang="en-CN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571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>
            <a:extLst>
              <a:ext uri="{FF2B5EF4-FFF2-40B4-BE49-F238E27FC236}">
                <a16:creationId xmlns:a16="http://schemas.microsoft.com/office/drawing/2014/main" id="{A05CA6C5-965E-4C62-AC5C-BE9B2A5C07AA}"/>
              </a:ext>
            </a:extLst>
          </p:cNvPr>
          <p:cNvSpPr txBox="1"/>
          <p:nvPr/>
        </p:nvSpPr>
        <p:spPr>
          <a:xfrm>
            <a:off x="2176464" y="1881189"/>
            <a:ext cx="5224462" cy="29758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fun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(self, amount,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n_size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= 0,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is_good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):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nonlocal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GLOBALX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self.amount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= amount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is_good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	</a:t>
            </a: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GLOBALX =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n_dim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new_var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= [0] *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n_size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kwargs.get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'key’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):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	</a:t>
            </a: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raise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'message’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)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new_var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) == 0: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	</a:t>
            </a: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raise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ValueError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'another message’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) 	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new_var</a:t>
            </a:r>
            <a:endParaRPr lang="zh-CN" altLang="en-US" sz="105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73C2E37-599F-4272-B2CF-1119D35DF5AA}"/>
              </a:ext>
            </a:extLst>
          </p:cNvPr>
          <p:cNvSpPr txBox="1"/>
          <p:nvPr/>
        </p:nvSpPr>
        <p:spPr>
          <a:xfrm>
            <a:off x="7896225" y="1881189"/>
            <a:ext cx="5224462" cy="29758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fun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(self,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n_dim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= 0,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is_good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):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nonlocal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GLOBALX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05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is_good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	return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GLOBALX =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n_dim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n_dim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&gt; 0 </a:t>
            </a: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else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None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new_var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= [0] *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n_dim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kwargs.get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‘</a:t>
            </a:r>
            <a:r>
              <a:rPr lang="en-US" altLang="zh-CN" sz="1050" dirty="0" err="1">
                <a:solidFill>
                  <a:srgbClr val="A31515"/>
                </a:solidFill>
                <a:latin typeface="Lucida Console" panose="020B0609040504020204" pitchFamily="49" charset="0"/>
              </a:rPr>
              <a:t>key_for_check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’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) </a:t>
            </a: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and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self.type_bad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():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	raise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'message’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)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new_var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) == 0: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	raise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LENError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CN" sz="1050" dirty="0">
                <a:solidFill>
                  <a:srgbClr val="A31515"/>
                </a:solidFill>
                <a:latin typeface="Lucida Console" panose="020B0609040504020204" pitchFamily="49" charset="0"/>
              </a:rPr>
              <a:t>'another message’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)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FF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new_var</a:t>
            </a:r>
            <a:endParaRPr lang="zh-CN" altLang="en-US" sz="105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D411D75-4888-48E6-992A-42DAE9A13CCC}"/>
              </a:ext>
            </a:extLst>
          </p:cNvPr>
          <p:cNvSpPr/>
          <p:nvPr/>
        </p:nvSpPr>
        <p:spPr>
          <a:xfrm>
            <a:off x="3367088" y="1962034"/>
            <a:ext cx="604837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FF062F5-9304-4218-8434-51C5657BE81D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3669506" y="1191786"/>
            <a:ext cx="302419" cy="747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DB1B2305-446E-4C9E-9974-F89912C6C666}"/>
              </a:ext>
            </a:extLst>
          </p:cNvPr>
          <p:cNvSpPr txBox="1"/>
          <p:nvPr/>
        </p:nvSpPr>
        <p:spPr>
          <a:xfrm>
            <a:off x="2047874" y="591622"/>
            <a:ext cx="38481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CI1: </a:t>
            </a:r>
            <a:r>
              <a:rPr lang="en-US" altLang="zh-CN" sz="1100" dirty="0">
                <a:latin typeface="Inter"/>
              </a:rPr>
              <a:t>Code_v2 removes required parameter ‘amount’. Using old arguments like ‘amount=1’ triggers “unexpected keyword argument” errors.</a:t>
            </a:r>
            <a:endParaRPr lang="zh-CN" altLang="en-US" sz="11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FC0BB1A-0EE8-4B2C-8CE1-AD761D7406D6}"/>
              </a:ext>
            </a:extLst>
          </p:cNvPr>
          <p:cNvSpPr txBox="1"/>
          <p:nvPr/>
        </p:nvSpPr>
        <p:spPr>
          <a:xfrm>
            <a:off x="4681538" y="2573521"/>
            <a:ext cx="24431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CI2: </a:t>
            </a:r>
            <a:r>
              <a:rPr lang="en-US" altLang="zh-CN" sz="1100" dirty="0">
                <a:latin typeface="Inter"/>
              </a:rPr>
              <a:t>Code_v2 changes the </a:t>
            </a:r>
            <a:r>
              <a:rPr lang="en-US" altLang="zh-CN" sz="1100" dirty="0" err="1">
                <a:latin typeface="Inter"/>
              </a:rPr>
              <a:t>TypeError</a:t>
            </a:r>
            <a:r>
              <a:rPr lang="en-US" altLang="zh-CN" sz="1100" dirty="0">
                <a:latin typeface="Inter"/>
              </a:rPr>
              <a:t> trigger key from 'key' to '</a:t>
            </a:r>
            <a:r>
              <a:rPr lang="en-US" altLang="zh-CN" sz="1100" dirty="0" err="1">
                <a:latin typeface="Inter"/>
              </a:rPr>
              <a:t>key_for_check</a:t>
            </a:r>
            <a:r>
              <a:rPr lang="en-US" altLang="zh-CN" sz="1100" dirty="0">
                <a:latin typeface="Inter"/>
              </a:rPr>
              <a:t>’. Only passing 'key=test’ may raise a </a:t>
            </a:r>
            <a:r>
              <a:rPr lang="en-US" altLang="zh-CN" sz="1100" dirty="0" err="1">
                <a:latin typeface="Inter"/>
              </a:rPr>
              <a:t>KeyError</a:t>
            </a:r>
            <a:r>
              <a:rPr lang="en-US" altLang="zh-CN" sz="1100" dirty="0">
                <a:latin typeface="Inter"/>
              </a:rPr>
              <a:t> in new API</a:t>
            </a:r>
            <a:endParaRPr lang="zh-CN" altLang="en-US" sz="11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D430B7A-B95C-4310-AE4D-371AD8F5FD6D}"/>
              </a:ext>
            </a:extLst>
          </p:cNvPr>
          <p:cNvSpPr txBox="1"/>
          <p:nvPr/>
        </p:nvSpPr>
        <p:spPr>
          <a:xfrm>
            <a:off x="5795961" y="1197888"/>
            <a:ext cx="3848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CI3: </a:t>
            </a:r>
            <a:r>
              <a:rPr lang="en-US" altLang="zh-CN" sz="1100" dirty="0">
                <a:latin typeface="Inter"/>
              </a:rPr>
              <a:t>Code_v2 renames '</a:t>
            </a:r>
            <a:r>
              <a:rPr lang="en-US" altLang="zh-CN" sz="1100" dirty="0" err="1">
                <a:latin typeface="Inter"/>
              </a:rPr>
              <a:t>n_size</a:t>
            </a:r>
            <a:r>
              <a:rPr lang="en-US" altLang="zh-CN" sz="1100" dirty="0">
                <a:latin typeface="Inter"/>
              </a:rPr>
              <a:t>' to '</a:t>
            </a:r>
            <a:r>
              <a:rPr lang="en-US" altLang="zh-CN" sz="1100" dirty="0" err="1">
                <a:latin typeface="Inter"/>
              </a:rPr>
              <a:t>n_dim</a:t>
            </a:r>
            <a:r>
              <a:rPr lang="en-US" altLang="zh-CN" sz="1100" dirty="0">
                <a:latin typeface="Inter"/>
              </a:rPr>
              <a:t>'. Using '</a:t>
            </a:r>
            <a:r>
              <a:rPr lang="en-US" altLang="zh-CN" sz="1100" dirty="0" err="1">
                <a:latin typeface="Inter"/>
              </a:rPr>
              <a:t>n_size</a:t>
            </a:r>
            <a:r>
              <a:rPr lang="en-US" altLang="zh-CN" sz="1100" dirty="0">
                <a:latin typeface="Inter"/>
              </a:rPr>
              <a:t>=10' in the new API throws "unexpected keyword argument" error</a:t>
            </a:r>
            <a:endParaRPr lang="zh-CN" altLang="en-US" sz="11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2DE8D88-7B00-490D-9B7A-BF67879D4BC3}"/>
              </a:ext>
            </a:extLst>
          </p:cNvPr>
          <p:cNvSpPr txBox="1"/>
          <p:nvPr/>
        </p:nvSpPr>
        <p:spPr>
          <a:xfrm>
            <a:off x="7153275" y="194707"/>
            <a:ext cx="38481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CI4: </a:t>
            </a:r>
            <a:r>
              <a:rPr lang="en-US" altLang="zh-CN" sz="1100" dirty="0">
                <a:latin typeface="Inter"/>
              </a:rPr>
              <a:t>Code_v2 changes '</a:t>
            </a:r>
            <a:r>
              <a:rPr lang="en-US" altLang="zh-CN" sz="1100" dirty="0" err="1">
                <a:latin typeface="Inter"/>
              </a:rPr>
              <a:t>is_good’'s</a:t>
            </a:r>
            <a:r>
              <a:rPr lang="en-US" altLang="zh-CN" sz="1100" dirty="0">
                <a:latin typeface="Inter"/>
              </a:rPr>
              <a:t> default from True to False. Without explicit assignment, the old API returns True, while the new API returns a list, causing behavioral differences.</a:t>
            </a:r>
            <a:endParaRPr lang="zh-CN" altLang="en-US" sz="11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E92A101-87FB-4790-8FFE-4538D16AE5E5}"/>
              </a:ext>
            </a:extLst>
          </p:cNvPr>
          <p:cNvSpPr txBox="1"/>
          <p:nvPr/>
        </p:nvSpPr>
        <p:spPr>
          <a:xfrm>
            <a:off x="5229225" y="3409224"/>
            <a:ext cx="1809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CI5: </a:t>
            </a:r>
            <a:r>
              <a:rPr lang="en-US" altLang="zh-CN" sz="1100" dirty="0">
                <a:latin typeface="Inter"/>
              </a:rPr>
              <a:t>The same input leads to inconsistent exception triggering (e.g., 'key=test' no longer raises </a:t>
            </a:r>
            <a:r>
              <a:rPr lang="en-US" altLang="zh-CN" sz="1100" dirty="0" err="1">
                <a:latin typeface="Inter"/>
              </a:rPr>
              <a:t>TypeError</a:t>
            </a:r>
            <a:r>
              <a:rPr lang="en-US" altLang="zh-CN" sz="1100" dirty="0">
                <a:latin typeface="Inter"/>
              </a:rPr>
              <a:t>).</a:t>
            </a:r>
            <a:endParaRPr lang="zh-CN" altLang="en-US" sz="11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A145B5D-558E-42DF-8D8C-BBF4C2700F7D}"/>
              </a:ext>
            </a:extLst>
          </p:cNvPr>
          <p:cNvSpPr txBox="1"/>
          <p:nvPr/>
        </p:nvSpPr>
        <p:spPr>
          <a:xfrm>
            <a:off x="5741195" y="5307783"/>
            <a:ext cx="276701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CI6: </a:t>
            </a:r>
            <a:r>
              <a:rPr lang="en-US" altLang="zh-CN" sz="1100" dirty="0">
                <a:latin typeface="Inter"/>
              </a:rPr>
              <a:t>Code_v2 replaces </a:t>
            </a:r>
            <a:r>
              <a:rPr lang="en-US" altLang="zh-CN" sz="1100" dirty="0" err="1">
                <a:latin typeface="Inter"/>
              </a:rPr>
              <a:t>ValueError</a:t>
            </a:r>
            <a:r>
              <a:rPr lang="en-US" altLang="zh-CN" sz="1100" dirty="0">
                <a:latin typeface="Inter"/>
              </a:rPr>
              <a:t> with custom </a:t>
            </a:r>
            <a:r>
              <a:rPr lang="en-US" altLang="zh-CN" sz="1100" dirty="0" err="1">
                <a:latin typeface="Inter"/>
              </a:rPr>
              <a:t>LENError</a:t>
            </a:r>
            <a:r>
              <a:rPr lang="en-US" altLang="zh-CN" sz="1100" dirty="0">
                <a:latin typeface="Inter"/>
              </a:rPr>
              <a:t> when </a:t>
            </a:r>
            <a:r>
              <a:rPr lang="en-US" altLang="zh-CN" sz="1100" dirty="0" err="1">
                <a:latin typeface="Inter"/>
              </a:rPr>
              <a:t>len</a:t>
            </a:r>
            <a:r>
              <a:rPr lang="en-US" altLang="zh-CN" sz="1100" dirty="0">
                <a:latin typeface="Inter"/>
              </a:rPr>
              <a:t>(</a:t>
            </a:r>
            <a:r>
              <a:rPr lang="en-US" altLang="zh-CN" sz="1100" dirty="0" err="1">
                <a:latin typeface="Inter"/>
              </a:rPr>
              <a:t>new_var</a:t>
            </a:r>
            <a:r>
              <a:rPr lang="en-US" altLang="zh-CN" sz="1100" dirty="0">
                <a:latin typeface="Inter"/>
              </a:rPr>
              <a:t>)==0. The new API raises different exception</a:t>
            </a:r>
            <a:endParaRPr lang="zh-CN" altLang="en-US" sz="11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CE660A7-5233-4D94-901D-4601F5F8035A}"/>
              </a:ext>
            </a:extLst>
          </p:cNvPr>
          <p:cNvSpPr txBox="1"/>
          <p:nvPr/>
        </p:nvSpPr>
        <p:spPr>
          <a:xfrm>
            <a:off x="10144125" y="848063"/>
            <a:ext cx="3848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CI7: </a:t>
            </a:r>
            <a:r>
              <a:rPr lang="en-US" altLang="zh-CN" sz="1100" dirty="0">
                <a:latin typeface="Inter"/>
              </a:rPr>
              <a:t>With the same input (e.g., no explicit </a:t>
            </a:r>
            <a:r>
              <a:rPr lang="en-US" altLang="zh-CN" sz="1100" dirty="0" err="1">
                <a:latin typeface="Inter"/>
              </a:rPr>
              <a:t>is_good</a:t>
            </a:r>
            <a:r>
              <a:rPr lang="en-US" altLang="zh-CN" sz="1100" dirty="0">
                <a:latin typeface="Inter"/>
              </a:rPr>
              <a:t>), the old API returns True, while the new one returns a list of length </a:t>
            </a:r>
            <a:r>
              <a:rPr lang="en-US" altLang="zh-CN" sz="1100" dirty="0" err="1">
                <a:latin typeface="Inter"/>
              </a:rPr>
              <a:t>n_dim</a:t>
            </a:r>
            <a:r>
              <a:rPr lang="en-US" altLang="zh-CN" sz="1100" dirty="0">
                <a:latin typeface="Inter"/>
              </a:rPr>
              <a:t>. </a:t>
            </a:r>
            <a:endParaRPr lang="zh-CN" altLang="en-US" sz="11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5D04CA8-817D-4BD7-A5C0-01C353293E4D}"/>
              </a:ext>
            </a:extLst>
          </p:cNvPr>
          <p:cNvSpPr txBox="1"/>
          <p:nvPr/>
        </p:nvSpPr>
        <p:spPr>
          <a:xfrm>
            <a:off x="10339388" y="2245523"/>
            <a:ext cx="28527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CI8: </a:t>
            </a:r>
            <a:r>
              <a:rPr lang="en-US" altLang="zh-CN" sz="1100" dirty="0">
                <a:latin typeface="Inter"/>
              </a:rPr>
              <a:t>Code_v2 assigns </a:t>
            </a:r>
            <a:r>
              <a:rPr lang="en-US" altLang="zh-CN" sz="1100" dirty="0" err="1">
                <a:latin typeface="Inter"/>
              </a:rPr>
              <a:t>n_dim</a:t>
            </a:r>
            <a:r>
              <a:rPr lang="en-US" altLang="zh-CN" sz="1100" dirty="0">
                <a:latin typeface="Inter"/>
              </a:rPr>
              <a:t>/None to GLOBALX, while the old only assigns </a:t>
            </a:r>
            <a:r>
              <a:rPr lang="en-US" altLang="zh-CN" sz="1100" dirty="0" err="1">
                <a:latin typeface="Inter"/>
              </a:rPr>
              <a:t>n_dim</a:t>
            </a:r>
            <a:r>
              <a:rPr lang="en-US" altLang="zh-CN" sz="1100" dirty="0">
                <a:latin typeface="Inter"/>
              </a:rPr>
              <a:t>. The same input leads to different GLOBALX values/types, breaking dependent logic.</a:t>
            </a:r>
            <a:endParaRPr lang="zh-CN" altLang="en-US" sz="11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96DE8C0-4A9F-495C-86B1-5F629AFC8D80}"/>
              </a:ext>
            </a:extLst>
          </p:cNvPr>
          <p:cNvSpPr txBox="1"/>
          <p:nvPr/>
        </p:nvSpPr>
        <p:spPr>
          <a:xfrm>
            <a:off x="1995489" y="5204119"/>
            <a:ext cx="287655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CI9: </a:t>
            </a:r>
            <a:r>
              <a:rPr lang="en-US" altLang="zh-CN" sz="1100" dirty="0">
                <a:latin typeface="Inter"/>
              </a:rPr>
              <a:t>Code_v2 deletes '</a:t>
            </a:r>
            <a:r>
              <a:rPr lang="en-US" altLang="zh-CN" sz="1100" dirty="0" err="1">
                <a:latin typeface="Inter"/>
              </a:rPr>
              <a:t>self.amount</a:t>
            </a:r>
            <a:r>
              <a:rPr lang="en-US" altLang="zh-CN" sz="1100" dirty="0">
                <a:latin typeface="Inter"/>
              </a:rPr>
              <a:t> = amount', so </a:t>
            </a:r>
            <a:r>
              <a:rPr lang="en-US" altLang="zh-CN" sz="1100" dirty="0" err="1">
                <a:latin typeface="Inter"/>
              </a:rPr>
              <a:t>self.amount</a:t>
            </a:r>
            <a:r>
              <a:rPr lang="en-US" altLang="zh-CN" sz="1100" dirty="0">
                <a:latin typeface="Inter"/>
              </a:rPr>
              <a:t> is unassigned after calling the new API. Accessing </a:t>
            </a:r>
            <a:r>
              <a:rPr lang="en-US" altLang="zh-CN" sz="1100" dirty="0" err="1">
                <a:latin typeface="Inter"/>
              </a:rPr>
              <a:t>obj.amount</a:t>
            </a:r>
            <a:r>
              <a:rPr lang="en-US" altLang="zh-CN" sz="1100" dirty="0">
                <a:latin typeface="Inter"/>
              </a:rPr>
              <a:t> in upper code triggers </a:t>
            </a:r>
            <a:r>
              <a:rPr lang="en-US" altLang="zh-CN" sz="1100" dirty="0" err="1">
                <a:latin typeface="Inter"/>
              </a:rPr>
              <a:t>AttributeError</a:t>
            </a:r>
            <a:r>
              <a:rPr lang="en-US" altLang="zh-CN" sz="1100" dirty="0">
                <a:latin typeface="Inter"/>
              </a:rPr>
              <a:t> or gets unexpected values.</a:t>
            </a:r>
            <a:endParaRPr lang="zh-CN" altLang="en-US" sz="1100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1B9B0A2-97A9-4242-8DCA-0F1C24900C0D}"/>
              </a:ext>
            </a:extLst>
          </p:cNvPr>
          <p:cNvSpPr/>
          <p:nvPr/>
        </p:nvSpPr>
        <p:spPr>
          <a:xfrm>
            <a:off x="10753726" y="1962034"/>
            <a:ext cx="604837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4C256E3-14FE-455A-BA8B-F04125536EC4}"/>
              </a:ext>
            </a:extLst>
          </p:cNvPr>
          <p:cNvSpPr/>
          <p:nvPr/>
        </p:nvSpPr>
        <p:spPr>
          <a:xfrm>
            <a:off x="9077325" y="1939069"/>
            <a:ext cx="519112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78F0473-6B64-4A17-9519-D436B20B8F95}"/>
              </a:ext>
            </a:extLst>
          </p:cNvPr>
          <p:cNvSpPr/>
          <p:nvPr/>
        </p:nvSpPr>
        <p:spPr>
          <a:xfrm>
            <a:off x="4031456" y="1962764"/>
            <a:ext cx="531019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9679469-80C1-4B34-A084-65F3E02B4AE9}"/>
              </a:ext>
            </a:extLst>
          </p:cNvPr>
          <p:cNvCxnSpPr>
            <a:cxnSpLocks/>
            <a:stCxn id="65" idx="0"/>
            <a:endCxn id="55" idx="1"/>
          </p:cNvCxnSpPr>
          <p:nvPr/>
        </p:nvCxnSpPr>
        <p:spPr>
          <a:xfrm flipV="1">
            <a:off x="4296965" y="1413331"/>
            <a:ext cx="1498996" cy="54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EF156020-3497-4764-8066-63FC4283A6CC}"/>
              </a:ext>
            </a:extLst>
          </p:cNvPr>
          <p:cNvCxnSpPr>
            <a:cxnSpLocks/>
            <a:stCxn id="63" idx="0"/>
            <a:endCxn id="60" idx="2"/>
          </p:cNvCxnSpPr>
          <p:nvPr/>
        </p:nvCxnSpPr>
        <p:spPr>
          <a:xfrm flipV="1">
            <a:off x="11056145" y="1278949"/>
            <a:ext cx="1012031" cy="683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7E5D7B64-16AE-42E4-A4FF-464BFC471D02}"/>
              </a:ext>
            </a:extLst>
          </p:cNvPr>
          <p:cNvSpPr/>
          <p:nvPr/>
        </p:nvSpPr>
        <p:spPr>
          <a:xfrm>
            <a:off x="3706415" y="3615351"/>
            <a:ext cx="531019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6B27E26-26D6-4B53-98E3-4A1A2EA19E7C}"/>
              </a:ext>
            </a:extLst>
          </p:cNvPr>
          <p:cNvSpPr/>
          <p:nvPr/>
        </p:nvSpPr>
        <p:spPr>
          <a:xfrm>
            <a:off x="9554764" y="3615350"/>
            <a:ext cx="1260874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0797512C-C5A4-42AA-8F90-6B315A60A4B1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4237433" y="2958242"/>
            <a:ext cx="444104" cy="745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07E0F085-8C4B-4CFB-A98B-F9C64FD996ED}"/>
              </a:ext>
            </a:extLst>
          </p:cNvPr>
          <p:cNvCxnSpPr>
            <a:cxnSpLocks/>
            <a:stCxn id="75" idx="1"/>
            <a:endCxn id="53" idx="3"/>
          </p:cNvCxnSpPr>
          <p:nvPr/>
        </p:nvCxnSpPr>
        <p:spPr>
          <a:xfrm flipH="1" flipV="1">
            <a:off x="7124700" y="2958242"/>
            <a:ext cx="2430064" cy="776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09E9F6C7-61C6-40E8-91D9-6FFA2CC7FDAE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4237433" y="3727682"/>
            <a:ext cx="991792" cy="66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90EE3003-67B9-444B-ACE9-E6EFA1B8B78B}"/>
              </a:ext>
            </a:extLst>
          </p:cNvPr>
          <p:cNvCxnSpPr>
            <a:cxnSpLocks/>
            <a:endCxn id="58" idx="3"/>
          </p:cNvCxnSpPr>
          <p:nvPr/>
        </p:nvCxnSpPr>
        <p:spPr>
          <a:xfrm flipH="1">
            <a:off x="7038975" y="3716508"/>
            <a:ext cx="2515790" cy="77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矩形 91">
            <a:extLst>
              <a:ext uri="{FF2B5EF4-FFF2-40B4-BE49-F238E27FC236}">
                <a16:creationId xmlns:a16="http://schemas.microsoft.com/office/drawing/2014/main" id="{DEB13A27-4D85-455C-9171-B134D04F9801}"/>
              </a:ext>
            </a:extLst>
          </p:cNvPr>
          <p:cNvSpPr/>
          <p:nvPr/>
        </p:nvSpPr>
        <p:spPr>
          <a:xfrm>
            <a:off x="2516983" y="2419234"/>
            <a:ext cx="1888329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C5DBF715-3452-49F1-93A6-C701E6FE250E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3433764" y="2657358"/>
            <a:ext cx="27382" cy="2546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矩形 101">
            <a:extLst>
              <a:ext uri="{FF2B5EF4-FFF2-40B4-BE49-F238E27FC236}">
                <a16:creationId xmlns:a16="http://schemas.microsoft.com/office/drawing/2014/main" id="{F684E71D-C1EC-4D98-8CB3-439B461E40FD}"/>
              </a:ext>
            </a:extLst>
          </p:cNvPr>
          <p:cNvSpPr/>
          <p:nvPr/>
        </p:nvSpPr>
        <p:spPr>
          <a:xfrm>
            <a:off x="3422453" y="4370356"/>
            <a:ext cx="874512" cy="19862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7695456-64F7-49D8-B4BA-72502FFDD839}"/>
              </a:ext>
            </a:extLst>
          </p:cNvPr>
          <p:cNvSpPr/>
          <p:nvPr/>
        </p:nvSpPr>
        <p:spPr>
          <a:xfrm>
            <a:off x="9159181" y="4370356"/>
            <a:ext cx="713482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09B9A04-B4E3-45F8-93CF-7EE006EEB1AE}"/>
              </a:ext>
            </a:extLst>
          </p:cNvPr>
          <p:cNvCxnSpPr>
            <a:cxnSpLocks/>
            <a:stCxn id="102" idx="3"/>
            <a:endCxn id="59" idx="1"/>
          </p:cNvCxnSpPr>
          <p:nvPr/>
        </p:nvCxnSpPr>
        <p:spPr>
          <a:xfrm>
            <a:off x="4296966" y="4469671"/>
            <a:ext cx="1444229" cy="1138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8EBEAD56-732B-4758-B65F-9B672538EAF2}"/>
              </a:ext>
            </a:extLst>
          </p:cNvPr>
          <p:cNvCxnSpPr>
            <a:cxnSpLocks/>
            <a:stCxn id="103" idx="1"/>
            <a:endCxn id="59" idx="3"/>
          </p:cNvCxnSpPr>
          <p:nvPr/>
        </p:nvCxnSpPr>
        <p:spPr>
          <a:xfrm flipH="1">
            <a:off x="8508205" y="4489419"/>
            <a:ext cx="650976" cy="1118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98B67D8C-D8FC-49FD-8707-CCEE21624A77}"/>
              </a:ext>
            </a:extLst>
          </p:cNvPr>
          <p:cNvSpPr/>
          <p:nvPr/>
        </p:nvSpPr>
        <p:spPr>
          <a:xfrm>
            <a:off x="8335563" y="3173402"/>
            <a:ext cx="3499250" cy="18187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942C40AB-A548-4183-AE71-FCD66F299099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10085189" y="2630243"/>
            <a:ext cx="254199" cy="543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1C3DEB67-0453-49CA-8299-97523A0BCD89}"/>
              </a:ext>
            </a:extLst>
          </p:cNvPr>
          <p:cNvCxnSpPr>
            <a:cxnSpLocks/>
            <a:stCxn id="63" idx="0"/>
            <a:endCxn id="57" idx="2"/>
          </p:cNvCxnSpPr>
          <p:nvPr/>
        </p:nvCxnSpPr>
        <p:spPr>
          <a:xfrm flipH="1" flipV="1">
            <a:off x="9077326" y="794871"/>
            <a:ext cx="1978819" cy="1167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F17B5879-59B1-4EE9-8FAF-4F165F04121E}"/>
              </a:ext>
            </a:extLst>
          </p:cNvPr>
          <p:cNvSpPr txBox="1"/>
          <p:nvPr/>
        </p:nvSpPr>
        <p:spPr>
          <a:xfrm>
            <a:off x="9437115" y="5015663"/>
            <a:ext cx="3676202" cy="16158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rgbClr val="002060"/>
                </a:solidFill>
                <a:latin typeface="Consolas" panose="020B0609020204030204" pitchFamily="49" charset="0"/>
              </a:rPr>
              <a:t>CI1     param add or delete</a:t>
            </a:r>
          </a:p>
          <a:p>
            <a:r>
              <a:rPr lang="en-US" altLang="zh-CN" sz="1100" dirty="0">
                <a:solidFill>
                  <a:srgbClr val="002060"/>
                </a:solidFill>
                <a:latin typeface="Consolas" panose="020B0609020204030204" pitchFamily="49" charset="0"/>
              </a:rPr>
              <a:t>CI2     key of keyword argument add or delete</a:t>
            </a:r>
          </a:p>
          <a:p>
            <a:r>
              <a:rPr lang="en-US" altLang="zh-CN" sz="1100" dirty="0">
                <a:solidFill>
                  <a:srgbClr val="002060"/>
                </a:solidFill>
                <a:latin typeface="Consolas" panose="020B0609020204030204" pitchFamily="49" charset="0"/>
              </a:rPr>
              <a:t>CI3     param rename</a:t>
            </a:r>
          </a:p>
          <a:p>
            <a:r>
              <a:rPr lang="en-US" altLang="zh-CN" sz="1100" dirty="0">
                <a:solidFill>
                  <a:srgbClr val="002060"/>
                </a:solidFill>
                <a:latin typeface="Consolas" panose="020B0609020204030204" pitchFamily="49" charset="0"/>
              </a:rPr>
              <a:t>CI4     param default value change</a:t>
            </a:r>
          </a:p>
          <a:p>
            <a:r>
              <a:rPr lang="en-US" altLang="zh-CN" sz="1100" dirty="0">
                <a:solidFill>
                  <a:srgbClr val="002060"/>
                </a:solidFill>
                <a:latin typeface="Consolas" panose="020B0609020204030204" pitchFamily="49" charset="0"/>
              </a:rPr>
              <a:t>CI5     param range change</a:t>
            </a:r>
          </a:p>
          <a:p>
            <a:r>
              <a:rPr lang="en-US" altLang="zh-CN" sz="1100" dirty="0">
                <a:solidFill>
                  <a:srgbClr val="002060"/>
                </a:solidFill>
                <a:latin typeface="Consolas" panose="020B0609020204030204" pitchFamily="49" charset="0"/>
              </a:rPr>
              <a:t>CI6     throw different exception</a:t>
            </a:r>
          </a:p>
          <a:p>
            <a:r>
              <a:rPr lang="en-US" altLang="zh-CN" sz="1100" dirty="0">
                <a:solidFill>
                  <a:srgbClr val="002060"/>
                </a:solidFill>
                <a:latin typeface="Consolas" panose="020B0609020204030204" pitchFamily="49" charset="0"/>
              </a:rPr>
              <a:t>CI7     return value change</a:t>
            </a:r>
          </a:p>
          <a:p>
            <a:r>
              <a:rPr lang="en-US" altLang="zh-CN" sz="1100" dirty="0">
                <a:solidFill>
                  <a:srgbClr val="002060"/>
                </a:solidFill>
                <a:latin typeface="Consolas" panose="020B0609020204030204" pitchFamily="49" charset="0"/>
              </a:rPr>
              <a:t>CI8     global variable change</a:t>
            </a:r>
          </a:p>
          <a:p>
            <a:r>
              <a:rPr lang="en-US" altLang="zh-CN" sz="1100" dirty="0">
                <a:solidFill>
                  <a:srgbClr val="002060"/>
                </a:solidFill>
                <a:latin typeface="Consolas" panose="020B0609020204030204" pitchFamily="49" charset="0"/>
              </a:rPr>
              <a:t>CI9     reference parameter change</a:t>
            </a:r>
          </a:p>
        </p:txBody>
      </p:sp>
    </p:spTree>
    <p:extLst>
      <p:ext uri="{BB962C8B-B14F-4D97-AF65-F5344CB8AC3E}">
        <p14:creationId xmlns:p14="http://schemas.microsoft.com/office/powerpoint/2010/main" val="861370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CAD1C7E5-F4E9-4BC4-91CD-89BCD5F76F39}"/>
              </a:ext>
            </a:extLst>
          </p:cNvPr>
          <p:cNvSpPr txBox="1"/>
          <p:nvPr/>
        </p:nvSpPr>
        <p:spPr>
          <a:xfrm>
            <a:off x="2243244" y="2234001"/>
            <a:ext cx="6443999" cy="214397"/>
          </a:xfrm>
          <a:prstGeom prst="rect">
            <a:avLst/>
          </a:prstGeom>
          <a:solidFill>
            <a:srgbClr val="FFCCCC"/>
          </a:solidFill>
        </p:spPr>
        <p:txBody>
          <a:bodyPr wrap="none" anchor="ctr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3F5F44-852A-48D9-A1D2-9A3E844B38E9}"/>
              </a:ext>
            </a:extLst>
          </p:cNvPr>
          <p:cNvSpPr txBox="1"/>
          <p:nvPr/>
        </p:nvSpPr>
        <p:spPr>
          <a:xfrm>
            <a:off x="2242434" y="1815885"/>
            <a:ext cx="6443999" cy="380873"/>
          </a:xfrm>
          <a:prstGeom prst="rect">
            <a:avLst/>
          </a:prstGeom>
          <a:solidFill>
            <a:srgbClr val="EBF1DD"/>
          </a:solidFill>
        </p:spPr>
        <p:txBody>
          <a:bodyPr wrap="square">
            <a:sp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3A35B29-2893-4AF4-81C2-6D992F513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955" y="2811726"/>
            <a:ext cx="5377192" cy="2694531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08FC6E6-3290-4F4F-B402-323CAA6F87D1}"/>
              </a:ext>
            </a:extLst>
          </p:cNvPr>
          <p:cNvSpPr txBox="1"/>
          <p:nvPr/>
        </p:nvSpPr>
        <p:spPr>
          <a:xfrm>
            <a:off x="2232380" y="1582935"/>
            <a:ext cx="6443999" cy="216000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C2A0947-CE02-429D-B0D7-4D0FBD112E4F}"/>
              </a:ext>
            </a:extLst>
          </p:cNvPr>
          <p:cNvSpPr txBox="1"/>
          <p:nvPr/>
        </p:nvSpPr>
        <p:spPr>
          <a:xfrm>
            <a:off x="2242428" y="2847025"/>
            <a:ext cx="6443999" cy="648000"/>
          </a:xfrm>
          <a:prstGeom prst="rect">
            <a:avLst/>
          </a:prstGeom>
          <a:solidFill>
            <a:srgbClr val="FFCCCC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2F20C6-E145-4FBB-A523-D3469EDC0CBB}"/>
              </a:ext>
            </a:extLst>
          </p:cNvPr>
          <p:cNvSpPr txBox="1"/>
          <p:nvPr/>
        </p:nvSpPr>
        <p:spPr>
          <a:xfrm>
            <a:off x="2229549" y="4580430"/>
            <a:ext cx="6443999" cy="216000"/>
          </a:xfrm>
          <a:prstGeom prst="rect">
            <a:avLst/>
          </a:prstGeom>
          <a:solidFill>
            <a:srgbClr val="FFCCCC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  <a:defRPr/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9F0A67A-830A-41D3-9F6C-AB59C13A0F83}"/>
              </a:ext>
            </a:extLst>
          </p:cNvPr>
          <p:cNvSpPr txBox="1"/>
          <p:nvPr/>
        </p:nvSpPr>
        <p:spPr>
          <a:xfrm>
            <a:off x="2242419" y="4796430"/>
            <a:ext cx="6444000" cy="216000"/>
          </a:xfrm>
          <a:prstGeom prst="rect">
            <a:avLst/>
          </a:prstGeom>
          <a:solidFill>
            <a:srgbClr val="EBF1DD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  <a:defRPr/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D5D352C-20FE-4AD1-A4E0-FD2B1AF2AD4D}"/>
              </a:ext>
            </a:extLst>
          </p:cNvPr>
          <p:cNvSpPr txBox="1"/>
          <p:nvPr/>
        </p:nvSpPr>
        <p:spPr>
          <a:xfrm>
            <a:off x="2256019" y="3510991"/>
            <a:ext cx="6443999" cy="648000"/>
          </a:xfrm>
          <a:prstGeom prst="rect">
            <a:avLst/>
          </a:prstGeom>
          <a:solidFill>
            <a:srgbClr val="EBF1DD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60">
            <a:extLst>
              <a:ext uri="{FF2B5EF4-FFF2-40B4-BE49-F238E27FC236}">
                <a16:creationId xmlns:a16="http://schemas.microsoft.com/office/drawing/2014/main" id="{71177549-5C4A-9C40-B0B9-B15ADB70481C}"/>
              </a:ext>
            </a:extLst>
          </p:cNvPr>
          <p:cNvSpPr txBox="1"/>
          <p:nvPr/>
        </p:nvSpPr>
        <p:spPr>
          <a:xfrm>
            <a:off x="2232378" y="1543293"/>
            <a:ext cx="373314" cy="37667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1 -	   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2 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4 -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7 -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8 -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9 -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10+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11+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12+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15-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16+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3" name="文本框 60">
            <a:extLst>
              <a:ext uri="{FF2B5EF4-FFF2-40B4-BE49-F238E27FC236}">
                <a16:creationId xmlns:a16="http://schemas.microsoft.com/office/drawing/2014/main" id="{2D34E9BC-9A6E-89DC-57BB-C1DF6C9C3422}"/>
              </a:ext>
            </a:extLst>
          </p:cNvPr>
          <p:cNvSpPr txBox="1"/>
          <p:nvPr/>
        </p:nvSpPr>
        <p:spPr>
          <a:xfrm>
            <a:off x="2585814" y="1545621"/>
            <a:ext cx="6098604" cy="37667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7200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amount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is_good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**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pPr defTabSz="7200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is_good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**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GLOBALX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self.amount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amount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is_good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GLOBALX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*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kwargs.get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'key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GLOBALX = </a:t>
            </a:r>
            <a:r>
              <a:rPr lang="pt-BR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pt-BR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pt-BR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else</a:t>
            </a:r>
            <a:r>
              <a:rPr lang="pt-BR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None</a:t>
            </a:r>
            <a:r>
              <a:rPr lang="pt-BR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new_var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*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.get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key_for_check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.type_bad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TypeError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'message’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len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new_var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 ==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ValueError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'another message'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LENError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'another message’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new_var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CAEF1-957B-58D9-13C6-CAAD20D440FF}"/>
              </a:ext>
            </a:extLst>
          </p:cNvPr>
          <p:cNvSpPr/>
          <p:nvPr/>
        </p:nvSpPr>
        <p:spPr>
          <a:xfrm>
            <a:off x="2232378" y="1582935"/>
            <a:ext cx="6452040" cy="3695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D23FC2-0E99-420E-B3F0-81BA7A5AD441}"/>
              </a:ext>
            </a:extLst>
          </p:cNvPr>
          <p:cNvSpPr/>
          <p:nvPr/>
        </p:nvSpPr>
        <p:spPr>
          <a:xfrm>
            <a:off x="4043591" y="1582935"/>
            <a:ext cx="576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FE0670-69E4-47DD-97B1-207229DC7E64}"/>
              </a:ext>
            </a:extLst>
          </p:cNvPr>
          <p:cNvSpPr/>
          <p:nvPr/>
        </p:nvSpPr>
        <p:spPr>
          <a:xfrm>
            <a:off x="5012391" y="1593319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EFBBBF-2474-4DEB-9009-53A5B1FC641F}"/>
              </a:ext>
            </a:extLst>
          </p:cNvPr>
          <p:cNvSpPr/>
          <p:nvPr/>
        </p:nvSpPr>
        <p:spPr>
          <a:xfrm>
            <a:off x="6970924" y="1585637"/>
            <a:ext cx="468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ECA2AE-2CD0-49DC-8DD6-AA7848E579F7}"/>
              </a:ext>
            </a:extLst>
          </p:cNvPr>
          <p:cNvSpPr/>
          <p:nvPr/>
        </p:nvSpPr>
        <p:spPr>
          <a:xfrm>
            <a:off x="4220079" y="1810001"/>
            <a:ext cx="324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E210D9-B60C-4B80-939A-03D4EBDECED9}"/>
              </a:ext>
            </a:extLst>
          </p:cNvPr>
          <p:cNvSpPr/>
          <p:nvPr/>
        </p:nvSpPr>
        <p:spPr>
          <a:xfrm>
            <a:off x="6081938" y="1798935"/>
            <a:ext cx="54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84AD037-93AB-4498-8EB6-1A0610F35A66}"/>
              </a:ext>
            </a:extLst>
          </p:cNvPr>
          <p:cNvSpPr/>
          <p:nvPr/>
        </p:nvSpPr>
        <p:spPr>
          <a:xfrm>
            <a:off x="9279652" y="1755677"/>
            <a:ext cx="2236494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7A8B6CF-5DD4-450B-A2B8-4F4267E37EC8}"/>
              </a:ext>
            </a:extLst>
          </p:cNvPr>
          <p:cNvSpPr/>
          <p:nvPr/>
        </p:nvSpPr>
        <p:spPr>
          <a:xfrm>
            <a:off x="4830846" y="3073410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F29C126-103C-4602-9466-FD2828F07BDB}"/>
              </a:ext>
            </a:extLst>
          </p:cNvPr>
          <p:cNvSpPr/>
          <p:nvPr/>
        </p:nvSpPr>
        <p:spPr>
          <a:xfrm>
            <a:off x="4233752" y="2844106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E016B36-1C75-4B2E-8ED5-A5768E166053}"/>
              </a:ext>
            </a:extLst>
          </p:cNvPr>
          <p:cNvSpPr/>
          <p:nvPr/>
        </p:nvSpPr>
        <p:spPr>
          <a:xfrm>
            <a:off x="4492098" y="3926849"/>
            <a:ext cx="1368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17ABDFB-03B3-468C-BA40-214515C172DD}"/>
              </a:ext>
            </a:extLst>
          </p:cNvPr>
          <p:cNvSpPr/>
          <p:nvPr/>
        </p:nvSpPr>
        <p:spPr>
          <a:xfrm>
            <a:off x="4237672" y="3516768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403773C-892E-4F24-807F-0D68C875AF51}"/>
              </a:ext>
            </a:extLst>
          </p:cNvPr>
          <p:cNvSpPr/>
          <p:nvPr/>
        </p:nvSpPr>
        <p:spPr>
          <a:xfrm>
            <a:off x="7983764" y="823808"/>
            <a:ext cx="3532382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71EE7DD-5395-44AE-958E-41703F9438A7}"/>
              </a:ext>
            </a:extLst>
          </p:cNvPr>
          <p:cNvSpPr/>
          <p:nvPr/>
        </p:nvSpPr>
        <p:spPr>
          <a:xfrm>
            <a:off x="4031559" y="4807244"/>
            <a:ext cx="828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0465493-2F74-4BD6-897B-007885F9B5FB}"/>
              </a:ext>
            </a:extLst>
          </p:cNvPr>
          <p:cNvSpPr/>
          <p:nvPr/>
        </p:nvSpPr>
        <p:spPr>
          <a:xfrm>
            <a:off x="4038136" y="4564288"/>
            <a:ext cx="1008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56">
            <a:extLst>
              <a:ext uri="{FF2B5EF4-FFF2-40B4-BE49-F238E27FC236}">
                <a16:creationId xmlns:a16="http://schemas.microsoft.com/office/drawing/2014/main" id="{FC38D87B-4C54-6E36-0BAB-8B69A4503BD9}"/>
              </a:ext>
            </a:extLst>
          </p:cNvPr>
          <p:cNvSpPr/>
          <p:nvPr/>
        </p:nvSpPr>
        <p:spPr>
          <a:xfrm>
            <a:off x="5123999" y="3524790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6">
            <a:extLst>
              <a:ext uri="{FF2B5EF4-FFF2-40B4-BE49-F238E27FC236}">
                <a16:creationId xmlns:a16="http://schemas.microsoft.com/office/drawing/2014/main" id="{E33459E9-7C99-B4F0-5358-53B1795707E8}"/>
              </a:ext>
            </a:extLst>
          </p:cNvPr>
          <p:cNvSpPr/>
          <p:nvPr/>
        </p:nvSpPr>
        <p:spPr>
          <a:xfrm>
            <a:off x="4807163" y="3713286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51">
            <a:extLst>
              <a:ext uri="{FF2B5EF4-FFF2-40B4-BE49-F238E27FC236}">
                <a16:creationId xmlns:a16="http://schemas.microsoft.com/office/drawing/2014/main" id="{B5041CA0-552C-509F-A7C3-2134AD463FCA}"/>
              </a:ext>
            </a:extLst>
          </p:cNvPr>
          <p:cNvSpPr/>
          <p:nvPr/>
        </p:nvSpPr>
        <p:spPr>
          <a:xfrm>
            <a:off x="4538074" y="3285968"/>
            <a:ext cx="324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8" name="直接箭头连接符 35">
            <a:extLst>
              <a:ext uri="{FF2B5EF4-FFF2-40B4-BE49-F238E27FC236}">
                <a16:creationId xmlns:a16="http://schemas.microsoft.com/office/drawing/2014/main" id="{9CD87EB6-4600-CD97-F712-ECF76FB7C8DE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4295254" y="829087"/>
            <a:ext cx="302419" cy="747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37">
            <a:extLst>
              <a:ext uri="{FF2B5EF4-FFF2-40B4-BE49-F238E27FC236}">
                <a16:creationId xmlns:a16="http://schemas.microsoft.com/office/drawing/2014/main" id="{D98B9D30-6E85-DB91-4FDE-B84D46DE14B9}"/>
              </a:ext>
            </a:extLst>
          </p:cNvPr>
          <p:cNvSpPr txBox="1"/>
          <p:nvPr/>
        </p:nvSpPr>
        <p:spPr>
          <a:xfrm>
            <a:off x="2673622" y="228923"/>
            <a:ext cx="38481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CI1: </a:t>
            </a:r>
            <a:r>
              <a:rPr lang="en-US" altLang="zh-CN" sz="1100" dirty="0">
                <a:latin typeface="Inter"/>
              </a:rPr>
              <a:t>Code_v2 removes required parameter ‘amount’. Using old arguments like ‘amount=1’ triggers “unexpected keyword argument” errors.</a:t>
            </a:r>
            <a:endParaRPr lang="zh-CN" altLang="en-US" sz="1100" dirty="0"/>
          </a:p>
        </p:txBody>
      </p:sp>
      <p:sp>
        <p:nvSpPr>
          <p:cNvPr id="11" name="文本框 52">
            <a:extLst>
              <a:ext uri="{FF2B5EF4-FFF2-40B4-BE49-F238E27FC236}">
                <a16:creationId xmlns:a16="http://schemas.microsoft.com/office/drawing/2014/main" id="{5F2E2DC4-892F-B8FD-7341-EFA35B680679}"/>
              </a:ext>
            </a:extLst>
          </p:cNvPr>
          <p:cNvSpPr txBox="1"/>
          <p:nvPr/>
        </p:nvSpPr>
        <p:spPr>
          <a:xfrm>
            <a:off x="7415029" y="-14986"/>
            <a:ext cx="24431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Inter"/>
              </a:rPr>
              <a:t>CI2: </a:t>
            </a:r>
            <a:r>
              <a:rPr lang="en-US" altLang="zh-CN" sz="1100" dirty="0">
                <a:latin typeface="Inter"/>
              </a:rPr>
              <a:t>Code_v2 changes the </a:t>
            </a:r>
            <a:r>
              <a:rPr lang="en-US" altLang="zh-CN" sz="1100" dirty="0" err="1">
                <a:latin typeface="Inter"/>
              </a:rPr>
              <a:t>TypeError</a:t>
            </a:r>
            <a:r>
              <a:rPr lang="en-US" altLang="zh-CN" sz="1100" dirty="0">
                <a:latin typeface="Inter"/>
              </a:rPr>
              <a:t> trigger key from 'key' to '</a:t>
            </a:r>
            <a:r>
              <a:rPr lang="en-US" altLang="zh-CN" sz="1100" dirty="0" err="1">
                <a:latin typeface="Inter"/>
              </a:rPr>
              <a:t>key_for_check</a:t>
            </a:r>
            <a:r>
              <a:rPr lang="en-US" altLang="zh-CN" sz="1100" dirty="0">
                <a:latin typeface="Inter"/>
              </a:rPr>
              <a:t>’. Only passing 'key=test’ may raise a </a:t>
            </a:r>
            <a:r>
              <a:rPr lang="en-US" altLang="zh-CN" sz="1100" dirty="0" err="1">
                <a:latin typeface="Inter"/>
              </a:rPr>
              <a:t>KeyError</a:t>
            </a:r>
            <a:r>
              <a:rPr lang="en-US" altLang="zh-CN" sz="1100" dirty="0">
                <a:latin typeface="Inter"/>
              </a:rPr>
              <a:t> in new API</a:t>
            </a:r>
            <a:endParaRPr lang="zh-CN" altLang="en-US" sz="1100" dirty="0"/>
          </a:p>
        </p:txBody>
      </p:sp>
      <p:cxnSp>
        <p:nvCxnSpPr>
          <p:cNvPr id="12" name="直接箭头连接符 75">
            <a:extLst>
              <a:ext uri="{FF2B5EF4-FFF2-40B4-BE49-F238E27FC236}">
                <a16:creationId xmlns:a16="http://schemas.microsoft.com/office/drawing/2014/main" id="{DD7ED2C2-FBB2-A74F-0708-17CECB9A6E93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6970924" y="369736"/>
            <a:ext cx="444104" cy="745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77">
            <a:extLst>
              <a:ext uri="{FF2B5EF4-FFF2-40B4-BE49-F238E27FC236}">
                <a16:creationId xmlns:a16="http://schemas.microsoft.com/office/drawing/2014/main" id="{B81FD181-416B-2E11-E04D-BA525BC67DED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9858191" y="369736"/>
            <a:ext cx="2430064" cy="776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190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C6181A-0904-5324-C9AA-1263B18E9129}"/>
              </a:ext>
            </a:extLst>
          </p:cNvPr>
          <p:cNvSpPr/>
          <p:nvPr/>
        </p:nvSpPr>
        <p:spPr>
          <a:xfrm>
            <a:off x="2054227" y="380012"/>
            <a:ext cx="11134434" cy="32538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DE59D-9217-A57B-BED2-51E85532C347}"/>
              </a:ext>
            </a:extLst>
          </p:cNvPr>
          <p:cNvSpPr/>
          <p:nvPr/>
        </p:nvSpPr>
        <p:spPr>
          <a:xfrm>
            <a:off x="2509202" y="822222"/>
            <a:ext cx="4001984" cy="3087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3C157-7A97-1CF3-11C4-9C60128C3C51}"/>
              </a:ext>
            </a:extLst>
          </p:cNvPr>
          <p:cNvSpPr txBox="1"/>
          <p:nvPr/>
        </p:nvSpPr>
        <p:spPr>
          <a:xfrm>
            <a:off x="3237139" y="843148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URL</a:t>
            </a:r>
            <a:r>
              <a:rPr lang="zh-CN" altLang="en-US" dirty="0"/>
              <a:t> </a:t>
            </a:r>
            <a:r>
              <a:rPr lang="en-US" altLang="zh-CN" dirty="0" err="1"/>
              <a:t>Stackoverflow</a:t>
            </a:r>
            <a:r>
              <a:rPr lang="en-US" altLang="zh-CN" dirty="0"/>
              <a:t> Post</a:t>
            </a:r>
            <a:endParaRPr lang="en-C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011EDB-C6D1-1B94-AC52-D03AEDCA3120}"/>
              </a:ext>
            </a:extLst>
          </p:cNvPr>
          <p:cNvSpPr/>
          <p:nvPr/>
        </p:nvSpPr>
        <p:spPr>
          <a:xfrm>
            <a:off x="2762128" y="5118266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A81B4-0BBF-92D2-54F7-B3ECB38CF3D1}"/>
              </a:ext>
            </a:extLst>
          </p:cNvPr>
          <p:cNvSpPr txBox="1"/>
          <p:nvPr/>
        </p:nvSpPr>
        <p:spPr>
          <a:xfrm>
            <a:off x="2769920" y="5977467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Stackoverflow DB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8D20A8-3442-F163-C9DF-484A0F76BEC3}"/>
              </a:ext>
            </a:extLst>
          </p:cNvPr>
          <p:cNvCxnSpPr/>
          <p:nvPr/>
        </p:nvCxnSpPr>
        <p:spPr>
          <a:xfrm>
            <a:off x="3237139" y="3752604"/>
            <a:ext cx="0" cy="1270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B5FCC20-4BB3-D27C-891F-AAFA2CA71E55}"/>
              </a:ext>
            </a:extLst>
          </p:cNvPr>
          <p:cNvSpPr/>
          <p:nvPr/>
        </p:nvSpPr>
        <p:spPr>
          <a:xfrm>
            <a:off x="2469615" y="1323379"/>
            <a:ext cx="4001984" cy="1707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N" dirty="0"/>
              <a:t>Title</a:t>
            </a:r>
          </a:p>
          <a:p>
            <a:r>
              <a:rPr lang="en-CN" dirty="0"/>
              <a:t>Body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990FED-C744-F6A7-5CB4-BA281854CF60}"/>
              </a:ext>
            </a:extLst>
          </p:cNvPr>
          <p:cNvSpPr/>
          <p:nvPr/>
        </p:nvSpPr>
        <p:spPr>
          <a:xfrm>
            <a:off x="5867527" y="3562680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base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03D3EF-7E51-C2C5-8A6B-F41B85D63EBF}"/>
              </a:ext>
            </a:extLst>
          </p:cNvPr>
          <p:cNvSpPr txBox="1"/>
          <p:nvPr/>
        </p:nvSpPr>
        <p:spPr>
          <a:xfrm>
            <a:off x="5688158" y="5751224"/>
            <a:ext cx="59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LLM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7F7DF5-87F2-265B-9905-9A79818BFB1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4470608" y="3031031"/>
            <a:ext cx="2174753" cy="531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8C8543-4487-3C57-C514-C1CB203D2107}"/>
              </a:ext>
            </a:extLst>
          </p:cNvPr>
          <p:cNvSpPr txBox="1"/>
          <p:nvPr/>
        </p:nvSpPr>
        <p:spPr>
          <a:xfrm>
            <a:off x="7180240" y="1344305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 &amp; II &amp; Others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A02D32-3FFF-C41E-6286-03BA89EA17BF}"/>
              </a:ext>
            </a:extLst>
          </p:cNvPr>
          <p:cNvSpPr txBox="1"/>
          <p:nvPr/>
        </p:nvSpPr>
        <p:spPr>
          <a:xfrm>
            <a:off x="7180238" y="2308598"/>
            <a:ext cx="277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II Package Name+ version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95D9C04-CCD2-1993-9129-7F2C3738BA30}"/>
              </a:ext>
            </a:extLst>
          </p:cNvPr>
          <p:cNvSpPr/>
          <p:nvPr/>
        </p:nvSpPr>
        <p:spPr>
          <a:xfrm>
            <a:off x="8899416" y="5118266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7D74D-4DCC-F71F-1C51-88BF3D229FB0}"/>
              </a:ext>
            </a:extLst>
          </p:cNvPr>
          <p:cNvSpPr txBox="1"/>
          <p:nvPr/>
        </p:nvSpPr>
        <p:spPr>
          <a:xfrm>
            <a:off x="10666586" y="5381892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RiskDB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95884E-B5DF-AF49-1927-AB26E8C8F56D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590563" y="2677931"/>
            <a:ext cx="1086687" cy="2440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84FFBA8-7B73-D2DA-0455-5CECBD05E979}"/>
              </a:ext>
            </a:extLst>
          </p:cNvPr>
          <p:cNvSpPr txBox="1"/>
          <p:nvPr/>
        </p:nvSpPr>
        <p:spPr>
          <a:xfrm>
            <a:off x="10302958" y="229193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II’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A992C3C-1C10-1C0F-1FE1-7F0B8FFAE875}"/>
              </a:ext>
            </a:extLst>
          </p:cNvPr>
          <p:cNvSpPr/>
          <p:nvPr/>
        </p:nvSpPr>
        <p:spPr>
          <a:xfrm>
            <a:off x="11333073" y="4765550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DD4170-F11C-7462-7478-C93CF62B9A55}"/>
              </a:ext>
            </a:extLst>
          </p:cNvPr>
          <p:cNvSpPr txBox="1"/>
          <p:nvPr/>
        </p:nvSpPr>
        <p:spPr>
          <a:xfrm>
            <a:off x="12977294" y="5118265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LLM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55955F-FD8B-7FFC-F117-3F3E63331EC7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11526116" y="2553195"/>
            <a:ext cx="584790" cy="2212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9952E4D-BDEE-292B-6798-A01C2A8E8D93}"/>
              </a:ext>
            </a:extLst>
          </p:cNvPr>
          <p:cNvSpPr txBox="1"/>
          <p:nvPr/>
        </p:nvSpPr>
        <p:spPr>
          <a:xfrm>
            <a:off x="11480012" y="1873906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Rewrite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A12EBF-26DD-0011-9366-78C5E9AE282D}"/>
              </a:ext>
            </a:extLst>
          </p:cNvPr>
          <p:cNvSpPr/>
          <p:nvPr/>
        </p:nvSpPr>
        <p:spPr>
          <a:xfrm>
            <a:off x="8565393" y="447719"/>
            <a:ext cx="4154382" cy="58860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738DCC-1583-E738-A051-9B2A23B3ED30}"/>
              </a:ext>
            </a:extLst>
          </p:cNvPr>
          <p:cNvSpPr txBox="1"/>
          <p:nvPr/>
        </p:nvSpPr>
        <p:spPr>
          <a:xfrm>
            <a:off x="8962475" y="569128"/>
            <a:ext cx="4145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I: </a:t>
            </a:r>
            <a:r>
              <a:rPr lang="en-US" altLang="zh-CN" dirty="0"/>
              <a:t>10</a:t>
            </a:r>
            <a:r>
              <a:rPr lang="zh-CN" altLang="en-US" dirty="0"/>
              <a:t> </a:t>
            </a:r>
            <a:r>
              <a:rPr lang="en-CN" dirty="0"/>
              <a:t>Post, II: </a:t>
            </a:r>
            <a:r>
              <a:rPr lang="en-US" altLang="zh-CN" dirty="0"/>
              <a:t>2</a:t>
            </a:r>
            <a:r>
              <a:rPr lang="en-CN" dirty="0"/>
              <a:t> Post, II’ </a:t>
            </a:r>
            <a:r>
              <a:rPr lang="en-US" altLang="zh-CN" dirty="0"/>
              <a:t>1</a:t>
            </a:r>
            <a:r>
              <a:rPr lang="en-CN" dirty="0"/>
              <a:t> Post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A55200-52F5-7FD1-9C75-FB40199D0CCB}"/>
              </a:ext>
            </a:extLst>
          </p:cNvPr>
          <p:cNvSpPr txBox="1"/>
          <p:nvPr/>
        </p:nvSpPr>
        <p:spPr>
          <a:xfrm>
            <a:off x="6346497" y="5992519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CN" dirty="0"/>
              <a:t>emantic理解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CN" dirty="0"/>
              <a:t>Filter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4A334C-2D7A-4C80-28AB-9FF7FA6834E9}"/>
              </a:ext>
            </a:extLst>
          </p:cNvPr>
          <p:cNvSpPr txBox="1"/>
          <p:nvPr/>
        </p:nvSpPr>
        <p:spPr>
          <a:xfrm>
            <a:off x="10165293" y="597746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匹配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8E301E-8578-B52C-9F3C-7B919897217D}"/>
              </a:ext>
            </a:extLst>
          </p:cNvPr>
          <p:cNvSpPr txBox="1"/>
          <p:nvPr/>
        </p:nvSpPr>
        <p:spPr>
          <a:xfrm>
            <a:off x="13077826" y="597746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重写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39C2FF-A6DE-1FED-C1BF-2C7682F02872}"/>
              </a:ext>
            </a:extLst>
          </p:cNvPr>
          <p:cNvSpPr txBox="1"/>
          <p:nvPr/>
        </p:nvSpPr>
        <p:spPr>
          <a:xfrm>
            <a:off x="2312046" y="6647685"/>
            <a:ext cx="18501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</a:t>
            </a:r>
          </a:p>
          <a:p>
            <a:r>
              <a:rPr lang="en-CN" dirty="0"/>
              <a:t>Q:What library?</a:t>
            </a:r>
          </a:p>
          <a:p>
            <a:r>
              <a:rPr lang="en-CN" dirty="0"/>
              <a:t>LLM: log4j 1.0  ?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E34FC-159F-15D2-14DA-364F05CB2E10}"/>
              </a:ext>
            </a:extLst>
          </p:cNvPr>
          <p:cNvSpPr txBox="1"/>
          <p:nvPr/>
        </p:nvSpPr>
        <p:spPr>
          <a:xfrm>
            <a:off x="4795174" y="6646268"/>
            <a:ext cx="79480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II</a:t>
            </a:r>
          </a:p>
          <a:p>
            <a:r>
              <a:rPr lang="en-CN" dirty="0"/>
              <a:t>Q:I am using log4j, 1.0? </a:t>
            </a:r>
            <a:r>
              <a:rPr lang="en-GB" dirty="0"/>
              <a:t>H</a:t>
            </a:r>
            <a:r>
              <a:rPr lang="en-CN" dirty="0"/>
              <a:t>owever vul, how to adapt to new code in version 2.0 </a:t>
            </a:r>
          </a:p>
          <a:p>
            <a:r>
              <a:rPr lang="en-CN" dirty="0"/>
              <a:t>LLM: aaa(); -</a:t>
            </a:r>
            <a:r>
              <a:rPr lang="en-CN" dirty="0">
                <a:sym typeface="Wingdings" pitchFamily="2" charset="2"/>
              </a:rPr>
              <a:t> aaa(true);</a:t>
            </a:r>
            <a:endParaRPr lang="en-C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01282B-9A4A-CE89-BC7A-32AAA226666D}"/>
              </a:ext>
            </a:extLst>
          </p:cNvPr>
          <p:cNvSpPr txBox="1"/>
          <p:nvPr/>
        </p:nvSpPr>
        <p:spPr>
          <a:xfrm>
            <a:off x="1800226" y="-565788"/>
            <a:ext cx="672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用户使用LLM</a:t>
            </a:r>
            <a:r>
              <a:rPr lang="zh-CN" altLang="en-US" dirty="0"/>
              <a:t>推荐的</a:t>
            </a:r>
            <a:r>
              <a:rPr lang="en-US" altLang="zh-CN" dirty="0"/>
              <a:t>lib</a:t>
            </a:r>
            <a:r>
              <a:rPr lang="zh-CN" altLang="en-US" dirty="0"/>
              <a:t>版本存在</a:t>
            </a:r>
            <a:r>
              <a:rPr lang="en-US" altLang="zh-CN" dirty="0" err="1"/>
              <a:t>vul</a:t>
            </a:r>
            <a:r>
              <a:rPr lang="zh-CN" altLang="en-US" dirty="0"/>
              <a:t>，需要推荐无</a:t>
            </a:r>
            <a:r>
              <a:rPr lang="en-US" altLang="zh-CN" dirty="0" err="1"/>
              <a:t>vul</a:t>
            </a:r>
            <a:r>
              <a:rPr lang="zh-CN" altLang="en-US" dirty="0"/>
              <a:t>的版本；使用</a:t>
            </a:r>
            <a:r>
              <a:rPr lang="en-US" altLang="zh-CN" dirty="0"/>
              <a:t>LLM</a:t>
            </a:r>
            <a:r>
              <a:rPr lang="zh-CN" altLang="en-US" dirty="0"/>
              <a:t>推荐的</a:t>
            </a:r>
            <a:r>
              <a:rPr lang="en-US" altLang="zh-CN" dirty="0"/>
              <a:t>lib</a:t>
            </a:r>
            <a:r>
              <a:rPr lang="zh-CN" altLang="en-US" dirty="0"/>
              <a:t>存在漏洞的版本，需要做自动化</a:t>
            </a:r>
            <a:r>
              <a:rPr lang="en-US" altLang="zh-CN" dirty="0"/>
              <a:t>code</a:t>
            </a:r>
            <a:r>
              <a:rPr lang="zh-CN" altLang="en-US" dirty="0"/>
              <a:t> 适配</a:t>
            </a:r>
            <a:endParaRPr lang="en-CN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7B7DEB3-71BB-3EE3-97A0-3B4588F036F1}"/>
              </a:ext>
            </a:extLst>
          </p:cNvPr>
          <p:cNvSpPr/>
          <p:nvPr/>
        </p:nvSpPr>
        <p:spPr>
          <a:xfrm>
            <a:off x="5218224" y="4840393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CD0B9E5-6035-6ED7-440F-5C9F415DC5C6}"/>
              </a:ext>
            </a:extLst>
          </p:cNvPr>
          <p:cNvSpPr/>
          <p:nvPr/>
        </p:nvSpPr>
        <p:spPr>
          <a:xfrm>
            <a:off x="6724588" y="4840393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8EF6EE-EF1C-5537-4F3C-D15CCD414700}"/>
              </a:ext>
            </a:extLst>
          </p:cNvPr>
          <p:cNvSpPr txBox="1"/>
          <p:nvPr/>
        </p:nvSpPr>
        <p:spPr>
          <a:xfrm>
            <a:off x="7171738" y="5681361"/>
            <a:ext cx="59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LLM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E189013-3793-788F-74FF-AC7765F4195E}"/>
              </a:ext>
            </a:extLst>
          </p:cNvPr>
          <p:cNvSpPr/>
          <p:nvPr/>
        </p:nvSpPr>
        <p:spPr>
          <a:xfrm>
            <a:off x="12545209" y="1527457"/>
            <a:ext cx="1940487" cy="1707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N" dirty="0"/>
              <a:t>Title</a:t>
            </a:r>
          </a:p>
          <a:p>
            <a:r>
              <a:rPr lang="en-CN" dirty="0"/>
              <a:t>Body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BBFED4-0117-A9F9-5A28-00D66C75B44D}"/>
              </a:ext>
            </a:extLst>
          </p:cNvPr>
          <p:cNvSpPr txBox="1"/>
          <p:nvPr/>
        </p:nvSpPr>
        <p:spPr>
          <a:xfrm>
            <a:off x="10002116" y="-387927"/>
            <a:ext cx="2520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Create R Update Delete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760E984-2C16-CE2D-4609-F64A799130EF}"/>
              </a:ext>
            </a:extLst>
          </p:cNvPr>
          <p:cNvSpPr/>
          <p:nvPr/>
        </p:nvSpPr>
        <p:spPr>
          <a:xfrm>
            <a:off x="12977758" y="3575049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8527B5-6D93-EF8B-A4DA-EFFAEE26E1C9}"/>
              </a:ext>
            </a:extLst>
          </p:cNvPr>
          <p:cNvSpPr txBox="1"/>
          <p:nvPr/>
        </p:nvSpPr>
        <p:spPr>
          <a:xfrm>
            <a:off x="16422204" y="3927764"/>
            <a:ext cx="59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DB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81FA03-7F53-ABA7-B7BA-87864F4B6ADC}"/>
              </a:ext>
            </a:extLst>
          </p:cNvPr>
          <p:cNvSpPr txBox="1"/>
          <p:nvPr/>
        </p:nvSpPr>
        <p:spPr>
          <a:xfrm>
            <a:off x="16156255" y="3351397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Signed by?</a:t>
            </a:r>
          </a:p>
        </p:txBody>
      </p:sp>
    </p:spTree>
    <p:extLst>
      <p:ext uri="{BB962C8B-B14F-4D97-AF65-F5344CB8AC3E}">
        <p14:creationId xmlns:p14="http://schemas.microsoft.com/office/powerpoint/2010/main" val="125430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CCD95E-8068-CED8-B6D2-157BFF4F645D}"/>
              </a:ext>
            </a:extLst>
          </p:cNvPr>
          <p:cNvSpPr txBox="1"/>
          <p:nvPr/>
        </p:nvSpPr>
        <p:spPr>
          <a:xfrm>
            <a:off x="3213389" y="762000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User Input: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0F5571-AD72-B1BB-980C-AD18CFA94409}"/>
              </a:ext>
            </a:extLst>
          </p:cNvPr>
          <p:cNvSpPr/>
          <p:nvPr/>
        </p:nvSpPr>
        <p:spPr>
          <a:xfrm>
            <a:off x="6075847" y="3387001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E6FAEF-C862-EEC4-4870-5FBFFD28E8A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334132" y="1424028"/>
            <a:ext cx="2519549" cy="1962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8164F3-272D-D706-EDA9-20B665396FC1}"/>
              </a:ext>
            </a:extLst>
          </p:cNvPr>
          <p:cNvSpPr txBox="1"/>
          <p:nvPr/>
        </p:nvSpPr>
        <p:spPr>
          <a:xfrm>
            <a:off x="6605271" y="842158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Answer: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6453F6-B6C8-D610-7631-E24936F7870C}"/>
              </a:ext>
            </a:extLst>
          </p:cNvPr>
          <p:cNvSpPr/>
          <p:nvPr/>
        </p:nvSpPr>
        <p:spPr>
          <a:xfrm>
            <a:off x="9248389" y="3571668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7E41A-3D09-F6E0-B495-14CCD509CBD2}"/>
              </a:ext>
            </a:extLst>
          </p:cNvPr>
          <p:cNvSpPr txBox="1"/>
          <p:nvPr/>
        </p:nvSpPr>
        <p:spPr>
          <a:xfrm>
            <a:off x="11015559" y="3835294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RiskDB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ECFB4F-BCD0-E7A2-B557-7D06D3153F3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8939536" y="1131333"/>
            <a:ext cx="1086687" cy="2440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3B902BD-D2F4-E5A1-56FB-A2187480A306}"/>
              </a:ext>
            </a:extLst>
          </p:cNvPr>
          <p:cNvSpPr txBox="1"/>
          <p:nvPr/>
        </p:nvSpPr>
        <p:spPr>
          <a:xfrm>
            <a:off x="3213389" y="5064641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User Input: 1.0 -&gt; 2.0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A184E5-06EE-C513-4F98-79EEBCC3BB02}"/>
              </a:ext>
            </a:extLst>
          </p:cNvPr>
          <p:cNvSpPr txBox="1"/>
          <p:nvPr/>
        </p:nvSpPr>
        <p:spPr>
          <a:xfrm>
            <a:off x="6853680" y="5165307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Answer: </a:t>
            </a:r>
          </a:p>
        </p:txBody>
      </p:sp>
    </p:spTree>
    <p:extLst>
      <p:ext uri="{BB962C8B-B14F-4D97-AF65-F5344CB8AC3E}">
        <p14:creationId xmlns:p14="http://schemas.microsoft.com/office/powerpoint/2010/main" val="1667631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8648</TotalTime>
  <Words>1997</Words>
  <Application>Microsoft Macintosh PowerPoint</Application>
  <PresentationFormat>Custom</PresentationFormat>
  <Paragraphs>233</Paragraphs>
  <Slides>9</Slides>
  <Notes>3</Notes>
  <HiddenSlides>7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HarmonyOS Sans SC</vt:lpstr>
      <vt:lpstr>Inter</vt:lpstr>
      <vt:lpstr>Arial</vt:lpstr>
      <vt:lpstr>Arial Rounded MT Bold</vt:lpstr>
      <vt:lpstr>Calibri</vt:lpstr>
      <vt:lpstr>Calibri Light</vt:lpstr>
      <vt:lpstr>Consolas</vt:lpstr>
      <vt:lpstr>Lucida Console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锦洋 何</dc:creator>
  <cp:lastModifiedBy>Kaifeng Huang</cp:lastModifiedBy>
  <cp:revision>38</cp:revision>
  <dcterms:created xsi:type="dcterms:W3CDTF">2025-12-06T06:52:14Z</dcterms:created>
  <dcterms:modified xsi:type="dcterms:W3CDTF">2025-12-27T16:40:29Z</dcterms:modified>
</cp:coreProperties>
</file>