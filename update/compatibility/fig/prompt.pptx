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3588" cy="14057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5597"/>
    <a:srgbClr val="7671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03" autoAdjust="0"/>
    <p:restoredTop sz="96045"/>
  </p:normalViewPr>
  <p:slideViewPr>
    <p:cSldViewPr snapToGrid="0">
      <p:cViewPr varScale="1">
        <p:scale>
          <a:sx n="48" d="100"/>
          <a:sy n="48" d="100"/>
        </p:scale>
        <p:origin x="3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4973AF-1E6D-4746-8FA3-3206D360D595}" type="datetimeFigureOut">
              <a:rPr lang="en-CN" smtClean="0"/>
              <a:t>12/30/2025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90738" y="1143000"/>
            <a:ext cx="2676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127BCB-9534-0947-95A2-138BE556530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76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1pPr>
    <a:lvl2pPr marL="543611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2pPr>
    <a:lvl3pPr marL="1087222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3pPr>
    <a:lvl4pPr marL="1630832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4pPr>
    <a:lvl5pPr marL="2174443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5pPr>
    <a:lvl6pPr marL="2718054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6pPr>
    <a:lvl7pPr marL="3261665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7pPr>
    <a:lvl8pPr marL="3805276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8pPr>
    <a:lvl9pPr marL="4348886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49095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255791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65002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755658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6455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019494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0094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519" y="2300585"/>
            <a:ext cx="10364550" cy="4894027"/>
          </a:xfrm>
        </p:spPr>
        <p:txBody>
          <a:bodyPr anchor="b"/>
          <a:lstStyle>
            <a:lvl1pPr algn="ctr">
              <a:defRPr sz="80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199" y="7383344"/>
            <a:ext cx="9145191" cy="3393929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676" indent="0" algn="ctr">
              <a:buNone/>
              <a:defRPr sz="2667"/>
            </a:lvl2pPr>
            <a:lvl3pPr marL="1219352" indent="0" algn="ctr">
              <a:buNone/>
              <a:defRPr sz="2400"/>
            </a:lvl3pPr>
            <a:lvl4pPr marL="1829029" indent="0" algn="ctr">
              <a:buNone/>
              <a:defRPr sz="2134"/>
            </a:lvl4pPr>
            <a:lvl5pPr marL="2438705" indent="0" algn="ctr">
              <a:buNone/>
              <a:defRPr sz="2134"/>
            </a:lvl5pPr>
            <a:lvl6pPr marL="3048381" indent="0" algn="ctr">
              <a:buNone/>
              <a:defRPr sz="2134"/>
            </a:lvl6pPr>
            <a:lvl7pPr marL="3658057" indent="0" algn="ctr">
              <a:buNone/>
              <a:defRPr sz="2134"/>
            </a:lvl7pPr>
            <a:lvl8pPr marL="4267733" indent="0" algn="ctr">
              <a:buNone/>
              <a:defRPr sz="2134"/>
            </a:lvl8pPr>
            <a:lvl9pPr marL="4877410" indent="0" algn="ctr">
              <a:buNone/>
              <a:defRPr sz="213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0492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5824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959" y="3504570"/>
            <a:ext cx="10516970" cy="5847451"/>
          </a:xfrm>
        </p:spPr>
        <p:txBody>
          <a:bodyPr anchor="b"/>
          <a:lstStyle>
            <a:lvl1pPr>
              <a:defRPr sz="80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959" y="9407340"/>
            <a:ext cx="10516970" cy="307503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609676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352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9029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4pPr>
            <a:lvl5pPr marL="2438705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5pPr>
            <a:lvl6pPr marL="3048381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6pPr>
            <a:lvl7pPr marL="3658057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7pPr>
            <a:lvl8pPr marL="4267733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8pPr>
            <a:lvl9pPr marL="4877410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5194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309" y="3742109"/>
            <a:ext cx="5182275" cy="8919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004" y="3742109"/>
            <a:ext cx="5182275" cy="8919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21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748425"/>
            <a:ext cx="10516970" cy="271709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899" y="3445995"/>
            <a:ext cx="5158458" cy="168882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76" indent="0">
              <a:buNone/>
              <a:defRPr sz="2667" b="1"/>
            </a:lvl2pPr>
            <a:lvl3pPr marL="1219352" indent="0">
              <a:buNone/>
              <a:defRPr sz="2400" b="1"/>
            </a:lvl3pPr>
            <a:lvl4pPr marL="1829029" indent="0">
              <a:buNone/>
              <a:defRPr sz="2134" b="1"/>
            </a:lvl4pPr>
            <a:lvl5pPr marL="2438705" indent="0">
              <a:buNone/>
              <a:defRPr sz="2134" b="1"/>
            </a:lvl5pPr>
            <a:lvl6pPr marL="3048381" indent="0">
              <a:buNone/>
              <a:defRPr sz="2134" b="1"/>
            </a:lvl6pPr>
            <a:lvl7pPr marL="3658057" indent="0">
              <a:buNone/>
              <a:defRPr sz="2134" b="1"/>
            </a:lvl7pPr>
            <a:lvl8pPr marL="4267733" indent="0">
              <a:buNone/>
              <a:defRPr sz="2134" b="1"/>
            </a:lvl8pPr>
            <a:lvl9pPr marL="4877410" indent="0">
              <a:buNone/>
              <a:defRPr sz="2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899" y="5134824"/>
            <a:ext cx="5158458" cy="75525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3005" y="3445995"/>
            <a:ext cx="5183863" cy="168882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76" indent="0">
              <a:buNone/>
              <a:defRPr sz="2667" b="1"/>
            </a:lvl2pPr>
            <a:lvl3pPr marL="1219352" indent="0">
              <a:buNone/>
              <a:defRPr sz="2400" b="1"/>
            </a:lvl3pPr>
            <a:lvl4pPr marL="1829029" indent="0">
              <a:buNone/>
              <a:defRPr sz="2134" b="1"/>
            </a:lvl4pPr>
            <a:lvl5pPr marL="2438705" indent="0">
              <a:buNone/>
              <a:defRPr sz="2134" b="1"/>
            </a:lvl5pPr>
            <a:lvl6pPr marL="3048381" indent="0">
              <a:buNone/>
              <a:defRPr sz="2134" b="1"/>
            </a:lvl6pPr>
            <a:lvl7pPr marL="3658057" indent="0">
              <a:buNone/>
              <a:defRPr sz="2134" b="1"/>
            </a:lvl7pPr>
            <a:lvl8pPr marL="4267733" indent="0">
              <a:buNone/>
              <a:defRPr sz="2134" b="1"/>
            </a:lvl8pPr>
            <a:lvl9pPr marL="4877410" indent="0">
              <a:buNone/>
              <a:defRPr sz="2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3005" y="5134824"/>
            <a:ext cx="5183863" cy="75525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7227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4843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5634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937154"/>
            <a:ext cx="3932750" cy="328004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863" y="2023996"/>
            <a:ext cx="6173004" cy="9989803"/>
          </a:xfrm>
        </p:spPr>
        <p:txBody>
          <a:bodyPr/>
          <a:lstStyle>
            <a:lvl1pPr>
              <a:defRPr sz="4267"/>
            </a:lvl1pPr>
            <a:lvl2pPr>
              <a:defRPr sz="3734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7" y="4217194"/>
            <a:ext cx="3932750" cy="7812873"/>
          </a:xfrm>
        </p:spPr>
        <p:txBody>
          <a:bodyPr/>
          <a:lstStyle>
            <a:lvl1pPr marL="0" indent="0">
              <a:buNone/>
              <a:defRPr sz="2134"/>
            </a:lvl1pPr>
            <a:lvl2pPr marL="609676" indent="0">
              <a:buNone/>
              <a:defRPr sz="1867"/>
            </a:lvl2pPr>
            <a:lvl3pPr marL="1219352" indent="0">
              <a:buNone/>
              <a:defRPr sz="1600"/>
            </a:lvl3pPr>
            <a:lvl4pPr marL="1829029" indent="0">
              <a:buNone/>
              <a:defRPr sz="1334"/>
            </a:lvl4pPr>
            <a:lvl5pPr marL="2438705" indent="0">
              <a:buNone/>
              <a:defRPr sz="1334"/>
            </a:lvl5pPr>
            <a:lvl6pPr marL="3048381" indent="0">
              <a:buNone/>
              <a:defRPr sz="1334"/>
            </a:lvl6pPr>
            <a:lvl7pPr marL="3658057" indent="0">
              <a:buNone/>
              <a:defRPr sz="1334"/>
            </a:lvl7pPr>
            <a:lvl8pPr marL="4267733" indent="0">
              <a:buNone/>
              <a:defRPr sz="1334"/>
            </a:lvl8pPr>
            <a:lvl9pPr marL="4877410" indent="0">
              <a:buNone/>
              <a:defRPr sz="133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2223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937154"/>
            <a:ext cx="3932750" cy="328004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863" y="2023996"/>
            <a:ext cx="6173004" cy="9989803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676" indent="0">
              <a:buNone/>
              <a:defRPr sz="3734"/>
            </a:lvl2pPr>
            <a:lvl3pPr marL="1219352" indent="0">
              <a:buNone/>
              <a:defRPr sz="3200"/>
            </a:lvl3pPr>
            <a:lvl4pPr marL="1829029" indent="0">
              <a:buNone/>
              <a:defRPr sz="2667"/>
            </a:lvl4pPr>
            <a:lvl5pPr marL="2438705" indent="0">
              <a:buNone/>
              <a:defRPr sz="2667"/>
            </a:lvl5pPr>
            <a:lvl6pPr marL="3048381" indent="0">
              <a:buNone/>
              <a:defRPr sz="2667"/>
            </a:lvl6pPr>
            <a:lvl7pPr marL="3658057" indent="0">
              <a:buNone/>
              <a:defRPr sz="2667"/>
            </a:lvl7pPr>
            <a:lvl8pPr marL="4267733" indent="0">
              <a:buNone/>
              <a:defRPr sz="2667"/>
            </a:lvl8pPr>
            <a:lvl9pPr marL="4877410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7" y="4217194"/>
            <a:ext cx="3932750" cy="7812873"/>
          </a:xfrm>
        </p:spPr>
        <p:txBody>
          <a:bodyPr/>
          <a:lstStyle>
            <a:lvl1pPr marL="0" indent="0">
              <a:buNone/>
              <a:defRPr sz="2134"/>
            </a:lvl1pPr>
            <a:lvl2pPr marL="609676" indent="0">
              <a:buNone/>
              <a:defRPr sz="1867"/>
            </a:lvl2pPr>
            <a:lvl3pPr marL="1219352" indent="0">
              <a:buNone/>
              <a:defRPr sz="1600"/>
            </a:lvl3pPr>
            <a:lvl4pPr marL="1829029" indent="0">
              <a:buNone/>
              <a:defRPr sz="1334"/>
            </a:lvl4pPr>
            <a:lvl5pPr marL="2438705" indent="0">
              <a:buNone/>
              <a:defRPr sz="1334"/>
            </a:lvl5pPr>
            <a:lvl6pPr marL="3048381" indent="0">
              <a:buNone/>
              <a:defRPr sz="1334"/>
            </a:lvl6pPr>
            <a:lvl7pPr marL="3658057" indent="0">
              <a:buNone/>
              <a:defRPr sz="1334"/>
            </a:lvl7pPr>
            <a:lvl8pPr marL="4267733" indent="0">
              <a:buNone/>
              <a:defRPr sz="1334"/>
            </a:lvl8pPr>
            <a:lvl9pPr marL="4877410" indent="0">
              <a:buNone/>
              <a:defRPr sz="133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8286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9224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6037" y="748422"/>
            <a:ext cx="2629242" cy="119129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310" y="748422"/>
            <a:ext cx="7735307" cy="1191292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5693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309" y="748425"/>
            <a:ext cx="10516970" cy="2717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309" y="3742109"/>
            <a:ext cx="10516970" cy="89192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309" y="13029050"/>
            <a:ext cx="2743557" cy="7484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9A057A-0BEA-48B2-A216-D46DB2C83327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9126" y="13029050"/>
            <a:ext cx="4115336" cy="7484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1722" y="13029050"/>
            <a:ext cx="2743557" cy="7484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103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352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838" indent="-304838" algn="l" defTabSz="1219352" rtl="0" eaLnBrk="1" latinLnBrk="0" hangingPunct="1">
        <a:lnSpc>
          <a:spcPct val="90000"/>
        </a:lnSpc>
        <a:spcBef>
          <a:spcPts val="1334"/>
        </a:spcBef>
        <a:buFont typeface="Arial" panose="020B0604020202020204" pitchFamily="34" charset="0"/>
        <a:buChar char="•"/>
        <a:defRPr sz="3734" kern="1200">
          <a:solidFill>
            <a:schemeClr val="tx1"/>
          </a:solidFill>
          <a:latin typeface="+mn-lt"/>
          <a:ea typeface="+mn-ea"/>
          <a:cs typeface="+mn-cs"/>
        </a:defRPr>
      </a:lvl1pPr>
      <a:lvl2pPr marL="914514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4191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867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543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3219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895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572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2248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76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352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9029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705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381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8057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733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7410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8837828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Control Flow Graph Construction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2062555" y="697731"/>
            <a:ext cx="8676000" cy="792218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**Phase 2: CFG Construction (Single Pass, Indentation Driven)**</a:t>
            </a:r>
            <a:r>
              <a:rPr lang="en-US" altLang="zh-CN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 </a:t>
            </a:r>
            <a:endParaRPr lang="en-US" altLang="zh-CN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###### </a:t>
            </a:r>
            <a:r>
              <a:rPr lang="en-US" altLang="zh-C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Step 1: Indentation Reduction (Scope Exit)</a:t>
            </a:r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###### </a:t>
            </a:r>
            <a:r>
              <a:rPr lang="en-US" altLang="zh-C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If statement is a condition:</a:t>
            </a:r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For Condition Start Statements: (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`if`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`while`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`for`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`try`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1. Create a new `Condition`:</a:t>
            </a:r>
          </a:p>
          <a:p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* `</a:t>
            </a:r>
            <a:r>
              <a:rPr lang="en-US" altLang="zh-CN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parent_node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[current]`</a:t>
            </a:r>
          </a:p>
          <a:p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* `content = line without trailing ':'`</a:t>
            </a:r>
          </a:p>
          <a:p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2. …</a:t>
            </a:r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For Condition Middle Statements: (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altLang="zh-C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`else`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`except`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</a:t>
            </a:r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###### </a:t>
            </a:r>
            <a:r>
              <a:rPr lang="en-US" altLang="zh-C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If statement is an Ordinary Statement:</a:t>
            </a:r>
            <a:endParaRPr lang="en-US" altLang="zh-CN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</a:t>
            </a:r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Let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`indent`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be current indentation.</a:t>
            </a:r>
          </a:p>
          <a:p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Case A: Indentation Increases (Entering Condition Body)</a:t>
            </a:r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If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altLang="zh-C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CS.top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()`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exists:</a:t>
            </a:r>
          </a:p>
          <a:p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zh-CN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Add edge: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`current → node`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with condition =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altLang="zh-C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CS.top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()`</a:t>
            </a:r>
            <a:endParaRPr lang="en-US" altLang="zh-CN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zh-CN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Push indentation</a:t>
            </a:r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Case B: Same Indentation, Condition Active</a:t>
            </a:r>
          </a:p>
          <a:p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</a:t>
            </a:r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Case C: Indentation Ends</a:t>
            </a:r>
          </a:p>
          <a:p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</a:t>
            </a:r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###### </a:t>
            </a:r>
            <a:r>
              <a:rPr lang="en-US" altLang="zh-C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Finalization</a:t>
            </a:r>
            <a:b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zh-CN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Pop all remaining conditions in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`CS`</a:t>
            </a:r>
            <a:endParaRPr lang="en-US" altLang="zh-CN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CN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2.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For each parent node of those conditions:</a:t>
            </a:r>
          </a:p>
          <a:p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altLang="zh-CN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Add edge to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`END`</a:t>
            </a:r>
            <a:endParaRPr lang="en-US" altLang="zh-CN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CN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3.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If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`current`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is not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`END`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connect </a:t>
            </a:r>
            <a:r>
              <a:rPr lang="en-US" altLang="zh-C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`current → END`</a:t>
            </a:r>
            <a:endParaRPr lang="en-US" altLang="zh-CN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218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4411603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Source-Sink Labeling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598962"/>
            <a:ext cx="8676000" cy="405255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While constructing the CFG, Use the following data structure to record important nodes: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* Parameter assignments and uses. For instance, PA_amount1 represents all nodes in CFG1 for code_v1 that contains an assignment to parameter `amount`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* Global variable assignments. Similar to Parameter but you have to decide which one is Global variable.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* Return nodes. For instance, R1 represents all nodes in CFG1 for code_v1 that contains a `Return` Statement.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* Exception nodes. Similar to Return.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* Nodes present in only one CFG version. For instance, OnlyV1 represents all nodes in CFG1 for code_v1 that doesn't exist in CFG2.</a:t>
            </a:r>
            <a:endParaRPr lang="en-US" altLang="zh-CN" i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9439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5272993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Graph Traversing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598961"/>
            <a:ext cx="8676000" cy="505971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Use data structures to identify the following incompatibilities and update Results:</a:t>
            </a:r>
          </a:p>
          <a:p>
            <a:pPr marL="360000"/>
            <a:endParaRPr lang="en-US" altLang="zh-CN" dirty="0">
              <a:solidFill>
                <a:srgbClr val="FF0000"/>
              </a:solidFill>
              <a:latin typeface="Helvetica Neue" panose="02000503000000020004" pitchFamily="2" charset="0"/>
            </a:endParaRP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1. **CI2 (Key of 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kwargs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Addition or Deletion)**: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KWARGS is NOT empty (both P1 and P2 have `**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kwargs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`):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- For each nodes labeled in PU_kwargs1: record all keys accessed by `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kwargs.get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()` or `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kwargs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[]`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- For each nodes labeled in PU_kwargs1: record all keys accessed by `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kwargs.get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()` or `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kwargs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[]`</a:t>
            </a:r>
          </a:p>
          <a:p>
            <a:pPr marL="360000"/>
            <a:endParaRPr lang="en-US" altLang="zh-CN" dirty="0">
              <a:solidFill>
                <a:srgbClr val="FF0000"/>
              </a:solidFill>
              <a:latin typeface="Helvetica Neue" panose="02000503000000020004" pitchFamily="2" charset="0"/>
            </a:endParaRP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2. **CI3 (Parameter Rename)**: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- For each nodes labeled in PA_p1 and PU_p1: record all Usage of the parameter</a:t>
            </a:r>
          </a:p>
          <a:p>
            <a:pPr marL="645750" indent="-285750">
              <a:buFontTx/>
              <a:buChar char="-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Do the same for p2</a:t>
            </a:r>
          </a:p>
          <a:p>
            <a:pPr marL="645750" indent="-285750">
              <a:buFontTx/>
              <a:buChar char="-"/>
            </a:pPr>
            <a:endParaRPr lang="en-US" altLang="zh-CN" dirty="0">
              <a:solidFill>
                <a:srgbClr val="FF0000"/>
              </a:solidFill>
              <a:latin typeface="Helvetica Neue" panose="02000503000000020004" pitchFamily="2" charset="0"/>
            </a:endParaRP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5. **CI7 (Return Value Change)**: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For each return node in R1, trace back for each return node through CFG, and find the data flow of the return variable differs.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539131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8957098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Incompatibility Analysis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9" y="609243"/>
            <a:ext cx="8676000" cy="859804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CI1 (Parameter Addition or Deletion) and CI4 (Parameter Default Value Change):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The difference occurs in the function signature parameters P1 and P2. Check Following situations: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- A parameter `p` exists in P1 but not in P2, mark CI1.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- A parameter `p` exists in P2 but not in P1 and its type is `positional`, mark CI1.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- A parameter `p` exists in P2 but not in P1 and its type is `optional`, and the parameter at `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position_index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+ 1` exists in P2, mark CI1.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- A parameter `p` exists both in P1 and P2(same name, can have different position index or different type 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nanotation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) but the default values are different, mark CI4.</a:t>
            </a:r>
          </a:p>
          <a:p>
            <a:pPr marL="360000"/>
            <a:endParaRPr lang="en-US" altLang="zh-CN" dirty="0">
              <a:solidFill>
                <a:srgbClr val="FF0000"/>
              </a:solidFill>
              <a:latin typeface="Helvetica Neue" panose="02000503000000020004" pitchFamily="2" charset="0"/>
            </a:endParaRP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CI2 (Key of 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kwargs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Addition or Deletion):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KWARGS is NOT empty (both P1 and P2 have `**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kwargs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`) and keys of PU_kwargs1 and PU_kwargs1 are different, mark as CI2</a:t>
            </a:r>
          </a:p>
          <a:p>
            <a:pPr marL="360000"/>
            <a:endParaRPr lang="en-US" altLang="zh-CN" dirty="0">
              <a:solidFill>
                <a:srgbClr val="FF0000"/>
              </a:solidFill>
              <a:latin typeface="Helvetica Neue" panose="02000503000000020004" pitchFamily="2" charset="0"/>
            </a:endParaRP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2. **CI3 (Parameter Rename)**: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The assignments to p1 and p2 are identical and most usages are 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indentical</a:t>
            </a:r>
            <a:endParaRPr lang="en-US" altLang="zh-CN" dirty="0">
              <a:solidFill>
                <a:srgbClr val="FF0000"/>
              </a:solidFill>
              <a:latin typeface="Helvetica Neue" panose="02000503000000020004" pitchFamily="2" charset="0"/>
            </a:endParaRPr>
          </a:p>
          <a:p>
            <a:pPr marL="360000"/>
            <a:endParaRPr lang="en-US" altLang="zh-CN" dirty="0">
              <a:solidFill>
                <a:srgbClr val="FF0000"/>
              </a:solidFill>
              <a:latin typeface="Helvetica Neue" panose="02000503000000020004" pitchFamily="2" charset="0"/>
            </a:endParaRP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3. **CI5 (Parameter Range Change for exception)**: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CI5 denotes compatibility issues caused by changes of exception conditions which includes any parameter in parameter list. If 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identifing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following situation, mark CI5: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- For exception nodes in E1 and E2: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1. nodes amounts are different and the added/deleted exception `e` is associated with condition `c` which contains a parameter `p` (`p` must in condition description of `c`).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2. Or for any pair of exception (`e1` in E1 and `e2` in E2): 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backtrace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the condition c1 for e1 and c2 for e2 through CFG. If both condition contain a parameter `p` but have different range criteria for `p`.</a:t>
            </a:r>
          </a:p>
        </p:txBody>
      </p:sp>
    </p:spTree>
    <p:extLst>
      <p:ext uri="{BB962C8B-B14F-4D97-AF65-F5344CB8AC3E}">
        <p14:creationId xmlns:p14="http://schemas.microsoft.com/office/powerpoint/2010/main" val="1334175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Test Case Generator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598961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4002064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Step-by-Step Simulator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598961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3665501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Simulated Result Analyzer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598961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3467090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3233</TotalTime>
  <Words>1568</Words>
  <Application>Microsoft Office PowerPoint</Application>
  <PresentationFormat>自定义</PresentationFormat>
  <Paragraphs>187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3" baseType="lpstr">
      <vt:lpstr>Helvetica Neue</vt:lpstr>
      <vt:lpstr>Arial</vt:lpstr>
      <vt:lpstr>Calibri</vt:lpstr>
      <vt:lpstr>Calibri Light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XY L</dc:creator>
  <cp:lastModifiedBy>锦洋 何</cp:lastModifiedBy>
  <cp:revision>54</cp:revision>
  <dcterms:created xsi:type="dcterms:W3CDTF">2025-04-11T05:10:56Z</dcterms:created>
  <dcterms:modified xsi:type="dcterms:W3CDTF">2025-12-29T18:59:13Z</dcterms:modified>
</cp:coreProperties>
</file>