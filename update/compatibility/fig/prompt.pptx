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9"/>
  </p:notesMasterIdLst>
  <p:sldIdLst>
    <p:sldId id="263" r:id="rId2"/>
    <p:sldId id="257" r:id="rId3"/>
    <p:sldId id="258" r:id="rId4"/>
    <p:sldId id="259" r:id="rId5"/>
    <p:sldId id="260" r:id="rId6"/>
    <p:sldId id="261" r:id="rId7"/>
    <p:sldId id="262" r:id="rId8"/>
  </p:sldIdLst>
  <p:sldSz cx="12193588" cy="17657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5597"/>
    <a:srgbClr val="76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32" autoAdjust="0"/>
    <p:restoredTop sz="94805"/>
  </p:normalViewPr>
  <p:slideViewPr>
    <p:cSldViewPr snapToGrid="0">
      <p:cViewPr>
        <p:scale>
          <a:sx n="118" d="100"/>
          <a:sy n="118" d="100"/>
        </p:scale>
        <p:origin x="464" y="-75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4973AF-1E6D-4746-8FA3-3206D360D595}" type="datetimeFigureOut">
              <a:rPr lang="en-CN" smtClean="0"/>
              <a:t>2026/1/11</a:t>
            </a:fld>
            <a:endParaRPr lang="en-CN"/>
          </a:p>
        </p:txBody>
      </p:sp>
      <p:sp>
        <p:nvSpPr>
          <p:cNvPr id="4" name="Slide Image Placeholder 3"/>
          <p:cNvSpPr>
            <a:spLocks noGrp="1" noRot="1" noChangeAspect="1"/>
          </p:cNvSpPr>
          <p:nvPr>
            <p:ph type="sldImg" idx="2"/>
          </p:nvPr>
        </p:nvSpPr>
        <p:spPr>
          <a:xfrm>
            <a:off x="2363788" y="1143000"/>
            <a:ext cx="2130425"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127BCB-9534-0947-95A2-138BE5565305}" type="slidenum">
              <a:rPr lang="en-CN" smtClean="0"/>
              <a:t>‹#›</a:t>
            </a:fld>
            <a:endParaRPr lang="en-CN"/>
          </a:p>
        </p:txBody>
      </p:sp>
    </p:spTree>
    <p:extLst>
      <p:ext uri="{BB962C8B-B14F-4D97-AF65-F5344CB8AC3E}">
        <p14:creationId xmlns:p14="http://schemas.microsoft.com/office/powerpoint/2010/main" val="1295976819"/>
      </p:ext>
    </p:extLst>
  </p:cSld>
  <p:clrMap bg1="lt1" tx1="dk1" bg2="lt2" tx2="dk2" accent1="accent1" accent2="accent2" accent3="accent3" accent4="accent4" accent5="accent5" accent6="accent6" hlink="hlink" folHlink="folHlink"/>
  <p:notesStyle>
    <a:lvl1pPr marL="0" algn="l" defTabSz="1087222" rtl="0" eaLnBrk="1" latinLnBrk="0" hangingPunct="1">
      <a:defRPr sz="1427" kern="1200">
        <a:solidFill>
          <a:schemeClr val="tx1"/>
        </a:solidFill>
        <a:latin typeface="+mn-lt"/>
        <a:ea typeface="+mn-ea"/>
        <a:cs typeface="+mn-cs"/>
      </a:defRPr>
    </a:lvl1pPr>
    <a:lvl2pPr marL="543611" algn="l" defTabSz="1087222" rtl="0" eaLnBrk="1" latinLnBrk="0" hangingPunct="1">
      <a:defRPr sz="1427" kern="1200">
        <a:solidFill>
          <a:schemeClr val="tx1"/>
        </a:solidFill>
        <a:latin typeface="+mn-lt"/>
        <a:ea typeface="+mn-ea"/>
        <a:cs typeface="+mn-cs"/>
      </a:defRPr>
    </a:lvl2pPr>
    <a:lvl3pPr marL="1087222" algn="l" defTabSz="1087222" rtl="0" eaLnBrk="1" latinLnBrk="0" hangingPunct="1">
      <a:defRPr sz="1427" kern="1200">
        <a:solidFill>
          <a:schemeClr val="tx1"/>
        </a:solidFill>
        <a:latin typeface="+mn-lt"/>
        <a:ea typeface="+mn-ea"/>
        <a:cs typeface="+mn-cs"/>
      </a:defRPr>
    </a:lvl3pPr>
    <a:lvl4pPr marL="1630832" algn="l" defTabSz="1087222" rtl="0" eaLnBrk="1" latinLnBrk="0" hangingPunct="1">
      <a:defRPr sz="1427" kern="1200">
        <a:solidFill>
          <a:schemeClr val="tx1"/>
        </a:solidFill>
        <a:latin typeface="+mn-lt"/>
        <a:ea typeface="+mn-ea"/>
        <a:cs typeface="+mn-cs"/>
      </a:defRPr>
    </a:lvl4pPr>
    <a:lvl5pPr marL="2174443" algn="l" defTabSz="1087222" rtl="0" eaLnBrk="1" latinLnBrk="0" hangingPunct="1">
      <a:defRPr sz="1427" kern="1200">
        <a:solidFill>
          <a:schemeClr val="tx1"/>
        </a:solidFill>
        <a:latin typeface="+mn-lt"/>
        <a:ea typeface="+mn-ea"/>
        <a:cs typeface="+mn-cs"/>
      </a:defRPr>
    </a:lvl5pPr>
    <a:lvl6pPr marL="2718054" algn="l" defTabSz="1087222" rtl="0" eaLnBrk="1" latinLnBrk="0" hangingPunct="1">
      <a:defRPr sz="1427" kern="1200">
        <a:solidFill>
          <a:schemeClr val="tx1"/>
        </a:solidFill>
        <a:latin typeface="+mn-lt"/>
        <a:ea typeface="+mn-ea"/>
        <a:cs typeface="+mn-cs"/>
      </a:defRPr>
    </a:lvl6pPr>
    <a:lvl7pPr marL="3261665" algn="l" defTabSz="1087222" rtl="0" eaLnBrk="1" latinLnBrk="0" hangingPunct="1">
      <a:defRPr sz="1427" kern="1200">
        <a:solidFill>
          <a:schemeClr val="tx1"/>
        </a:solidFill>
        <a:latin typeface="+mn-lt"/>
        <a:ea typeface="+mn-ea"/>
        <a:cs typeface="+mn-cs"/>
      </a:defRPr>
    </a:lvl7pPr>
    <a:lvl8pPr marL="3805276" algn="l" defTabSz="1087222" rtl="0" eaLnBrk="1" latinLnBrk="0" hangingPunct="1">
      <a:defRPr sz="1427" kern="1200">
        <a:solidFill>
          <a:schemeClr val="tx1"/>
        </a:solidFill>
        <a:latin typeface="+mn-lt"/>
        <a:ea typeface="+mn-ea"/>
        <a:cs typeface="+mn-cs"/>
      </a:defRPr>
    </a:lvl8pPr>
    <a:lvl9pPr marL="4348886" algn="l" defTabSz="1087222" rtl="0" eaLnBrk="1" latinLnBrk="0" hangingPunct="1">
      <a:defRPr sz="142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3788" y="1143000"/>
            <a:ext cx="2130425" cy="3086100"/>
          </a:xfrm>
        </p:spPr>
      </p:sp>
      <p:sp>
        <p:nvSpPr>
          <p:cNvPr id="3" name="Notes Placeholder 2"/>
          <p:cNvSpPr>
            <a:spLocks noGrp="1"/>
          </p:cNvSpPr>
          <p:nvPr>
            <p:ph type="body" idx="1"/>
          </p:nvPr>
        </p:nvSpPr>
        <p:spPr/>
        <p:txBody>
          <a:bodyPr/>
          <a:lstStyle/>
          <a:p>
            <a:r>
              <a:rPr lang="en-CN" dirty="0"/>
              <a:t>B ----</a:t>
            </a:r>
            <a:r>
              <a:rPr lang="en-CN" dirty="0">
                <a:sym typeface="Wingdings" pitchFamily="2" charset="2"/>
              </a:rPr>
              <a:t> function1</a:t>
            </a:r>
          </a:p>
          <a:p>
            <a:endParaRPr lang="en-CN" dirty="0">
              <a:sym typeface="Wingdings" pitchFamily="2" charset="2"/>
            </a:endParaRPr>
          </a:p>
          <a:p>
            <a:endParaRPr lang="en-CN" dirty="0">
              <a:sym typeface="Wingdings" pitchFamily="2" charset="2"/>
            </a:endParaRPr>
          </a:p>
          <a:p>
            <a:endParaRPr lang="en-CN" dirty="0">
              <a:sym typeface="Wingdings" pitchFamily="2" charset="2"/>
            </a:endParaRPr>
          </a:p>
          <a:p>
            <a:r>
              <a:rPr lang="en-CN" dirty="0">
                <a:sym typeface="Wingdings" pitchFamily="2" charset="2"/>
              </a:rPr>
              <a:t>Library -&gt; function2</a:t>
            </a:r>
            <a:endParaRPr lang="en-CN" dirty="0"/>
          </a:p>
        </p:txBody>
      </p:sp>
      <p:sp>
        <p:nvSpPr>
          <p:cNvPr id="4" name="Slide Number Placeholder 3"/>
          <p:cNvSpPr>
            <a:spLocks noGrp="1"/>
          </p:cNvSpPr>
          <p:nvPr>
            <p:ph type="sldNum" sz="quarter" idx="5"/>
          </p:nvPr>
        </p:nvSpPr>
        <p:spPr/>
        <p:txBody>
          <a:bodyPr/>
          <a:lstStyle/>
          <a:p>
            <a:fld id="{2D127BCB-9534-0947-95A2-138BE5565305}" type="slidenum">
              <a:rPr lang="en-CN" smtClean="0"/>
              <a:t>1</a:t>
            </a:fld>
            <a:endParaRPr lang="en-CN"/>
          </a:p>
        </p:txBody>
      </p:sp>
    </p:spTree>
    <p:extLst>
      <p:ext uri="{BB962C8B-B14F-4D97-AF65-F5344CB8AC3E}">
        <p14:creationId xmlns:p14="http://schemas.microsoft.com/office/powerpoint/2010/main" val="3589845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3788" y="1143000"/>
            <a:ext cx="2130425" cy="3086100"/>
          </a:xfrm>
        </p:spPr>
      </p:sp>
      <p:sp>
        <p:nvSpPr>
          <p:cNvPr id="3" name="Notes Placeholder 2"/>
          <p:cNvSpPr>
            <a:spLocks noGrp="1"/>
          </p:cNvSpPr>
          <p:nvPr>
            <p:ph type="body" idx="1"/>
          </p:nvPr>
        </p:nvSpPr>
        <p:spPr/>
        <p:txBody>
          <a:bodyPr/>
          <a:lstStyle/>
          <a:p>
            <a:r>
              <a:rPr lang="en-CN" dirty="0"/>
              <a:t>B ----</a:t>
            </a:r>
            <a:r>
              <a:rPr lang="en-CN" dirty="0">
                <a:sym typeface="Wingdings" pitchFamily="2" charset="2"/>
              </a:rPr>
              <a:t> function1</a:t>
            </a:r>
          </a:p>
          <a:p>
            <a:endParaRPr lang="en-CN" dirty="0">
              <a:sym typeface="Wingdings" pitchFamily="2" charset="2"/>
            </a:endParaRPr>
          </a:p>
          <a:p>
            <a:endParaRPr lang="en-CN" dirty="0">
              <a:sym typeface="Wingdings" pitchFamily="2" charset="2"/>
            </a:endParaRPr>
          </a:p>
          <a:p>
            <a:endParaRPr lang="en-CN" dirty="0">
              <a:sym typeface="Wingdings" pitchFamily="2" charset="2"/>
            </a:endParaRPr>
          </a:p>
          <a:p>
            <a:r>
              <a:rPr lang="en-CN" dirty="0">
                <a:sym typeface="Wingdings" pitchFamily="2" charset="2"/>
              </a:rPr>
              <a:t>Library -&gt; function2</a:t>
            </a:r>
            <a:endParaRPr lang="en-CN" dirty="0"/>
          </a:p>
        </p:txBody>
      </p:sp>
      <p:sp>
        <p:nvSpPr>
          <p:cNvPr id="4" name="Slide Number Placeholder 3"/>
          <p:cNvSpPr>
            <a:spLocks noGrp="1"/>
          </p:cNvSpPr>
          <p:nvPr>
            <p:ph type="sldNum" sz="quarter" idx="5"/>
          </p:nvPr>
        </p:nvSpPr>
        <p:spPr/>
        <p:txBody>
          <a:bodyPr/>
          <a:lstStyle/>
          <a:p>
            <a:fld id="{2D127BCB-9534-0947-95A2-138BE5565305}" type="slidenum">
              <a:rPr lang="en-CN" smtClean="0"/>
              <a:t>2</a:t>
            </a:fld>
            <a:endParaRPr lang="en-CN"/>
          </a:p>
        </p:txBody>
      </p:sp>
    </p:spTree>
    <p:extLst>
      <p:ext uri="{BB962C8B-B14F-4D97-AF65-F5344CB8AC3E}">
        <p14:creationId xmlns:p14="http://schemas.microsoft.com/office/powerpoint/2010/main" val="4125579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3788" y="1143000"/>
            <a:ext cx="2130425" cy="3086100"/>
          </a:xfrm>
        </p:spPr>
      </p:sp>
      <p:sp>
        <p:nvSpPr>
          <p:cNvPr id="3" name="Notes Placeholder 2"/>
          <p:cNvSpPr>
            <a:spLocks noGrp="1"/>
          </p:cNvSpPr>
          <p:nvPr>
            <p:ph type="body" idx="1"/>
          </p:nvPr>
        </p:nvSpPr>
        <p:spPr/>
        <p:txBody>
          <a:bodyPr/>
          <a:lstStyle/>
          <a:p>
            <a:r>
              <a:rPr lang="en-CN" dirty="0"/>
              <a:t>B ----</a:t>
            </a:r>
            <a:r>
              <a:rPr lang="en-CN" dirty="0">
                <a:sym typeface="Wingdings" pitchFamily="2" charset="2"/>
              </a:rPr>
              <a:t> function1</a:t>
            </a:r>
          </a:p>
          <a:p>
            <a:endParaRPr lang="en-CN" dirty="0">
              <a:sym typeface="Wingdings" pitchFamily="2" charset="2"/>
            </a:endParaRPr>
          </a:p>
          <a:p>
            <a:endParaRPr lang="en-CN" dirty="0">
              <a:sym typeface="Wingdings" pitchFamily="2" charset="2"/>
            </a:endParaRPr>
          </a:p>
          <a:p>
            <a:endParaRPr lang="en-CN" dirty="0">
              <a:sym typeface="Wingdings" pitchFamily="2" charset="2"/>
            </a:endParaRPr>
          </a:p>
          <a:p>
            <a:r>
              <a:rPr lang="en-CN" dirty="0">
                <a:sym typeface="Wingdings" pitchFamily="2" charset="2"/>
              </a:rPr>
              <a:t>Library -&gt; function2</a:t>
            </a:r>
            <a:endParaRPr lang="en-CN" dirty="0"/>
          </a:p>
        </p:txBody>
      </p:sp>
      <p:sp>
        <p:nvSpPr>
          <p:cNvPr id="4" name="Slide Number Placeholder 3"/>
          <p:cNvSpPr>
            <a:spLocks noGrp="1"/>
          </p:cNvSpPr>
          <p:nvPr>
            <p:ph type="sldNum" sz="quarter" idx="5"/>
          </p:nvPr>
        </p:nvSpPr>
        <p:spPr/>
        <p:txBody>
          <a:bodyPr/>
          <a:lstStyle/>
          <a:p>
            <a:fld id="{2D127BCB-9534-0947-95A2-138BE5565305}" type="slidenum">
              <a:rPr lang="en-CN" smtClean="0"/>
              <a:t>3</a:t>
            </a:fld>
            <a:endParaRPr lang="en-CN"/>
          </a:p>
        </p:txBody>
      </p:sp>
    </p:spTree>
    <p:extLst>
      <p:ext uri="{BB962C8B-B14F-4D97-AF65-F5344CB8AC3E}">
        <p14:creationId xmlns:p14="http://schemas.microsoft.com/office/powerpoint/2010/main" val="2865002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3788" y="1143000"/>
            <a:ext cx="2130425" cy="3086100"/>
          </a:xfrm>
        </p:spPr>
      </p:sp>
      <p:sp>
        <p:nvSpPr>
          <p:cNvPr id="3" name="Notes Placeholder 2"/>
          <p:cNvSpPr>
            <a:spLocks noGrp="1"/>
          </p:cNvSpPr>
          <p:nvPr>
            <p:ph type="body" idx="1"/>
          </p:nvPr>
        </p:nvSpPr>
        <p:spPr/>
        <p:txBody>
          <a:bodyPr/>
          <a:lstStyle/>
          <a:p>
            <a:r>
              <a:rPr lang="en-CN" dirty="0"/>
              <a:t>B ----</a:t>
            </a:r>
            <a:r>
              <a:rPr lang="en-CN" dirty="0">
                <a:sym typeface="Wingdings" pitchFamily="2" charset="2"/>
              </a:rPr>
              <a:t> function1</a:t>
            </a:r>
          </a:p>
          <a:p>
            <a:endParaRPr lang="en-CN" dirty="0">
              <a:sym typeface="Wingdings" pitchFamily="2" charset="2"/>
            </a:endParaRPr>
          </a:p>
          <a:p>
            <a:endParaRPr lang="en-CN" dirty="0">
              <a:sym typeface="Wingdings" pitchFamily="2" charset="2"/>
            </a:endParaRPr>
          </a:p>
          <a:p>
            <a:endParaRPr lang="en-CN" dirty="0">
              <a:sym typeface="Wingdings" pitchFamily="2" charset="2"/>
            </a:endParaRPr>
          </a:p>
          <a:p>
            <a:r>
              <a:rPr lang="en-CN" dirty="0">
                <a:sym typeface="Wingdings" pitchFamily="2" charset="2"/>
              </a:rPr>
              <a:t>Library -&gt; function2</a:t>
            </a:r>
            <a:endParaRPr lang="en-CN" dirty="0"/>
          </a:p>
        </p:txBody>
      </p:sp>
      <p:sp>
        <p:nvSpPr>
          <p:cNvPr id="4" name="Slide Number Placeholder 3"/>
          <p:cNvSpPr>
            <a:spLocks noGrp="1"/>
          </p:cNvSpPr>
          <p:nvPr>
            <p:ph type="sldNum" sz="quarter" idx="5"/>
          </p:nvPr>
        </p:nvSpPr>
        <p:spPr/>
        <p:txBody>
          <a:bodyPr/>
          <a:lstStyle/>
          <a:p>
            <a:fld id="{2D127BCB-9534-0947-95A2-138BE5565305}" type="slidenum">
              <a:rPr lang="en-CN" smtClean="0"/>
              <a:t>4</a:t>
            </a:fld>
            <a:endParaRPr lang="en-CN"/>
          </a:p>
        </p:txBody>
      </p:sp>
    </p:spTree>
    <p:extLst>
      <p:ext uri="{BB962C8B-B14F-4D97-AF65-F5344CB8AC3E}">
        <p14:creationId xmlns:p14="http://schemas.microsoft.com/office/powerpoint/2010/main" val="3975565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3788" y="1143000"/>
            <a:ext cx="2130425" cy="3086100"/>
          </a:xfrm>
        </p:spPr>
      </p:sp>
      <p:sp>
        <p:nvSpPr>
          <p:cNvPr id="3" name="Notes Placeholder 2"/>
          <p:cNvSpPr>
            <a:spLocks noGrp="1"/>
          </p:cNvSpPr>
          <p:nvPr>
            <p:ph type="body" idx="1"/>
          </p:nvPr>
        </p:nvSpPr>
        <p:spPr/>
        <p:txBody>
          <a:bodyPr/>
          <a:lstStyle/>
          <a:p>
            <a:r>
              <a:rPr lang="en-CN" dirty="0"/>
              <a:t>B ----</a:t>
            </a:r>
            <a:r>
              <a:rPr lang="en-CN" dirty="0">
                <a:sym typeface="Wingdings" pitchFamily="2" charset="2"/>
              </a:rPr>
              <a:t> function1</a:t>
            </a:r>
          </a:p>
          <a:p>
            <a:endParaRPr lang="en-CN" dirty="0">
              <a:sym typeface="Wingdings" pitchFamily="2" charset="2"/>
            </a:endParaRPr>
          </a:p>
          <a:p>
            <a:endParaRPr lang="en-CN" dirty="0">
              <a:sym typeface="Wingdings" pitchFamily="2" charset="2"/>
            </a:endParaRPr>
          </a:p>
          <a:p>
            <a:endParaRPr lang="en-CN" dirty="0">
              <a:sym typeface="Wingdings" pitchFamily="2" charset="2"/>
            </a:endParaRPr>
          </a:p>
          <a:p>
            <a:r>
              <a:rPr lang="en-CN" dirty="0">
                <a:sym typeface="Wingdings" pitchFamily="2" charset="2"/>
              </a:rPr>
              <a:t>Library -&gt; function2</a:t>
            </a:r>
            <a:endParaRPr lang="en-CN" dirty="0"/>
          </a:p>
        </p:txBody>
      </p:sp>
      <p:sp>
        <p:nvSpPr>
          <p:cNvPr id="4" name="Slide Number Placeholder 3"/>
          <p:cNvSpPr>
            <a:spLocks noGrp="1"/>
          </p:cNvSpPr>
          <p:nvPr>
            <p:ph type="sldNum" sz="quarter" idx="5"/>
          </p:nvPr>
        </p:nvSpPr>
        <p:spPr/>
        <p:txBody>
          <a:bodyPr/>
          <a:lstStyle/>
          <a:p>
            <a:fld id="{2D127BCB-9534-0947-95A2-138BE5565305}" type="slidenum">
              <a:rPr lang="en-CN" smtClean="0"/>
              <a:t>5</a:t>
            </a:fld>
            <a:endParaRPr lang="en-CN"/>
          </a:p>
        </p:txBody>
      </p:sp>
    </p:spTree>
    <p:extLst>
      <p:ext uri="{BB962C8B-B14F-4D97-AF65-F5344CB8AC3E}">
        <p14:creationId xmlns:p14="http://schemas.microsoft.com/office/powerpoint/2010/main" val="276455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3788" y="1143000"/>
            <a:ext cx="2130425" cy="3086100"/>
          </a:xfrm>
        </p:spPr>
      </p:sp>
      <p:sp>
        <p:nvSpPr>
          <p:cNvPr id="3" name="Notes Placeholder 2"/>
          <p:cNvSpPr>
            <a:spLocks noGrp="1"/>
          </p:cNvSpPr>
          <p:nvPr>
            <p:ph type="body" idx="1"/>
          </p:nvPr>
        </p:nvSpPr>
        <p:spPr/>
        <p:txBody>
          <a:bodyPr/>
          <a:lstStyle/>
          <a:p>
            <a:r>
              <a:rPr lang="en-CN" dirty="0"/>
              <a:t>B ----</a:t>
            </a:r>
            <a:r>
              <a:rPr lang="en-CN" dirty="0">
                <a:sym typeface="Wingdings" pitchFamily="2" charset="2"/>
              </a:rPr>
              <a:t> function1</a:t>
            </a:r>
          </a:p>
          <a:p>
            <a:endParaRPr lang="en-CN" dirty="0">
              <a:sym typeface="Wingdings" pitchFamily="2" charset="2"/>
            </a:endParaRPr>
          </a:p>
          <a:p>
            <a:endParaRPr lang="en-CN" dirty="0">
              <a:sym typeface="Wingdings" pitchFamily="2" charset="2"/>
            </a:endParaRPr>
          </a:p>
          <a:p>
            <a:endParaRPr lang="en-CN" dirty="0">
              <a:sym typeface="Wingdings" pitchFamily="2" charset="2"/>
            </a:endParaRPr>
          </a:p>
          <a:p>
            <a:r>
              <a:rPr lang="en-CN" dirty="0">
                <a:sym typeface="Wingdings" pitchFamily="2" charset="2"/>
              </a:rPr>
              <a:t>Library -&gt; function2</a:t>
            </a:r>
            <a:endParaRPr lang="en-CN" dirty="0"/>
          </a:p>
        </p:txBody>
      </p:sp>
      <p:sp>
        <p:nvSpPr>
          <p:cNvPr id="4" name="Slide Number Placeholder 3"/>
          <p:cNvSpPr>
            <a:spLocks noGrp="1"/>
          </p:cNvSpPr>
          <p:nvPr>
            <p:ph type="sldNum" sz="quarter" idx="5"/>
          </p:nvPr>
        </p:nvSpPr>
        <p:spPr/>
        <p:txBody>
          <a:bodyPr/>
          <a:lstStyle/>
          <a:p>
            <a:fld id="{2D127BCB-9534-0947-95A2-138BE5565305}" type="slidenum">
              <a:rPr lang="en-CN" smtClean="0"/>
              <a:t>6</a:t>
            </a:fld>
            <a:endParaRPr lang="en-CN"/>
          </a:p>
        </p:txBody>
      </p:sp>
    </p:spTree>
    <p:extLst>
      <p:ext uri="{BB962C8B-B14F-4D97-AF65-F5344CB8AC3E}">
        <p14:creationId xmlns:p14="http://schemas.microsoft.com/office/powerpoint/2010/main" val="3501949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3788" y="1143000"/>
            <a:ext cx="2130425" cy="3086100"/>
          </a:xfrm>
        </p:spPr>
      </p:sp>
      <p:sp>
        <p:nvSpPr>
          <p:cNvPr id="3" name="Notes Placeholder 2"/>
          <p:cNvSpPr>
            <a:spLocks noGrp="1"/>
          </p:cNvSpPr>
          <p:nvPr>
            <p:ph type="body" idx="1"/>
          </p:nvPr>
        </p:nvSpPr>
        <p:spPr/>
        <p:txBody>
          <a:bodyPr/>
          <a:lstStyle/>
          <a:p>
            <a:r>
              <a:rPr lang="en-CN" dirty="0"/>
              <a:t>B ----</a:t>
            </a:r>
            <a:r>
              <a:rPr lang="en-CN" dirty="0">
                <a:sym typeface="Wingdings" pitchFamily="2" charset="2"/>
              </a:rPr>
              <a:t> function1</a:t>
            </a:r>
          </a:p>
          <a:p>
            <a:endParaRPr lang="en-CN" dirty="0">
              <a:sym typeface="Wingdings" pitchFamily="2" charset="2"/>
            </a:endParaRPr>
          </a:p>
          <a:p>
            <a:endParaRPr lang="en-CN" dirty="0">
              <a:sym typeface="Wingdings" pitchFamily="2" charset="2"/>
            </a:endParaRPr>
          </a:p>
          <a:p>
            <a:endParaRPr lang="en-CN" dirty="0">
              <a:sym typeface="Wingdings" pitchFamily="2" charset="2"/>
            </a:endParaRPr>
          </a:p>
          <a:p>
            <a:r>
              <a:rPr lang="en-CN" dirty="0">
                <a:sym typeface="Wingdings" pitchFamily="2" charset="2"/>
              </a:rPr>
              <a:t>Library -&gt; function2</a:t>
            </a:r>
            <a:endParaRPr lang="en-CN" dirty="0"/>
          </a:p>
        </p:txBody>
      </p:sp>
      <p:sp>
        <p:nvSpPr>
          <p:cNvPr id="4" name="Slide Number Placeholder 3"/>
          <p:cNvSpPr>
            <a:spLocks noGrp="1"/>
          </p:cNvSpPr>
          <p:nvPr>
            <p:ph type="sldNum" sz="quarter" idx="5"/>
          </p:nvPr>
        </p:nvSpPr>
        <p:spPr/>
        <p:txBody>
          <a:bodyPr/>
          <a:lstStyle/>
          <a:p>
            <a:fld id="{2D127BCB-9534-0947-95A2-138BE5565305}" type="slidenum">
              <a:rPr lang="en-CN" smtClean="0"/>
              <a:t>7</a:t>
            </a:fld>
            <a:endParaRPr lang="en-CN"/>
          </a:p>
        </p:txBody>
      </p:sp>
    </p:spTree>
    <p:extLst>
      <p:ext uri="{BB962C8B-B14F-4D97-AF65-F5344CB8AC3E}">
        <p14:creationId xmlns:p14="http://schemas.microsoft.com/office/powerpoint/2010/main" val="2880094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519" y="2889825"/>
            <a:ext cx="10364550" cy="6147517"/>
          </a:xfrm>
        </p:spPr>
        <p:txBody>
          <a:bodyPr anchor="b"/>
          <a:lstStyle>
            <a:lvl1pPr algn="ctr">
              <a:defRPr sz="8001"/>
            </a:lvl1pPr>
          </a:lstStyle>
          <a:p>
            <a:r>
              <a:rPr lang="en-US"/>
              <a:t>Click to edit Master title style</a:t>
            </a:r>
            <a:endParaRPr lang="en-US" dirty="0"/>
          </a:p>
        </p:txBody>
      </p:sp>
      <p:sp>
        <p:nvSpPr>
          <p:cNvPr id="3" name="Subtitle 2"/>
          <p:cNvSpPr>
            <a:spLocks noGrp="1"/>
          </p:cNvSpPr>
          <p:nvPr>
            <p:ph type="subTitle" idx="1"/>
          </p:nvPr>
        </p:nvSpPr>
        <p:spPr>
          <a:xfrm>
            <a:off x="1524199" y="9274414"/>
            <a:ext cx="9145191" cy="4263204"/>
          </a:xfrm>
        </p:spPr>
        <p:txBody>
          <a:bodyPr/>
          <a:lstStyle>
            <a:lvl1pPr marL="0" indent="0" algn="ctr">
              <a:buNone/>
              <a:defRPr sz="3200"/>
            </a:lvl1pPr>
            <a:lvl2pPr marL="609676" indent="0" algn="ctr">
              <a:buNone/>
              <a:defRPr sz="2667"/>
            </a:lvl2pPr>
            <a:lvl3pPr marL="1219352" indent="0" algn="ctr">
              <a:buNone/>
              <a:defRPr sz="2400"/>
            </a:lvl3pPr>
            <a:lvl4pPr marL="1829029" indent="0" algn="ctr">
              <a:buNone/>
              <a:defRPr sz="2134"/>
            </a:lvl4pPr>
            <a:lvl5pPr marL="2438705" indent="0" algn="ctr">
              <a:buNone/>
              <a:defRPr sz="2134"/>
            </a:lvl5pPr>
            <a:lvl6pPr marL="3048381" indent="0" algn="ctr">
              <a:buNone/>
              <a:defRPr sz="2134"/>
            </a:lvl6pPr>
            <a:lvl7pPr marL="3658057" indent="0" algn="ctr">
              <a:buNone/>
              <a:defRPr sz="2134"/>
            </a:lvl7pPr>
            <a:lvl8pPr marL="4267733" indent="0" algn="ctr">
              <a:buNone/>
              <a:defRPr sz="2134"/>
            </a:lvl8pPr>
            <a:lvl9pPr marL="4877410" indent="0" algn="ctr">
              <a:buNone/>
              <a:defRPr sz="213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9A057A-0BEA-48B2-A216-D46DB2C83327}" type="datetimeFigureOut">
              <a:rPr lang="zh-CN" altLang="en-US" smtClean="0"/>
              <a:t>2026/1/11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301191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9A057A-0BEA-48B2-A216-D46DB2C83327}" type="datetimeFigureOut">
              <a:rPr lang="zh-CN" altLang="en-US" smtClean="0"/>
              <a:t>2026/1/11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851644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959" y="4402183"/>
            <a:ext cx="10516970" cy="7345138"/>
          </a:xfrm>
        </p:spPr>
        <p:txBody>
          <a:bodyPr anchor="b"/>
          <a:lstStyle>
            <a:lvl1pPr>
              <a:defRPr sz="8001"/>
            </a:lvl1pPr>
          </a:lstStyle>
          <a:p>
            <a:r>
              <a:rPr lang="en-US"/>
              <a:t>Click to edit Master title style</a:t>
            </a:r>
            <a:endParaRPr lang="en-US" dirty="0"/>
          </a:p>
        </p:txBody>
      </p:sp>
      <p:sp>
        <p:nvSpPr>
          <p:cNvPr id="3" name="Text Placeholder 2"/>
          <p:cNvSpPr>
            <a:spLocks noGrp="1"/>
          </p:cNvSpPr>
          <p:nvPr>
            <p:ph type="body" idx="1"/>
          </p:nvPr>
        </p:nvSpPr>
        <p:spPr>
          <a:xfrm>
            <a:off x="831959" y="11816809"/>
            <a:ext cx="10516970" cy="3862634"/>
          </a:xfrm>
        </p:spPr>
        <p:txBody>
          <a:bodyPr/>
          <a:lstStyle>
            <a:lvl1pPr marL="0" indent="0">
              <a:buNone/>
              <a:defRPr sz="3200">
                <a:solidFill>
                  <a:schemeClr val="tx1"/>
                </a:solidFill>
              </a:defRPr>
            </a:lvl1pPr>
            <a:lvl2pPr marL="609676" indent="0">
              <a:buNone/>
              <a:defRPr sz="2667">
                <a:solidFill>
                  <a:schemeClr val="tx1">
                    <a:tint val="75000"/>
                  </a:schemeClr>
                </a:solidFill>
              </a:defRPr>
            </a:lvl2pPr>
            <a:lvl3pPr marL="1219352" indent="0">
              <a:buNone/>
              <a:defRPr sz="2400">
                <a:solidFill>
                  <a:schemeClr val="tx1">
                    <a:tint val="75000"/>
                  </a:schemeClr>
                </a:solidFill>
              </a:defRPr>
            </a:lvl3pPr>
            <a:lvl4pPr marL="1829029" indent="0">
              <a:buNone/>
              <a:defRPr sz="2134">
                <a:solidFill>
                  <a:schemeClr val="tx1">
                    <a:tint val="75000"/>
                  </a:schemeClr>
                </a:solidFill>
              </a:defRPr>
            </a:lvl4pPr>
            <a:lvl5pPr marL="2438705" indent="0">
              <a:buNone/>
              <a:defRPr sz="2134">
                <a:solidFill>
                  <a:schemeClr val="tx1">
                    <a:tint val="75000"/>
                  </a:schemeClr>
                </a:solidFill>
              </a:defRPr>
            </a:lvl5pPr>
            <a:lvl6pPr marL="3048381" indent="0">
              <a:buNone/>
              <a:defRPr sz="2134">
                <a:solidFill>
                  <a:schemeClr val="tx1">
                    <a:tint val="75000"/>
                  </a:schemeClr>
                </a:solidFill>
              </a:defRPr>
            </a:lvl6pPr>
            <a:lvl7pPr marL="3658057" indent="0">
              <a:buNone/>
              <a:defRPr sz="2134">
                <a:solidFill>
                  <a:schemeClr val="tx1">
                    <a:tint val="75000"/>
                  </a:schemeClr>
                </a:solidFill>
              </a:defRPr>
            </a:lvl7pPr>
            <a:lvl8pPr marL="4267733" indent="0">
              <a:buNone/>
              <a:defRPr sz="2134">
                <a:solidFill>
                  <a:schemeClr val="tx1">
                    <a:tint val="75000"/>
                  </a:schemeClr>
                </a:solidFill>
              </a:defRPr>
            </a:lvl8pPr>
            <a:lvl9pPr marL="4877410" indent="0">
              <a:buNone/>
              <a:defRPr sz="213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9A057A-0BEA-48B2-A216-D46DB2C83327}" type="datetimeFigureOut">
              <a:rPr lang="zh-CN" altLang="en-US" smtClean="0"/>
              <a:t>2026/1/11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739618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309" y="4700562"/>
            <a:ext cx="5182275" cy="11203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004" y="4700562"/>
            <a:ext cx="5182275" cy="11203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9A057A-0BEA-48B2-A216-D46DB2C83327}" type="datetimeFigureOut">
              <a:rPr lang="zh-CN" altLang="en-US" smtClean="0"/>
              <a:t>2026/1/11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3132768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897" y="940116"/>
            <a:ext cx="10516970" cy="3413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899" y="4328606"/>
            <a:ext cx="5158458" cy="2121383"/>
          </a:xfrm>
        </p:spPr>
        <p:txBody>
          <a:bodyPr anchor="b"/>
          <a:lstStyle>
            <a:lvl1pPr marL="0" indent="0">
              <a:buNone/>
              <a:defRPr sz="3200" b="1"/>
            </a:lvl1pPr>
            <a:lvl2pPr marL="609676" indent="0">
              <a:buNone/>
              <a:defRPr sz="2667" b="1"/>
            </a:lvl2pPr>
            <a:lvl3pPr marL="1219352" indent="0">
              <a:buNone/>
              <a:defRPr sz="2400" b="1"/>
            </a:lvl3pPr>
            <a:lvl4pPr marL="1829029" indent="0">
              <a:buNone/>
              <a:defRPr sz="2134" b="1"/>
            </a:lvl4pPr>
            <a:lvl5pPr marL="2438705" indent="0">
              <a:buNone/>
              <a:defRPr sz="2134" b="1"/>
            </a:lvl5pPr>
            <a:lvl6pPr marL="3048381" indent="0">
              <a:buNone/>
              <a:defRPr sz="2134" b="1"/>
            </a:lvl6pPr>
            <a:lvl7pPr marL="3658057" indent="0">
              <a:buNone/>
              <a:defRPr sz="2134" b="1"/>
            </a:lvl7pPr>
            <a:lvl8pPr marL="4267733" indent="0">
              <a:buNone/>
              <a:defRPr sz="2134" b="1"/>
            </a:lvl8pPr>
            <a:lvl9pPr marL="4877410" indent="0">
              <a:buNone/>
              <a:defRPr sz="2134" b="1"/>
            </a:lvl9pPr>
          </a:lstStyle>
          <a:p>
            <a:pPr lvl="0"/>
            <a:r>
              <a:rPr lang="en-US"/>
              <a:t>Click to edit Master text styles</a:t>
            </a:r>
          </a:p>
        </p:txBody>
      </p:sp>
      <p:sp>
        <p:nvSpPr>
          <p:cNvPr id="4" name="Content Placeholder 3"/>
          <p:cNvSpPr>
            <a:spLocks noGrp="1"/>
          </p:cNvSpPr>
          <p:nvPr>
            <p:ph sz="half" idx="2"/>
          </p:nvPr>
        </p:nvSpPr>
        <p:spPr>
          <a:xfrm>
            <a:off x="839899" y="6449989"/>
            <a:ext cx="5158458" cy="9486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3005" y="4328606"/>
            <a:ext cx="5183863" cy="2121383"/>
          </a:xfrm>
        </p:spPr>
        <p:txBody>
          <a:bodyPr anchor="b"/>
          <a:lstStyle>
            <a:lvl1pPr marL="0" indent="0">
              <a:buNone/>
              <a:defRPr sz="3200" b="1"/>
            </a:lvl1pPr>
            <a:lvl2pPr marL="609676" indent="0">
              <a:buNone/>
              <a:defRPr sz="2667" b="1"/>
            </a:lvl2pPr>
            <a:lvl3pPr marL="1219352" indent="0">
              <a:buNone/>
              <a:defRPr sz="2400" b="1"/>
            </a:lvl3pPr>
            <a:lvl4pPr marL="1829029" indent="0">
              <a:buNone/>
              <a:defRPr sz="2134" b="1"/>
            </a:lvl4pPr>
            <a:lvl5pPr marL="2438705" indent="0">
              <a:buNone/>
              <a:defRPr sz="2134" b="1"/>
            </a:lvl5pPr>
            <a:lvl6pPr marL="3048381" indent="0">
              <a:buNone/>
              <a:defRPr sz="2134" b="1"/>
            </a:lvl6pPr>
            <a:lvl7pPr marL="3658057" indent="0">
              <a:buNone/>
              <a:defRPr sz="2134" b="1"/>
            </a:lvl7pPr>
            <a:lvl8pPr marL="4267733" indent="0">
              <a:buNone/>
              <a:defRPr sz="2134" b="1"/>
            </a:lvl8pPr>
            <a:lvl9pPr marL="4877410" indent="0">
              <a:buNone/>
              <a:defRPr sz="2134" b="1"/>
            </a:lvl9pPr>
          </a:lstStyle>
          <a:p>
            <a:pPr lvl="0"/>
            <a:r>
              <a:rPr lang="en-US"/>
              <a:t>Click to edit Master text styles</a:t>
            </a:r>
          </a:p>
        </p:txBody>
      </p:sp>
      <p:sp>
        <p:nvSpPr>
          <p:cNvPr id="6" name="Content Placeholder 5"/>
          <p:cNvSpPr>
            <a:spLocks noGrp="1"/>
          </p:cNvSpPr>
          <p:nvPr>
            <p:ph sz="quarter" idx="4"/>
          </p:nvPr>
        </p:nvSpPr>
        <p:spPr>
          <a:xfrm>
            <a:off x="6173005" y="6449989"/>
            <a:ext cx="5183863" cy="9486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9A057A-0BEA-48B2-A216-D46DB2C83327}" type="datetimeFigureOut">
              <a:rPr lang="zh-CN" altLang="en-US" smtClean="0"/>
              <a:t>2026/1/11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3820130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9A057A-0BEA-48B2-A216-D46DB2C83327}" type="datetimeFigureOut">
              <a:rPr lang="zh-CN" altLang="en-US" smtClean="0"/>
              <a:t>2026/1/11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1077849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9A057A-0BEA-48B2-A216-D46DB2C83327}" type="datetimeFigureOut">
              <a:rPr lang="zh-CN" altLang="en-US" smtClean="0"/>
              <a:t>2026/1/11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3783106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1177184"/>
            <a:ext cx="3932750" cy="4120145"/>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863" y="2542395"/>
            <a:ext cx="6173004" cy="12548457"/>
          </a:xfrm>
        </p:spPr>
        <p:txBody>
          <a:bodyPr/>
          <a:lstStyle>
            <a:lvl1pPr>
              <a:defRPr sz="4267"/>
            </a:lvl1pPr>
            <a:lvl2pPr>
              <a:defRPr sz="3734"/>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897" y="5297329"/>
            <a:ext cx="3932750" cy="9813957"/>
          </a:xfrm>
        </p:spPr>
        <p:txBody>
          <a:bodyPr/>
          <a:lstStyle>
            <a:lvl1pPr marL="0" indent="0">
              <a:buNone/>
              <a:defRPr sz="2134"/>
            </a:lvl1pPr>
            <a:lvl2pPr marL="609676" indent="0">
              <a:buNone/>
              <a:defRPr sz="1867"/>
            </a:lvl2pPr>
            <a:lvl3pPr marL="1219352" indent="0">
              <a:buNone/>
              <a:defRPr sz="1600"/>
            </a:lvl3pPr>
            <a:lvl4pPr marL="1829029" indent="0">
              <a:buNone/>
              <a:defRPr sz="1334"/>
            </a:lvl4pPr>
            <a:lvl5pPr marL="2438705" indent="0">
              <a:buNone/>
              <a:defRPr sz="1334"/>
            </a:lvl5pPr>
            <a:lvl6pPr marL="3048381" indent="0">
              <a:buNone/>
              <a:defRPr sz="1334"/>
            </a:lvl6pPr>
            <a:lvl7pPr marL="3658057" indent="0">
              <a:buNone/>
              <a:defRPr sz="1334"/>
            </a:lvl7pPr>
            <a:lvl8pPr marL="4267733" indent="0">
              <a:buNone/>
              <a:defRPr sz="1334"/>
            </a:lvl8pPr>
            <a:lvl9pPr marL="4877410" indent="0">
              <a:buNone/>
              <a:defRPr sz="1334"/>
            </a:lvl9pPr>
          </a:lstStyle>
          <a:p>
            <a:pPr lvl="0"/>
            <a:r>
              <a:rPr lang="en-US"/>
              <a:t>Click to edit Master text styles</a:t>
            </a:r>
          </a:p>
        </p:txBody>
      </p:sp>
      <p:sp>
        <p:nvSpPr>
          <p:cNvPr id="5" name="Date Placeholder 4"/>
          <p:cNvSpPr>
            <a:spLocks noGrp="1"/>
          </p:cNvSpPr>
          <p:nvPr>
            <p:ph type="dt" sz="half" idx="10"/>
          </p:nvPr>
        </p:nvSpPr>
        <p:spPr/>
        <p:txBody>
          <a:bodyPr/>
          <a:lstStyle/>
          <a:p>
            <a:fld id="{F89A057A-0BEA-48B2-A216-D46DB2C83327}" type="datetimeFigureOut">
              <a:rPr lang="zh-CN" altLang="en-US" smtClean="0"/>
              <a:t>2026/1/11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306864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1177184"/>
            <a:ext cx="3932750" cy="4120145"/>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863" y="2542395"/>
            <a:ext cx="6173004" cy="12548457"/>
          </a:xfrm>
        </p:spPr>
        <p:txBody>
          <a:bodyPr anchor="t"/>
          <a:lstStyle>
            <a:lvl1pPr marL="0" indent="0">
              <a:buNone/>
              <a:defRPr sz="4267"/>
            </a:lvl1pPr>
            <a:lvl2pPr marL="609676" indent="0">
              <a:buNone/>
              <a:defRPr sz="3734"/>
            </a:lvl2pPr>
            <a:lvl3pPr marL="1219352" indent="0">
              <a:buNone/>
              <a:defRPr sz="3200"/>
            </a:lvl3pPr>
            <a:lvl4pPr marL="1829029" indent="0">
              <a:buNone/>
              <a:defRPr sz="2667"/>
            </a:lvl4pPr>
            <a:lvl5pPr marL="2438705" indent="0">
              <a:buNone/>
              <a:defRPr sz="2667"/>
            </a:lvl5pPr>
            <a:lvl6pPr marL="3048381" indent="0">
              <a:buNone/>
              <a:defRPr sz="2667"/>
            </a:lvl6pPr>
            <a:lvl7pPr marL="3658057" indent="0">
              <a:buNone/>
              <a:defRPr sz="2667"/>
            </a:lvl7pPr>
            <a:lvl8pPr marL="4267733" indent="0">
              <a:buNone/>
              <a:defRPr sz="2667"/>
            </a:lvl8pPr>
            <a:lvl9pPr marL="4877410"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839897" y="5297329"/>
            <a:ext cx="3932750" cy="9813957"/>
          </a:xfrm>
        </p:spPr>
        <p:txBody>
          <a:bodyPr/>
          <a:lstStyle>
            <a:lvl1pPr marL="0" indent="0">
              <a:buNone/>
              <a:defRPr sz="2134"/>
            </a:lvl1pPr>
            <a:lvl2pPr marL="609676" indent="0">
              <a:buNone/>
              <a:defRPr sz="1867"/>
            </a:lvl2pPr>
            <a:lvl3pPr marL="1219352" indent="0">
              <a:buNone/>
              <a:defRPr sz="1600"/>
            </a:lvl3pPr>
            <a:lvl4pPr marL="1829029" indent="0">
              <a:buNone/>
              <a:defRPr sz="1334"/>
            </a:lvl4pPr>
            <a:lvl5pPr marL="2438705" indent="0">
              <a:buNone/>
              <a:defRPr sz="1334"/>
            </a:lvl5pPr>
            <a:lvl6pPr marL="3048381" indent="0">
              <a:buNone/>
              <a:defRPr sz="1334"/>
            </a:lvl6pPr>
            <a:lvl7pPr marL="3658057" indent="0">
              <a:buNone/>
              <a:defRPr sz="1334"/>
            </a:lvl7pPr>
            <a:lvl8pPr marL="4267733" indent="0">
              <a:buNone/>
              <a:defRPr sz="1334"/>
            </a:lvl8pPr>
            <a:lvl9pPr marL="4877410" indent="0">
              <a:buNone/>
              <a:defRPr sz="1334"/>
            </a:lvl9pPr>
          </a:lstStyle>
          <a:p>
            <a:pPr lvl="0"/>
            <a:r>
              <a:rPr lang="en-US"/>
              <a:t>Click to edit Master text styles</a:t>
            </a:r>
          </a:p>
        </p:txBody>
      </p:sp>
      <p:sp>
        <p:nvSpPr>
          <p:cNvPr id="5" name="Date Placeholder 4"/>
          <p:cNvSpPr>
            <a:spLocks noGrp="1"/>
          </p:cNvSpPr>
          <p:nvPr>
            <p:ph type="dt" sz="half" idx="10"/>
          </p:nvPr>
        </p:nvSpPr>
        <p:spPr/>
        <p:txBody>
          <a:bodyPr/>
          <a:lstStyle/>
          <a:p>
            <a:fld id="{F89A057A-0BEA-48B2-A216-D46DB2C83327}" type="datetimeFigureOut">
              <a:rPr lang="zh-CN" altLang="en-US" smtClean="0"/>
              <a:t>2026/1/11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4025938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9A057A-0BEA-48B2-A216-D46DB2C83327}" type="datetimeFigureOut">
              <a:rPr lang="zh-CN" altLang="en-US" smtClean="0"/>
              <a:t>2026/1/11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431240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6037" y="940112"/>
            <a:ext cx="2629242" cy="149641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310" y="940112"/>
            <a:ext cx="7735307" cy="149641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9A057A-0BEA-48B2-A216-D46DB2C83327}" type="datetimeFigureOut">
              <a:rPr lang="zh-CN" altLang="en-US" smtClean="0"/>
              <a:t>2026/1/11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562239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309" y="940116"/>
            <a:ext cx="10516970" cy="3413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309" y="4700562"/>
            <a:ext cx="10516970" cy="112036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309" y="16366134"/>
            <a:ext cx="2743557" cy="940112"/>
          </a:xfrm>
          <a:prstGeom prst="rect">
            <a:avLst/>
          </a:prstGeom>
        </p:spPr>
        <p:txBody>
          <a:bodyPr vert="horz" lIns="91440" tIns="45720" rIns="91440" bIns="45720" rtlCol="0" anchor="ctr"/>
          <a:lstStyle>
            <a:lvl1pPr algn="l">
              <a:defRPr sz="1600">
                <a:solidFill>
                  <a:schemeClr val="tx1">
                    <a:tint val="75000"/>
                  </a:schemeClr>
                </a:solidFill>
              </a:defRPr>
            </a:lvl1pPr>
          </a:lstStyle>
          <a:p>
            <a:fld id="{F89A057A-0BEA-48B2-A216-D46DB2C83327}" type="datetimeFigureOut">
              <a:rPr lang="zh-CN" altLang="en-US" smtClean="0"/>
              <a:t>2026/1/11</a:t>
            </a:fld>
            <a:endParaRPr lang="zh-CN" altLang="en-US"/>
          </a:p>
        </p:txBody>
      </p:sp>
      <p:sp>
        <p:nvSpPr>
          <p:cNvPr id="5" name="Footer Placeholder 4"/>
          <p:cNvSpPr>
            <a:spLocks noGrp="1"/>
          </p:cNvSpPr>
          <p:nvPr>
            <p:ph type="ftr" sz="quarter" idx="3"/>
          </p:nvPr>
        </p:nvSpPr>
        <p:spPr>
          <a:xfrm>
            <a:off x="4039126" y="16366134"/>
            <a:ext cx="4115336" cy="940112"/>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1722" y="16366134"/>
            <a:ext cx="2743557" cy="940112"/>
          </a:xfrm>
          <a:prstGeom prst="rect">
            <a:avLst/>
          </a:prstGeom>
        </p:spPr>
        <p:txBody>
          <a:bodyPr vert="horz" lIns="91440" tIns="45720" rIns="91440" bIns="45720" rtlCol="0" anchor="ctr"/>
          <a:lstStyle>
            <a:lvl1pPr algn="r">
              <a:defRPr sz="1600">
                <a:solidFill>
                  <a:schemeClr val="tx1">
                    <a:tint val="75000"/>
                  </a:schemeClr>
                </a:solidFill>
              </a:defRPr>
            </a:lvl1pPr>
          </a:lstStyle>
          <a:p>
            <a:fld id="{872A00EC-D30B-43B9-91A6-73ACE3934DDE}" type="slidenum">
              <a:rPr lang="zh-CN" altLang="en-US" smtClean="0"/>
              <a:t>‹#›</a:t>
            </a:fld>
            <a:endParaRPr lang="zh-CN" altLang="en-US"/>
          </a:p>
        </p:txBody>
      </p:sp>
    </p:spTree>
    <p:extLst>
      <p:ext uri="{BB962C8B-B14F-4D97-AF65-F5344CB8AC3E}">
        <p14:creationId xmlns:p14="http://schemas.microsoft.com/office/powerpoint/2010/main" val="134798823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219352"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838" indent="-304838" algn="l" defTabSz="1219352" rtl="0" eaLnBrk="1" latinLnBrk="0" hangingPunct="1">
        <a:lnSpc>
          <a:spcPct val="90000"/>
        </a:lnSpc>
        <a:spcBef>
          <a:spcPts val="1334"/>
        </a:spcBef>
        <a:buFont typeface="Arial" panose="020B0604020202020204" pitchFamily="34" charset="0"/>
        <a:buChar char="•"/>
        <a:defRPr sz="3734" kern="1200">
          <a:solidFill>
            <a:schemeClr val="tx1"/>
          </a:solidFill>
          <a:latin typeface="+mn-lt"/>
          <a:ea typeface="+mn-ea"/>
          <a:cs typeface="+mn-cs"/>
        </a:defRPr>
      </a:lvl1pPr>
      <a:lvl2pPr marL="914514" indent="-304838" algn="l" defTabSz="1219352"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4191" indent="-304838" algn="l" defTabSz="1219352"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867" indent="-304838" algn="l" defTabSz="1219352"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543" indent="-304838" algn="l" defTabSz="1219352"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3219" indent="-304838" algn="l" defTabSz="1219352"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895" indent="-304838" algn="l" defTabSz="1219352"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2572" indent="-304838" algn="l" defTabSz="1219352"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2248" indent="-304838" algn="l" defTabSz="1219352"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352" rtl="0" eaLnBrk="1" latinLnBrk="0" hangingPunct="1">
        <a:defRPr sz="2400" kern="1200">
          <a:solidFill>
            <a:schemeClr val="tx1"/>
          </a:solidFill>
          <a:latin typeface="+mn-lt"/>
          <a:ea typeface="+mn-ea"/>
          <a:cs typeface="+mn-cs"/>
        </a:defRPr>
      </a:lvl1pPr>
      <a:lvl2pPr marL="609676" algn="l" defTabSz="1219352" rtl="0" eaLnBrk="1" latinLnBrk="0" hangingPunct="1">
        <a:defRPr sz="2400" kern="1200">
          <a:solidFill>
            <a:schemeClr val="tx1"/>
          </a:solidFill>
          <a:latin typeface="+mn-lt"/>
          <a:ea typeface="+mn-ea"/>
          <a:cs typeface="+mn-cs"/>
        </a:defRPr>
      </a:lvl2pPr>
      <a:lvl3pPr marL="1219352" algn="l" defTabSz="1219352" rtl="0" eaLnBrk="1" latinLnBrk="0" hangingPunct="1">
        <a:defRPr sz="2400" kern="1200">
          <a:solidFill>
            <a:schemeClr val="tx1"/>
          </a:solidFill>
          <a:latin typeface="+mn-lt"/>
          <a:ea typeface="+mn-ea"/>
          <a:cs typeface="+mn-cs"/>
        </a:defRPr>
      </a:lvl3pPr>
      <a:lvl4pPr marL="1829029" algn="l" defTabSz="1219352" rtl="0" eaLnBrk="1" latinLnBrk="0" hangingPunct="1">
        <a:defRPr sz="2400" kern="1200">
          <a:solidFill>
            <a:schemeClr val="tx1"/>
          </a:solidFill>
          <a:latin typeface="+mn-lt"/>
          <a:ea typeface="+mn-ea"/>
          <a:cs typeface="+mn-cs"/>
        </a:defRPr>
      </a:lvl4pPr>
      <a:lvl5pPr marL="2438705" algn="l" defTabSz="1219352" rtl="0" eaLnBrk="1" latinLnBrk="0" hangingPunct="1">
        <a:defRPr sz="2400" kern="1200">
          <a:solidFill>
            <a:schemeClr val="tx1"/>
          </a:solidFill>
          <a:latin typeface="+mn-lt"/>
          <a:ea typeface="+mn-ea"/>
          <a:cs typeface="+mn-cs"/>
        </a:defRPr>
      </a:lvl5pPr>
      <a:lvl6pPr marL="3048381" algn="l" defTabSz="1219352" rtl="0" eaLnBrk="1" latinLnBrk="0" hangingPunct="1">
        <a:defRPr sz="2400" kern="1200">
          <a:solidFill>
            <a:schemeClr val="tx1"/>
          </a:solidFill>
          <a:latin typeface="+mn-lt"/>
          <a:ea typeface="+mn-ea"/>
          <a:cs typeface="+mn-cs"/>
        </a:defRPr>
      </a:lvl6pPr>
      <a:lvl7pPr marL="3658057" algn="l" defTabSz="1219352" rtl="0" eaLnBrk="1" latinLnBrk="0" hangingPunct="1">
        <a:defRPr sz="2400" kern="1200">
          <a:solidFill>
            <a:schemeClr val="tx1"/>
          </a:solidFill>
          <a:latin typeface="+mn-lt"/>
          <a:ea typeface="+mn-ea"/>
          <a:cs typeface="+mn-cs"/>
        </a:defRPr>
      </a:lvl7pPr>
      <a:lvl8pPr marL="4267733" algn="l" defTabSz="1219352" rtl="0" eaLnBrk="1" latinLnBrk="0" hangingPunct="1">
        <a:defRPr sz="2400" kern="1200">
          <a:solidFill>
            <a:schemeClr val="tx1"/>
          </a:solidFill>
          <a:latin typeface="+mn-lt"/>
          <a:ea typeface="+mn-ea"/>
          <a:cs typeface="+mn-cs"/>
        </a:defRPr>
      </a:lvl8pPr>
      <a:lvl9pPr marL="4877410" algn="l" defTabSz="1219352"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49B800CD-0E78-DD96-D581-498DA522A032}"/>
              </a:ext>
            </a:extLst>
          </p:cNvPr>
          <p:cNvSpPr/>
          <p:nvPr/>
        </p:nvSpPr>
        <p:spPr>
          <a:xfrm>
            <a:off x="1850529" y="2040138"/>
            <a:ext cx="8676000" cy="4611034"/>
          </a:xfrm>
          <a:prstGeom prst="roundRect">
            <a:avLst>
              <a:gd name="adj" fmla="val 1126"/>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Neue" panose="02000503000000020004" pitchFamily="2" charset="0"/>
              <a:cs typeface="Helvetica Neue" panose="02000503000000020004" pitchFamily="2" charset="0"/>
            </a:endParaRPr>
          </a:p>
        </p:txBody>
      </p:sp>
      <p:sp>
        <p:nvSpPr>
          <p:cNvPr id="10" name="文本框 9">
            <a:extLst>
              <a:ext uri="{FF2B5EF4-FFF2-40B4-BE49-F238E27FC236}">
                <a16:creationId xmlns:a16="http://schemas.microsoft.com/office/drawing/2014/main" id="{D9E603FD-345D-6823-76D1-4D501E30BC83}"/>
              </a:ext>
            </a:extLst>
          </p:cNvPr>
          <p:cNvSpPr txBox="1"/>
          <p:nvPr/>
        </p:nvSpPr>
        <p:spPr>
          <a:xfrm>
            <a:off x="1850527" y="2005495"/>
            <a:ext cx="1616234" cy="369332"/>
          </a:xfrm>
          <a:prstGeom prst="rect">
            <a:avLst/>
          </a:prstGeom>
          <a:noFill/>
        </p:spPr>
        <p:txBody>
          <a:bodyPr wrap="square" rtlCol="0">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13" name="文本框 12">
            <a:extLst>
              <a:ext uri="{FF2B5EF4-FFF2-40B4-BE49-F238E27FC236}">
                <a16:creationId xmlns:a16="http://schemas.microsoft.com/office/drawing/2014/main" id="{101DB8EC-1EE5-75D8-F27A-77079187CF50}"/>
              </a:ext>
            </a:extLst>
          </p:cNvPr>
          <p:cNvSpPr txBox="1"/>
          <p:nvPr/>
        </p:nvSpPr>
        <p:spPr>
          <a:xfrm>
            <a:off x="1991994" y="3046993"/>
            <a:ext cx="5321499" cy="369332"/>
          </a:xfrm>
          <a:prstGeom prst="rect">
            <a:avLst/>
          </a:prstGeom>
          <a:noFill/>
        </p:spPr>
        <p:txBody>
          <a:bodyPr wrap="square">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30" name="矩形: 圆角 29">
            <a:extLst>
              <a:ext uri="{FF2B5EF4-FFF2-40B4-BE49-F238E27FC236}">
                <a16:creationId xmlns:a16="http://schemas.microsoft.com/office/drawing/2014/main" id="{7712BD60-F576-4AC3-DE59-20F75AB1B85A}"/>
              </a:ext>
            </a:extLst>
          </p:cNvPr>
          <p:cNvSpPr/>
          <p:nvPr/>
        </p:nvSpPr>
        <p:spPr>
          <a:xfrm>
            <a:off x="1839097" y="2029855"/>
            <a:ext cx="8676000" cy="309393"/>
          </a:xfrm>
          <a:prstGeom prst="roundRect">
            <a:avLst>
              <a:gd name="adj" fmla="val 3534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Prompt for Control Flow Graph Construction</a:t>
            </a:r>
          </a:p>
        </p:txBody>
      </p:sp>
      <p:sp>
        <p:nvSpPr>
          <p:cNvPr id="2" name="文本框 13">
            <a:extLst>
              <a:ext uri="{FF2B5EF4-FFF2-40B4-BE49-F238E27FC236}">
                <a16:creationId xmlns:a16="http://schemas.microsoft.com/office/drawing/2014/main" id="{5D7ED9CC-C2E1-6889-94F9-D85D828C0E3C}"/>
              </a:ext>
            </a:extLst>
          </p:cNvPr>
          <p:cNvSpPr txBox="1"/>
          <p:nvPr/>
        </p:nvSpPr>
        <p:spPr>
          <a:xfrm>
            <a:off x="1882675" y="2363047"/>
            <a:ext cx="8676000" cy="4146610"/>
          </a:xfrm>
          <a:prstGeom prst="rect">
            <a:avLst/>
          </a:prstGeom>
          <a:noFill/>
        </p:spPr>
        <p:txBody>
          <a:bodyPr wrap="square" rtlCol="0">
            <a:noAutofit/>
          </a:bodyPr>
          <a:lstStyle/>
          <a:p>
            <a:r>
              <a:rPr lang="en-GB" dirty="0"/>
              <a:t>You are a static program analysis engine tasked with constructing a Control Flow Graph (CFG) for the given Python source code. </a:t>
            </a:r>
          </a:p>
          <a:p>
            <a:r>
              <a:rPr lang="en-GB" b="1" dirty="0"/>
              <a:t>Requirements</a:t>
            </a:r>
          </a:p>
          <a:p>
            <a:pPr>
              <a:buFont typeface="+mj-lt"/>
              <a:buAutoNum type="arabicPeriod"/>
            </a:pPr>
            <a:r>
              <a:rPr lang="en-GB" b="1" dirty="0"/>
              <a:t> Nodes:</a:t>
            </a:r>
            <a:r>
              <a:rPr lang="en-GB" dirty="0"/>
              <a:t> Each node represents at most one statement or a expression-level execution unit, with a single entry point, and a single exit point. </a:t>
            </a:r>
          </a:p>
          <a:p>
            <a:r>
              <a:rPr lang="en-GB" b="1" dirty="0"/>
              <a:t>2. Edges: </a:t>
            </a:r>
            <a:r>
              <a:rPr lang="en-GB" dirty="0"/>
              <a:t>The directed edges represent possible control transfers between nodes. Explicitly label edges with conditions (e.g., if condition=True/False), and include fall-through edges, loop back-edges, exceptional edges.</a:t>
            </a:r>
          </a:p>
          <a:p>
            <a:r>
              <a:rPr lang="en-GB" b="1" dirty="0"/>
              <a:t>3. Language Constructs</a:t>
            </a:r>
            <a:r>
              <a:rPr lang="en-GB" dirty="0"/>
              <a:t>: The CFG construction should handle Python language constructs, including but not limited to conditionals, loops, function-level control flow, exception handling, and context managers. </a:t>
            </a:r>
          </a:p>
          <a:p>
            <a:r>
              <a:rPr lang="en-GB" b="1" dirty="0"/>
              <a:t>4. Entry and Exit Nodes. </a:t>
            </a:r>
            <a:r>
              <a:rPr lang="en-GB" dirty="0"/>
              <a:t>Create a single Entry node representing function start, and a single </a:t>
            </a:r>
            <a:r>
              <a:rPr lang="en-GB" b="1" dirty="0"/>
              <a:t>Exit</a:t>
            </a:r>
            <a:r>
              <a:rPr lang="en-GB" dirty="0"/>
              <a:t> node representing normal termination. All return statements must connect to the Exit node.</a:t>
            </a:r>
          </a:p>
          <a:p>
            <a:r>
              <a:rPr lang="en-GB" dirty="0"/>
              <a:t>Now you will be given input as a function, output the CFG in the following format:</a:t>
            </a:r>
          </a:p>
          <a:p>
            <a:r>
              <a:rPr lang="en-GB" dirty="0"/>
              <a:t>	</a:t>
            </a:r>
            <a:br>
              <a:rPr lang="en-GB" dirty="0"/>
            </a:br>
            <a:endParaRPr lang="en-GB" dirty="0"/>
          </a:p>
        </p:txBody>
      </p:sp>
    </p:spTree>
    <p:extLst>
      <p:ext uri="{BB962C8B-B14F-4D97-AF65-F5344CB8AC3E}">
        <p14:creationId xmlns:p14="http://schemas.microsoft.com/office/powerpoint/2010/main" val="1499774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49B800CD-0E78-DD96-D581-498DA522A032}"/>
              </a:ext>
            </a:extLst>
          </p:cNvPr>
          <p:cNvSpPr/>
          <p:nvPr/>
        </p:nvSpPr>
        <p:spPr>
          <a:xfrm>
            <a:off x="1850529" y="2040136"/>
            <a:ext cx="8676000" cy="4219150"/>
          </a:xfrm>
          <a:prstGeom prst="roundRect">
            <a:avLst>
              <a:gd name="adj" fmla="val 1126"/>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Neue" panose="02000503000000020004" pitchFamily="2" charset="0"/>
              <a:cs typeface="Helvetica Neue" panose="02000503000000020004" pitchFamily="2" charset="0"/>
            </a:endParaRPr>
          </a:p>
        </p:txBody>
      </p:sp>
      <p:sp>
        <p:nvSpPr>
          <p:cNvPr id="10" name="文本框 9">
            <a:extLst>
              <a:ext uri="{FF2B5EF4-FFF2-40B4-BE49-F238E27FC236}">
                <a16:creationId xmlns:a16="http://schemas.microsoft.com/office/drawing/2014/main" id="{D9E603FD-345D-6823-76D1-4D501E30BC83}"/>
              </a:ext>
            </a:extLst>
          </p:cNvPr>
          <p:cNvSpPr txBox="1"/>
          <p:nvPr/>
        </p:nvSpPr>
        <p:spPr>
          <a:xfrm>
            <a:off x="1850527" y="2005495"/>
            <a:ext cx="1616234" cy="369332"/>
          </a:xfrm>
          <a:prstGeom prst="rect">
            <a:avLst/>
          </a:prstGeom>
          <a:noFill/>
        </p:spPr>
        <p:txBody>
          <a:bodyPr wrap="square" rtlCol="0">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13" name="文本框 12">
            <a:extLst>
              <a:ext uri="{FF2B5EF4-FFF2-40B4-BE49-F238E27FC236}">
                <a16:creationId xmlns:a16="http://schemas.microsoft.com/office/drawing/2014/main" id="{101DB8EC-1EE5-75D8-F27A-77079187CF50}"/>
              </a:ext>
            </a:extLst>
          </p:cNvPr>
          <p:cNvSpPr txBox="1"/>
          <p:nvPr/>
        </p:nvSpPr>
        <p:spPr>
          <a:xfrm>
            <a:off x="1991994" y="3046993"/>
            <a:ext cx="5321499" cy="369332"/>
          </a:xfrm>
          <a:prstGeom prst="rect">
            <a:avLst/>
          </a:prstGeom>
          <a:noFill/>
        </p:spPr>
        <p:txBody>
          <a:bodyPr wrap="square">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30" name="矩形: 圆角 29">
            <a:extLst>
              <a:ext uri="{FF2B5EF4-FFF2-40B4-BE49-F238E27FC236}">
                <a16:creationId xmlns:a16="http://schemas.microsoft.com/office/drawing/2014/main" id="{7712BD60-F576-4AC3-DE59-20F75AB1B85A}"/>
              </a:ext>
            </a:extLst>
          </p:cNvPr>
          <p:cNvSpPr/>
          <p:nvPr/>
        </p:nvSpPr>
        <p:spPr>
          <a:xfrm>
            <a:off x="1839097" y="2029855"/>
            <a:ext cx="8676000" cy="309393"/>
          </a:xfrm>
          <a:prstGeom prst="roundRect">
            <a:avLst>
              <a:gd name="adj" fmla="val 3534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Prompt for Source-Sink Labeling</a:t>
            </a:r>
          </a:p>
        </p:txBody>
      </p:sp>
      <p:sp>
        <p:nvSpPr>
          <p:cNvPr id="3" name="文本框 13">
            <a:extLst>
              <a:ext uri="{FF2B5EF4-FFF2-40B4-BE49-F238E27FC236}">
                <a16:creationId xmlns:a16="http://schemas.microsoft.com/office/drawing/2014/main" id="{CB2D0DA2-1505-990E-D626-8067D361E7A9}"/>
              </a:ext>
            </a:extLst>
          </p:cNvPr>
          <p:cNvSpPr txBox="1"/>
          <p:nvPr/>
        </p:nvSpPr>
        <p:spPr>
          <a:xfrm>
            <a:off x="1850529" y="2343823"/>
            <a:ext cx="8664568" cy="3915463"/>
          </a:xfrm>
          <a:prstGeom prst="rect">
            <a:avLst/>
          </a:prstGeom>
          <a:noFill/>
        </p:spPr>
        <p:txBody>
          <a:bodyPr wrap="square" rtlCol="0">
            <a:noAutofit/>
          </a:bodyPr>
          <a:lstStyle/>
          <a:p>
            <a:r>
              <a:rPr lang="en-GB" dirty="0"/>
              <a:t>You are an expert Python developer with expertise in control-flow analysis. You will be provided with a Control Flow Graph (CFG) constructed from a Python function. Your task is to traverse the CFG from the Entry node and identify source and sink nodes according to the definitions below.</a:t>
            </a:r>
          </a:p>
          <a:p>
            <a:r>
              <a:rPr lang="en-GB" dirty="0"/>
              <a:t>The </a:t>
            </a:r>
            <a:r>
              <a:rPr lang="en-GB" dirty="0" err="1"/>
              <a:t>analyzed</a:t>
            </a:r>
            <a:r>
              <a:rPr lang="en-GB" dirty="0"/>
              <a:t> function has the following signature: </a:t>
            </a:r>
            <a:r>
              <a:rPr lang="en-GB" i="1" dirty="0"/>
              <a:t>Foo(bar)</a:t>
            </a:r>
          </a:p>
          <a:p>
            <a:r>
              <a:rPr lang="en-GB" dirty="0"/>
              <a:t>A source is the first CFG node along its path that references one of its function parameters. </a:t>
            </a:r>
          </a:p>
          <a:p>
            <a:r>
              <a:rPr lang="en-GB" dirty="0"/>
              <a:t>A sink can either be:</a:t>
            </a:r>
          </a:p>
          <a:p>
            <a:pPr>
              <a:buFont typeface="+mj-lt"/>
              <a:buAutoNum type="arabicPeriod"/>
            </a:pPr>
            <a:r>
              <a:rPr lang="en-GB" dirty="0"/>
              <a:t> The predecessor of the exit node. E.g., a node that contains a return statement.</a:t>
            </a:r>
          </a:p>
          <a:p>
            <a:pPr>
              <a:buFont typeface="+mj-lt"/>
              <a:buAutoNum type="arabicPeriod"/>
            </a:pPr>
            <a:r>
              <a:rPr lang="en-GB" dirty="0"/>
              <a:t> The CFG node along its path that performs a last assignment to a global variable or a class attribute.</a:t>
            </a:r>
          </a:p>
          <a:p>
            <a:pPr>
              <a:buFont typeface="+mj-lt"/>
              <a:buAutoNum type="arabicPeriod"/>
            </a:pPr>
            <a:r>
              <a:rPr lang="en-GB" dirty="0"/>
              <a:t> A node that contains a raise statement.</a:t>
            </a:r>
          </a:p>
          <a:p>
            <a:r>
              <a:rPr lang="en-GB" dirty="0"/>
              <a:t>The CFG is given as follows:</a:t>
            </a:r>
          </a:p>
          <a:p>
            <a:r>
              <a:rPr lang="en-GB" dirty="0"/>
              <a:t># CFG CONTENT</a:t>
            </a:r>
          </a:p>
          <a:p>
            <a:r>
              <a:rPr lang="en-GB" dirty="0"/>
              <a:t>Output the source/sink node in the following format:</a:t>
            </a:r>
          </a:p>
        </p:txBody>
      </p:sp>
    </p:spTree>
    <p:extLst>
      <p:ext uri="{BB962C8B-B14F-4D97-AF65-F5344CB8AC3E}">
        <p14:creationId xmlns:p14="http://schemas.microsoft.com/office/powerpoint/2010/main" val="2589439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49B800CD-0E78-DD96-D581-498DA522A032}"/>
              </a:ext>
            </a:extLst>
          </p:cNvPr>
          <p:cNvSpPr/>
          <p:nvPr/>
        </p:nvSpPr>
        <p:spPr>
          <a:xfrm>
            <a:off x="1850529" y="2040137"/>
            <a:ext cx="8676000" cy="1998463"/>
          </a:xfrm>
          <a:prstGeom prst="roundRect">
            <a:avLst>
              <a:gd name="adj" fmla="val 1126"/>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Neue" panose="02000503000000020004" pitchFamily="2" charset="0"/>
              <a:cs typeface="Helvetica Neue" panose="02000503000000020004" pitchFamily="2" charset="0"/>
            </a:endParaRPr>
          </a:p>
        </p:txBody>
      </p:sp>
      <p:sp>
        <p:nvSpPr>
          <p:cNvPr id="10" name="文本框 9">
            <a:extLst>
              <a:ext uri="{FF2B5EF4-FFF2-40B4-BE49-F238E27FC236}">
                <a16:creationId xmlns:a16="http://schemas.microsoft.com/office/drawing/2014/main" id="{D9E603FD-345D-6823-76D1-4D501E30BC83}"/>
              </a:ext>
            </a:extLst>
          </p:cNvPr>
          <p:cNvSpPr txBox="1"/>
          <p:nvPr/>
        </p:nvSpPr>
        <p:spPr>
          <a:xfrm>
            <a:off x="1850527" y="2005495"/>
            <a:ext cx="1616234" cy="369332"/>
          </a:xfrm>
          <a:prstGeom prst="rect">
            <a:avLst/>
          </a:prstGeom>
          <a:noFill/>
        </p:spPr>
        <p:txBody>
          <a:bodyPr wrap="square" rtlCol="0">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13" name="文本框 12">
            <a:extLst>
              <a:ext uri="{FF2B5EF4-FFF2-40B4-BE49-F238E27FC236}">
                <a16:creationId xmlns:a16="http://schemas.microsoft.com/office/drawing/2014/main" id="{101DB8EC-1EE5-75D8-F27A-77079187CF50}"/>
              </a:ext>
            </a:extLst>
          </p:cNvPr>
          <p:cNvSpPr txBox="1"/>
          <p:nvPr/>
        </p:nvSpPr>
        <p:spPr>
          <a:xfrm>
            <a:off x="1991994" y="3046993"/>
            <a:ext cx="5321499" cy="369332"/>
          </a:xfrm>
          <a:prstGeom prst="rect">
            <a:avLst/>
          </a:prstGeom>
          <a:noFill/>
        </p:spPr>
        <p:txBody>
          <a:bodyPr wrap="square">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30" name="矩形: 圆角 29">
            <a:extLst>
              <a:ext uri="{FF2B5EF4-FFF2-40B4-BE49-F238E27FC236}">
                <a16:creationId xmlns:a16="http://schemas.microsoft.com/office/drawing/2014/main" id="{7712BD60-F576-4AC3-DE59-20F75AB1B85A}"/>
              </a:ext>
            </a:extLst>
          </p:cNvPr>
          <p:cNvSpPr/>
          <p:nvPr/>
        </p:nvSpPr>
        <p:spPr>
          <a:xfrm>
            <a:off x="1839097" y="2029855"/>
            <a:ext cx="8676000" cy="309393"/>
          </a:xfrm>
          <a:prstGeom prst="roundRect">
            <a:avLst>
              <a:gd name="adj" fmla="val 3534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Prompt for Graph Traversing</a:t>
            </a:r>
          </a:p>
        </p:txBody>
      </p:sp>
      <p:sp>
        <p:nvSpPr>
          <p:cNvPr id="3" name="文本框 13">
            <a:extLst>
              <a:ext uri="{FF2B5EF4-FFF2-40B4-BE49-F238E27FC236}">
                <a16:creationId xmlns:a16="http://schemas.microsoft.com/office/drawing/2014/main" id="{84D05AF5-12B5-F94C-15D0-6C552FAB4CD9}"/>
              </a:ext>
            </a:extLst>
          </p:cNvPr>
          <p:cNvSpPr txBox="1"/>
          <p:nvPr/>
        </p:nvSpPr>
        <p:spPr>
          <a:xfrm>
            <a:off x="1850529" y="2343823"/>
            <a:ext cx="8664568" cy="1694777"/>
          </a:xfrm>
          <a:prstGeom prst="rect">
            <a:avLst/>
          </a:prstGeom>
          <a:noFill/>
        </p:spPr>
        <p:txBody>
          <a:bodyPr wrap="square" rtlCol="0">
            <a:noAutofit/>
          </a:bodyPr>
          <a:lstStyle/>
          <a:p>
            <a:r>
              <a:rPr lang="en-GB" dirty="0"/>
              <a:t>You are an expert Python developer with expertise in control-flow analysis. You will be provided with a Control Flow Graph (CFG) and identified source and sink nodes. Your task is to traverse the CFG from the source and sink nodes and identify source-sink paths. The </a:t>
            </a:r>
            <a:r>
              <a:rPr lang="en-GB" dirty="0" err="1"/>
              <a:t>analyzed</a:t>
            </a:r>
            <a:r>
              <a:rPr lang="en-GB" dirty="0"/>
              <a:t> function has the following signature: </a:t>
            </a:r>
            <a:r>
              <a:rPr lang="en-GB" i="1" dirty="0"/>
              <a:t>Foo(bar). </a:t>
            </a:r>
            <a:r>
              <a:rPr lang="en-GB" dirty="0"/>
              <a:t>The CFG is given as follows: # CFG CONTENT. The source and sink nodes are: # SOURCE and SINK nodes. Now you will output the source-sink paths in the following format:</a:t>
            </a:r>
          </a:p>
        </p:txBody>
      </p:sp>
    </p:spTree>
    <p:extLst>
      <p:ext uri="{BB962C8B-B14F-4D97-AF65-F5344CB8AC3E}">
        <p14:creationId xmlns:p14="http://schemas.microsoft.com/office/powerpoint/2010/main" val="539131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49B800CD-0E78-DD96-D581-498DA522A032}"/>
              </a:ext>
            </a:extLst>
          </p:cNvPr>
          <p:cNvSpPr/>
          <p:nvPr/>
        </p:nvSpPr>
        <p:spPr>
          <a:xfrm>
            <a:off x="1770226" y="216012"/>
            <a:ext cx="8676000" cy="14640020"/>
          </a:xfrm>
          <a:prstGeom prst="roundRect">
            <a:avLst>
              <a:gd name="adj" fmla="val 1126"/>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Neue" panose="02000503000000020004" pitchFamily="2" charset="0"/>
              <a:cs typeface="Helvetica Neue" panose="02000503000000020004" pitchFamily="2" charset="0"/>
            </a:endParaRPr>
          </a:p>
        </p:txBody>
      </p:sp>
      <p:sp>
        <p:nvSpPr>
          <p:cNvPr id="10" name="文本框 9">
            <a:extLst>
              <a:ext uri="{FF2B5EF4-FFF2-40B4-BE49-F238E27FC236}">
                <a16:creationId xmlns:a16="http://schemas.microsoft.com/office/drawing/2014/main" id="{D9E603FD-345D-6823-76D1-4D501E30BC83}"/>
              </a:ext>
            </a:extLst>
          </p:cNvPr>
          <p:cNvSpPr txBox="1"/>
          <p:nvPr/>
        </p:nvSpPr>
        <p:spPr>
          <a:xfrm>
            <a:off x="1770224" y="181370"/>
            <a:ext cx="1616234" cy="369332"/>
          </a:xfrm>
          <a:prstGeom prst="rect">
            <a:avLst/>
          </a:prstGeom>
          <a:noFill/>
        </p:spPr>
        <p:txBody>
          <a:bodyPr wrap="square" rtlCol="0">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13" name="文本框 12">
            <a:extLst>
              <a:ext uri="{FF2B5EF4-FFF2-40B4-BE49-F238E27FC236}">
                <a16:creationId xmlns:a16="http://schemas.microsoft.com/office/drawing/2014/main" id="{101DB8EC-1EE5-75D8-F27A-77079187CF50}"/>
              </a:ext>
            </a:extLst>
          </p:cNvPr>
          <p:cNvSpPr txBox="1"/>
          <p:nvPr/>
        </p:nvSpPr>
        <p:spPr>
          <a:xfrm>
            <a:off x="1911691" y="1222868"/>
            <a:ext cx="5321499" cy="369332"/>
          </a:xfrm>
          <a:prstGeom prst="rect">
            <a:avLst/>
          </a:prstGeom>
          <a:noFill/>
        </p:spPr>
        <p:txBody>
          <a:bodyPr wrap="square">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30" name="矩形: 圆角 29">
            <a:extLst>
              <a:ext uri="{FF2B5EF4-FFF2-40B4-BE49-F238E27FC236}">
                <a16:creationId xmlns:a16="http://schemas.microsoft.com/office/drawing/2014/main" id="{7712BD60-F576-4AC3-DE59-20F75AB1B85A}"/>
              </a:ext>
            </a:extLst>
          </p:cNvPr>
          <p:cNvSpPr/>
          <p:nvPr/>
        </p:nvSpPr>
        <p:spPr>
          <a:xfrm>
            <a:off x="1758794" y="205730"/>
            <a:ext cx="8676000" cy="309393"/>
          </a:xfrm>
          <a:prstGeom prst="roundRect">
            <a:avLst>
              <a:gd name="adj" fmla="val 3534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Prompt for Incompatibility Analysis</a:t>
            </a:r>
          </a:p>
        </p:txBody>
      </p:sp>
      <p:sp>
        <p:nvSpPr>
          <p:cNvPr id="5" name="文本框 13">
            <a:extLst>
              <a:ext uri="{FF2B5EF4-FFF2-40B4-BE49-F238E27FC236}">
                <a16:creationId xmlns:a16="http://schemas.microsoft.com/office/drawing/2014/main" id="{B827C215-FDB3-41E0-0CA7-2E7CC9FDD2A8}"/>
              </a:ext>
            </a:extLst>
          </p:cNvPr>
          <p:cNvSpPr txBox="1"/>
          <p:nvPr/>
        </p:nvSpPr>
        <p:spPr>
          <a:xfrm>
            <a:off x="1834015" y="560985"/>
            <a:ext cx="8664568" cy="14295046"/>
          </a:xfrm>
          <a:prstGeom prst="rect">
            <a:avLst/>
          </a:prstGeom>
          <a:noFill/>
        </p:spPr>
        <p:txBody>
          <a:bodyPr wrap="square" rtlCol="0">
            <a:noAutofit/>
          </a:bodyPr>
          <a:lstStyle/>
          <a:p>
            <a:r>
              <a:rPr lang="en-GB" dirty="0"/>
              <a:t>You are an expert Python developer with expertise in control-flow analysis. You will be provided with a Control Flow Graph (CFG) and identified source-sink paths of two Python API versions (</a:t>
            </a:r>
            <a:r>
              <a:rPr lang="en-GB" dirty="0" err="1"/>
              <a:t>API_b</a:t>
            </a:r>
            <a:r>
              <a:rPr lang="en-GB" dirty="0"/>
              <a:t> and </a:t>
            </a:r>
            <a:r>
              <a:rPr lang="en-GB" dirty="0" err="1"/>
              <a:t>API_a</a:t>
            </a:r>
            <a:r>
              <a:rPr lang="en-GB" dirty="0"/>
              <a:t>). Your task is to traverse the CFG paths and </a:t>
            </a:r>
            <a:r>
              <a:rPr lang="en-GB" dirty="0" err="1"/>
              <a:t>analyze</a:t>
            </a:r>
            <a:r>
              <a:rPr lang="en-GB" dirty="0"/>
              <a:t> the incompatibilities between the two versions. Follow the detection logic step-by-step: </a:t>
            </a:r>
          </a:p>
          <a:p>
            <a:pPr marL="342900" indent="-342900">
              <a:buAutoNum type="arabicPeriod"/>
            </a:pPr>
            <a:r>
              <a:rPr lang="en-GB" b="1" dirty="0"/>
              <a:t>Parameter Incompatibilities</a:t>
            </a:r>
          </a:p>
          <a:p>
            <a:r>
              <a:rPr lang="en-GB" dirty="0"/>
              <a:t>	Group the source–sink paths by parameter (source) name in the form &lt;source, &lt;source–sink path&gt;&gt;. Then perform: </a:t>
            </a:r>
            <a:r>
              <a:rPr lang="en-GB" i="1" u="sng" dirty="0"/>
              <a:t>(1) Default Parameter Value Change Analysis (CI4).</a:t>
            </a:r>
            <a:r>
              <a:rPr lang="en-GB" i="1" dirty="0"/>
              <a:t> </a:t>
            </a:r>
            <a:r>
              <a:rPr lang="en-GB" dirty="0"/>
              <a:t>Compare the parameter (source) names between </a:t>
            </a:r>
            <a:r>
              <a:rPr lang="en-GB" dirty="0" err="1"/>
              <a:t>API_b</a:t>
            </a:r>
            <a:r>
              <a:rPr lang="en-GB" dirty="0"/>
              <a:t> and </a:t>
            </a:r>
            <a:r>
              <a:rPr lang="en-GB" dirty="0" err="1"/>
              <a:t>API_a</a:t>
            </a:r>
            <a:r>
              <a:rPr lang="en-GB" dirty="0"/>
              <a:t>. For parameters that exist in both versions, identify the parameter default value change (CI4) if the parameter has the same name but different default values across the two versions. </a:t>
            </a:r>
            <a:r>
              <a:rPr lang="en-GB" i="1" u="sng" dirty="0"/>
              <a:t>(2) Parameter Addition, Deletion and Rename Analysis (CI1, CI3). </a:t>
            </a:r>
            <a:r>
              <a:rPr lang="en-GB" dirty="0"/>
              <a:t>Identify parameters that are added in </a:t>
            </a:r>
            <a:r>
              <a:rPr lang="en-GB" dirty="0" err="1"/>
              <a:t>API_a</a:t>
            </a:r>
            <a:r>
              <a:rPr lang="en-GB" dirty="0"/>
              <a:t> or deleted from </a:t>
            </a:r>
            <a:r>
              <a:rPr lang="en-GB" dirty="0" err="1"/>
              <a:t>API_b</a:t>
            </a:r>
            <a:r>
              <a:rPr lang="en-GB" dirty="0"/>
              <a:t>. For each added parameter in </a:t>
            </a:r>
            <a:r>
              <a:rPr lang="en-GB" dirty="0" err="1"/>
              <a:t>API_a</a:t>
            </a:r>
            <a:r>
              <a:rPr lang="en-GB" dirty="0"/>
              <a:t>, compare it against each deleted parameter from </a:t>
            </a:r>
            <a:r>
              <a:rPr lang="en-GB" dirty="0" err="1"/>
              <a:t>API_b</a:t>
            </a:r>
            <a:r>
              <a:rPr lang="en-GB" dirty="0"/>
              <a:t> by comparing their source–sink paths: If the source–sink paths are semantically similar, identify the change as a Parameter Rename (CI3); Otherwise</a:t>
            </a:r>
            <a:r>
              <a:rPr lang="en-US" dirty="0"/>
              <a:t> and the added parameter is not an optional parameter</a:t>
            </a:r>
            <a:r>
              <a:rPr lang="en-GB" dirty="0"/>
              <a:t>, classify the change as a Parameter Addition (CI1). </a:t>
            </a:r>
            <a:r>
              <a:rPr lang="en-US" dirty="0"/>
              <a:t>The source-sink paths are semantically similar if the statements within the paths exhibit semantic equivalence. The same applies to </a:t>
            </a:r>
            <a:r>
              <a:rPr lang="en-US" dirty="0" err="1"/>
              <a:t>API_b</a:t>
            </a:r>
            <a:r>
              <a:rPr lang="en-US" dirty="0"/>
              <a:t>. </a:t>
            </a:r>
            <a:r>
              <a:rPr lang="en-US" altLang="zh-CN" i="1" u="sng" dirty="0"/>
              <a:t>(3) </a:t>
            </a:r>
            <a:r>
              <a:rPr lang="en-US" altLang="zh-CN" i="1" u="sng" dirty="0" err="1"/>
              <a:t>Kwargs</a:t>
            </a:r>
            <a:r>
              <a:rPr lang="en-US" altLang="zh-CN" i="1" u="sng" dirty="0"/>
              <a:t> Key Addition, Deletion Analysis (CI2). </a:t>
            </a:r>
            <a:r>
              <a:rPr lang="en-US" altLang="zh-CN" i="1" dirty="0"/>
              <a:t>E</a:t>
            </a:r>
            <a:r>
              <a:rPr lang="en-US" altLang="zh-CN" dirty="0"/>
              <a:t>xtract the keys accessed along their source–sink paths in both </a:t>
            </a:r>
            <a:r>
              <a:rPr lang="en-US" altLang="zh-CN" dirty="0" err="1"/>
              <a:t>API_b</a:t>
            </a:r>
            <a:r>
              <a:rPr lang="en-US" altLang="zh-CN" dirty="0"/>
              <a:t> and </a:t>
            </a:r>
            <a:r>
              <a:rPr lang="en-US" altLang="zh-CN" dirty="0" err="1"/>
              <a:t>API_a</a:t>
            </a:r>
            <a:r>
              <a:rPr lang="en-US" altLang="zh-CN" dirty="0"/>
              <a:t> (e.g., via </a:t>
            </a:r>
            <a:r>
              <a:rPr lang="en-US" altLang="zh-CN" dirty="0" err="1"/>
              <a:t>kwargs.get</a:t>
            </a:r>
            <a:r>
              <a:rPr lang="en-US" altLang="zh-CN" dirty="0"/>
              <a:t>(key) or </a:t>
            </a:r>
            <a:r>
              <a:rPr lang="en-US" altLang="zh-CN" dirty="0" err="1"/>
              <a:t>kwargs</a:t>
            </a:r>
            <a:r>
              <a:rPr lang="en-US" altLang="zh-CN" dirty="0"/>
              <a:t>[key]). If the accessed keys differ between the two versions, identify it as a </a:t>
            </a:r>
            <a:r>
              <a:rPr lang="en-US" altLang="zh-CN" dirty="0" err="1"/>
              <a:t>Kwargs</a:t>
            </a:r>
            <a:r>
              <a:rPr lang="en-US" altLang="zh-CN" dirty="0"/>
              <a:t> Key Addition/Deletion (CI2).</a:t>
            </a:r>
            <a:endParaRPr lang="en-US" altLang="zh-CN" dirty="0">
              <a:solidFill>
                <a:srgbClr val="FF0000"/>
              </a:solidFill>
              <a:latin typeface="Helvetica Neue" panose="02000503000000020004" pitchFamily="2" charset="0"/>
            </a:endParaRPr>
          </a:p>
          <a:p>
            <a:r>
              <a:rPr lang="en-US" altLang="zh-CN" b="1" dirty="0"/>
              <a:t>2. Exceptions </a:t>
            </a:r>
            <a:r>
              <a:rPr lang="en-GB" b="1" dirty="0"/>
              <a:t>Incompatibilities</a:t>
            </a:r>
            <a:endParaRPr lang="en-US" altLang="zh-CN" b="1" dirty="0"/>
          </a:p>
          <a:p>
            <a:r>
              <a:rPr lang="en-GB" dirty="0"/>
              <a:t>	Select the source–sink paths whose </a:t>
            </a:r>
            <a:r>
              <a:rPr lang="en-GB" dirty="0" err="1"/>
              <a:t>sink_type</a:t>
            </a:r>
            <a:r>
              <a:rPr lang="en-GB" dirty="0"/>
              <a:t> is raise, and group them by exception (sink) name in the form &lt;sink, &lt;source–sink path&gt;&gt;. Then perform: </a:t>
            </a:r>
            <a:r>
              <a:rPr lang="en-GB" i="1" u="sng" dirty="0"/>
              <a:t>(1) Exception Addition or Deletion (CI6). </a:t>
            </a:r>
            <a:r>
              <a:rPr lang="en-GB" dirty="0"/>
              <a:t>Compare the exception (sink) names between </a:t>
            </a:r>
            <a:r>
              <a:rPr lang="en-GB" dirty="0" err="1"/>
              <a:t>API_b</a:t>
            </a:r>
            <a:r>
              <a:rPr lang="en-GB" dirty="0"/>
              <a:t> and </a:t>
            </a:r>
            <a:r>
              <a:rPr lang="en-GB" dirty="0" err="1"/>
              <a:t>API_a</a:t>
            </a:r>
            <a:r>
              <a:rPr lang="en-GB" dirty="0"/>
              <a:t>. If an exception name appears in one version but has no corresponding exception in the other version, identify the change as an Exception Change (CI6) (addition/deletion). </a:t>
            </a:r>
            <a:r>
              <a:rPr lang="en-GB" i="1" u="sng" dirty="0"/>
              <a:t>(2) Parameter Boundary Range Change (CI5). </a:t>
            </a:r>
            <a:r>
              <a:rPr lang="en-GB" dirty="0"/>
              <a:t>For exception names that appear in both </a:t>
            </a:r>
            <a:r>
              <a:rPr lang="en-GB" dirty="0" err="1"/>
              <a:t>API_b</a:t>
            </a:r>
            <a:r>
              <a:rPr lang="en-GB" dirty="0"/>
              <a:t> and </a:t>
            </a:r>
            <a:r>
              <a:rPr lang="en-GB" dirty="0" err="1"/>
              <a:t>API_a</a:t>
            </a:r>
            <a:r>
              <a:rPr lang="en-GB" dirty="0"/>
              <a:t>, compare their corresponding source–sink paths. Extract the control-flow conditions under which the exception is raised (e.g., conditional expressions guarding the raise statement)</a:t>
            </a:r>
            <a:r>
              <a:rPr lang="en-US" altLang="zh-CN" dirty="0"/>
              <a:t> , and synthesize the input-parameter (source) value ranges required to trigger each exception</a:t>
            </a:r>
            <a:r>
              <a:rPr lang="en-GB" dirty="0"/>
              <a:t>. If the exception is raised under different parameter value constraints between the two versions, report the change as a Parameter Range Change for Exception (CI5).</a:t>
            </a:r>
          </a:p>
          <a:p>
            <a:r>
              <a:rPr lang="en-GB" b="1" dirty="0"/>
              <a:t>3. Non-local Variable Incompatibilities</a:t>
            </a:r>
          </a:p>
          <a:p>
            <a:r>
              <a:rPr lang="en-GB" altLang="zh-CN" dirty="0">
                <a:solidFill>
                  <a:srgbClr val="FF0000"/>
                </a:solidFill>
                <a:latin typeface="Helvetica Neue" panose="02000503000000020004" pitchFamily="2" charset="0"/>
              </a:rPr>
              <a:t>	</a:t>
            </a:r>
            <a:r>
              <a:rPr lang="en-GB" dirty="0"/>
              <a:t>Select the source–sink paths whose </a:t>
            </a:r>
            <a:r>
              <a:rPr lang="en-GB" dirty="0" err="1"/>
              <a:t>sink_type</a:t>
            </a:r>
            <a:r>
              <a:rPr lang="en-GB" dirty="0"/>
              <a:t> is </a:t>
            </a:r>
            <a:r>
              <a:rPr lang="en-GB" dirty="0" err="1"/>
              <a:t>global_var</a:t>
            </a:r>
            <a:r>
              <a:rPr lang="en-GB" dirty="0"/>
              <a:t> or </a:t>
            </a:r>
            <a:r>
              <a:rPr lang="en-GB" dirty="0" err="1"/>
              <a:t>attri_var</a:t>
            </a:r>
            <a:r>
              <a:rPr lang="en-GB" dirty="0"/>
              <a:t>, and group them by variable (sink) name in the form &lt;sink, &lt;source–sink paths&gt;&gt;. Then, for variables that appear in both </a:t>
            </a:r>
            <a:r>
              <a:rPr lang="en-GB" dirty="0" err="1"/>
              <a:t>API_b</a:t>
            </a:r>
            <a:r>
              <a:rPr lang="en-GB" dirty="0"/>
              <a:t> and </a:t>
            </a:r>
            <a:r>
              <a:rPr lang="en-GB" dirty="0" err="1"/>
              <a:t>API_a</a:t>
            </a:r>
            <a:r>
              <a:rPr lang="en-GB" dirty="0"/>
              <a:t>, compare their source–sink paths. Extract the control-flow conditions under which the variable is assigned (e.g., guarding predicates or value constraints). If the global variable is assigned under different conditions, report the change as a Global Variable Value Change (CI8)</a:t>
            </a:r>
            <a:r>
              <a:rPr lang="en-GB" altLang="zh-CN" dirty="0"/>
              <a:t>. If the attribute variable is assigned in one version but unassigned in the other, report the change as an Instance Attribute </a:t>
            </a:r>
            <a:r>
              <a:rPr lang="en-GB" altLang="zh-CN" dirty="0" err="1"/>
              <a:t>Unitialized</a:t>
            </a:r>
            <a:r>
              <a:rPr lang="en-GB" altLang="zh-CN" dirty="0"/>
              <a:t> (CI9).</a:t>
            </a:r>
            <a:r>
              <a:rPr lang="en-GB" dirty="0"/>
              <a:t> </a:t>
            </a:r>
            <a:endParaRPr lang="en-GB" altLang="zh-CN" dirty="0">
              <a:solidFill>
                <a:srgbClr val="FF0000"/>
              </a:solidFill>
              <a:latin typeface="Helvetica Neue" panose="02000503000000020004" pitchFamily="2" charset="0"/>
            </a:endParaRPr>
          </a:p>
          <a:p>
            <a:r>
              <a:rPr lang="en-US" altLang="zh-CN" b="1" dirty="0"/>
              <a:t>4. Return Incompatibilities</a:t>
            </a:r>
          </a:p>
          <a:p>
            <a:r>
              <a:rPr lang="en-US" altLang="zh-CN" dirty="0">
                <a:latin typeface="Helvetica Neue" panose="02000503000000020004" pitchFamily="2" charset="0"/>
              </a:rPr>
              <a:t>	</a:t>
            </a:r>
            <a:r>
              <a:rPr lang="en-GB" dirty="0"/>
              <a:t> Select the source–sink paths whose </a:t>
            </a:r>
            <a:r>
              <a:rPr lang="en-GB" dirty="0" err="1"/>
              <a:t>sink_type</a:t>
            </a:r>
            <a:r>
              <a:rPr lang="en-GB" dirty="0"/>
              <a:t> is </a:t>
            </a:r>
            <a:r>
              <a:rPr lang="en-GB" dirty="0" err="1"/>
              <a:t>exit_pred</a:t>
            </a:r>
            <a:r>
              <a:rPr lang="en-GB" dirty="0"/>
              <a:t>. First, compare the number of predecessors (i.e., &lt;predecessor, &lt;source–sink path&gt;&gt; pairs) between </a:t>
            </a:r>
            <a:r>
              <a:rPr lang="en-GB" dirty="0" err="1"/>
              <a:t>API_b</a:t>
            </a:r>
            <a:r>
              <a:rPr lang="en-GB" dirty="0"/>
              <a:t> and </a:t>
            </a:r>
            <a:r>
              <a:rPr lang="en-GB" dirty="0" err="1"/>
              <a:t>API_a</a:t>
            </a:r>
            <a:r>
              <a:rPr lang="en-GB" dirty="0"/>
              <a:t>. Then perform predecessor mapping across versions. For each &lt;predecessor, &lt;source–sink path&gt;&gt; pair in </a:t>
            </a:r>
            <a:r>
              <a:rPr lang="en-GB" dirty="0" err="1"/>
              <a:t>API_b</a:t>
            </a:r>
            <a:r>
              <a:rPr lang="en-GB" dirty="0"/>
              <a:t> and </a:t>
            </a:r>
            <a:r>
              <a:rPr lang="en-GB" dirty="0" err="1"/>
              <a:t>API_a</a:t>
            </a:r>
            <a:r>
              <a:rPr lang="en-GB" dirty="0"/>
              <a:t>, identify corresponding predecessors across the two versions by matching them based on the semantic similarity of their source–sink paths. Identify predecessors that cannot be mapped between </a:t>
            </a:r>
            <a:r>
              <a:rPr lang="en-GB" dirty="0" err="1"/>
              <a:t>API_b</a:t>
            </a:r>
            <a:r>
              <a:rPr lang="en-GB" dirty="0"/>
              <a:t> and </a:t>
            </a:r>
            <a:r>
              <a:rPr lang="en-GB" dirty="0" err="1"/>
              <a:t>API_a</a:t>
            </a:r>
            <a:r>
              <a:rPr lang="en-GB" dirty="0"/>
              <a:t>. If a new predecessor type appears in either version, report the change as a Return Type Change. For each mapped predecessor pair, compare their corresponding source–sink paths. If the return conditions, value constraints, or controlling predicates differ between the two versions, report the change as a Return Value Change (CI7).</a:t>
            </a:r>
          </a:p>
        </p:txBody>
      </p:sp>
    </p:spTree>
    <p:extLst>
      <p:ext uri="{BB962C8B-B14F-4D97-AF65-F5344CB8AC3E}">
        <p14:creationId xmlns:p14="http://schemas.microsoft.com/office/powerpoint/2010/main" val="1334175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49B800CD-0E78-DD96-D581-498DA522A032}"/>
              </a:ext>
            </a:extLst>
          </p:cNvPr>
          <p:cNvSpPr/>
          <p:nvPr/>
        </p:nvSpPr>
        <p:spPr>
          <a:xfrm>
            <a:off x="1850529" y="2040137"/>
            <a:ext cx="8676000" cy="7816069"/>
          </a:xfrm>
          <a:prstGeom prst="roundRect">
            <a:avLst>
              <a:gd name="adj" fmla="val 1126"/>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Neue" panose="02000503000000020004" pitchFamily="2" charset="0"/>
              <a:cs typeface="Helvetica Neue" panose="02000503000000020004" pitchFamily="2" charset="0"/>
            </a:endParaRPr>
          </a:p>
        </p:txBody>
      </p:sp>
      <p:sp>
        <p:nvSpPr>
          <p:cNvPr id="10" name="文本框 9">
            <a:extLst>
              <a:ext uri="{FF2B5EF4-FFF2-40B4-BE49-F238E27FC236}">
                <a16:creationId xmlns:a16="http://schemas.microsoft.com/office/drawing/2014/main" id="{D9E603FD-345D-6823-76D1-4D501E30BC83}"/>
              </a:ext>
            </a:extLst>
          </p:cNvPr>
          <p:cNvSpPr txBox="1"/>
          <p:nvPr/>
        </p:nvSpPr>
        <p:spPr>
          <a:xfrm>
            <a:off x="1850527" y="2005495"/>
            <a:ext cx="1616234" cy="369332"/>
          </a:xfrm>
          <a:prstGeom prst="rect">
            <a:avLst/>
          </a:prstGeom>
          <a:noFill/>
        </p:spPr>
        <p:txBody>
          <a:bodyPr wrap="square" rtlCol="0">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13" name="文本框 12">
            <a:extLst>
              <a:ext uri="{FF2B5EF4-FFF2-40B4-BE49-F238E27FC236}">
                <a16:creationId xmlns:a16="http://schemas.microsoft.com/office/drawing/2014/main" id="{101DB8EC-1EE5-75D8-F27A-77079187CF50}"/>
              </a:ext>
            </a:extLst>
          </p:cNvPr>
          <p:cNvSpPr txBox="1"/>
          <p:nvPr/>
        </p:nvSpPr>
        <p:spPr>
          <a:xfrm>
            <a:off x="1991994" y="3046993"/>
            <a:ext cx="5321499" cy="369332"/>
          </a:xfrm>
          <a:prstGeom prst="rect">
            <a:avLst/>
          </a:prstGeom>
          <a:noFill/>
        </p:spPr>
        <p:txBody>
          <a:bodyPr wrap="square">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30" name="矩形: 圆角 29">
            <a:extLst>
              <a:ext uri="{FF2B5EF4-FFF2-40B4-BE49-F238E27FC236}">
                <a16:creationId xmlns:a16="http://schemas.microsoft.com/office/drawing/2014/main" id="{7712BD60-F576-4AC3-DE59-20F75AB1B85A}"/>
              </a:ext>
            </a:extLst>
          </p:cNvPr>
          <p:cNvSpPr/>
          <p:nvPr/>
        </p:nvSpPr>
        <p:spPr>
          <a:xfrm>
            <a:off x="1839097" y="2029855"/>
            <a:ext cx="8676000" cy="309393"/>
          </a:xfrm>
          <a:prstGeom prst="roundRect">
            <a:avLst>
              <a:gd name="adj" fmla="val 3534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Prompt for Test Case Generator</a:t>
            </a:r>
          </a:p>
        </p:txBody>
      </p:sp>
      <p:sp>
        <p:nvSpPr>
          <p:cNvPr id="2" name="文本框 13">
            <a:extLst>
              <a:ext uri="{FF2B5EF4-FFF2-40B4-BE49-F238E27FC236}">
                <a16:creationId xmlns:a16="http://schemas.microsoft.com/office/drawing/2014/main" id="{5D7ED9CC-C2E1-6889-94F9-D85D828C0E3C}"/>
              </a:ext>
            </a:extLst>
          </p:cNvPr>
          <p:cNvSpPr txBox="1"/>
          <p:nvPr/>
        </p:nvSpPr>
        <p:spPr>
          <a:xfrm>
            <a:off x="1850527" y="2399187"/>
            <a:ext cx="8676000" cy="7457019"/>
          </a:xfrm>
          <a:prstGeom prst="rect">
            <a:avLst/>
          </a:prstGeom>
          <a:noFill/>
        </p:spPr>
        <p:txBody>
          <a:bodyPr wrap="square" rtlCol="0">
            <a:noAutofit/>
          </a:bodyPr>
          <a:lstStyle/>
          <a:p>
            <a:r>
              <a:rPr lang="en-US" altLang="zh-CN" b="1" u="sng" dirty="0">
                <a:latin typeface="Helvetica Neue" panose="02000503000000020004" pitchFamily="2" charset="0"/>
                <a:ea typeface="Helvetica Neue" panose="02000503000000020004" pitchFamily="2" charset="0"/>
                <a:cs typeface="Helvetica Neue" panose="02000503000000020004" pitchFamily="2" charset="0"/>
              </a:rPr>
              <a:t>System:</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You are now a code analyst and reverse engineering expert, with in-depth knowledge of various encryption algorithms and the underlying principles of ransomware.</a:t>
            </a:r>
          </a:p>
          <a:p>
            <a:r>
              <a:rPr lang="en-US" altLang="zh-CN" b="1" u="sng" dirty="0">
                <a:latin typeface="Helvetica Neue" panose="02000503000000020004" pitchFamily="2" charset="0"/>
                <a:ea typeface="Helvetica Neue" panose="02000503000000020004" pitchFamily="2" charset="0"/>
                <a:cs typeface="Helvetica Neue" panose="02000503000000020004" pitchFamily="2" charset="0"/>
              </a:rPr>
              <a:t>Task:</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Your task is to determine whether the given code implements an encryption function.</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Rules and conditions:</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If the code does not meet the criteria, set "</a:t>
            </a:r>
            <a:r>
              <a:rPr lang="en-US" altLang="zh-CN"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is_encryption_function</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to false.</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The output should be structured in JSON format: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function_name</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zh-CN" altLang="en-US"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is_encryption_function</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true/false,</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"description": "</a:t>
            </a:r>
            <a:r>
              <a:rPr lang="en-US" altLang="zh-CN" dirty="0">
                <a:solidFill>
                  <a:srgbClr val="FF0000"/>
                </a:solidFill>
                <a:latin typeface="Helvetica Neue" panose="02000503000000020004" pitchFamily="2" charset="0"/>
              </a:rPr>
              <a:t> Elaborate your reason here</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Hash functions and other irreversible algorithms are not considered as encryption algorithms.</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Below is an example of an encryption function from a cryptographic library:</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Library function name: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db</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.nm</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Library function body: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db</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.S</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If you are ready, please reply 'Understood’.</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Function name: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bf</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.nm</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Function body: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bf</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.S</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4002064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49B800CD-0E78-DD96-D581-498DA522A032}"/>
              </a:ext>
            </a:extLst>
          </p:cNvPr>
          <p:cNvSpPr/>
          <p:nvPr/>
        </p:nvSpPr>
        <p:spPr>
          <a:xfrm>
            <a:off x="1850529" y="2040137"/>
            <a:ext cx="8676000" cy="7816069"/>
          </a:xfrm>
          <a:prstGeom prst="roundRect">
            <a:avLst>
              <a:gd name="adj" fmla="val 1126"/>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Neue" panose="02000503000000020004" pitchFamily="2" charset="0"/>
              <a:cs typeface="Helvetica Neue" panose="02000503000000020004" pitchFamily="2" charset="0"/>
            </a:endParaRPr>
          </a:p>
        </p:txBody>
      </p:sp>
      <p:sp>
        <p:nvSpPr>
          <p:cNvPr id="10" name="文本框 9">
            <a:extLst>
              <a:ext uri="{FF2B5EF4-FFF2-40B4-BE49-F238E27FC236}">
                <a16:creationId xmlns:a16="http://schemas.microsoft.com/office/drawing/2014/main" id="{D9E603FD-345D-6823-76D1-4D501E30BC83}"/>
              </a:ext>
            </a:extLst>
          </p:cNvPr>
          <p:cNvSpPr txBox="1"/>
          <p:nvPr/>
        </p:nvSpPr>
        <p:spPr>
          <a:xfrm>
            <a:off x="1850527" y="2005495"/>
            <a:ext cx="1616234" cy="369332"/>
          </a:xfrm>
          <a:prstGeom prst="rect">
            <a:avLst/>
          </a:prstGeom>
          <a:noFill/>
        </p:spPr>
        <p:txBody>
          <a:bodyPr wrap="square" rtlCol="0">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13" name="文本框 12">
            <a:extLst>
              <a:ext uri="{FF2B5EF4-FFF2-40B4-BE49-F238E27FC236}">
                <a16:creationId xmlns:a16="http://schemas.microsoft.com/office/drawing/2014/main" id="{101DB8EC-1EE5-75D8-F27A-77079187CF50}"/>
              </a:ext>
            </a:extLst>
          </p:cNvPr>
          <p:cNvSpPr txBox="1"/>
          <p:nvPr/>
        </p:nvSpPr>
        <p:spPr>
          <a:xfrm>
            <a:off x="1991994" y="3046993"/>
            <a:ext cx="5321499" cy="369332"/>
          </a:xfrm>
          <a:prstGeom prst="rect">
            <a:avLst/>
          </a:prstGeom>
          <a:noFill/>
        </p:spPr>
        <p:txBody>
          <a:bodyPr wrap="square">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30" name="矩形: 圆角 29">
            <a:extLst>
              <a:ext uri="{FF2B5EF4-FFF2-40B4-BE49-F238E27FC236}">
                <a16:creationId xmlns:a16="http://schemas.microsoft.com/office/drawing/2014/main" id="{7712BD60-F576-4AC3-DE59-20F75AB1B85A}"/>
              </a:ext>
            </a:extLst>
          </p:cNvPr>
          <p:cNvSpPr/>
          <p:nvPr/>
        </p:nvSpPr>
        <p:spPr>
          <a:xfrm>
            <a:off x="1839097" y="2029855"/>
            <a:ext cx="8676000" cy="309393"/>
          </a:xfrm>
          <a:prstGeom prst="roundRect">
            <a:avLst>
              <a:gd name="adj" fmla="val 3534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Prompt for Step-by-Step Simulator</a:t>
            </a:r>
          </a:p>
        </p:txBody>
      </p:sp>
      <p:sp>
        <p:nvSpPr>
          <p:cNvPr id="2" name="文本框 13">
            <a:extLst>
              <a:ext uri="{FF2B5EF4-FFF2-40B4-BE49-F238E27FC236}">
                <a16:creationId xmlns:a16="http://schemas.microsoft.com/office/drawing/2014/main" id="{5D7ED9CC-C2E1-6889-94F9-D85D828C0E3C}"/>
              </a:ext>
            </a:extLst>
          </p:cNvPr>
          <p:cNvSpPr txBox="1"/>
          <p:nvPr/>
        </p:nvSpPr>
        <p:spPr>
          <a:xfrm>
            <a:off x="1850527" y="2399187"/>
            <a:ext cx="8676000" cy="7457019"/>
          </a:xfrm>
          <a:prstGeom prst="rect">
            <a:avLst/>
          </a:prstGeom>
          <a:noFill/>
        </p:spPr>
        <p:txBody>
          <a:bodyPr wrap="square" rtlCol="0">
            <a:noAutofit/>
          </a:bodyPr>
          <a:lstStyle/>
          <a:p>
            <a:r>
              <a:rPr lang="en-US" altLang="zh-CN" b="1" u="sng" dirty="0">
                <a:latin typeface="Helvetica Neue" panose="02000503000000020004" pitchFamily="2" charset="0"/>
                <a:ea typeface="Helvetica Neue" panose="02000503000000020004" pitchFamily="2" charset="0"/>
                <a:cs typeface="Helvetica Neue" panose="02000503000000020004" pitchFamily="2" charset="0"/>
              </a:rPr>
              <a:t>System:</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You are now a code analyst and reverse engineering expert, with in-depth knowledge of various encryption algorithms and the underlying principles of ransomware.</a:t>
            </a:r>
          </a:p>
          <a:p>
            <a:r>
              <a:rPr lang="en-US" altLang="zh-CN" b="1" u="sng" dirty="0">
                <a:latin typeface="Helvetica Neue" panose="02000503000000020004" pitchFamily="2" charset="0"/>
                <a:ea typeface="Helvetica Neue" panose="02000503000000020004" pitchFamily="2" charset="0"/>
                <a:cs typeface="Helvetica Neue" panose="02000503000000020004" pitchFamily="2" charset="0"/>
              </a:rPr>
              <a:t>Task:</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Your task is to determine whether the given code implements an encryption function.</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Rules and conditions:</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If the code does not meet the criteria, set "</a:t>
            </a:r>
            <a:r>
              <a:rPr lang="en-US" altLang="zh-CN"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is_encryption_function</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to false.</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The output should be structured in JSON format: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function_name</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zh-CN" altLang="en-US"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is_encryption_function</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true/false,</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"description": "</a:t>
            </a:r>
            <a:r>
              <a:rPr lang="en-US" altLang="zh-CN" dirty="0">
                <a:solidFill>
                  <a:srgbClr val="FF0000"/>
                </a:solidFill>
                <a:latin typeface="Helvetica Neue" panose="02000503000000020004" pitchFamily="2" charset="0"/>
              </a:rPr>
              <a:t> Elaborate your reason here</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Hash functions and other irreversible algorithms are not considered as encryption algorithms.</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Below is an example of an encryption function from a cryptographic library:</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Library function name: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db</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.nm</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Library function body: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db</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.S</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If you are ready, please reply 'Understood’.</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Function name: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bf</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.nm</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Function body: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bf</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.S</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3665501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49B800CD-0E78-DD96-D581-498DA522A032}"/>
              </a:ext>
            </a:extLst>
          </p:cNvPr>
          <p:cNvSpPr/>
          <p:nvPr/>
        </p:nvSpPr>
        <p:spPr>
          <a:xfrm>
            <a:off x="1850529" y="2040137"/>
            <a:ext cx="8676000" cy="7816069"/>
          </a:xfrm>
          <a:prstGeom prst="roundRect">
            <a:avLst>
              <a:gd name="adj" fmla="val 1126"/>
            </a:avLst>
          </a:prstGeom>
          <a:noFill/>
          <a:ln w="444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Neue" panose="02000503000000020004" pitchFamily="2" charset="0"/>
              <a:cs typeface="Helvetica Neue" panose="02000503000000020004" pitchFamily="2" charset="0"/>
            </a:endParaRPr>
          </a:p>
        </p:txBody>
      </p:sp>
      <p:sp>
        <p:nvSpPr>
          <p:cNvPr id="10" name="文本框 9">
            <a:extLst>
              <a:ext uri="{FF2B5EF4-FFF2-40B4-BE49-F238E27FC236}">
                <a16:creationId xmlns:a16="http://schemas.microsoft.com/office/drawing/2014/main" id="{D9E603FD-345D-6823-76D1-4D501E30BC83}"/>
              </a:ext>
            </a:extLst>
          </p:cNvPr>
          <p:cNvSpPr txBox="1"/>
          <p:nvPr/>
        </p:nvSpPr>
        <p:spPr>
          <a:xfrm>
            <a:off x="1850527" y="2005495"/>
            <a:ext cx="1616234" cy="369332"/>
          </a:xfrm>
          <a:prstGeom prst="rect">
            <a:avLst/>
          </a:prstGeom>
          <a:noFill/>
        </p:spPr>
        <p:txBody>
          <a:bodyPr wrap="square" rtlCol="0">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13" name="文本框 12">
            <a:extLst>
              <a:ext uri="{FF2B5EF4-FFF2-40B4-BE49-F238E27FC236}">
                <a16:creationId xmlns:a16="http://schemas.microsoft.com/office/drawing/2014/main" id="{101DB8EC-1EE5-75D8-F27A-77079187CF50}"/>
              </a:ext>
            </a:extLst>
          </p:cNvPr>
          <p:cNvSpPr txBox="1"/>
          <p:nvPr/>
        </p:nvSpPr>
        <p:spPr>
          <a:xfrm>
            <a:off x="1991994" y="3046993"/>
            <a:ext cx="5321499" cy="369332"/>
          </a:xfrm>
          <a:prstGeom prst="rect">
            <a:avLst/>
          </a:prstGeom>
          <a:noFill/>
        </p:spPr>
        <p:txBody>
          <a:bodyPr wrap="square">
            <a:spAutoFit/>
          </a:bodyPr>
          <a:lstStyle/>
          <a:p>
            <a:r>
              <a:rPr lang="en-US" altLang="zh-CN"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Model Input</a:t>
            </a:r>
            <a:endParaRPr lang="zh-CN" altLang="en-US" b="1" dirty="0">
              <a:solidFill>
                <a:schemeClr val="bg1"/>
              </a:solidFill>
              <a:latin typeface="Helvetica Neue" panose="02000503000000020004" pitchFamily="2" charset="0"/>
              <a:cs typeface="Helvetica Neue" panose="02000503000000020004" pitchFamily="2" charset="0"/>
            </a:endParaRPr>
          </a:p>
        </p:txBody>
      </p:sp>
      <p:sp>
        <p:nvSpPr>
          <p:cNvPr id="30" name="矩形: 圆角 29">
            <a:extLst>
              <a:ext uri="{FF2B5EF4-FFF2-40B4-BE49-F238E27FC236}">
                <a16:creationId xmlns:a16="http://schemas.microsoft.com/office/drawing/2014/main" id="{7712BD60-F576-4AC3-DE59-20F75AB1B85A}"/>
              </a:ext>
            </a:extLst>
          </p:cNvPr>
          <p:cNvSpPr/>
          <p:nvPr/>
        </p:nvSpPr>
        <p:spPr>
          <a:xfrm>
            <a:off x="1839097" y="2029855"/>
            <a:ext cx="8676000" cy="309393"/>
          </a:xfrm>
          <a:prstGeom prst="roundRect">
            <a:avLst>
              <a:gd name="adj" fmla="val 3534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Prompt for Simulated Result Analyzer</a:t>
            </a:r>
          </a:p>
        </p:txBody>
      </p:sp>
      <p:sp>
        <p:nvSpPr>
          <p:cNvPr id="2" name="文本框 13">
            <a:extLst>
              <a:ext uri="{FF2B5EF4-FFF2-40B4-BE49-F238E27FC236}">
                <a16:creationId xmlns:a16="http://schemas.microsoft.com/office/drawing/2014/main" id="{5D7ED9CC-C2E1-6889-94F9-D85D828C0E3C}"/>
              </a:ext>
            </a:extLst>
          </p:cNvPr>
          <p:cNvSpPr txBox="1"/>
          <p:nvPr/>
        </p:nvSpPr>
        <p:spPr>
          <a:xfrm>
            <a:off x="1850527" y="2399187"/>
            <a:ext cx="8676000" cy="7457019"/>
          </a:xfrm>
          <a:prstGeom prst="rect">
            <a:avLst/>
          </a:prstGeom>
          <a:noFill/>
        </p:spPr>
        <p:txBody>
          <a:bodyPr wrap="square" rtlCol="0">
            <a:noAutofit/>
          </a:bodyPr>
          <a:lstStyle/>
          <a:p>
            <a:r>
              <a:rPr lang="en-US" altLang="zh-CN" b="1" u="sng" dirty="0">
                <a:latin typeface="Helvetica Neue" panose="02000503000000020004" pitchFamily="2" charset="0"/>
                <a:ea typeface="Helvetica Neue" panose="02000503000000020004" pitchFamily="2" charset="0"/>
                <a:cs typeface="Helvetica Neue" panose="02000503000000020004" pitchFamily="2" charset="0"/>
              </a:rPr>
              <a:t>System:</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You are now a code analyst and reverse engineering expert, with in-depth knowledge of various encryption algorithms and the underlying principles of ransomware.</a:t>
            </a:r>
          </a:p>
          <a:p>
            <a:r>
              <a:rPr lang="en-US" altLang="zh-CN" b="1" u="sng" dirty="0">
                <a:latin typeface="Helvetica Neue" panose="02000503000000020004" pitchFamily="2" charset="0"/>
                <a:ea typeface="Helvetica Neue" panose="02000503000000020004" pitchFamily="2" charset="0"/>
                <a:cs typeface="Helvetica Neue" panose="02000503000000020004" pitchFamily="2" charset="0"/>
              </a:rPr>
              <a:t>Task:</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Your task is to determine whether the given code implements an encryption function.</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Rules and conditions:</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If the code does not meet the criteria, set "</a:t>
            </a:r>
            <a:r>
              <a:rPr lang="en-US" altLang="zh-CN"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is_encryption_function</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to false.</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The output should be structured in JSON format: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function_name</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zh-CN" altLang="en-US"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is_encryption_function</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true/false,</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"description": "</a:t>
            </a:r>
            <a:r>
              <a:rPr lang="en-US" altLang="zh-CN" dirty="0">
                <a:solidFill>
                  <a:srgbClr val="FF0000"/>
                </a:solidFill>
                <a:latin typeface="Helvetica Neue" panose="02000503000000020004" pitchFamily="2" charset="0"/>
              </a:rPr>
              <a:t> Elaborate your reason here</a:t>
            </a: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Hash functions and other irreversible algorithms are not considered as encryption algorithms.</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Below is an example of an encryption function from a cryptographic library:</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Library function name: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db</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.nm</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Library function body: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db</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.S</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645750" indent="-285750">
              <a:buFont typeface="Arial" panose="020B0604020202020204" pitchFamily="34" charset="0"/>
              <a:buChar char="•"/>
            </a:pPr>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If you are ready, please reply 'Understood’.</a:t>
            </a:r>
          </a:p>
          <a:p>
            <a:pPr marL="360000"/>
            <a:r>
              <a:rPr lang="en-US" altLang="zh-CN"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Function name: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bf</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.nm</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p>
          <a:p>
            <a:pPr marL="360000"/>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Function body: {</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a:t>
            </a:r>
            <a:r>
              <a:rPr lang="en-US" altLang="zh-CN" i="1" baseline="-25000"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bf</a:t>
            </a:r>
            <a:r>
              <a:rPr lang="en-US" altLang="zh-CN" i="1" dirty="0" err="1">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.S</a:t>
            </a:r>
            <a:r>
              <a:rPr lang="en-US" altLang="zh-CN" i="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t>
            </a:r>
          </a:p>
          <a:p>
            <a:pPr marL="360000"/>
            <a:r>
              <a:rPr lang="en-US" altLang="zh-CN" i="1" dirty="0">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34670905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5180</TotalTime>
  <Words>1989</Words>
  <Application>Microsoft Macintosh PowerPoint</Application>
  <PresentationFormat>Custom</PresentationFormat>
  <Paragraphs>160</Paragraphs>
  <Slides>7</Slides>
  <Notes>7</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Helvetica Neue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XY L</dc:creator>
  <cp:lastModifiedBy>Kaifeng Huang</cp:lastModifiedBy>
  <cp:revision>93</cp:revision>
  <dcterms:created xsi:type="dcterms:W3CDTF">2025-04-11T05:10:56Z</dcterms:created>
  <dcterms:modified xsi:type="dcterms:W3CDTF">2026-01-11T14:17:58Z</dcterms:modified>
</cp:coreProperties>
</file>