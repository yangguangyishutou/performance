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9"/>
  </p:notesMasterIdLst>
  <p:sldIdLst>
    <p:sldId id="263" r:id="rId2"/>
    <p:sldId id="257" r:id="rId3"/>
    <p:sldId id="258" r:id="rId4"/>
    <p:sldId id="259" r:id="rId5"/>
    <p:sldId id="260" r:id="rId6"/>
    <p:sldId id="261" r:id="rId7"/>
    <p:sldId id="262" r:id="rId8"/>
  </p:sldIdLst>
  <p:sldSz cx="12193588" cy="17657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5597"/>
    <a:srgbClr val="7671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40" autoAdjust="0"/>
    <p:restoredTop sz="94805"/>
  </p:normalViewPr>
  <p:slideViewPr>
    <p:cSldViewPr snapToGrid="0">
      <p:cViewPr>
        <p:scale>
          <a:sx n="66" d="100"/>
          <a:sy n="66" d="100"/>
        </p:scale>
        <p:origin x="24" y="-16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4973AF-1E6D-4746-8FA3-3206D360D595}" type="datetimeFigureOut">
              <a:rPr lang="en-CN" smtClean="0"/>
              <a:t>01/05/2026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3788" y="1143000"/>
            <a:ext cx="2130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127BCB-9534-0947-95A2-138BE556530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76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1pPr>
    <a:lvl2pPr marL="543611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2pPr>
    <a:lvl3pPr marL="1087222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3pPr>
    <a:lvl4pPr marL="1630832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4pPr>
    <a:lvl5pPr marL="2174443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5pPr>
    <a:lvl6pPr marL="2718054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6pPr>
    <a:lvl7pPr marL="3261665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7pPr>
    <a:lvl8pPr marL="3805276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8pPr>
    <a:lvl9pPr marL="4348886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3788" y="1143000"/>
            <a:ext cx="21304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898455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3788" y="1143000"/>
            <a:ext cx="21304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2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255791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3788" y="1143000"/>
            <a:ext cx="21304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65002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3788" y="1143000"/>
            <a:ext cx="21304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4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755658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3788" y="1143000"/>
            <a:ext cx="21304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6455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3788" y="1143000"/>
            <a:ext cx="21304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019494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3788" y="1143000"/>
            <a:ext cx="21304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800945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519" y="2889825"/>
            <a:ext cx="10364550" cy="6147517"/>
          </a:xfrm>
        </p:spPr>
        <p:txBody>
          <a:bodyPr anchor="b"/>
          <a:lstStyle>
            <a:lvl1pPr algn="ctr">
              <a:defRPr sz="80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199" y="9274414"/>
            <a:ext cx="9145191" cy="4263204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676" indent="0" algn="ctr">
              <a:buNone/>
              <a:defRPr sz="2667"/>
            </a:lvl2pPr>
            <a:lvl3pPr marL="1219352" indent="0" algn="ctr">
              <a:buNone/>
              <a:defRPr sz="2400"/>
            </a:lvl3pPr>
            <a:lvl4pPr marL="1829029" indent="0" algn="ctr">
              <a:buNone/>
              <a:defRPr sz="2134"/>
            </a:lvl4pPr>
            <a:lvl5pPr marL="2438705" indent="0" algn="ctr">
              <a:buNone/>
              <a:defRPr sz="2134"/>
            </a:lvl5pPr>
            <a:lvl6pPr marL="3048381" indent="0" algn="ctr">
              <a:buNone/>
              <a:defRPr sz="2134"/>
            </a:lvl6pPr>
            <a:lvl7pPr marL="3658057" indent="0" algn="ctr">
              <a:buNone/>
              <a:defRPr sz="2134"/>
            </a:lvl7pPr>
            <a:lvl8pPr marL="4267733" indent="0" algn="ctr">
              <a:buNone/>
              <a:defRPr sz="2134"/>
            </a:lvl8pPr>
            <a:lvl9pPr marL="4877410" indent="0" algn="ctr">
              <a:buNone/>
              <a:defRPr sz="213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1917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1644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959" y="4402183"/>
            <a:ext cx="10516970" cy="7345138"/>
          </a:xfrm>
        </p:spPr>
        <p:txBody>
          <a:bodyPr anchor="b"/>
          <a:lstStyle>
            <a:lvl1pPr>
              <a:defRPr sz="80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959" y="11816809"/>
            <a:ext cx="10516970" cy="3862634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609676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352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9029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4pPr>
            <a:lvl5pPr marL="2438705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5pPr>
            <a:lvl6pPr marL="3048381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6pPr>
            <a:lvl7pPr marL="3658057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7pPr>
            <a:lvl8pPr marL="4267733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8pPr>
            <a:lvl9pPr marL="4877410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9618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309" y="4700562"/>
            <a:ext cx="5182275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004" y="4700562"/>
            <a:ext cx="5182275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2768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7" y="940116"/>
            <a:ext cx="10516970" cy="341301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899" y="4328606"/>
            <a:ext cx="5158458" cy="212138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676" indent="0">
              <a:buNone/>
              <a:defRPr sz="2667" b="1"/>
            </a:lvl2pPr>
            <a:lvl3pPr marL="1219352" indent="0">
              <a:buNone/>
              <a:defRPr sz="2400" b="1"/>
            </a:lvl3pPr>
            <a:lvl4pPr marL="1829029" indent="0">
              <a:buNone/>
              <a:defRPr sz="2134" b="1"/>
            </a:lvl4pPr>
            <a:lvl5pPr marL="2438705" indent="0">
              <a:buNone/>
              <a:defRPr sz="2134" b="1"/>
            </a:lvl5pPr>
            <a:lvl6pPr marL="3048381" indent="0">
              <a:buNone/>
              <a:defRPr sz="2134" b="1"/>
            </a:lvl6pPr>
            <a:lvl7pPr marL="3658057" indent="0">
              <a:buNone/>
              <a:defRPr sz="2134" b="1"/>
            </a:lvl7pPr>
            <a:lvl8pPr marL="4267733" indent="0">
              <a:buNone/>
              <a:defRPr sz="2134" b="1"/>
            </a:lvl8pPr>
            <a:lvl9pPr marL="4877410" indent="0">
              <a:buNone/>
              <a:defRPr sz="213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899" y="6449989"/>
            <a:ext cx="5158458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3005" y="4328606"/>
            <a:ext cx="5183863" cy="212138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676" indent="0">
              <a:buNone/>
              <a:defRPr sz="2667" b="1"/>
            </a:lvl2pPr>
            <a:lvl3pPr marL="1219352" indent="0">
              <a:buNone/>
              <a:defRPr sz="2400" b="1"/>
            </a:lvl3pPr>
            <a:lvl4pPr marL="1829029" indent="0">
              <a:buNone/>
              <a:defRPr sz="2134" b="1"/>
            </a:lvl4pPr>
            <a:lvl5pPr marL="2438705" indent="0">
              <a:buNone/>
              <a:defRPr sz="2134" b="1"/>
            </a:lvl5pPr>
            <a:lvl6pPr marL="3048381" indent="0">
              <a:buNone/>
              <a:defRPr sz="2134" b="1"/>
            </a:lvl6pPr>
            <a:lvl7pPr marL="3658057" indent="0">
              <a:buNone/>
              <a:defRPr sz="2134" b="1"/>
            </a:lvl7pPr>
            <a:lvl8pPr marL="4267733" indent="0">
              <a:buNone/>
              <a:defRPr sz="2134" b="1"/>
            </a:lvl8pPr>
            <a:lvl9pPr marL="4877410" indent="0">
              <a:buNone/>
              <a:defRPr sz="213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3005" y="6449989"/>
            <a:ext cx="5183863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0130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78497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3106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7" y="1177184"/>
            <a:ext cx="3932750" cy="4120145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863" y="2542395"/>
            <a:ext cx="6173004" cy="12548457"/>
          </a:xfrm>
        </p:spPr>
        <p:txBody>
          <a:bodyPr/>
          <a:lstStyle>
            <a:lvl1pPr>
              <a:defRPr sz="4267"/>
            </a:lvl1pPr>
            <a:lvl2pPr>
              <a:defRPr sz="3734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897" y="5297329"/>
            <a:ext cx="3932750" cy="9813957"/>
          </a:xfrm>
        </p:spPr>
        <p:txBody>
          <a:bodyPr/>
          <a:lstStyle>
            <a:lvl1pPr marL="0" indent="0">
              <a:buNone/>
              <a:defRPr sz="2134"/>
            </a:lvl1pPr>
            <a:lvl2pPr marL="609676" indent="0">
              <a:buNone/>
              <a:defRPr sz="1867"/>
            </a:lvl2pPr>
            <a:lvl3pPr marL="1219352" indent="0">
              <a:buNone/>
              <a:defRPr sz="1600"/>
            </a:lvl3pPr>
            <a:lvl4pPr marL="1829029" indent="0">
              <a:buNone/>
              <a:defRPr sz="1334"/>
            </a:lvl4pPr>
            <a:lvl5pPr marL="2438705" indent="0">
              <a:buNone/>
              <a:defRPr sz="1334"/>
            </a:lvl5pPr>
            <a:lvl6pPr marL="3048381" indent="0">
              <a:buNone/>
              <a:defRPr sz="1334"/>
            </a:lvl6pPr>
            <a:lvl7pPr marL="3658057" indent="0">
              <a:buNone/>
              <a:defRPr sz="1334"/>
            </a:lvl7pPr>
            <a:lvl8pPr marL="4267733" indent="0">
              <a:buNone/>
              <a:defRPr sz="1334"/>
            </a:lvl8pPr>
            <a:lvl9pPr marL="4877410" indent="0">
              <a:buNone/>
              <a:defRPr sz="133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64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7" y="1177184"/>
            <a:ext cx="3932750" cy="4120145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863" y="2542395"/>
            <a:ext cx="6173004" cy="1254845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676" indent="0">
              <a:buNone/>
              <a:defRPr sz="3734"/>
            </a:lvl2pPr>
            <a:lvl3pPr marL="1219352" indent="0">
              <a:buNone/>
              <a:defRPr sz="3200"/>
            </a:lvl3pPr>
            <a:lvl4pPr marL="1829029" indent="0">
              <a:buNone/>
              <a:defRPr sz="2667"/>
            </a:lvl4pPr>
            <a:lvl5pPr marL="2438705" indent="0">
              <a:buNone/>
              <a:defRPr sz="2667"/>
            </a:lvl5pPr>
            <a:lvl6pPr marL="3048381" indent="0">
              <a:buNone/>
              <a:defRPr sz="2667"/>
            </a:lvl6pPr>
            <a:lvl7pPr marL="3658057" indent="0">
              <a:buNone/>
              <a:defRPr sz="2667"/>
            </a:lvl7pPr>
            <a:lvl8pPr marL="4267733" indent="0">
              <a:buNone/>
              <a:defRPr sz="2667"/>
            </a:lvl8pPr>
            <a:lvl9pPr marL="4877410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897" y="5297329"/>
            <a:ext cx="3932750" cy="9813957"/>
          </a:xfrm>
        </p:spPr>
        <p:txBody>
          <a:bodyPr/>
          <a:lstStyle>
            <a:lvl1pPr marL="0" indent="0">
              <a:buNone/>
              <a:defRPr sz="2134"/>
            </a:lvl1pPr>
            <a:lvl2pPr marL="609676" indent="0">
              <a:buNone/>
              <a:defRPr sz="1867"/>
            </a:lvl2pPr>
            <a:lvl3pPr marL="1219352" indent="0">
              <a:buNone/>
              <a:defRPr sz="1600"/>
            </a:lvl3pPr>
            <a:lvl4pPr marL="1829029" indent="0">
              <a:buNone/>
              <a:defRPr sz="1334"/>
            </a:lvl4pPr>
            <a:lvl5pPr marL="2438705" indent="0">
              <a:buNone/>
              <a:defRPr sz="1334"/>
            </a:lvl5pPr>
            <a:lvl6pPr marL="3048381" indent="0">
              <a:buNone/>
              <a:defRPr sz="1334"/>
            </a:lvl6pPr>
            <a:lvl7pPr marL="3658057" indent="0">
              <a:buNone/>
              <a:defRPr sz="1334"/>
            </a:lvl7pPr>
            <a:lvl8pPr marL="4267733" indent="0">
              <a:buNone/>
              <a:defRPr sz="1334"/>
            </a:lvl8pPr>
            <a:lvl9pPr marL="4877410" indent="0">
              <a:buNone/>
              <a:defRPr sz="133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59389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1240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6037" y="940112"/>
            <a:ext cx="2629242" cy="149641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310" y="940112"/>
            <a:ext cx="7735307" cy="149641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2239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309" y="940116"/>
            <a:ext cx="10516970" cy="34130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309" y="4700562"/>
            <a:ext cx="10516970" cy="1120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309" y="16366134"/>
            <a:ext cx="2743557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9A057A-0BEA-48B2-A216-D46DB2C83327}" type="datetimeFigureOut">
              <a:rPr lang="zh-CN" altLang="en-US" smtClean="0"/>
              <a:t>2026/1/5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9126" y="16366134"/>
            <a:ext cx="4115336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1722" y="16366134"/>
            <a:ext cx="2743557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7988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219352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838" indent="-304838" algn="l" defTabSz="1219352" rtl="0" eaLnBrk="1" latinLnBrk="0" hangingPunct="1">
        <a:lnSpc>
          <a:spcPct val="90000"/>
        </a:lnSpc>
        <a:spcBef>
          <a:spcPts val="1334"/>
        </a:spcBef>
        <a:buFont typeface="Arial" panose="020B0604020202020204" pitchFamily="34" charset="0"/>
        <a:buChar char="•"/>
        <a:defRPr sz="3734" kern="1200">
          <a:solidFill>
            <a:schemeClr val="tx1"/>
          </a:solidFill>
          <a:latin typeface="+mn-lt"/>
          <a:ea typeface="+mn-ea"/>
          <a:cs typeface="+mn-cs"/>
        </a:defRPr>
      </a:lvl1pPr>
      <a:lvl2pPr marL="914514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4191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867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543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3219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895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572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2248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76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352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9029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705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381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8057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733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7410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040137"/>
            <a:ext cx="8676000" cy="5966925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05495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4" y="3046993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029855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Control Flow Graph Construction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1882675" y="2363047"/>
            <a:ext cx="8676000" cy="576870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dirty="0"/>
              <a:t>You are a static program analysis engine tasked with constructing a Control Flow Graph (CFG) for the given Python source code. </a:t>
            </a:r>
          </a:p>
          <a:p>
            <a:r>
              <a:rPr lang="en-GB" b="1" dirty="0"/>
              <a:t>Requirements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 Nodes:</a:t>
            </a:r>
            <a:r>
              <a:rPr lang="en-GB" dirty="0"/>
              <a:t> Each node represents at most one statement or a expression-level execution unit, with a single entry point, and a single exit point. </a:t>
            </a:r>
          </a:p>
          <a:p>
            <a:r>
              <a:rPr lang="en-GB" b="1" dirty="0"/>
              <a:t>2. Edges: </a:t>
            </a:r>
            <a:r>
              <a:rPr lang="en-GB" dirty="0"/>
              <a:t>The directed edges represent possible control transfers between nodes. Explicitly label edges with conditions (e.g., if condition=True/False), and include fall-through edges, loop back-edges, exceptional edges.</a:t>
            </a:r>
          </a:p>
          <a:p>
            <a:r>
              <a:rPr lang="en-GB" b="1" dirty="0"/>
              <a:t>3. Language Constructs</a:t>
            </a:r>
            <a:r>
              <a:rPr lang="en-GB" dirty="0"/>
              <a:t>: The CFG construction should handle Python language constructs, including but not limited to conditionals, loops, function-level control flow, exception handling, and context managers. </a:t>
            </a:r>
          </a:p>
          <a:p>
            <a:r>
              <a:rPr lang="en-GB" b="1" dirty="0"/>
              <a:t>4. Entry and Exit Nodes. </a:t>
            </a:r>
            <a:r>
              <a:rPr lang="en-GB" dirty="0"/>
              <a:t>Create a single Entry node representing function start, and a single </a:t>
            </a:r>
            <a:r>
              <a:rPr lang="en-GB" b="1" dirty="0"/>
              <a:t>Exit</a:t>
            </a:r>
            <a:r>
              <a:rPr lang="en-GB" dirty="0"/>
              <a:t> node representing normal termination. All return statements must connect to the Exit node.</a:t>
            </a:r>
          </a:p>
          <a:p>
            <a:r>
              <a:rPr lang="en-GB" dirty="0"/>
              <a:t>Now you will be given input as a function function, output the CFG in the following format:</a:t>
            </a:r>
          </a:p>
          <a:p>
            <a:r>
              <a:rPr lang="en-GB" dirty="0"/>
              <a:t>	[{</a:t>
            </a:r>
          </a:p>
          <a:p>
            <a:r>
              <a:rPr lang="en-GB" dirty="0"/>
              <a:t>		”</a:t>
            </a:r>
            <a:r>
              <a:rPr lang="en-GB" dirty="0" err="1"/>
              <a:t>from_id</a:t>
            </a:r>
            <a:r>
              <a:rPr lang="en-GB" dirty="0"/>
              <a:t>”: ID, “</a:t>
            </a:r>
            <a:r>
              <a:rPr lang="en-GB" dirty="0" err="1"/>
              <a:t>from_content</a:t>
            </a:r>
            <a:r>
              <a:rPr lang="en-GB" dirty="0"/>
              <a:t>”: content, </a:t>
            </a:r>
          </a:p>
          <a:p>
            <a:r>
              <a:rPr lang="en-GB" dirty="0"/>
              <a:t>		“</a:t>
            </a:r>
            <a:r>
              <a:rPr lang="en-GB" dirty="0" err="1"/>
              <a:t>to_id</a:t>
            </a:r>
            <a:r>
              <a:rPr lang="en-GB" dirty="0"/>
              <a:t>”: ID, “</a:t>
            </a:r>
            <a:r>
              <a:rPr lang="en-GB" dirty="0" err="1"/>
              <a:t>to_content</a:t>
            </a:r>
            <a:r>
              <a:rPr lang="en-GB" dirty="0"/>
              <a:t>”: content,</a:t>
            </a:r>
          </a:p>
          <a:p>
            <a:r>
              <a:rPr lang="en-GB" dirty="0"/>
              <a:t>		“edge”: ”If, Line Number, True”</a:t>
            </a:r>
          </a:p>
          <a:p>
            <a:r>
              <a:rPr lang="en-GB" dirty="0"/>
              <a:t>	}…]</a:t>
            </a:r>
            <a:endParaRPr lang="en-GB" b="1" dirty="0"/>
          </a:p>
          <a:p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99774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040136"/>
            <a:ext cx="8676000" cy="5385034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05495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4" y="3046993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029855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Source-Sink Labeling</a:t>
            </a:r>
          </a:p>
        </p:txBody>
      </p:sp>
      <p:sp>
        <p:nvSpPr>
          <p:cNvPr id="3" name="文本框 13">
            <a:extLst>
              <a:ext uri="{FF2B5EF4-FFF2-40B4-BE49-F238E27FC236}">
                <a16:creationId xmlns:a16="http://schemas.microsoft.com/office/drawing/2014/main" id="{CB2D0DA2-1505-990E-D626-8067D361E7A9}"/>
              </a:ext>
            </a:extLst>
          </p:cNvPr>
          <p:cNvSpPr txBox="1"/>
          <p:nvPr/>
        </p:nvSpPr>
        <p:spPr>
          <a:xfrm>
            <a:off x="1850529" y="2343823"/>
            <a:ext cx="8664568" cy="509162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dirty="0"/>
              <a:t>You are an expert Python developer with expertise in control-flow analysis. You will be provided with a Control Flow Graph (CFG) constructed from a Python function. Your task is to traverse the CFG from the Entry node and identify source and sink nodes according to the definitions below.</a:t>
            </a:r>
          </a:p>
          <a:p>
            <a:r>
              <a:rPr lang="en-GB" dirty="0"/>
              <a:t>The </a:t>
            </a:r>
            <a:r>
              <a:rPr lang="en-GB" dirty="0" err="1"/>
              <a:t>analyzed</a:t>
            </a:r>
            <a:r>
              <a:rPr lang="en-GB" dirty="0"/>
              <a:t> function has the following signature: </a:t>
            </a:r>
            <a:r>
              <a:rPr lang="en-GB" i="1" dirty="0"/>
              <a:t>Foo(bar)</a:t>
            </a:r>
          </a:p>
          <a:p>
            <a:r>
              <a:rPr lang="en-GB" dirty="0"/>
              <a:t>A source is the first CFG node along its path that references one of its function parameters. </a:t>
            </a:r>
          </a:p>
          <a:p>
            <a:r>
              <a:rPr lang="en-GB" dirty="0"/>
              <a:t>A sink can either be:</a:t>
            </a:r>
          </a:p>
          <a:p>
            <a:pPr>
              <a:buFont typeface="+mj-lt"/>
              <a:buAutoNum type="arabicPeriod"/>
            </a:pPr>
            <a:r>
              <a:rPr lang="en-GB" dirty="0"/>
              <a:t> The predecessor of the exit node. E.g., a node that contains a return statement.</a:t>
            </a:r>
          </a:p>
          <a:p>
            <a:pPr>
              <a:buFont typeface="+mj-lt"/>
              <a:buAutoNum type="arabicPeriod"/>
            </a:pPr>
            <a:r>
              <a:rPr lang="en-GB" dirty="0"/>
              <a:t> The CFG node along its path that performs a last assignment to a global variable.</a:t>
            </a:r>
          </a:p>
          <a:p>
            <a:pPr>
              <a:buFont typeface="+mj-lt"/>
              <a:buAutoNum type="arabicPeriod"/>
            </a:pPr>
            <a:r>
              <a:rPr lang="en-GB" dirty="0"/>
              <a:t> A node that contains a raise statement.</a:t>
            </a:r>
          </a:p>
          <a:p>
            <a:r>
              <a:rPr lang="en-GB" dirty="0"/>
              <a:t>The CFG is given as follows:</a:t>
            </a:r>
          </a:p>
          <a:p>
            <a:r>
              <a:rPr lang="en-GB" dirty="0"/>
              <a:t># CFG CONTENT</a:t>
            </a:r>
          </a:p>
          <a:p>
            <a:r>
              <a:rPr lang="en-GB" dirty="0"/>
              <a:t>Output the source/sink node in the following format:</a:t>
            </a:r>
          </a:p>
          <a:p>
            <a:r>
              <a:rPr lang="en-GB" dirty="0"/>
              <a:t>[{</a:t>
            </a:r>
          </a:p>
          <a:p>
            <a:r>
              <a:rPr lang="en-GB" dirty="0"/>
              <a:t>	“type”: “</a:t>
            </a:r>
            <a:r>
              <a:rPr lang="en-GB" dirty="0" err="1"/>
              <a:t>source|sink</a:t>
            </a:r>
            <a:r>
              <a:rPr lang="en-GB" dirty="0"/>
              <a:t>”, </a:t>
            </a:r>
          </a:p>
          <a:p>
            <a:r>
              <a:rPr lang="en-GB" dirty="0"/>
              <a:t>	”sink_type”:”</a:t>
            </a:r>
            <a:r>
              <a:rPr lang="en-GB" dirty="0" err="1"/>
              <a:t>exit_pred|global_var_assign|raise</a:t>
            </a:r>
            <a:r>
              <a:rPr lang="en-GB" dirty="0"/>
              <a:t>” # non-empty for sinks</a:t>
            </a:r>
          </a:p>
          <a:p>
            <a:r>
              <a:rPr lang="en-GB" dirty="0"/>
              <a:t>	“node”: [”</a:t>
            </a:r>
            <a:r>
              <a:rPr lang="en-GB" dirty="0" err="1"/>
              <a:t>from_id</a:t>
            </a:r>
            <a:r>
              <a:rPr lang="en-GB" dirty="0"/>
              <a:t>”: ID, “</a:t>
            </a:r>
            <a:r>
              <a:rPr lang="en-GB" dirty="0" err="1"/>
              <a:t>from_content</a:t>
            </a:r>
            <a:r>
              <a:rPr lang="en-GB" dirty="0"/>
              <a:t>”: content,  “</a:t>
            </a:r>
            <a:r>
              <a:rPr lang="en-GB" dirty="0" err="1"/>
              <a:t>to_id</a:t>
            </a:r>
            <a:r>
              <a:rPr lang="en-GB" dirty="0"/>
              <a:t>”: ID, “</a:t>
            </a:r>
            <a:r>
              <a:rPr lang="en-GB" dirty="0" err="1"/>
              <a:t>to_content</a:t>
            </a:r>
            <a:r>
              <a:rPr lang="en-GB" dirty="0"/>
              <a:t>”: content]</a:t>
            </a:r>
          </a:p>
          <a:p>
            <a:r>
              <a:rPr lang="en-GB" dirty="0"/>
              <a:t>}]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94399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040137"/>
            <a:ext cx="8676000" cy="5675979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05495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4" y="3046993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029855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Graph Traversing</a:t>
            </a:r>
          </a:p>
        </p:txBody>
      </p:sp>
      <p:sp>
        <p:nvSpPr>
          <p:cNvPr id="3" name="文本框 13">
            <a:extLst>
              <a:ext uri="{FF2B5EF4-FFF2-40B4-BE49-F238E27FC236}">
                <a16:creationId xmlns:a16="http://schemas.microsoft.com/office/drawing/2014/main" id="{84D05AF5-12B5-F94C-15D0-6C552FAB4CD9}"/>
              </a:ext>
            </a:extLst>
          </p:cNvPr>
          <p:cNvSpPr txBox="1"/>
          <p:nvPr/>
        </p:nvSpPr>
        <p:spPr>
          <a:xfrm>
            <a:off x="1850529" y="2343823"/>
            <a:ext cx="8664568" cy="538257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dirty="0"/>
              <a:t>You are an expert Python developer with expertise in control-flow analysis. You will be provided with a Control Flow Graph (CFG) and identified source and sink nodes. Your task is to traverse the CFG from the source and sink nodes and identify source-sink paths. The </a:t>
            </a:r>
            <a:r>
              <a:rPr lang="en-GB" dirty="0" err="1"/>
              <a:t>analyzed</a:t>
            </a:r>
            <a:r>
              <a:rPr lang="en-GB" dirty="0"/>
              <a:t> function has the following signature: </a:t>
            </a:r>
            <a:r>
              <a:rPr lang="en-GB" i="1" dirty="0"/>
              <a:t>Foo(bar). </a:t>
            </a:r>
            <a:r>
              <a:rPr lang="en-GB" dirty="0"/>
              <a:t>The CFG is given as follows: # CFG CONTENT. The source and sink nodes are: # SOURCE and SINK nodes. Now you will output the source-sink paths in the following format:</a:t>
            </a:r>
          </a:p>
          <a:p>
            <a:r>
              <a:rPr lang="en-GB" dirty="0"/>
              <a:t>[{</a:t>
            </a:r>
          </a:p>
          <a:p>
            <a:r>
              <a:rPr lang="en-GB" dirty="0"/>
              <a:t>	“</a:t>
            </a:r>
            <a:r>
              <a:rPr lang="en-GB" dirty="0" err="1"/>
              <a:t>path_id</a:t>
            </a:r>
            <a:r>
              <a:rPr lang="en-GB" dirty="0"/>
              <a:t>”: 1,</a:t>
            </a:r>
          </a:p>
          <a:p>
            <a:r>
              <a:rPr lang="en-GB" dirty="0"/>
              <a:t>	“source-sink”: “”,</a:t>
            </a:r>
          </a:p>
          <a:p>
            <a:r>
              <a:rPr lang="en-GB" dirty="0"/>
              <a:t>	“edges”:[{</a:t>
            </a:r>
          </a:p>
          <a:p>
            <a:r>
              <a:rPr lang="en-GB" dirty="0"/>
              <a:t>			”</a:t>
            </a:r>
            <a:r>
              <a:rPr lang="en-GB" dirty="0" err="1"/>
              <a:t>from_id</a:t>
            </a:r>
            <a:r>
              <a:rPr lang="en-GB" dirty="0"/>
              <a:t>”: ID, “</a:t>
            </a:r>
            <a:r>
              <a:rPr lang="en-GB" dirty="0" err="1"/>
              <a:t>from_content</a:t>
            </a:r>
            <a:r>
              <a:rPr lang="en-GB" dirty="0"/>
              <a:t>”: content</a:t>
            </a:r>
          </a:p>
          <a:p>
            <a:r>
              <a:rPr lang="en-GB" dirty="0"/>
              <a:t>			 “</a:t>
            </a:r>
            <a:r>
              <a:rPr lang="en-GB" dirty="0" err="1"/>
              <a:t>to_id</a:t>
            </a:r>
            <a:r>
              <a:rPr lang="en-GB" dirty="0"/>
              <a:t>”: ID, “</a:t>
            </a:r>
            <a:r>
              <a:rPr lang="en-GB" dirty="0" err="1"/>
              <a:t>to_content</a:t>
            </a:r>
            <a:r>
              <a:rPr lang="en-GB" dirty="0"/>
              <a:t>”: content,</a:t>
            </a:r>
          </a:p>
          <a:p>
            <a:r>
              <a:rPr lang="en-GB" dirty="0"/>
              <a:t>			“edge”: ”If, Line Number, True”</a:t>
            </a:r>
          </a:p>
          <a:p>
            <a:r>
              <a:rPr lang="en-GB" dirty="0"/>
              <a:t>			}, {</a:t>
            </a:r>
          </a:p>
          <a:p>
            <a:r>
              <a:rPr lang="en-GB" dirty="0"/>
              <a:t>			”</a:t>
            </a:r>
            <a:r>
              <a:rPr lang="en-GB" dirty="0" err="1"/>
              <a:t>from_id</a:t>
            </a:r>
            <a:r>
              <a:rPr lang="en-GB" dirty="0"/>
              <a:t>”: ID, “</a:t>
            </a:r>
            <a:r>
              <a:rPr lang="en-GB" dirty="0" err="1"/>
              <a:t>from_content</a:t>
            </a:r>
            <a:r>
              <a:rPr lang="en-GB" dirty="0"/>
              <a:t>”: content</a:t>
            </a:r>
          </a:p>
          <a:p>
            <a:r>
              <a:rPr lang="en-GB" dirty="0"/>
              <a:t>			 “</a:t>
            </a:r>
            <a:r>
              <a:rPr lang="en-GB" dirty="0" err="1"/>
              <a:t>to_id</a:t>
            </a:r>
            <a:r>
              <a:rPr lang="en-GB" dirty="0"/>
              <a:t>”: ID, “</a:t>
            </a:r>
            <a:r>
              <a:rPr lang="en-GB" dirty="0" err="1"/>
              <a:t>to_content</a:t>
            </a:r>
            <a:r>
              <a:rPr lang="en-GB" dirty="0"/>
              <a:t>”: content,</a:t>
            </a:r>
          </a:p>
          <a:p>
            <a:r>
              <a:rPr lang="en-GB" dirty="0"/>
              <a:t>			“edge”: ”If, Line Number, True”, …</a:t>
            </a:r>
          </a:p>
          <a:p>
            <a:r>
              <a:rPr lang="en-GB" dirty="0"/>
              <a:t>			}]</a:t>
            </a:r>
          </a:p>
          <a:p>
            <a:r>
              <a:rPr lang="en-GB" dirty="0"/>
              <a:t>}]</a:t>
            </a:r>
          </a:p>
        </p:txBody>
      </p:sp>
    </p:spTree>
    <p:extLst>
      <p:ext uri="{BB962C8B-B14F-4D97-AF65-F5344CB8AC3E}">
        <p14:creationId xmlns:p14="http://schemas.microsoft.com/office/powerpoint/2010/main" val="539131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770226" y="216011"/>
            <a:ext cx="8676000" cy="17099532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770224" y="181370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11691" y="1222868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758794" y="205730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Incompatibility Analysis</a:t>
            </a:r>
          </a:p>
        </p:txBody>
      </p:sp>
      <p:sp>
        <p:nvSpPr>
          <p:cNvPr id="5" name="文本框 13">
            <a:extLst>
              <a:ext uri="{FF2B5EF4-FFF2-40B4-BE49-F238E27FC236}">
                <a16:creationId xmlns:a16="http://schemas.microsoft.com/office/drawing/2014/main" id="{B827C215-FDB3-41E0-0CA7-2E7CC9FDD2A8}"/>
              </a:ext>
            </a:extLst>
          </p:cNvPr>
          <p:cNvSpPr txBox="1"/>
          <p:nvPr/>
        </p:nvSpPr>
        <p:spPr>
          <a:xfrm>
            <a:off x="1834015" y="560985"/>
            <a:ext cx="8664568" cy="1688518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dirty="0"/>
              <a:t>You are an expert Python developer with expertise in control-flow analysis. You will be provided with a Control Flow Graph (CFG) and identified source-sink paths of two Python API versions (</a:t>
            </a:r>
            <a:r>
              <a:rPr lang="en-GB" dirty="0" err="1"/>
              <a:t>API_b</a:t>
            </a:r>
            <a:r>
              <a:rPr lang="en-GB" dirty="0"/>
              <a:t> and </a:t>
            </a:r>
            <a:r>
              <a:rPr lang="en-GB" dirty="0" err="1"/>
              <a:t>API_a</a:t>
            </a:r>
            <a:r>
              <a:rPr lang="en-GB" dirty="0"/>
              <a:t>). Your task is to traverse the CFG paths and </a:t>
            </a:r>
            <a:r>
              <a:rPr lang="en-GB" dirty="0" err="1"/>
              <a:t>analyze</a:t>
            </a:r>
            <a:r>
              <a:rPr lang="en-GB" dirty="0"/>
              <a:t> the incompatibilities between the two versions. The Python API incompatibilities and the corresponding detection logic are illustrated as follows: </a:t>
            </a:r>
          </a:p>
          <a:p>
            <a:pPr marL="342900" indent="-342900">
              <a:buAutoNum type="arabicPeriod"/>
            </a:pPr>
            <a:r>
              <a:rPr lang="en-GB" b="1" dirty="0"/>
              <a:t>Parameter Incompatibilities</a:t>
            </a:r>
          </a:p>
          <a:p>
            <a:r>
              <a:rPr lang="en-GB" dirty="0"/>
              <a:t>	Group the source–sink paths by parameter (source) name in the form &lt;</a:t>
            </a:r>
            <a:r>
              <a:rPr lang="en-GB" dirty="0" err="1"/>
              <a:t>source_name</a:t>
            </a:r>
            <a:r>
              <a:rPr lang="en-GB" dirty="0"/>
              <a:t>, source–sink paths&gt;. Then perform the following analyses: </a:t>
            </a:r>
            <a:r>
              <a:rPr lang="en-GB" i="1" u="sng" dirty="0"/>
              <a:t>(1) Default Parameter Value Change Analysis (CI4).</a:t>
            </a:r>
            <a:r>
              <a:rPr lang="en-GB" i="1" dirty="0"/>
              <a:t> </a:t>
            </a:r>
            <a:r>
              <a:rPr lang="en-GB" dirty="0"/>
              <a:t>Compare the parameter (source) names between </a:t>
            </a:r>
            <a:r>
              <a:rPr lang="en-GB" dirty="0" err="1"/>
              <a:t>API_b</a:t>
            </a:r>
            <a:r>
              <a:rPr lang="en-GB" dirty="0"/>
              <a:t> and </a:t>
            </a:r>
            <a:r>
              <a:rPr lang="en-GB" dirty="0" err="1"/>
              <a:t>API_a</a:t>
            </a:r>
            <a:r>
              <a:rPr lang="en-GB" dirty="0"/>
              <a:t>. For parameters that exist in both versions, identify a Parameter Default Value Change (CI4) if the parameter has the same name but different default values across the two versions. </a:t>
            </a:r>
            <a:r>
              <a:rPr lang="en-GB" i="1" u="sng" dirty="0"/>
              <a:t>(2) Parameter Addition, Deletion and Rename Analysis (CI1, CI3). </a:t>
            </a:r>
            <a:r>
              <a:rPr lang="en-GB" dirty="0"/>
              <a:t>Identify parameters that are added in </a:t>
            </a:r>
            <a:r>
              <a:rPr lang="en-GB" dirty="0" err="1"/>
              <a:t>API_a</a:t>
            </a:r>
            <a:r>
              <a:rPr lang="en-GB" dirty="0"/>
              <a:t> or deleted from </a:t>
            </a:r>
            <a:r>
              <a:rPr lang="en-GB" dirty="0" err="1"/>
              <a:t>API_b</a:t>
            </a:r>
            <a:r>
              <a:rPr lang="en-GB" dirty="0"/>
              <a:t>. For each added parameter in </a:t>
            </a:r>
            <a:r>
              <a:rPr lang="en-GB" dirty="0" err="1"/>
              <a:t>API_a</a:t>
            </a:r>
            <a:r>
              <a:rPr lang="en-GB" dirty="0"/>
              <a:t>, compare it against each deleted parameter from </a:t>
            </a:r>
            <a:r>
              <a:rPr lang="en-GB" dirty="0" err="1"/>
              <a:t>API_b</a:t>
            </a:r>
            <a:r>
              <a:rPr lang="en-GB" dirty="0"/>
              <a:t> by </a:t>
            </a:r>
            <a:r>
              <a:rPr lang="en-GB" dirty="0" err="1"/>
              <a:t>analyzing</a:t>
            </a:r>
            <a:r>
              <a:rPr lang="en-GB" dirty="0"/>
              <a:t> their corresponding source–sink paths: If the source–sink paths are semantically similar, identify the change as a Parameter Rename (CI3); If no semantically similar deleted parameter is found</a:t>
            </a:r>
            <a:r>
              <a:rPr lang="en-US" dirty="0"/>
              <a:t> and the added parameter is not an optional parameter at the end of the parameter list</a:t>
            </a:r>
            <a:r>
              <a:rPr lang="en-GB" dirty="0"/>
              <a:t>, classify the change as a Parameter Addition or Deletion (CI1). </a:t>
            </a:r>
            <a:r>
              <a:rPr lang="en-US" dirty="0"/>
              <a:t>Two source–sink paths are considered semantically similar if the parameter assignment paths exhibit semantic equivalence, and the parameter usages, including value propagation to other variables, involvement in control-flow structures, and impact on observable execution behavior, are highly consistent. </a:t>
            </a:r>
            <a:r>
              <a:rPr lang="en-US" altLang="zh-CN" i="1" u="sng" dirty="0"/>
              <a:t>(3) </a:t>
            </a:r>
            <a:r>
              <a:rPr lang="en-US" altLang="zh-CN" i="1" u="sng" dirty="0" err="1"/>
              <a:t>Kwargs</a:t>
            </a:r>
            <a:r>
              <a:rPr lang="en-US" altLang="zh-CN" i="1" u="sng" dirty="0"/>
              <a:t> Key Addition, Deletion Analysis (CI2).</a:t>
            </a:r>
            <a:r>
              <a:rPr lang="en-US" altLang="zh-CN" u="sng" dirty="0"/>
              <a:t> </a:t>
            </a:r>
            <a:r>
              <a:rPr lang="en-US" altLang="zh-CN" dirty="0"/>
              <a:t>For parameters defined as </a:t>
            </a:r>
            <a:r>
              <a:rPr lang="en-US" altLang="zh-CN" dirty="0" err="1"/>
              <a:t>kwargs</a:t>
            </a:r>
            <a:r>
              <a:rPr lang="en-US" altLang="zh-CN" dirty="0"/>
              <a:t>, extract the keys accessed along their source–sink paths in both </a:t>
            </a:r>
            <a:r>
              <a:rPr lang="en-US" altLang="zh-CN" dirty="0" err="1"/>
              <a:t>API_b</a:t>
            </a:r>
            <a:r>
              <a:rPr lang="en-US" altLang="zh-CN" dirty="0"/>
              <a:t> and </a:t>
            </a:r>
            <a:r>
              <a:rPr lang="en-US" altLang="zh-CN" dirty="0" err="1"/>
              <a:t>API_a</a:t>
            </a:r>
            <a:r>
              <a:rPr lang="en-US" altLang="zh-CN" dirty="0"/>
              <a:t> (e.g., via </a:t>
            </a:r>
            <a:r>
              <a:rPr lang="en-US" altLang="zh-CN" dirty="0" err="1"/>
              <a:t>kwargs.get</a:t>
            </a:r>
            <a:r>
              <a:rPr lang="en-US" altLang="zh-CN" dirty="0"/>
              <a:t>(key) or </a:t>
            </a:r>
            <a:r>
              <a:rPr lang="en-US" altLang="zh-CN" dirty="0" err="1"/>
              <a:t>kwargs</a:t>
            </a:r>
            <a:r>
              <a:rPr lang="en-US" altLang="zh-CN" dirty="0"/>
              <a:t>[key]). If the sets of accessed keys differ between the two versions, identify the change as a </a:t>
            </a:r>
            <a:r>
              <a:rPr lang="en-US" altLang="zh-CN" dirty="0" err="1"/>
              <a:t>Kwargs</a:t>
            </a:r>
            <a:r>
              <a:rPr lang="en-US" altLang="zh-CN" dirty="0"/>
              <a:t> Key Addition/Deletion (CI2).</a:t>
            </a:r>
            <a:endParaRPr lang="en-US" altLang="zh-CN" dirty="0">
              <a:solidFill>
                <a:srgbClr val="FF0000"/>
              </a:solidFill>
              <a:latin typeface="Helvetica Neue" panose="02000503000000020004" pitchFamily="2" charset="0"/>
            </a:endParaRPr>
          </a:p>
          <a:p>
            <a:r>
              <a:rPr lang="en-US" altLang="zh-CN" b="1" dirty="0"/>
              <a:t>2. Exceptions </a:t>
            </a:r>
            <a:r>
              <a:rPr lang="en-GB" b="1" dirty="0"/>
              <a:t>Incompatibilities</a:t>
            </a:r>
            <a:endParaRPr lang="en-US" altLang="zh-CN" b="1" dirty="0"/>
          </a:p>
          <a:p>
            <a:r>
              <a:rPr lang="en-GB" dirty="0"/>
              <a:t>	Select the source–sink paths whose </a:t>
            </a:r>
            <a:r>
              <a:rPr lang="en-GB" dirty="0" err="1"/>
              <a:t>sink_type</a:t>
            </a:r>
            <a:r>
              <a:rPr lang="en-GB" dirty="0"/>
              <a:t> is raise, and group them by exception (sink) name in the form &lt;</a:t>
            </a:r>
            <a:r>
              <a:rPr lang="en-GB" dirty="0" err="1"/>
              <a:t>sink_name</a:t>
            </a:r>
            <a:r>
              <a:rPr lang="en-GB" dirty="0"/>
              <a:t>, source–sink paths&gt;. Then perform the following analyses: </a:t>
            </a:r>
            <a:r>
              <a:rPr lang="en-GB" i="1" u="sng" dirty="0"/>
              <a:t>(1) Exception Addition or Deletion (CI6). </a:t>
            </a:r>
            <a:r>
              <a:rPr lang="en-GB" dirty="0"/>
              <a:t>Compare the exception (sink) names between </a:t>
            </a:r>
            <a:r>
              <a:rPr lang="en-GB" dirty="0" err="1"/>
              <a:t>API_b</a:t>
            </a:r>
            <a:r>
              <a:rPr lang="en-GB" dirty="0"/>
              <a:t> and </a:t>
            </a:r>
            <a:r>
              <a:rPr lang="en-GB" dirty="0" err="1"/>
              <a:t>API_a</a:t>
            </a:r>
            <a:r>
              <a:rPr lang="en-GB" dirty="0"/>
              <a:t>. If an exception name appears in one version but has no corresponding exception with the same name in the other version, identify the change as an Exception Change (CI6) (addition or deletion). </a:t>
            </a:r>
            <a:r>
              <a:rPr lang="en-GB" i="1" u="sng" dirty="0"/>
              <a:t>(2) Parameter Boundary Range Change (CI5). </a:t>
            </a:r>
            <a:r>
              <a:rPr lang="en-GB" dirty="0"/>
              <a:t>For exception names that appear in both </a:t>
            </a:r>
            <a:r>
              <a:rPr lang="en-GB" dirty="0" err="1"/>
              <a:t>API_b</a:t>
            </a:r>
            <a:r>
              <a:rPr lang="en-GB" dirty="0"/>
              <a:t> and </a:t>
            </a:r>
            <a:r>
              <a:rPr lang="en-GB" dirty="0" err="1"/>
              <a:t>API_a</a:t>
            </a:r>
            <a:r>
              <a:rPr lang="en-GB" dirty="0"/>
              <a:t>, compare their corresponding source–sink paths. Extract the control-flow conditions under which the exception is raised (e.g., conditional expressions guarding the raise statement)</a:t>
            </a:r>
            <a:r>
              <a:rPr lang="en-US" altLang="zh-CN" dirty="0"/>
              <a:t> , and synthesize the input-parameter (source) value ranges required to trigger each exception</a:t>
            </a:r>
            <a:r>
              <a:rPr lang="en-GB" dirty="0"/>
              <a:t>. If the exception is raised </a:t>
            </a:r>
            <a:r>
              <a:rPr lang="en-GB" dirty="0">
                <a:solidFill>
                  <a:srgbClr val="FF0000"/>
                </a:solidFill>
              </a:rPr>
              <a:t>under different </a:t>
            </a:r>
            <a:r>
              <a:rPr lang="en-GB" dirty="0"/>
              <a:t>parameter value ranges between the two versions, report the change as a Parameter Range Change for Exception (CI5).</a:t>
            </a:r>
          </a:p>
          <a:p>
            <a:r>
              <a:rPr lang="en-GB" b="1" dirty="0"/>
              <a:t>3. Non-local Variable Incompatibilities</a:t>
            </a:r>
          </a:p>
          <a:p>
            <a:r>
              <a:rPr lang="en-GB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	</a:t>
            </a:r>
            <a:r>
              <a:rPr lang="en-GB" dirty="0"/>
              <a:t>Select the source–sink paths whose </a:t>
            </a:r>
            <a:r>
              <a:rPr lang="en-GB" dirty="0" err="1"/>
              <a:t>sink_type</a:t>
            </a:r>
            <a:r>
              <a:rPr lang="en-GB" dirty="0"/>
              <a:t> is non-</a:t>
            </a:r>
            <a:r>
              <a:rPr lang="en-GB" dirty="0" err="1"/>
              <a:t>local_var_assign</a:t>
            </a:r>
            <a:r>
              <a:rPr lang="en-GB" dirty="0"/>
              <a:t>(</a:t>
            </a:r>
            <a:r>
              <a:rPr lang="en-GB" dirty="0" err="1"/>
              <a:t>global_var_assign</a:t>
            </a:r>
            <a:r>
              <a:rPr lang="en-GB" dirty="0"/>
              <a:t>, </a:t>
            </a:r>
            <a:r>
              <a:rPr lang="en-GB" dirty="0" err="1"/>
              <a:t>reference_var_assign</a:t>
            </a:r>
            <a:r>
              <a:rPr lang="en-GB" dirty="0"/>
              <a:t>), and group them by non-local variable (sink) name in the form &lt;</a:t>
            </a:r>
            <a:r>
              <a:rPr lang="en-GB" dirty="0" err="1"/>
              <a:t>sink_name</a:t>
            </a:r>
            <a:r>
              <a:rPr lang="en-GB" dirty="0"/>
              <a:t>, source–sink paths&gt;. Then, for non-local variables that appear in both </a:t>
            </a:r>
            <a:r>
              <a:rPr lang="en-GB" dirty="0" err="1"/>
              <a:t>API_b</a:t>
            </a:r>
            <a:r>
              <a:rPr lang="en-GB" dirty="0"/>
              <a:t> and </a:t>
            </a:r>
            <a:r>
              <a:rPr lang="en-GB" dirty="0" err="1"/>
              <a:t>API_a</a:t>
            </a:r>
            <a:r>
              <a:rPr lang="en-GB" dirty="0"/>
              <a:t>, compare their corresponding source–sink paths. Extract the control-flow conditions under which the non-local variable is assigned (e.g., guarding predicates or value constraints). If the </a:t>
            </a:r>
            <a:r>
              <a:rPr lang="en-GB" altLang="zh-CN" dirty="0"/>
              <a:t>non-local</a:t>
            </a:r>
            <a:r>
              <a:rPr lang="en-GB" dirty="0"/>
              <a:t> variable type is global variable and is assigned under different variable conditions or parameter value ranges between the two versions, report the change as a Global Variable Value Change (CI8)</a:t>
            </a:r>
            <a:r>
              <a:rPr lang="en-GB" altLang="zh-CN" dirty="0"/>
              <a:t>. If the non-local variable type is reference variable and is assigned or its attribute is assigned under different variable conditions or parameter value ranges between the two versions, report the change as a Reference Variable Value Change (CI9).</a:t>
            </a:r>
            <a:r>
              <a:rPr lang="en-GB" dirty="0"/>
              <a:t> </a:t>
            </a:r>
            <a:endParaRPr lang="en-GB" altLang="zh-CN" dirty="0">
              <a:solidFill>
                <a:srgbClr val="FF0000"/>
              </a:solidFill>
              <a:latin typeface="Helvetica Neue" panose="02000503000000020004" pitchFamily="2" charset="0"/>
            </a:endParaRPr>
          </a:p>
          <a:p>
            <a:r>
              <a:rPr lang="en-US" altLang="zh-CN" b="1" dirty="0"/>
              <a:t>4. Return Incompatibilities</a:t>
            </a:r>
          </a:p>
          <a:p>
            <a:r>
              <a:rPr lang="en-US" altLang="zh-CN" dirty="0">
                <a:latin typeface="Helvetica Neue" panose="02000503000000020004" pitchFamily="2" charset="0"/>
              </a:rPr>
              <a:t>	</a:t>
            </a:r>
            <a:r>
              <a:rPr lang="en-GB" dirty="0"/>
              <a:t> Select the source–sink paths whose </a:t>
            </a:r>
            <a:r>
              <a:rPr lang="en-GB" dirty="0" err="1"/>
              <a:t>sink_type</a:t>
            </a:r>
            <a:r>
              <a:rPr lang="en-GB" dirty="0"/>
              <a:t> is </a:t>
            </a:r>
            <a:r>
              <a:rPr lang="en-GB" dirty="0" err="1"/>
              <a:t>exit_pred</a:t>
            </a:r>
            <a:r>
              <a:rPr lang="en-GB" dirty="0"/>
              <a:t>. First, compare the number of predecessors (i.e., extracted &lt;predecessor, source–sink paths&gt; pairs) between </a:t>
            </a:r>
            <a:r>
              <a:rPr lang="en-GB" dirty="0" err="1"/>
              <a:t>API_b</a:t>
            </a:r>
            <a:r>
              <a:rPr lang="en-GB" dirty="0"/>
              <a:t> and </a:t>
            </a:r>
            <a:r>
              <a:rPr lang="en-GB" dirty="0" err="1"/>
              <a:t>API_a</a:t>
            </a:r>
            <a:r>
              <a:rPr lang="en-GB" dirty="0"/>
              <a:t>. Then perform predecessor mapping across versions. For each &lt;predecessor, source–sink paths&gt; pair in </a:t>
            </a:r>
            <a:r>
              <a:rPr lang="en-GB" dirty="0" err="1"/>
              <a:t>API_b</a:t>
            </a:r>
            <a:r>
              <a:rPr lang="en-GB" dirty="0"/>
              <a:t> and </a:t>
            </a:r>
            <a:r>
              <a:rPr lang="en-GB" dirty="0" err="1"/>
              <a:t>API_a</a:t>
            </a:r>
            <a:r>
              <a:rPr lang="en-GB" dirty="0"/>
              <a:t>, identify corresponding predecessors across the two versions by matching them based on the semantic similarity of their source–sink paths. Identify predecessors that cannot be mapped between </a:t>
            </a:r>
            <a:r>
              <a:rPr lang="en-GB" dirty="0" err="1"/>
              <a:t>API_b</a:t>
            </a:r>
            <a:r>
              <a:rPr lang="en-GB" dirty="0"/>
              <a:t> and </a:t>
            </a:r>
            <a:r>
              <a:rPr lang="en-GB" dirty="0" err="1"/>
              <a:t>API_a</a:t>
            </a:r>
            <a:r>
              <a:rPr lang="en-GB" dirty="0"/>
              <a:t>. If a new predecessor type appears in either version, report the change as a Return Type Change. For each mapped predecessor pair, compare their corresponding source–sink paths. If the return conditions</a:t>
            </a:r>
            <a:r>
              <a:rPr lang="en-GB" dirty="0">
                <a:solidFill>
                  <a:srgbClr val="FF0000"/>
                </a:solidFill>
              </a:rPr>
              <a:t>, value constraints, or controlling predicates differ between the two versions, r</a:t>
            </a:r>
            <a:r>
              <a:rPr lang="en-GB" dirty="0"/>
              <a:t>eport the change as a Return Value Change (CI7).</a:t>
            </a:r>
          </a:p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529B1-5768-6B67-563A-6AD9792D6252}"/>
              </a:ext>
            </a:extLst>
          </p:cNvPr>
          <p:cNvSpPr txBox="1"/>
          <p:nvPr/>
        </p:nvSpPr>
        <p:spPr>
          <a:xfrm>
            <a:off x="17152781" y="2338013"/>
            <a:ext cx="81724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A parameter `p` exists in P2 but not in P1 and its type is `positional`, mark CI1.  A parameter `p` exists in P2 but not in P1 and its type is `optional`, and the parameter at `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</a:rPr>
              <a:t>position_index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+ 1` exists in P2, mark CI1.  A parameter `p` exists both in P1 and P2(same name, can have different position index or different type 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</a:rPr>
              <a:t>nanotation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) but the default values are different, mark CI4.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2694D8-3AD7-62F4-708C-DBAC22C5B6A7}"/>
              </a:ext>
            </a:extLst>
          </p:cNvPr>
          <p:cNvSpPr txBox="1"/>
          <p:nvPr/>
        </p:nvSpPr>
        <p:spPr>
          <a:xfrm>
            <a:off x="14403253" y="14984728"/>
            <a:ext cx="691224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3. **CI5 (Parameter Range Change for exception)**: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. If 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</a:rPr>
              <a:t>identifing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following situation, mark CI5: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   - For exception nodes in E1 and E2: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   1. nodes amounts are different and the added/deleted exception `e` is associated with condition `c` which contains a parameter `p` (`p` must in condition description of `c`).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   2. Or for any pair of exception (`e1` in E1 and `e2` in E2): backtrace the condition c1 for e1 and c2 for e2 through CFG. If both condition contain a parameter `p` but have different range criteria for `p`.</a:t>
            </a: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9B2787C2-7442-4A5E-8AD1-A933DD155581}"/>
              </a:ext>
            </a:extLst>
          </p:cNvPr>
          <p:cNvSpPr txBox="1"/>
          <p:nvPr/>
        </p:nvSpPr>
        <p:spPr>
          <a:xfrm>
            <a:off x="10992459" y="4691688"/>
            <a:ext cx="8172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+ and the added parameter is not an optional parameter at the end of the parameter list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A154DD-71DA-438C-B2A8-B912D1CDCE35}"/>
              </a:ext>
            </a:extLst>
          </p:cNvPr>
          <p:cNvSpPr txBox="1"/>
          <p:nvPr/>
        </p:nvSpPr>
        <p:spPr>
          <a:xfrm>
            <a:off x="10793256" y="9347299"/>
            <a:ext cx="127190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+ , and synthesize the input-parameter (source) value ranges required to trigger each exception</a:t>
            </a:r>
          </a:p>
          <a:p>
            <a:endParaRPr lang="en-US" altLang="zh-CN" dirty="0"/>
          </a:p>
          <a:p>
            <a:r>
              <a:rPr lang="en-US" altLang="zh-CN" dirty="0"/>
              <a:t>Ori: </a:t>
            </a:r>
            <a:r>
              <a:rPr lang="en-GB" altLang="zh-CN" dirty="0"/>
              <a:t>Extract the control-flow conditions under which the exception is raised (e.g., conditional expressions guarding the raise statement). If the exception is raised </a:t>
            </a:r>
            <a:r>
              <a:rPr lang="en-GB" altLang="zh-CN" dirty="0">
                <a:solidFill>
                  <a:srgbClr val="FF0000"/>
                </a:solidFill>
              </a:rPr>
              <a:t>under different variable conditions </a:t>
            </a:r>
            <a:r>
              <a:rPr lang="en-GB" altLang="zh-CN" dirty="0"/>
              <a:t>or parameter value ranges between the two versions, report the change as a Parameter Range Change for Exception (CI5).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1078984-F3E5-4317-8F2E-EE1E1700D64D}"/>
              </a:ext>
            </a:extLst>
          </p:cNvPr>
          <p:cNvSpPr txBox="1"/>
          <p:nvPr/>
        </p:nvSpPr>
        <p:spPr>
          <a:xfrm>
            <a:off x="10948009" y="13185051"/>
            <a:ext cx="127190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Global -&gt; Non-local</a:t>
            </a:r>
          </a:p>
          <a:p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+ CI8: when non-local is global</a:t>
            </a:r>
          </a:p>
          <a:p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+ CI9: when non-local is reference</a:t>
            </a:r>
            <a:endParaRPr lang="en-GB" altLang="zh-CN" dirty="0">
              <a:solidFill>
                <a:srgbClr val="FF0000"/>
              </a:solidFill>
              <a:latin typeface="Helvetica Neue" panose="02000503000000020004" pitchFamily="2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E6FE874-9AC0-4B04-9093-76E3BA658915}"/>
              </a:ext>
            </a:extLst>
          </p:cNvPr>
          <p:cNvSpPr txBox="1"/>
          <p:nvPr/>
        </p:nvSpPr>
        <p:spPr>
          <a:xfrm>
            <a:off x="10992459" y="5779567"/>
            <a:ext cx="127190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Ori: </a:t>
            </a:r>
            <a:r>
              <a:rPr lang="en-GB" altLang="zh-CN" dirty="0"/>
              <a:t>Two source–sink paths are considered </a:t>
            </a:r>
            <a:r>
              <a:rPr lang="en-GB" altLang="zh-CN" dirty="0">
                <a:solidFill>
                  <a:srgbClr val="FF0000"/>
                </a:solidFill>
              </a:rPr>
              <a:t>semantically similar if the parameter usages in the </a:t>
            </a:r>
            <a:r>
              <a:rPr lang="en-GB" altLang="zh-CN" dirty="0"/>
              <a:t>API implementation serve the same semantic role or affect the same execution </a:t>
            </a:r>
            <a:r>
              <a:rPr lang="en-GB" altLang="zh-CN" dirty="0" err="1"/>
              <a:t>behavior</a:t>
            </a:r>
            <a:r>
              <a:rPr lang="en-GB" altLang="zh-CN" dirty="0"/>
              <a:t>.</a:t>
            </a:r>
            <a:r>
              <a:rPr lang="en-US" altLang="zh-CN" dirty="0"/>
              <a:t> </a:t>
            </a:r>
          </a:p>
          <a:p>
            <a:pPr marL="342900" indent="-342900">
              <a:buAutoNum type="arabicPeriod"/>
            </a:pPr>
            <a:r>
              <a:rPr lang="en-US" altLang="zh-CN" dirty="0"/>
              <a:t>+ the parameter assignment paths exhibit semantic equivalence, </a:t>
            </a:r>
          </a:p>
          <a:p>
            <a:pPr marL="342900" indent="-342900">
              <a:buAutoNum type="arabicPeriod"/>
            </a:pPr>
            <a:r>
              <a:rPr lang="en-US" altLang="zh-CN" dirty="0"/>
              <a:t>+ and the parameter usages, including value propagation to other variables, involvement in control-flow structures, and impact on observable execution behavior, are highly consistent.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34175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040137"/>
            <a:ext cx="8676000" cy="7816069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05495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4" y="3046993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029855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Test Case Generator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1850527" y="2399187"/>
            <a:ext cx="8676000" cy="745701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System: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are now a code analyst and reverse engineering expert, with in-depth knowledge of various encryption algorithms and the underlying principles of ransomware.</a:t>
            </a:r>
          </a:p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Your task is to determine whether the given code implements an encryption function.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Rules and conditions: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the code does not meet the criteria, set 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 to false.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output should be structured in JSON format: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{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function_name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</a:t>
            </a:r>
            <a:r>
              <a:rPr lang="zh-CN" altLang="en-US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"",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true/false,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"description": "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Elaborate your reason here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."   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        }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Hash functions and other irreversible algorithms are not considered as encryption algorithms.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is an example of an encryption function from a cryptographic library: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you are ready, please reply 'Understood’.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40020641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040137"/>
            <a:ext cx="8676000" cy="7816069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05495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4" y="3046993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029855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Step-by-Step Simulator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1850527" y="2399187"/>
            <a:ext cx="8676000" cy="745701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System: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are now a code analyst and reverse engineering expert, with in-depth knowledge of various encryption algorithms and the underlying principles of ransomware.</a:t>
            </a:r>
          </a:p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Your task is to determine whether the given code implements an encryption function.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Rules and conditions: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the code does not meet the criteria, set 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 to false.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output should be structured in JSON format: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{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function_name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</a:t>
            </a:r>
            <a:r>
              <a:rPr lang="zh-CN" altLang="en-US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"",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true/false,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"description": "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Elaborate your reason here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."   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        }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Hash functions and other irreversible algorithms are not considered as encryption algorithms.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is an example of an encryption function from a cryptographic library: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you are ready, please reply 'Understood’.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3665501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040137"/>
            <a:ext cx="8676000" cy="7816069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05495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4" y="3046993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029855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Simulated Result Analyzer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1850527" y="2399187"/>
            <a:ext cx="8676000" cy="745701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System: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are now a code analyst and reverse engineering expert, with in-depth knowledge of various encryption algorithms and the underlying principles of ransomware.</a:t>
            </a:r>
          </a:p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Your task is to determine whether the given code implements an encryption function.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Rules and conditions: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the code does not meet the criteria, set 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 to false.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output should be structured in JSON format: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{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function_name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</a:t>
            </a:r>
            <a:r>
              <a:rPr lang="zh-CN" altLang="en-US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"",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true/false,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"description": "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Elaborate your reason here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."   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        }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Hash functions and other irreversible algorithms are not considered as encryption algorithms.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is an example of an encryption function from a cryptographic library: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you are ready, please reply 'Understood’.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3467090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4898</TotalTime>
  <Words>2726</Words>
  <Application>Microsoft Office PowerPoint</Application>
  <PresentationFormat>自定义</PresentationFormat>
  <Paragraphs>199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2" baseType="lpstr">
      <vt:lpstr>Helvetica Neue</vt:lpstr>
      <vt:lpstr>Arial</vt:lpstr>
      <vt:lpstr>Calibri</vt:lpstr>
      <vt:lpstr>Calibri Light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XY L</dc:creator>
  <cp:lastModifiedBy>锦洋 何</cp:lastModifiedBy>
  <cp:revision>84</cp:revision>
  <dcterms:created xsi:type="dcterms:W3CDTF">2025-04-11T05:10:56Z</dcterms:created>
  <dcterms:modified xsi:type="dcterms:W3CDTF">2026-01-05T12:15:26Z</dcterms:modified>
</cp:coreProperties>
</file>