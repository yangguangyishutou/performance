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3588" cy="14057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F5597"/>
    <a:srgbClr val="76717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403" autoAdjust="0"/>
    <p:restoredTop sz="96045"/>
  </p:normalViewPr>
  <p:slideViewPr>
    <p:cSldViewPr snapToGrid="0">
      <p:cViewPr varScale="1">
        <p:scale>
          <a:sx n="55" d="100"/>
          <a:sy n="55" d="100"/>
        </p:scale>
        <p:origin x="3464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4973AF-1E6D-4746-8FA3-3206D360D595}" type="datetimeFigureOut">
              <a:rPr lang="en-CN" smtClean="0"/>
              <a:t>2025/12/11</a:t>
            </a:fld>
            <a:endParaRPr lang="en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090738" y="1143000"/>
            <a:ext cx="26765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127BCB-9534-0947-95A2-138BE5565305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2959768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1pPr>
    <a:lvl2pPr marL="543611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2pPr>
    <a:lvl3pPr marL="1087222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3pPr>
    <a:lvl4pPr marL="1630832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4pPr>
    <a:lvl5pPr marL="2174443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5pPr>
    <a:lvl6pPr marL="2718054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6pPr>
    <a:lvl7pPr marL="3261665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7pPr>
    <a:lvl8pPr marL="3805276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8pPr>
    <a:lvl9pPr marL="4348886" algn="l" defTabSz="1087222" rtl="0" eaLnBrk="1" latinLnBrk="0" hangingPunct="1">
      <a:defRPr sz="142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B ----</a:t>
            </a:r>
            <a:r>
              <a:rPr lang="en-CN" dirty="0">
                <a:sym typeface="Wingdings" pitchFamily="2" charset="2"/>
              </a:rPr>
              <a:t> function1</a:t>
            </a: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r>
              <a:rPr lang="en-CN" dirty="0">
                <a:sym typeface="Wingdings" pitchFamily="2" charset="2"/>
              </a:rPr>
              <a:t>Library -&gt; function2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127BCB-9534-0947-95A2-138BE5565305}" type="slidenum">
              <a:rPr lang="en-CN" smtClean="0"/>
              <a:t>1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749095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B ----</a:t>
            </a:r>
            <a:r>
              <a:rPr lang="en-CN" dirty="0">
                <a:sym typeface="Wingdings" pitchFamily="2" charset="2"/>
              </a:rPr>
              <a:t> function1</a:t>
            </a: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r>
              <a:rPr lang="en-CN" dirty="0">
                <a:sym typeface="Wingdings" pitchFamily="2" charset="2"/>
              </a:rPr>
              <a:t>Library -&gt; function2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127BCB-9534-0947-95A2-138BE5565305}" type="slidenum">
              <a:rPr lang="en-CN" smtClean="0"/>
              <a:t>2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1255791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B ----</a:t>
            </a:r>
            <a:r>
              <a:rPr lang="en-CN" dirty="0">
                <a:sym typeface="Wingdings" pitchFamily="2" charset="2"/>
              </a:rPr>
              <a:t> function1</a:t>
            </a: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r>
              <a:rPr lang="en-CN" dirty="0">
                <a:sym typeface="Wingdings" pitchFamily="2" charset="2"/>
              </a:rPr>
              <a:t>Library -&gt; function2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127BCB-9534-0947-95A2-138BE5565305}" type="slidenum">
              <a:rPr lang="en-CN" smtClean="0"/>
              <a:t>3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650022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B ----</a:t>
            </a:r>
            <a:r>
              <a:rPr lang="en-CN" dirty="0">
                <a:sym typeface="Wingdings" pitchFamily="2" charset="2"/>
              </a:rPr>
              <a:t> function1</a:t>
            </a: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r>
              <a:rPr lang="en-CN" dirty="0">
                <a:sym typeface="Wingdings" pitchFamily="2" charset="2"/>
              </a:rPr>
              <a:t>Library -&gt; function2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127BCB-9534-0947-95A2-138BE5565305}" type="slidenum">
              <a:rPr lang="en-CN" smtClean="0"/>
              <a:t>4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9755658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B ----</a:t>
            </a:r>
            <a:r>
              <a:rPr lang="en-CN" dirty="0">
                <a:sym typeface="Wingdings" pitchFamily="2" charset="2"/>
              </a:rPr>
              <a:t> function1</a:t>
            </a: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r>
              <a:rPr lang="en-CN" dirty="0">
                <a:sym typeface="Wingdings" pitchFamily="2" charset="2"/>
              </a:rPr>
              <a:t>Library -&gt; function2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127BCB-9534-0947-95A2-138BE5565305}" type="slidenum">
              <a:rPr lang="en-CN" smtClean="0"/>
              <a:t>5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64555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B ----</a:t>
            </a:r>
            <a:r>
              <a:rPr lang="en-CN" dirty="0">
                <a:sym typeface="Wingdings" pitchFamily="2" charset="2"/>
              </a:rPr>
              <a:t> function1</a:t>
            </a: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r>
              <a:rPr lang="en-CN" dirty="0">
                <a:sym typeface="Wingdings" pitchFamily="2" charset="2"/>
              </a:rPr>
              <a:t>Library -&gt; function2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127BCB-9534-0947-95A2-138BE5565305}" type="slidenum">
              <a:rPr lang="en-CN" smtClean="0"/>
              <a:t>6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5019494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N" dirty="0"/>
              <a:t>B ----</a:t>
            </a:r>
            <a:r>
              <a:rPr lang="en-CN" dirty="0">
                <a:sym typeface="Wingdings" pitchFamily="2" charset="2"/>
              </a:rPr>
              <a:t> function1</a:t>
            </a: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endParaRPr lang="en-CN" dirty="0">
              <a:sym typeface="Wingdings" pitchFamily="2" charset="2"/>
            </a:endParaRPr>
          </a:p>
          <a:p>
            <a:r>
              <a:rPr lang="en-CN" dirty="0">
                <a:sym typeface="Wingdings" pitchFamily="2" charset="2"/>
              </a:rPr>
              <a:t>Library -&gt; function2</a:t>
            </a:r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127BCB-9534-0947-95A2-138BE5565305}" type="slidenum">
              <a:rPr lang="en-CN" smtClean="0"/>
              <a:t>7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8800945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519" y="2300585"/>
            <a:ext cx="10364550" cy="4894027"/>
          </a:xfrm>
        </p:spPr>
        <p:txBody>
          <a:bodyPr anchor="b"/>
          <a:lstStyle>
            <a:lvl1pPr algn="ctr">
              <a:defRPr sz="800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199" y="7383344"/>
            <a:ext cx="9145191" cy="3393929"/>
          </a:xfrm>
        </p:spPr>
        <p:txBody>
          <a:bodyPr/>
          <a:lstStyle>
            <a:lvl1pPr marL="0" indent="0" algn="ctr">
              <a:buNone/>
              <a:defRPr sz="3200"/>
            </a:lvl1pPr>
            <a:lvl2pPr marL="609676" indent="0" algn="ctr">
              <a:buNone/>
              <a:defRPr sz="2667"/>
            </a:lvl2pPr>
            <a:lvl3pPr marL="1219352" indent="0" algn="ctr">
              <a:buNone/>
              <a:defRPr sz="2400"/>
            </a:lvl3pPr>
            <a:lvl4pPr marL="1829029" indent="0" algn="ctr">
              <a:buNone/>
              <a:defRPr sz="2134"/>
            </a:lvl4pPr>
            <a:lvl5pPr marL="2438705" indent="0" algn="ctr">
              <a:buNone/>
              <a:defRPr sz="2134"/>
            </a:lvl5pPr>
            <a:lvl6pPr marL="3048381" indent="0" algn="ctr">
              <a:buNone/>
              <a:defRPr sz="2134"/>
            </a:lvl6pPr>
            <a:lvl7pPr marL="3658057" indent="0" algn="ctr">
              <a:buNone/>
              <a:defRPr sz="2134"/>
            </a:lvl7pPr>
            <a:lvl8pPr marL="4267733" indent="0" algn="ctr">
              <a:buNone/>
              <a:defRPr sz="2134"/>
            </a:lvl8pPr>
            <a:lvl9pPr marL="4877410" indent="0" algn="ctr">
              <a:buNone/>
              <a:defRPr sz="213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2025/12/11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0492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2025/12/11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15824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959" y="3504570"/>
            <a:ext cx="10516970" cy="5847451"/>
          </a:xfrm>
        </p:spPr>
        <p:txBody>
          <a:bodyPr anchor="b"/>
          <a:lstStyle>
            <a:lvl1pPr>
              <a:defRPr sz="800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959" y="9407340"/>
            <a:ext cx="10516970" cy="3075036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/>
                </a:solidFill>
              </a:defRPr>
            </a:lvl1pPr>
            <a:lvl2pPr marL="609676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2pPr>
            <a:lvl3pPr marL="1219352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3pPr>
            <a:lvl4pPr marL="1829029" indent="0">
              <a:buNone/>
              <a:defRPr sz="2134">
                <a:solidFill>
                  <a:schemeClr val="tx1">
                    <a:tint val="75000"/>
                  </a:schemeClr>
                </a:solidFill>
              </a:defRPr>
            </a:lvl4pPr>
            <a:lvl5pPr marL="2438705" indent="0">
              <a:buNone/>
              <a:defRPr sz="2134">
                <a:solidFill>
                  <a:schemeClr val="tx1">
                    <a:tint val="75000"/>
                  </a:schemeClr>
                </a:solidFill>
              </a:defRPr>
            </a:lvl5pPr>
            <a:lvl6pPr marL="3048381" indent="0">
              <a:buNone/>
              <a:defRPr sz="2134">
                <a:solidFill>
                  <a:schemeClr val="tx1">
                    <a:tint val="75000"/>
                  </a:schemeClr>
                </a:solidFill>
              </a:defRPr>
            </a:lvl6pPr>
            <a:lvl7pPr marL="3658057" indent="0">
              <a:buNone/>
              <a:defRPr sz="2134">
                <a:solidFill>
                  <a:schemeClr val="tx1">
                    <a:tint val="75000"/>
                  </a:schemeClr>
                </a:solidFill>
              </a:defRPr>
            </a:lvl7pPr>
            <a:lvl8pPr marL="4267733" indent="0">
              <a:buNone/>
              <a:defRPr sz="2134">
                <a:solidFill>
                  <a:schemeClr val="tx1">
                    <a:tint val="75000"/>
                  </a:schemeClr>
                </a:solidFill>
              </a:defRPr>
            </a:lvl8pPr>
            <a:lvl9pPr marL="4877410" indent="0">
              <a:buNone/>
              <a:defRPr sz="213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2025/12/11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651942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309" y="3742109"/>
            <a:ext cx="5182275" cy="89192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3004" y="3742109"/>
            <a:ext cx="5182275" cy="891923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2025/12/11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210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897" y="748425"/>
            <a:ext cx="10516970" cy="271709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899" y="3445995"/>
            <a:ext cx="5158458" cy="168882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676" indent="0">
              <a:buNone/>
              <a:defRPr sz="2667" b="1"/>
            </a:lvl2pPr>
            <a:lvl3pPr marL="1219352" indent="0">
              <a:buNone/>
              <a:defRPr sz="2400" b="1"/>
            </a:lvl3pPr>
            <a:lvl4pPr marL="1829029" indent="0">
              <a:buNone/>
              <a:defRPr sz="2134" b="1"/>
            </a:lvl4pPr>
            <a:lvl5pPr marL="2438705" indent="0">
              <a:buNone/>
              <a:defRPr sz="2134" b="1"/>
            </a:lvl5pPr>
            <a:lvl6pPr marL="3048381" indent="0">
              <a:buNone/>
              <a:defRPr sz="2134" b="1"/>
            </a:lvl6pPr>
            <a:lvl7pPr marL="3658057" indent="0">
              <a:buNone/>
              <a:defRPr sz="2134" b="1"/>
            </a:lvl7pPr>
            <a:lvl8pPr marL="4267733" indent="0">
              <a:buNone/>
              <a:defRPr sz="2134" b="1"/>
            </a:lvl8pPr>
            <a:lvl9pPr marL="4877410" indent="0">
              <a:buNone/>
              <a:defRPr sz="213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899" y="5134824"/>
            <a:ext cx="5158458" cy="75525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3005" y="3445995"/>
            <a:ext cx="5183863" cy="1688829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609676" indent="0">
              <a:buNone/>
              <a:defRPr sz="2667" b="1"/>
            </a:lvl2pPr>
            <a:lvl3pPr marL="1219352" indent="0">
              <a:buNone/>
              <a:defRPr sz="2400" b="1"/>
            </a:lvl3pPr>
            <a:lvl4pPr marL="1829029" indent="0">
              <a:buNone/>
              <a:defRPr sz="2134" b="1"/>
            </a:lvl4pPr>
            <a:lvl5pPr marL="2438705" indent="0">
              <a:buNone/>
              <a:defRPr sz="2134" b="1"/>
            </a:lvl5pPr>
            <a:lvl6pPr marL="3048381" indent="0">
              <a:buNone/>
              <a:defRPr sz="2134" b="1"/>
            </a:lvl6pPr>
            <a:lvl7pPr marL="3658057" indent="0">
              <a:buNone/>
              <a:defRPr sz="2134" b="1"/>
            </a:lvl7pPr>
            <a:lvl8pPr marL="4267733" indent="0">
              <a:buNone/>
              <a:defRPr sz="2134" b="1"/>
            </a:lvl8pPr>
            <a:lvl9pPr marL="4877410" indent="0">
              <a:buNone/>
              <a:defRPr sz="213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3005" y="5134824"/>
            <a:ext cx="5183863" cy="75525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2025/12/11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72271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2025/12/11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48439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2025/12/11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5634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897" y="937154"/>
            <a:ext cx="3932750" cy="328004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863" y="2023996"/>
            <a:ext cx="6173004" cy="9989803"/>
          </a:xfrm>
        </p:spPr>
        <p:txBody>
          <a:bodyPr/>
          <a:lstStyle>
            <a:lvl1pPr>
              <a:defRPr sz="4267"/>
            </a:lvl1pPr>
            <a:lvl2pPr>
              <a:defRPr sz="3734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897" y="4217194"/>
            <a:ext cx="3932750" cy="7812873"/>
          </a:xfrm>
        </p:spPr>
        <p:txBody>
          <a:bodyPr/>
          <a:lstStyle>
            <a:lvl1pPr marL="0" indent="0">
              <a:buNone/>
              <a:defRPr sz="2134"/>
            </a:lvl1pPr>
            <a:lvl2pPr marL="609676" indent="0">
              <a:buNone/>
              <a:defRPr sz="1867"/>
            </a:lvl2pPr>
            <a:lvl3pPr marL="1219352" indent="0">
              <a:buNone/>
              <a:defRPr sz="1600"/>
            </a:lvl3pPr>
            <a:lvl4pPr marL="1829029" indent="0">
              <a:buNone/>
              <a:defRPr sz="1334"/>
            </a:lvl4pPr>
            <a:lvl5pPr marL="2438705" indent="0">
              <a:buNone/>
              <a:defRPr sz="1334"/>
            </a:lvl5pPr>
            <a:lvl6pPr marL="3048381" indent="0">
              <a:buNone/>
              <a:defRPr sz="1334"/>
            </a:lvl6pPr>
            <a:lvl7pPr marL="3658057" indent="0">
              <a:buNone/>
              <a:defRPr sz="1334"/>
            </a:lvl7pPr>
            <a:lvl8pPr marL="4267733" indent="0">
              <a:buNone/>
              <a:defRPr sz="1334"/>
            </a:lvl8pPr>
            <a:lvl9pPr marL="4877410" indent="0">
              <a:buNone/>
              <a:defRPr sz="133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2025/12/11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2223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897" y="937154"/>
            <a:ext cx="3932750" cy="3280040"/>
          </a:xfrm>
        </p:spPr>
        <p:txBody>
          <a:bodyPr anchor="b"/>
          <a:lstStyle>
            <a:lvl1pPr>
              <a:defRPr sz="42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863" y="2023996"/>
            <a:ext cx="6173004" cy="9989803"/>
          </a:xfrm>
        </p:spPr>
        <p:txBody>
          <a:bodyPr anchor="t"/>
          <a:lstStyle>
            <a:lvl1pPr marL="0" indent="0">
              <a:buNone/>
              <a:defRPr sz="4267"/>
            </a:lvl1pPr>
            <a:lvl2pPr marL="609676" indent="0">
              <a:buNone/>
              <a:defRPr sz="3734"/>
            </a:lvl2pPr>
            <a:lvl3pPr marL="1219352" indent="0">
              <a:buNone/>
              <a:defRPr sz="3200"/>
            </a:lvl3pPr>
            <a:lvl4pPr marL="1829029" indent="0">
              <a:buNone/>
              <a:defRPr sz="2667"/>
            </a:lvl4pPr>
            <a:lvl5pPr marL="2438705" indent="0">
              <a:buNone/>
              <a:defRPr sz="2667"/>
            </a:lvl5pPr>
            <a:lvl6pPr marL="3048381" indent="0">
              <a:buNone/>
              <a:defRPr sz="2667"/>
            </a:lvl6pPr>
            <a:lvl7pPr marL="3658057" indent="0">
              <a:buNone/>
              <a:defRPr sz="2667"/>
            </a:lvl7pPr>
            <a:lvl8pPr marL="4267733" indent="0">
              <a:buNone/>
              <a:defRPr sz="2667"/>
            </a:lvl8pPr>
            <a:lvl9pPr marL="4877410" indent="0">
              <a:buNone/>
              <a:defRPr sz="2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897" y="4217194"/>
            <a:ext cx="3932750" cy="7812873"/>
          </a:xfrm>
        </p:spPr>
        <p:txBody>
          <a:bodyPr/>
          <a:lstStyle>
            <a:lvl1pPr marL="0" indent="0">
              <a:buNone/>
              <a:defRPr sz="2134"/>
            </a:lvl1pPr>
            <a:lvl2pPr marL="609676" indent="0">
              <a:buNone/>
              <a:defRPr sz="1867"/>
            </a:lvl2pPr>
            <a:lvl3pPr marL="1219352" indent="0">
              <a:buNone/>
              <a:defRPr sz="1600"/>
            </a:lvl3pPr>
            <a:lvl4pPr marL="1829029" indent="0">
              <a:buNone/>
              <a:defRPr sz="1334"/>
            </a:lvl4pPr>
            <a:lvl5pPr marL="2438705" indent="0">
              <a:buNone/>
              <a:defRPr sz="1334"/>
            </a:lvl5pPr>
            <a:lvl6pPr marL="3048381" indent="0">
              <a:buNone/>
              <a:defRPr sz="1334"/>
            </a:lvl6pPr>
            <a:lvl7pPr marL="3658057" indent="0">
              <a:buNone/>
              <a:defRPr sz="1334"/>
            </a:lvl7pPr>
            <a:lvl8pPr marL="4267733" indent="0">
              <a:buNone/>
              <a:defRPr sz="1334"/>
            </a:lvl8pPr>
            <a:lvl9pPr marL="4877410" indent="0">
              <a:buNone/>
              <a:defRPr sz="133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2025/12/11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8286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2025/12/11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9224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6037" y="748422"/>
            <a:ext cx="2629242" cy="1191292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310" y="748422"/>
            <a:ext cx="7735307" cy="1191292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9A057A-0BEA-48B2-A216-D46DB2C83327}" type="datetimeFigureOut">
              <a:rPr lang="zh-CN" altLang="en-US" smtClean="0"/>
              <a:t>2025/12/11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56935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309" y="748425"/>
            <a:ext cx="10516970" cy="27170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309" y="3742109"/>
            <a:ext cx="10516970" cy="89192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309" y="13029050"/>
            <a:ext cx="2743557" cy="74842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9A057A-0BEA-48B2-A216-D46DB2C83327}" type="datetimeFigureOut">
              <a:rPr lang="zh-CN" altLang="en-US" smtClean="0"/>
              <a:t>2025/12/11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9126" y="13029050"/>
            <a:ext cx="4115336" cy="74842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1722" y="13029050"/>
            <a:ext cx="2743557" cy="74842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2A00EC-D30B-43B9-91A6-73ACE3934D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1033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219352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838" indent="-304838" algn="l" defTabSz="1219352" rtl="0" eaLnBrk="1" latinLnBrk="0" hangingPunct="1">
        <a:lnSpc>
          <a:spcPct val="90000"/>
        </a:lnSpc>
        <a:spcBef>
          <a:spcPts val="1334"/>
        </a:spcBef>
        <a:buFont typeface="Arial" panose="020B0604020202020204" pitchFamily="34" charset="0"/>
        <a:buChar char="•"/>
        <a:defRPr sz="3734" kern="1200">
          <a:solidFill>
            <a:schemeClr val="tx1"/>
          </a:solidFill>
          <a:latin typeface="+mn-lt"/>
          <a:ea typeface="+mn-ea"/>
          <a:cs typeface="+mn-cs"/>
        </a:defRPr>
      </a:lvl1pPr>
      <a:lvl2pPr marL="914514" indent="-304838" algn="l" defTabSz="1219352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4191" indent="-304838" algn="l" defTabSz="1219352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867" indent="-304838" algn="l" defTabSz="1219352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543" indent="-304838" algn="l" defTabSz="1219352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3219" indent="-304838" algn="l" defTabSz="1219352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895" indent="-304838" algn="l" defTabSz="1219352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2572" indent="-304838" algn="l" defTabSz="1219352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2248" indent="-304838" algn="l" defTabSz="1219352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76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352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9029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705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381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8057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733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7410" algn="l" defTabSz="1219352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49B800CD-0E78-DD96-D581-498DA522A032}"/>
              </a:ext>
            </a:extLst>
          </p:cNvPr>
          <p:cNvSpPr/>
          <p:nvPr/>
        </p:nvSpPr>
        <p:spPr>
          <a:xfrm>
            <a:off x="1850529" y="239911"/>
            <a:ext cx="8676000" cy="7816069"/>
          </a:xfrm>
          <a:prstGeom prst="roundRect">
            <a:avLst>
              <a:gd name="adj" fmla="val 1126"/>
            </a:avLst>
          </a:prstGeom>
          <a:noFill/>
          <a:ln w="444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9E603FD-345D-6823-76D1-4D501E30BC83}"/>
              </a:ext>
            </a:extLst>
          </p:cNvPr>
          <p:cNvSpPr txBox="1"/>
          <p:nvPr/>
        </p:nvSpPr>
        <p:spPr>
          <a:xfrm>
            <a:off x="1850527" y="205270"/>
            <a:ext cx="1616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01DB8EC-1EE5-75D8-F27A-77079187CF50}"/>
              </a:ext>
            </a:extLst>
          </p:cNvPr>
          <p:cNvSpPr txBox="1"/>
          <p:nvPr/>
        </p:nvSpPr>
        <p:spPr>
          <a:xfrm>
            <a:off x="1991993" y="1246768"/>
            <a:ext cx="5321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7712BD60-F576-4AC3-DE59-20F75AB1B85A}"/>
              </a:ext>
            </a:extLst>
          </p:cNvPr>
          <p:cNvSpPr/>
          <p:nvPr/>
        </p:nvSpPr>
        <p:spPr>
          <a:xfrm>
            <a:off x="1839097" y="229629"/>
            <a:ext cx="8676000" cy="309393"/>
          </a:xfrm>
          <a:prstGeom prst="roundRect">
            <a:avLst>
              <a:gd name="adj" fmla="val 35345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Prompt for Control Flow Graph Construction</a:t>
            </a:r>
          </a:p>
        </p:txBody>
      </p:sp>
      <p:sp>
        <p:nvSpPr>
          <p:cNvPr id="2" name="文本框 13">
            <a:extLst>
              <a:ext uri="{FF2B5EF4-FFF2-40B4-BE49-F238E27FC236}">
                <a16:creationId xmlns:a16="http://schemas.microsoft.com/office/drawing/2014/main" id="{5D7ED9CC-C2E1-6889-94F9-D85D828C0E3C}"/>
              </a:ext>
            </a:extLst>
          </p:cNvPr>
          <p:cNvSpPr txBox="1"/>
          <p:nvPr/>
        </p:nvSpPr>
        <p:spPr>
          <a:xfrm>
            <a:off x="1850527" y="598961"/>
            <a:ext cx="8676000" cy="745701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b="1" u="sng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System: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 are now a code analyst and reverse engineering expert, with in-depth knowledge of various encryption algorithms and the underlying principles of ransomware.</a:t>
            </a:r>
          </a:p>
          <a:p>
            <a:r>
              <a:rPr lang="en-US" altLang="zh-CN" b="1" u="sng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Your task is to determine whether the given code implements an encryption function.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Rules and conditions: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If the code does not meet the criteria, set 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is_encryption_function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 to false.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output should be structured in JSON format: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{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function_name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": </a:t>
            </a:r>
            <a:r>
              <a:rPr lang="zh-CN" altLang="en-US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"",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is_encryption_function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": true/false,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"description": "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 Elaborate your reason here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."   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         }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Hash functions and other irreversible algorithms are not considered as encryption algorithms.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Below is an example of an encryption function from a cryptographic library: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Library function name: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db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.nm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 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Library function body: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db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.S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If you are ready, please reply 'Understood’.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 name: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bf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.nm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 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 body: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bf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.S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</a:t>
            </a:r>
          </a:p>
          <a:p>
            <a:pPr marL="360000"/>
            <a:r>
              <a:rPr lang="en-US" altLang="zh-CN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</p:txBody>
      </p:sp>
    </p:spTree>
    <p:extLst>
      <p:ext uri="{BB962C8B-B14F-4D97-AF65-F5344CB8AC3E}">
        <p14:creationId xmlns:p14="http://schemas.microsoft.com/office/powerpoint/2010/main" val="13812182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49B800CD-0E78-DD96-D581-498DA522A032}"/>
              </a:ext>
            </a:extLst>
          </p:cNvPr>
          <p:cNvSpPr/>
          <p:nvPr/>
        </p:nvSpPr>
        <p:spPr>
          <a:xfrm>
            <a:off x="1850529" y="239911"/>
            <a:ext cx="8676000" cy="7816069"/>
          </a:xfrm>
          <a:prstGeom prst="roundRect">
            <a:avLst>
              <a:gd name="adj" fmla="val 1126"/>
            </a:avLst>
          </a:prstGeom>
          <a:noFill/>
          <a:ln w="444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9E603FD-345D-6823-76D1-4D501E30BC83}"/>
              </a:ext>
            </a:extLst>
          </p:cNvPr>
          <p:cNvSpPr txBox="1"/>
          <p:nvPr/>
        </p:nvSpPr>
        <p:spPr>
          <a:xfrm>
            <a:off x="1850527" y="205270"/>
            <a:ext cx="1616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01DB8EC-1EE5-75D8-F27A-77079187CF50}"/>
              </a:ext>
            </a:extLst>
          </p:cNvPr>
          <p:cNvSpPr txBox="1"/>
          <p:nvPr/>
        </p:nvSpPr>
        <p:spPr>
          <a:xfrm>
            <a:off x="1991993" y="1246768"/>
            <a:ext cx="5321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7712BD60-F576-4AC3-DE59-20F75AB1B85A}"/>
              </a:ext>
            </a:extLst>
          </p:cNvPr>
          <p:cNvSpPr/>
          <p:nvPr/>
        </p:nvSpPr>
        <p:spPr>
          <a:xfrm>
            <a:off x="1839097" y="229629"/>
            <a:ext cx="8676000" cy="309393"/>
          </a:xfrm>
          <a:prstGeom prst="roundRect">
            <a:avLst>
              <a:gd name="adj" fmla="val 35345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Prompt for Source-Sink Labeling</a:t>
            </a:r>
          </a:p>
        </p:txBody>
      </p:sp>
      <p:sp>
        <p:nvSpPr>
          <p:cNvPr id="2" name="文本框 13">
            <a:extLst>
              <a:ext uri="{FF2B5EF4-FFF2-40B4-BE49-F238E27FC236}">
                <a16:creationId xmlns:a16="http://schemas.microsoft.com/office/drawing/2014/main" id="{5D7ED9CC-C2E1-6889-94F9-D85D828C0E3C}"/>
              </a:ext>
            </a:extLst>
          </p:cNvPr>
          <p:cNvSpPr txBox="1"/>
          <p:nvPr/>
        </p:nvSpPr>
        <p:spPr>
          <a:xfrm>
            <a:off x="1850527" y="598961"/>
            <a:ext cx="8676000" cy="745701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b="1" u="sng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System: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 are now a code analyst and reverse engineering expert, with in-depth knowledge of various encryption algorithms and the underlying principles of ransomware.</a:t>
            </a:r>
          </a:p>
          <a:p>
            <a:r>
              <a:rPr lang="en-US" altLang="zh-CN" b="1" u="sng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Your task is to determine whether the given code implements an encryption function.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Rules and conditions: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If the code does not meet the criteria, set 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is_encryption_function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 to false.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output should be structured in JSON format: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{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function_name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": </a:t>
            </a:r>
            <a:r>
              <a:rPr lang="zh-CN" altLang="en-US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"",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is_encryption_function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": true/false,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"description": "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 Elaborate your reason here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."   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         }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Hash functions and other irreversible algorithms are not considered as encryption algorithms.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Below is an example of an encryption function from a cryptographic library: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Library function name: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db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.nm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 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Library function body: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db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.S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If you are ready, please reply 'Understood’.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 name: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bf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.nm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 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 body: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bf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.S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</a:t>
            </a:r>
          </a:p>
          <a:p>
            <a:pPr marL="360000"/>
            <a:r>
              <a:rPr lang="en-US" altLang="zh-CN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</p:txBody>
      </p:sp>
    </p:spTree>
    <p:extLst>
      <p:ext uri="{BB962C8B-B14F-4D97-AF65-F5344CB8AC3E}">
        <p14:creationId xmlns:p14="http://schemas.microsoft.com/office/powerpoint/2010/main" val="25894399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49B800CD-0E78-DD96-D581-498DA522A032}"/>
              </a:ext>
            </a:extLst>
          </p:cNvPr>
          <p:cNvSpPr/>
          <p:nvPr/>
        </p:nvSpPr>
        <p:spPr>
          <a:xfrm>
            <a:off x="1850529" y="239911"/>
            <a:ext cx="8676000" cy="7816069"/>
          </a:xfrm>
          <a:prstGeom prst="roundRect">
            <a:avLst>
              <a:gd name="adj" fmla="val 1126"/>
            </a:avLst>
          </a:prstGeom>
          <a:noFill/>
          <a:ln w="444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9E603FD-345D-6823-76D1-4D501E30BC83}"/>
              </a:ext>
            </a:extLst>
          </p:cNvPr>
          <p:cNvSpPr txBox="1"/>
          <p:nvPr/>
        </p:nvSpPr>
        <p:spPr>
          <a:xfrm>
            <a:off x="1850527" y="205270"/>
            <a:ext cx="1616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01DB8EC-1EE5-75D8-F27A-77079187CF50}"/>
              </a:ext>
            </a:extLst>
          </p:cNvPr>
          <p:cNvSpPr txBox="1"/>
          <p:nvPr/>
        </p:nvSpPr>
        <p:spPr>
          <a:xfrm>
            <a:off x="1991993" y="1246768"/>
            <a:ext cx="5321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7712BD60-F576-4AC3-DE59-20F75AB1B85A}"/>
              </a:ext>
            </a:extLst>
          </p:cNvPr>
          <p:cNvSpPr/>
          <p:nvPr/>
        </p:nvSpPr>
        <p:spPr>
          <a:xfrm>
            <a:off x="1839097" y="229629"/>
            <a:ext cx="8676000" cy="309393"/>
          </a:xfrm>
          <a:prstGeom prst="roundRect">
            <a:avLst>
              <a:gd name="adj" fmla="val 35345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Prompt for Graph Traversing</a:t>
            </a:r>
          </a:p>
        </p:txBody>
      </p:sp>
      <p:sp>
        <p:nvSpPr>
          <p:cNvPr id="2" name="文本框 13">
            <a:extLst>
              <a:ext uri="{FF2B5EF4-FFF2-40B4-BE49-F238E27FC236}">
                <a16:creationId xmlns:a16="http://schemas.microsoft.com/office/drawing/2014/main" id="{5D7ED9CC-C2E1-6889-94F9-D85D828C0E3C}"/>
              </a:ext>
            </a:extLst>
          </p:cNvPr>
          <p:cNvSpPr txBox="1"/>
          <p:nvPr/>
        </p:nvSpPr>
        <p:spPr>
          <a:xfrm>
            <a:off x="1850527" y="598961"/>
            <a:ext cx="8676000" cy="745701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b="1" u="sng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System: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 are now a code analyst and reverse engineering expert, with in-depth knowledge of various encryption algorithms and the underlying principles of ransomware.</a:t>
            </a:r>
          </a:p>
          <a:p>
            <a:r>
              <a:rPr lang="en-US" altLang="zh-CN" b="1" u="sng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Your task is to determine whether the given code implements an encryption function.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Rules and conditions: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If the code does not meet the criteria, set 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is_encryption_function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 to false.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output should be structured in JSON format: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{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function_name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": </a:t>
            </a:r>
            <a:r>
              <a:rPr lang="zh-CN" altLang="en-US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"",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is_encryption_function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": true/false,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"description": "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 Elaborate your reason here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."   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         }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Hash functions and other irreversible algorithms are not considered as encryption algorithms.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Below is an example of an encryption function from a cryptographic library: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Library function name: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db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.nm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 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Library function body: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db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.S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If you are ready, please reply 'Understood’.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 name: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bf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.nm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 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 body: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bf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.S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</a:t>
            </a:r>
          </a:p>
          <a:p>
            <a:pPr marL="360000"/>
            <a:r>
              <a:rPr lang="en-US" altLang="zh-CN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</p:txBody>
      </p:sp>
    </p:spTree>
    <p:extLst>
      <p:ext uri="{BB962C8B-B14F-4D97-AF65-F5344CB8AC3E}">
        <p14:creationId xmlns:p14="http://schemas.microsoft.com/office/powerpoint/2010/main" val="5391316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49B800CD-0E78-DD96-D581-498DA522A032}"/>
              </a:ext>
            </a:extLst>
          </p:cNvPr>
          <p:cNvSpPr/>
          <p:nvPr/>
        </p:nvSpPr>
        <p:spPr>
          <a:xfrm>
            <a:off x="1850529" y="239911"/>
            <a:ext cx="8676000" cy="7816069"/>
          </a:xfrm>
          <a:prstGeom prst="roundRect">
            <a:avLst>
              <a:gd name="adj" fmla="val 1126"/>
            </a:avLst>
          </a:prstGeom>
          <a:noFill/>
          <a:ln w="444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9E603FD-345D-6823-76D1-4D501E30BC83}"/>
              </a:ext>
            </a:extLst>
          </p:cNvPr>
          <p:cNvSpPr txBox="1"/>
          <p:nvPr/>
        </p:nvSpPr>
        <p:spPr>
          <a:xfrm>
            <a:off x="1850527" y="205270"/>
            <a:ext cx="1616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01DB8EC-1EE5-75D8-F27A-77079187CF50}"/>
              </a:ext>
            </a:extLst>
          </p:cNvPr>
          <p:cNvSpPr txBox="1"/>
          <p:nvPr/>
        </p:nvSpPr>
        <p:spPr>
          <a:xfrm>
            <a:off x="1991993" y="1246768"/>
            <a:ext cx="5321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7712BD60-F576-4AC3-DE59-20F75AB1B85A}"/>
              </a:ext>
            </a:extLst>
          </p:cNvPr>
          <p:cNvSpPr/>
          <p:nvPr/>
        </p:nvSpPr>
        <p:spPr>
          <a:xfrm>
            <a:off x="1839097" y="229629"/>
            <a:ext cx="8676000" cy="309393"/>
          </a:xfrm>
          <a:prstGeom prst="roundRect">
            <a:avLst>
              <a:gd name="adj" fmla="val 35345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Prompt for Incompatibility Analysis</a:t>
            </a:r>
          </a:p>
        </p:txBody>
      </p:sp>
      <p:sp>
        <p:nvSpPr>
          <p:cNvPr id="2" name="文本框 13">
            <a:extLst>
              <a:ext uri="{FF2B5EF4-FFF2-40B4-BE49-F238E27FC236}">
                <a16:creationId xmlns:a16="http://schemas.microsoft.com/office/drawing/2014/main" id="{5D7ED9CC-C2E1-6889-94F9-D85D828C0E3C}"/>
              </a:ext>
            </a:extLst>
          </p:cNvPr>
          <p:cNvSpPr txBox="1"/>
          <p:nvPr/>
        </p:nvSpPr>
        <p:spPr>
          <a:xfrm>
            <a:off x="1850527" y="598961"/>
            <a:ext cx="8676000" cy="745701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b="1" u="sng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System: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 are now a code analyst and reverse engineering expert, with in-depth knowledge of various encryption algorithms and the underlying principles of ransomware.</a:t>
            </a:r>
          </a:p>
          <a:p>
            <a:r>
              <a:rPr lang="en-US" altLang="zh-CN" b="1" u="sng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Your task is to determine whether the given code implements an encryption function.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Rules and conditions: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If the code does not meet the criteria, set 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is_encryption_function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 to false.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output should be structured in JSON format: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{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function_name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": </a:t>
            </a:r>
            <a:r>
              <a:rPr lang="zh-CN" altLang="en-US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"",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is_encryption_function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": true/false,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"description": "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 Elaborate your reason here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."   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         }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Hash functions and other irreversible algorithms are not considered as encryption algorithms.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Below is an example of an encryption function from a cryptographic library: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Library function name: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db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.nm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 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Library function body: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db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.S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If you are ready, please reply 'Understood’.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 name: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bf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.nm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 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 body: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bf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.S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</a:t>
            </a:r>
          </a:p>
          <a:p>
            <a:pPr marL="360000"/>
            <a:r>
              <a:rPr lang="en-US" altLang="zh-CN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</p:txBody>
      </p:sp>
    </p:spTree>
    <p:extLst>
      <p:ext uri="{BB962C8B-B14F-4D97-AF65-F5344CB8AC3E}">
        <p14:creationId xmlns:p14="http://schemas.microsoft.com/office/powerpoint/2010/main" val="13341751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49B800CD-0E78-DD96-D581-498DA522A032}"/>
              </a:ext>
            </a:extLst>
          </p:cNvPr>
          <p:cNvSpPr/>
          <p:nvPr/>
        </p:nvSpPr>
        <p:spPr>
          <a:xfrm>
            <a:off x="1850529" y="239911"/>
            <a:ext cx="8676000" cy="7816069"/>
          </a:xfrm>
          <a:prstGeom prst="roundRect">
            <a:avLst>
              <a:gd name="adj" fmla="val 1126"/>
            </a:avLst>
          </a:prstGeom>
          <a:noFill/>
          <a:ln w="444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9E603FD-345D-6823-76D1-4D501E30BC83}"/>
              </a:ext>
            </a:extLst>
          </p:cNvPr>
          <p:cNvSpPr txBox="1"/>
          <p:nvPr/>
        </p:nvSpPr>
        <p:spPr>
          <a:xfrm>
            <a:off x="1850527" y="205270"/>
            <a:ext cx="1616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01DB8EC-1EE5-75D8-F27A-77079187CF50}"/>
              </a:ext>
            </a:extLst>
          </p:cNvPr>
          <p:cNvSpPr txBox="1"/>
          <p:nvPr/>
        </p:nvSpPr>
        <p:spPr>
          <a:xfrm>
            <a:off x="1991993" y="1246768"/>
            <a:ext cx="5321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7712BD60-F576-4AC3-DE59-20F75AB1B85A}"/>
              </a:ext>
            </a:extLst>
          </p:cNvPr>
          <p:cNvSpPr/>
          <p:nvPr/>
        </p:nvSpPr>
        <p:spPr>
          <a:xfrm>
            <a:off x="1839097" y="229629"/>
            <a:ext cx="8676000" cy="309393"/>
          </a:xfrm>
          <a:prstGeom prst="roundRect">
            <a:avLst>
              <a:gd name="adj" fmla="val 35345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Prompt for Test Case Generator</a:t>
            </a:r>
          </a:p>
        </p:txBody>
      </p:sp>
      <p:sp>
        <p:nvSpPr>
          <p:cNvPr id="2" name="文本框 13">
            <a:extLst>
              <a:ext uri="{FF2B5EF4-FFF2-40B4-BE49-F238E27FC236}">
                <a16:creationId xmlns:a16="http://schemas.microsoft.com/office/drawing/2014/main" id="{5D7ED9CC-C2E1-6889-94F9-D85D828C0E3C}"/>
              </a:ext>
            </a:extLst>
          </p:cNvPr>
          <p:cNvSpPr txBox="1"/>
          <p:nvPr/>
        </p:nvSpPr>
        <p:spPr>
          <a:xfrm>
            <a:off x="1850527" y="598961"/>
            <a:ext cx="8676000" cy="745701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b="1" u="sng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System: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 are now a code analyst and reverse engineering expert, with in-depth knowledge of various encryption algorithms and the underlying principles of ransomware.</a:t>
            </a:r>
          </a:p>
          <a:p>
            <a:r>
              <a:rPr lang="en-US" altLang="zh-CN" b="1" u="sng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Your task is to determine whether the given code implements an encryption function.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Rules and conditions: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If the code does not meet the criteria, set 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is_encryption_function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 to false.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output should be structured in JSON format: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{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function_name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": </a:t>
            </a:r>
            <a:r>
              <a:rPr lang="zh-CN" altLang="en-US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"",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is_encryption_function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": true/false,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"description": "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 Elaborate your reason here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."   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         }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Hash functions and other irreversible algorithms are not considered as encryption algorithms.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Below is an example of an encryption function from a cryptographic library: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Library function name: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db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.nm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 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Library function body: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db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.S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If you are ready, please reply 'Understood’.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 name: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bf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.nm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 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 body: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bf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.S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</a:t>
            </a:r>
          </a:p>
          <a:p>
            <a:pPr marL="360000"/>
            <a:r>
              <a:rPr lang="en-US" altLang="zh-CN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</p:txBody>
      </p:sp>
    </p:spTree>
    <p:extLst>
      <p:ext uri="{BB962C8B-B14F-4D97-AF65-F5344CB8AC3E}">
        <p14:creationId xmlns:p14="http://schemas.microsoft.com/office/powerpoint/2010/main" val="40020641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49B800CD-0E78-DD96-D581-498DA522A032}"/>
              </a:ext>
            </a:extLst>
          </p:cNvPr>
          <p:cNvSpPr/>
          <p:nvPr/>
        </p:nvSpPr>
        <p:spPr>
          <a:xfrm>
            <a:off x="1850529" y="239911"/>
            <a:ext cx="8676000" cy="7816069"/>
          </a:xfrm>
          <a:prstGeom prst="roundRect">
            <a:avLst>
              <a:gd name="adj" fmla="val 1126"/>
            </a:avLst>
          </a:prstGeom>
          <a:noFill/>
          <a:ln w="444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9E603FD-345D-6823-76D1-4D501E30BC83}"/>
              </a:ext>
            </a:extLst>
          </p:cNvPr>
          <p:cNvSpPr txBox="1"/>
          <p:nvPr/>
        </p:nvSpPr>
        <p:spPr>
          <a:xfrm>
            <a:off x="1850527" y="205270"/>
            <a:ext cx="1616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01DB8EC-1EE5-75D8-F27A-77079187CF50}"/>
              </a:ext>
            </a:extLst>
          </p:cNvPr>
          <p:cNvSpPr txBox="1"/>
          <p:nvPr/>
        </p:nvSpPr>
        <p:spPr>
          <a:xfrm>
            <a:off x="1991993" y="1246768"/>
            <a:ext cx="5321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7712BD60-F576-4AC3-DE59-20F75AB1B85A}"/>
              </a:ext>
            </a:extLst>
          </p:cNvPr>
          <p:cNvSpPr/>
          <p:nvPr/>
        </p:nvSpPr>
        <p:spPr>
          <a:xfrm>
            <a:off x="1839097" y="229629"/>
            <a:ext cx="8676000" cy="309393"/>
          </a:xfrm>
          <a:prstGeom prst="roundRect">
            <a:avLst>
              <a:gd name="adj" fmla="val 35345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Prompt for Step-by-Step Simulator</a:t>
            </a:r>
          </a:p>
        </p:txBody>
      </p:sp>
      <p:sp>
        <p:nvSpPr>
          <p:cNvPr id="2" name="文本框 13">
            <a:extLst>
              <a:ext uri="{FF2B5EF4-FFF2-40B4-BE49-F238E27FC236}">
                <a16:creationId xmlns:a16="http://schemas.microsoft.com/office/drawing/2014/main" id="{5D7ED9CC-C2E1-6889-94F9-D85D828C0E3C}"/>
              </a:ext>
            </a:extLst>
          </p:cNvPr>
          <p:cNvSpPr txBox="1"/>
          <p:nvPr/>
        </p:nvSpPr>
        <p:spPr>
          <a:xfrm>
            <a:off x="1850527" y="598961"/>
            <a:ext cx="8676000" cy="745701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b="1" u="sng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System: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 are now a code analyst and reverse engineering expert, with in-depth knowledge of various encryption algorithms and the underlying principles of ransomware.</a:t>
            </a:r>
          </a:p>
          <a:p>
            <a:r>
              <a:rPr lang="en-US" altLang="zh-CN" b="1" u="sng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Your task is to determine whether the given code implements an encryption function.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Rules and conditions: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If the code does not meet the criteria, set 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is_encryption_function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 to false.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output should be structured in JSON format: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{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function_name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": </a:t>
            </a:r>
            <a:r>
              <a:rPr lang="zh-CN" altLang="en-US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"",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is_encryption_function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": true/false,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"description": "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 Elaborate your reason here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."   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         }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Hash functions and other irreversible algorithms are not considered as encryption algorithms.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Below is an example of an encryption function from a cryptographic library: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Library function name: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db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.nm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 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Library function body: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db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.S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If you are ready, please reply 'Understood’.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 name: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bf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.nm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 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 body: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bf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.S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</a:t>
            </a:r>
          </a:p>
          <a:p>
            <a:pPr marL="360000"/>
            <a:r>
              <a:rPr lang="en-US" altLang="zh-CN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</p:txBody>
      </p:sp>
    </p:spTree>
    <p:extLst>
      <p:ext uri="{BB962C8B-B14F-4D97-AF65-F5344CB8AC3E}">
        <p14:creationId xmlns:p14="http://schemas.microsoft.com/office/powerpoint/2010/main" val="36655010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49B800CD-0E78-DD96-D581-498DA522A032}"/>
              </a:ext>
            </a:extLst>
          </p:cNvPr>
          <p:cNvSpPr/>
          <p:nvPr/>
        </p:nvSpPr>
        <p:spPr>
          <a:xfrm>
            <a:off x="1850529" y="239911"/>
            <a:ext cx="8676000" cy="7816069"/>
          </a:xfrm>
          <a:prstGeom prst="roundRect">
            <a:avLst>
              <a:gd name="adj" fmla="val 1126"/>
            </a:avLst>
          </a:prstGeom>
          <a:noFill/>
          <a:ln w="444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D9E603FD-345D-6823-76D1-4D501E30BC83}"/>
              </a:ext>
            </a:extLst>
          </p:cNvPr>
          <p:cNvSpPr txBox="1"/>
          <p:nvPr/>
        </p:nvSpPr>
        <p:spPr>
          <a:xfrm>
            <a:off x="1850527" y="205270"/>
            <a:ext cx="16162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01DB8EC-1EE5-75D8-F27A-77079187CF50}"/>
              </a:ext>
            </a:extLst>
          </p:cNvPr>
          <p:cNvSpPr txBox="1"/>
          <p:nvPr/>
        </p:nvSpPr>
        <p:spPr>
          <a:xfrm>
            <a:off x="1991993" y="1246768"/>
            <a:ext cx="5321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Model Input</a:t>
            </a:r>
            <a:endParaRPr lang="zh-CN" altLang="en-US" b="1" dirty="0">
              <a:solidFill>
                <a:schemeClr val="bg1"/>
              </a:solidFill>
              <a:latin typeface="Helvetica Neue" panose="02000503000000020004" pitchFamily="2" charset="0"/>
              <a:cs typeface="Helvetica Neue" panose="02000503000000020004" pitchFamily="2" charset="0"/>
            </a:endParaRP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7712BD60-F576-4AC3-DE59-20F75AB1B85A}"/>
              </a:ext>
            </a:extLst>
          </p:cNvPr>
          <p:cNvSpPr/>
          <p:nvPr/>
        </p:nvSpPr>
        <p:spPr>
          <a:xfrm>
            <a:off x="1839097" y="229629"/>
            <a:ext cx="8676000" cy="309393"/>
          </a:xfrm>
          <a:prstGeom prst="roundRect">
            <a:avLst>
              <a:gd name="adj" fmla="val 35345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b="1" dirty="0">
                <a:solidFill>
                  <a:schemeClr val="bg1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Prompt for Simulated Result Analyzer</a:t>
            </a:r>
          </a:p>
        </p:txBody>
      </p:sp>
      <p:sp>
        <p:nvSpPr>
          <p:cNvPr id="2" name="文本框 13">
            <a:extLst>
              <a:ext uri="{FF2B5EF4-FFF2-40B4-BE49-F238E27FC236}">
                <a16:creationId xmlns:a16="http://schemas.microsoft.com/office/drawing/2014/main" id="{5D7ED9CC-C2E1-6889-94F9-D85D828C0E3C}"/>
              </a:ext>
            </a:extLst>
          </p:cNvPr>
          <p:cNvSpPr txBox="1"/>
          <p:nvPr/>
        </p:nvSpPr>
        <p:spPr>
          <a:xfrm>
            <a:off x="1850527" y="598961"/>
            <a:ext cx="8676000" cy="745701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en-US" altLang="zh-CN" b="1" u="sng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System: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 are now a code analyst and reverse engineering expert, with in-depth knowledge of various encryption algorithms and the underlying principles of ransomware.</a:t>
            </a:r>
          </a:p>
          <a:p>
            <a:r>
              <a:rPr lang="en-US" altLang="zh-CN" b="1" u="sng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Task: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Your task is to determine whether the given code implements an encryption function.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Rules and conditions: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If the code does not meet the criteria, set 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is_encryption_function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 to false.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The output should be structured in JSON format: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{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function_name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": </a:t>
            </a:r>
            <a:r>
              <a:rPr lang="zh-CN" altLang="en-US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"",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</a:t>
            </a:r>
            <a:r>
              <a:rPr lang="en-US" altLang="zh-CN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is_encryption_function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": true/false,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			"description": "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</a:rPr>
              <a:t> Elaborate your reason here</a:t>
            </a: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."    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          }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Hash functions and other irreversible algorithms are not considered as encryption algorithms.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Below is an example of an encryption function from a cryptographic library: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Library function name: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db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.nm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 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Library function body: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db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.S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645750" indent="-285750">
              <a:buFont typeface="Arial" panose="020B0604020202020204" pitchFamily="34" charset="0"/>
              <a:buChar char="•"/>
            </a:pPr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If you are ready, please reply 'Understood’.</a:t>
            </a:r>
          </a:p>
          <a:p>
            <a:pPr marL="360000"/>
            <a:r>
              <a:rPr lang="en-US" altLang="zh-CN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 name: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bf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.nm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 </a:t>
            </a:r>
          </a:p>
          <a:p>
            <a:pPr marL="360000"/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Function body: {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f</a:t>
            </a:r>
            <a:r>
              <a:rPr lang="en-US" altLang="zh-CN" i="1" baseline="-25000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bf</a:t>
            </a:r>
            <a:r>
              <a:rPr lang="en-US" altLang="zh-CN" i="1" dirty="0" err="1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.S</a:t>
            </a:r>
            <a:r>
              <a:rPr lang="en-US" altLang="zh-CN" i="1" dirty="0">
                <a:solidFill>
                  <a:srgbClr val="FF0000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}</a:t>
            </a:r>
          </a:p>
          <a:p>
            <a:pPr marL="360000"/>
            <a:r>
              <a:rPr lang="en-US" altLang="zh-CN" i="1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```</a:t>
            </a:r>
          </a:p>
        </p:txBody>
      </p:sp>
    </p:spTree>
    <p:extLst>
      <p:ext uri="{BB962C8B-B14F-4D97-AF65-F5344CB8AC3E}">
        <p14:creationId xmlns:p14="http://schemas.microsoft.com/office/powerpoint/2010/main" val="3467090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3219</TotalTime>
  <Words>1439</Words>
  <Application>Microsoft Macintosh PowerPoint</Application>
  <PresentationFormat>Custom</PresentationFormat>
  <Paragraphs>224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Light</vt:lpstr>
      <vt:lpstr>Helvetica Neue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XY L</dc:creator>
  <cp:lastModifiedBy>Kaifeng Huang</cp:lastModifiedBy>
  <cp:revision>52</cp:revision>
  <dcterms:created xsi:type="dcterms:W3CDTF">2025-04-11T05:10:56Z</dcterms:created>
  <dcterms:modified xsi:type="dcterms:W3CDTF">2025-12-11T12:16:19Z</dcterms:modified>
</cp:coreProperties>
</file>