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F50DB-EC8A-49DE-BFD0-35EC7D55782E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28632-EFD2-401E-A39E-5BD6AC23DE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8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249D45-944C-DB52-E61D-9A946B97D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3D4DE5-8D70-A3CD-A558-CBEA0D04C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61974-02C9-5FFE-242E-D3B33502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D4B3B3-6F5A-04FF-95E6-508F36C0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A4785-9E0D-A16A-5294-BCED0CF50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722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8A464-CF53-624F-10AE-FFC95792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DF59A-5C62-F914-A23D-658C26696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B2FCC6-3171-B262-19E6-F9A8AA1E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9D2F82-D65F-F623-D1FA-226F3D93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27B6DC-0D14-E263-AB22-54E821BB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46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29E4F3-4827-2B43-50E9-EAC0B2B0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F90CDC-21D5-69B2-9DA0-B0274CDDD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62016C-8EDB-511F-F143-DFB95C9B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C00E43-EBDE-4F50-BD58-9C138E54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F492E2-7632-7CC8-F9B6-5DC10FD4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2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362AE-C8C8-6DC9-91EF-22E2426A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F00C6C-3EF0-10B9-FE33-092D0E4E3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DC7A78-B4A9-E754-D4DF-00A61F693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9E8059-6C17-88D2-2347-8C5DC64BB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84FC1B-9FBA-6C8B-6459-DC745E81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8C7FB1-01D7-71FB-ED1E-E3C60B953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6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DB88A-C84E-CB0B-0556-60253584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D8EA04-DAE6-7282-46FD-F344DD881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5754EC-5380-24D3-DD9E-DC73F50F6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3B3ABE-7910-1C61-4883-85DD03FCC6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F6A826-4544-E724-49BD-92ADA94E46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0530733-DABD-6A39-A39B-ED8894EAF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4B0D9D8-1A92-B43E-08AC-361FC4CE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3428C-9AFF-CC4B-D642-8D38F0795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02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AE3EF-F25F-C2CC-4995-E25DB56EC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46A580-D294-CE83-41FD-85ACE3F4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524D3E-0BB0-D30F-C7D3-8406B661A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6A8383-34DC-7F75-D586-21BE88354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275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03E5AB-98CE-133A-C20E-3BC90B05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FE2DE00-6FE2-0F08-207C-0F16FC19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211B63-22D6-3A59-0B13-56B05F04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5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3AA26-05F0-07D2-1CB0-BF0E5B225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59E795-5F37-4503-C6CA-9878F5588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C4513B-0010-CE04-B012-A8A78B248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2EDFF5-D485-F707-6ED6-66E146BC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6E3F74-CBB2-CA6F-4231-64B1DE59B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D0AEFD-542F-0DBF-54C8-98C80349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48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B39BD4-09CA-0FB0-6EAB-F5C4EC2F9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7FB9572-F593-D369-2EF6-2F2323572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3F81A9-273D-7A36-7151-7108DD05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7A5FD3-CDF8-A51E-4D0D-776252BFA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99858A-AF83-CDF0-7CDC-BAFA296A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35F4A9-8081-ADF5-B102-6EBF2D49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423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BFB50F-0AC0-1747-13D6-C8389A5F5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5F854A-5633-1E05-4AAD-85B4026B1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AC3A9D-35CC-3FBB-2A86-D0C0A0E60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95DE4A-0065-EF45-BB7F-E1D974B3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7DF81C-D931-DC48-9689-513BFC63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80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42147B-46D8-335C-064D-EDB1C65120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A29855-A6E1-9A88-AAFC-67B237752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75D7B-7727-A051-A7CA-4B07D83C9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61F275-D8FB-26E6-2940-F53D99BE0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584C7-A0E0-FBCC-8CB9-2AA01449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189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059938-A097-C3C4-FE7C-01C7408D9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FC52A5-7B7F-B7BE-079F-9768E4F91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BC6613-0B0C-C6EB-0C0C-19155CDC53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EC2DF-3717-40C0-8534-A2F9A0AE6ADD}" type="datetimeFigureOut">
              <a:rPr lang="zh-CN" altLang="en-US" smtClean="0"/>
              <a:t>2024/7/16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1F34B-C745-3052-71E6-713E54F75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CFE15E-8901-DE1E-9C58-C81E505F7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95797-D653-4C34-BF0C-4A97ADD418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46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23085A5-BBBB-56B0-42C3-C7476B869804}"/>
              </a:ext>
            </a:extLst>
          </p:cNvPr>
          <p:cNvSpPr txBox="1"/>
          <p:nvPr/>
        </p:nvSpPr>
        <p:spPr>
          <a:xfrm>
            <a:off x="3519576" y="19833"/>
            <a:ext cx="484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Database Meets Artificial Intelligence:</a:t>
            </a:r>
            <a:r>
              <a:rPr lang="zh-CN" altLang="en-US" dirty="0"/>
              <a:t> </a:t>
            </a:r>
            <a:r>
              <a:rPr lang="en-US" altLang="zh-CN" dirty="0"/>
              <a:t>A Survey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487A0B0-921A-27D6-97EB-D28290D70B62}"/>
              </a:ext>
            </a:extLst>
          </p:cNvPr>
          <p:cNvSpPr txBox="1"/>
          <p:nvPr/>
        </p:nvSpPr>
        <p:spPr>
          <a:xfrm>
            <a:off x="189780" y="328621"/>
            <a:ext cx="118124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eorgia" panose="02040502050405020303" pitchFamily="18" charset="0"/>
              </a:rPr>
              <a:t>旋钮调整：使用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eorgia" panose="02040502050405020303" pitchFamily="18" charset="0"/>
              </a:rPr>
              <a:t>AI</a:t>
            </a:r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eorgia" panose="02040502050405020303" pitchFamily="18" charset="0"/>
              </a:rPr>
              <a:t>探索更多的旋钮组合空间并推荐高质量的旋钮值，从而获得比</a:t>
            </a:r>
            <a:r>
              <a:rPr lang="en-US" altLang="zh-CN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eorgia" panose="02040502050405020303" pitchFamily="18" charset="0"/>
              </a:rPr>
              <a:t>DBA</a:t>
            </a:r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Georgia" panose="02040502050405020303" pitchFamily="18" charset="0"/>
              </a:rPr>
              <a:t>更好的结果</a:t>
            </a:r>
            <a:endParaRPr lang="en-US" altLang="zh-CN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Georgia" panose="02040502050405020303" pitchFamily="18" charset="0"/>
            </a:endParaRPr>
          </a:p>
          <a:p>
            <a:r>
              <a:rPr lang="zh-CN" altLang="en-US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索引</a:t>
            </a:r>
            <a:r>
              <a:rPr lang="en-US" altLang="zh-CN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/</a:t>
            </a:r>
            <a:r>
              <a:rPr lang="zh-CN" altLang="en-US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视图顾问：传统数据库高度依赖 </a:t>
            </a:r>
            <a:r>
              <a:rPr lang="en-US" altLang="zh-CN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DBA </a:t>
            </a:r>
            <a:r>
              <a:rPr lang="zh-CN" altLang="en-US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来构建和维护索引和视图。由于存在大量的列</a:t>
            </a:r>
            <a:r>
              <a:rPr lang="en-US" altLang="zh-CN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/</a:t>
            </a:r>
            <a:r>
              <a:rPr lang="zh-CN" altLang="en-US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表组合，因此推荐和构建</a:t>
            </a:r>
            <a:endParaRPr lang="en-US" altLang="zh-CN" dirty="0">
              <a:solidFill>
                <a:srgbClr val="333333"/>
              </a:solidFill>
              <a:highlight>
                <a:srgbClr val="FFFFFF"/>
              </a:highlight>
              <a:latin typeface="Georgia" panose="02040502050405020303" pitchFamily="18" charset="0"/>
            </a:endParaRPr>
          </a:p>
          <a:p>
            <a:r>
              <a:rPr lang="en-US" altLang="zh-CN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                               </a:t>
            </a:r>
            <a:r>
              <a:rPr lang="zh-CN" altLang="en-US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适当的索引</a:t>
            </a:r>
            <a:r>
              <a:rPr lang="en-US" altLang="zh-CN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/</a:t>
            </a:r>
            <a:r>
              <a:rPr lang="zh-CN" altLang="en-US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视图的成本很高。使用</a:t>
            </a:r>
            <a:r>
              <a:rPr lang="en-US" altLang="zh-CN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AI</a:t>
            </a:r>
            <a:r>
              <a:rPr lang="zh-CN" altLang="en-US" dirty="0">
                <a:solidFill>
                  <a:srgbClr val="333333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可以降低成本</a:t>
            </a:r>
            <a:endParaRPr lang="en-US" altLang="zh-CN" dirty="0">
              <a:solidFill>
                <a:srgbClr val="333333"/>
              </a:solidFill>
              <a:highlight>
                <a:srgbClr val="FFFFFF"/>
              </a:highlight>
              <a:latin typeface="Georgia" panose="02040502050405020303" pitchFamily="18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重写</a:t>
            </a:r>
            <a:r>
              <a:rPr lang="en-US" altLang="zh-CN" dirty="0">
                <a:solidFill>
                  <a:srgbClr val="FF0000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SQL</a:t>
            </a:r>
            <a:r>
              <a:rPr lang="zh-CN" altLang="en-US" dirty="0">
                <a:solidFill>
                  <a:srgbClr val="FF0000"/>
                </a:solidFill>
                <a:highlight>
                  <a:srgbClr val="FFFFFF"/>
                </a:highlight>
                <a:latin typeface="Georgia" panose="02040502050405020303" pitchFamily="18" charset="0"/>
              </a:rPr>
              <a:t>语句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71DCFA-7AF5-C509-468B-E94D9290A36E}"/>
              </a:ext>
            </a:extLst>
          </p:cNvPr>
          <p:cNvSpPr txBox="1"/>
          <p:nvPr/>
        </p:nvSpPr>
        <p:spPr>
          <a:xfrm>
            <a:off x="362308" y="2131308"/>
            <a:ext cx="11691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GPT-DB</a:t>
            </a:r>
            <a:r>
              <a:rPr lang="zh-CN" altLang="en-US" dirty="0"/>
              <a:t>基于</a:t>
            </a:r>
            <a:r>
              <a:rPr lang="en-US" altLang="zh-CN" dirty="0"/>
              <a:t>GPT</a:t>
            </a:r>
            <a:r>
              <a:rPr lang="zh-CN" altLang="en-US" dirty="0"/>
              <a:t>模型，专注于 </a:t>
            </a:r>
            <a:r>
              <a:rPr lang="en-US" altLang="zh-CN" dirty="0"/>
              <a:t>SQL </a:t>
            </a:r>
            <a:r>
              <a:rPr lang="zh-CN" altLang="en-US" dirty="0"/>
              <a:t>查询处理，激励专门的组件进行查询解析、查询优化和查询验证，使用通用编程语言（如 </a:t>
            </a:r>
            <a:r>
              <a:rPr lang="en-US" altLang="zh-CN" dirty="0"/>
              <a:t>Python</a:t>
            </a:r>
            <a:r>
              <a:rPr lang="zh-CN" altLang="en-US" dirty="0"/>
              <a:t>）生成用于 </a:t>
            </a:r>
            <a:r>
              <a:rPr lang="en-US" altLang="zh-CN" dirty="0"/>
              <a:t>SQL </a:t>
            </a:r>
            <a:r>
              <a:rPr lang="zh-CN" altLang="en-US" dirty="0"/>
              <a:t>处理的代码。生成的代码可以使用用户提供的自然语言指令自由定制。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8F2257-7DC4-A2D5-1D97-3E866CF4DCF5}"/>
              </a:ext>
            </a:extLst>
          </p:cNvPr>
          <p:cNvSpPr txBox="1"/>
          <p:nvPr/>
        </p:nvSpPr>
        <p:spPr>
          <a:xfrm>
            <a:off x="779230" y="1766037"/>
            <a:ext cx="10810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Demonstrating GPT-DB: Generating Query-Specific and Customizable Code for SQL Processing with GPT-4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B0983A-D5A6-35B2-0D36-17CA3366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40" y="2773578"/>
            <a:ext cx="11299863" cy="3134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65B5A08-D66E-BC2B-3FE2-C70EC72BAB4B}"/>
              </a:ext>
            </a:extLst>
          </p:cNvPr>
          <p:cNvSpPr txBox="1"/>
          <p:nvPr/>
        </p:nvSpPr>
        <p:spPr>
          <a:xfrm>
            <a:off x="316301" y="6053822"/>
            <a:ext cx="11559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包含语言提示（绿色，第 </a:t>
            </a:r>
            <a:r>
              <a:rPr lang="en-US" altLang="zh-CN" dirty="0"/>
              <a:t>1 </a:t>
            </a:r>
            <a:r>
              <a:rPr lang="zh-CN" altLang="en-US" dirty="0"/>
              <a:t>行和第 </a:t>
            </a:r>
            <a:r>
              <a:rPr lang="en-US" altLang="zh-CN" dirty="0"/>
              <a:t>14 </a:t>
            </a:r>
            <a:r>
              <a:rPr lang="zh-CN" altLang="en-US" dirty="0"/>
              <a:t>行）、数据库描述（蓝色，第 </a:t>
            </a:r>
            <a:r>
              <a:rPr lang="en-US" altLang="zh-CN" dirty="0"/>
              <a:t>2 </a:t>
            </a:r>
            <a:r>
              <a:rPr lang="zh-CN" altLang="en-US" dirty="0"/>
              <a:t>至 </a:t>
            </a:r>
            <a:r>
              <a:rPr lang="en-US" altLang="zh-CN" dirty="0"/>
              <a:t>5 </a:t>
            </a:r>
            <a:r>
              <a:rPr lang="zh-CN" altLang="en-US" dirty="0"/>
              <a:t>行）、处理步骤（黑色，第 </a:t>
            </a:r>
            <a:r>
              <a:rPr lang="en-US" altLang="zh-CN" dirty="0"/>
              <a:t>8 </a:t>
            </a:r>
            <a:r>
              <a:rPr lang="zh-CN" altLang="en-US" dirty="0"/>
              <a:t>至 </a:t>
            </a:r>
            <a:r>
              <a:rPr lang="en-US" altLang="zh-CN" dirty="0"/>
              <a:t>13 </a:t>
            </a:r>
            <a:r>
              <a:rPr lang="zh-CN" altLang="en-US" dirty="0"/>
              <a:t>行）和代码自定义的自然语言指令（红色，第 </a:t>
            </a:r>
            <a:r>
              <a:rPr lang="en-US" altLang="zh-CN" dirty="0"/>
              <a:t>7 </a:t>
            </a:r>
            <a:r>
              <a:rPr lang="zh-CN" altLang="en-US" dirty="0"/>
              <a:t>行）的代码生成提示。</a:t>
            </a:r>
          </a:p>
        </p:txBody>
      </p:sp>
    </p:spTree>
    <p:extLst>
      <p:ext uri="{BB962C8B-B14F-4D97-AF65-F5344CB8AC3E}">
        <p14:creationId xmlns:p14="http://schemas.microsoft.com/office/powerpoint/2010/main" val="3230699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3344F98-0200-A6E2-833B-31B574B54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77587" cy="314368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4AD247D-635E-7853-2D93-D922FC6C437E}"/>
              </a:ext>
            </a:extLst>
          </p:cNvPr>
          <p:cNvSpPr txBox="1"/>
          <p:nvPr/>
        </p:nvSpPr>
        <p:spPr>
          <a:xfrm>
            <a:off x="6217660" y="765200"/>
            <a:ext cx="4933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GPT </a:t>
            </a:r>
            <a:r>
              <a:rPr lang="zh-CN" altLang="en-US" dirty="0"/>
              <a:t>生成的代码，用于查询“</a:t>
            </a:r>
            <a:r>
              <a:rPr lang="en-US" altLang="zh-CN" dirty="0"/>
              <a:t>SELECT year FROM concert GROUP BY year ORDER BY count</a:t>
            </a:r>
            <a:r>
              <a:rPr lang="zh-CN" altLang="en-US" dirty="0"/>
              <a:t>（*） </a:t>
            </a:r>
            <a:r>
              <a:rPr lang="en-US" altLang="zh-CN" dirty="0"/>
              <a:t>DESC LIMIT 1”</a:t>
            </a:r>
            <a:r>
              <a:rPr lang="zh-CN" altLang="en-US" dirty="0"/>
              <a:t>，并带有“使用 </a:t>
            </a:r>
            <a:r>
              <a:rPr lang="en-US" altLang="zh-CN" dirty="0"/>
              <a:t>pandas </a:t>
            </a:r>
            <a:r>
              <a:rPr lang="zh-CN" altLang="en-US" dirty="0"/>
              <a:t>库”的指令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7903604-5DE2-5944-25A8-212EAA588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21281"/>
            <a:ext cx="6865445" cy="354128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78F1609-472A-C671-42D3-2E7D3C92D0CD}"/>
              </a:ext>
            </a:extLst>
          </p:cNvPr>
          <p:cNvSpPr txBox="1"/>
          <p:nvPr/>
        </p:nvSpPr>
        <p:spPr>
          <a:xfrm>
            <a:off x="6448737" y="3591597"/>
            <a:ext cx="4328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GPT-DB</a:t>
            </a:r>
            <a:r>
              <a:rPr lang="zh-CN" altLang="en-US" dirty="0"/>
              <a:t>的用户界面：用户选择数据源（</a:t>
            </a:r>
            <a:r>
              <a:rPr lang="en-US" altLang="zh-CN" dirty="0"/>
              <a:t>A</a:t>
            </a:r>
            <a:r>
              <a:rPr lang="zh-CN" altLang="en-US" dirty="0"/>
              <a:t>）和自定义指令（</a:t>
            </a:r>
            <a:r>
              <a:rPr lang="en-US" altLang="zh-CN" dirty="0"/>
              <a:t>B</a:t>
            </a:r>
            <a:r>
              <a:rPr lang="zh-CN" altLang="en-US" dirty="0"/>
              <a:t>），然后输入</a:t>
            </a:r>
            <a:r>
              <a:rPr lang="en-US" altLang="zh-CN" dirty="0"/>
              <a:t>SQL</a:t>
            </a:r>
            <a:r>
              <a:rPr lang="zh-CN" altLang="en-US" dirty="0"/>
              <a:t>查询（</a:t>
            </a:r>
            <a:r>
              <a:rPr lang="en-US" altLang="zh-CN" dirty="0"/>
              <a:t>C</a:t>
            </a:r>
            <a:r>
              <a:rPr lang="zh-CN" altLang="en-US" dirty="0"/>
              <a:t>），选择重试次数（</a:t>
            </a:r>
            <a:r>
              <a:rPr lang="en-US" altLang="zh-CN" dirty="0"/>
              <a:t>D</a:t>
            </a:r>
            <a:r>
              <a:rPr lang="zh-CN" altLang="en-US" dirty="0"/>
              <a:t>），开始处理（</a:t>
            </a:r>
            <a:r>
              <a:rPr lang="en-US" altLang="zh-CN" dirty="0"/>
              <a:t>E</a:t>
            </a:r>
            <a:r>
              <a:rPr lang="zh-CN" altLang="en-US" dirty="0"/>
              <a:t>），每次尝试都得到输出（</a:t>
            </a:r>
            <a:r>
              <a:rPr lang="en-US" altLang="zh-CN" dirty="0"/>
              <a:t>F</a:t>
            </a:r>
            <a:r>
              <a:rPr lang="zh-CN" altLang="en-US" dirty="0"/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06815E-7D28-3493-300B-5D0C8EB23DDE}"/>
              </a:ext>
            </a:extLst>
          </p:cNvPr>
          <p:cNvSpPr txBox="1"/>
          <p:nvPr/>
        </p:nvSpPr>
        <p:spPr>
          <a:xfrm>
            <a:off x="6096000" y="5562442"/>
            <a:ext cx="6296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以上内容大体上说明了程序员使用</a:t>
            </a:r>
            <a:r>
              <a:rPr lang="en-US" altLang="zh-CN" dirty="0"/>
              <a:t>GPT</a:t>
            </a:r>
            <a:r>
              <a:rPr lang="zh-CN" altLang="en-US" dirty="0"/>
              <a:t>生成</a:t>
            </a:r>
            <a:r>
              <a:rPr lang="en-US" altLang="zh-CN" dirty="0"/>
              <a:t>SQL</a:t>
            </a:r>
            <a:r>
              <a:rPr lang="zh-CN" altLang="en-US" dirty="0"/>
              <a:t>语句的模式。</a:t>
            </a:r>
            <a:endParaRPr lang="en-US" altLang="zh-CN" dirty="0"/>
          </a:p>
          <a:p>
            <a:r>
              <a:rPr lang="zh-CN" altLang="en-US" dirty="0"/>
              <a:t>我们的研究重点放在</a:t>
            </a:r>
            <a:r>
              <a:rPr lang="en-US" altLang="zh-CN" dirty="0"/>
              <a:t>A</a:t>
            </a:r>
            <a:r>
              <a:rPr lang="zh-CN" altLang="en-US" dirty="0"/>
              <a:t>部分和</a:t>
            </a:r>
            <a:r>
              <a:rPr lang="en-US" altLang="zh-CN" dirty="0"/>
              <a:t>C</a:t>
            </a:r>
            <a:r>
              <a:rPr lang="zh-CN" altLang="en-US" dirty="0"/>
              <a:t>部分的关系上：根据</a:t>
            </a:r>
            <a:r>
              <a:rPr lang="en-US" altLang="zh-CN" dirty="0"/>
              <a:t>C</a:t>
            </a:r>
            <a:r>
              <a:rPr lang="zh-CN" altLang="en-US" dirty="0"/>
              <a:t>部分的</a:t>
            </a:r>
            <a:endParaRPr lang="en-US" altLang="zh-CN" dirty="0"/>
          </a:p>
          <a:p>
            <a:r>
              <a:rPr lang="zh-CN" altLang="en-US" dirty="0"/>
              <a:t>语句对</a:t>
            </a:r>
            <a:r>
              <a:rPr lang="en-US" altLang="zh-CN" dirty="0"/>
              <a:t>A</a:t>
            </a:r>
            <a:r>
              <a:rPr lang="zh-CN" altLang="en-US" dirty="0"/>
              <a:t>部分的</a:t>
            </a:r>
            <a:r>
              <a:rPr lang="en-US" altLang="zh-CN" dirty="0"/>
              <a:t>Data Source</a:t>
            </a:r>
            <a:r>
              <a:rPr lang="zh-CN" altLang="en-US" dirty="0"/>
              <a:t>作出调整，脱除无关的敏感信息</a:t>
            </a:r>
          </a:p>
        </p:txBody>
      </p:sp>
    </p:spTree>
    <p:extLst>
      <p:ext uri="{BB962C8B-B14F-4D97-AF65-F5344CB8AC3E}">
        <p14:creationId xmlns:p14="http://schemas.microsoft.com/office/powerpoint/2010/main" val="365179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325</Words>
  <Application>Microsoft Office PowerPoint</Application>
  <PresentationFormat>宽屏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Georgia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笑云 刘</dc:creator>
  <cp:lastModifiedBy>笑云 刘</cp:lastModifiedBy>
  <cp:revision>55</cp:revision>
  <dcterms:created xsi:type="dcterms:W3CDTF">2024-07-13T13:19:24Z</dcterms:created>
  <dcterms:modified xsi:type="dcterms:W3CDTF">2024-07-16T13:23:04Z</dcterms:modified>
</cp:coreProperties>
</file>