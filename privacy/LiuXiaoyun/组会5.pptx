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56" r:id="rId2"/>
    <p:sldId id="257"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83" d="100"/>
          <a:sy n="83" d="100"/>
        </p:scale>
        <p:origin x="39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3T09:53:46.866"/>
    </inkml:context>
    <inkml:brush xml:id="br0">
      <inkml:brushProperty name="width" value="0.035" units="cm"/>
      <inkml:brushProperty name="height" value="0.035" units="cm"/>
      <inkml:brushProperty name="color" value="#E71224"/>
    </inkml:brush>
  </inkml:definitions>
  <inkml:trace contextRef="#ctx0" brushRef="#br0">6853 114 24575,'-13'0'0,"0"1"0,0 1 0,0-1 0,0 2 0,0 0 0,-22 9 0,14-5 0,0-1 0,-43 6 0,-45-1 0,91-10 0,-412 6 0,256-9 0,-2706 2 0,2819-2 0,-64-12 0,-38-2 0,49 13 0,-186-10 0,156 1 0,-384-37 0,267 32 0,-97-13 0,292 20 0,1 4 0,-1 2 0,0 3 0,1 3 0,-108 16 0,156-15 0,0 1 0,-31 10 0,41-11 0,1 0 0,-1 0 0,1 0 0,0 1 0,0 0 0,0 1 0,0-1 0,1 1 0,-9 10 0,-14 23 0,-32 57 0,14-19 0,-84 133 0,125-200 0,0 0 0,0 0 0,1 0 0,0 0 0,0 1 0,1 0 0,-2 11 0,2-2 0,2 0 0,-1 36 0,-4 74 0,0-4 0,7-106 0,0 0 0,1 0 0,1 0 0,9 29 0,-6-29 0,1-1 0,1 1 0,1-2 0,0 1 0,1-1 0,1-1 0,1 1 0,0-2 0,1 0 0,1-1 0,0 0 0,30 22 0,-15-15 0,1-2 0,0-1 0,1-2 0,38 15 0,-17-12 0,104 24 0,-132-38 0,126 22 0,49 2 0,14 2 0,-140-23-49,619 49-790,64-50 661,-387 17 941,-171-7-460,219 9-303,-255-5 0,-45-4 0,121 5 0,-99-11 0,48-3 0,31 2 0,442 41 0,-413-31 0,-102-4 0,246 9 0,-295-18 0,685 58 0,-621-54 0,159-9 0,-150-4 0,-55 3 0,451-14 0,202-7 0,-681 21 0,112-3 0,-113-4 0,17-1 0,177 5 0,134-4 0,-192-13 0,-177 14 0,340-51 0,-305 40 0,30-5 0,-15 11 0,112-21 0,-149 21 0,-40 8 0,-1-1 0,0-1 0,1 0 0,20-9 0,183-82 0,-147 66 0,-39 16 0,43-22 0,142-64 0,-131 63 0,-19 8 0,0 3 0,77-17 0,-26 7 0,-104 30 0,-1-2 0,-1 0 0,1 0 0,-1-2 0,20-15 0,-23 15 0,0 1 0,0-1 0,-1 0 0,0-1 0,-1 0 0,14-19 0,-10 9 0,0 0 0,12-25 0,-22 37 0,1 0 0,-1 0 0,-1 0 0,1-1 0,-2 1 0,3-17 0,-3-6 0,-1 1 0,-4-41 0,1 60 0,0 1 0,0 0 0,-1 0 0,-1 0 0,0 0 0,0 1 0,0 0 0,-10-12 0,-8-13 0,13 16 0,-1 2 0,-1-1 0,-1 1 0,-23-22 0,25 26 0,0 0 0,1-1 0,-14-23 0,16 22 0,-1 1 0,-1 0 0,-17-18 0,6 10 0,2-1 0,-29-41 0,37 48 0,-40-55 0,45 64 0,0-1 0,-1 1 0,1 0 0,-1 1 0,0 0 0,-1 0 0,-12-7 0,-4 3 0,1 0 0,-1 2 0,-1 1 0,-29-4 0,-104-6 0,142 15 0,-261-2 0,157 4 0,87-3 0,-56-10 0,10 1 0,-145-2 0,103 8 0,-483-2 0,374 9 0,-304-12 0,-212 3 0,467 8 0,-345-1 0,362-17 0,33 1 0,-215 15 0,210 3 0,-330-2-1365,542 0-5461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26A82B-B66D-49EA-BB5E-D38ED2E1ADBF}" type="datetimeFigureOut">
              <a:rPr lang="zh-CN" altLang="en-US" smtClean="0"/>
              <a:t>2024/7/23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49EA73-0DE8-4FEC-8674-AE29FF7D7F5C}" type="slidenum">
              <a:rPr lang="zh-CN" altLang="en-US" smtClean="0"/>
              <a:t>‹#›</a:t>
            </a:fld>
            <a:endParaRPr lang="zh-CN" altLang="en-US"/>
          </a:p>
        </p:txBody>
      </p:sp>
    </p:spTree>
    <p:extLst>
      <p:ext uri="{BB962C8B-B14F-4D97-AF65-F5344CB8AC3E}">
        <p14:creationId xmlns:p14="http://schemas.microsoft.com/office/powerpoint/2010/main" val="1908419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649EA73-0DE8-4FEC-8674-AE29FF7D7F5C}" type="slidenum">
              <a:rPr lang="zh-CN" altLang="en-US" smtClean="0"/>
              <a:t>1</a:t>
            </a:fld>
            <a:endParaRPr lang="zh-CN" altLang="en-US"/>
          </a:p>
        </p:txBody>
      </p:sp>
    </p:spTree>
    <p:extLst>
      <p:ext uri="{BB962C8B-B14F-4D97-AF65-F5344CB8AC3E}">
        <p14:creationId xmlns:p14="http://schemas.microsoft.com/office/powerpoint/2010/main" val="3804935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649EA73-0DE8-4FEC-8674-AE29FF7D7F5C}" type="slidenum">
              <a:rPr lang="zh-CN" altLang="en-US" smtClean="0"/>
              <a:t>2</a:t>
            </a:fld>
            <a:endParaRPr lang="zh-CN" altLang="en-US"/>
          </a:p>
        </p:txBody>
      </p:sp>
    </p:spTree>
    <p:extLst>
      <p:ext uri="{BB962C8B-B14F-4D97-AF65-F5344CB8AC3E}">
        <p14:creationId xmlns:p14="http://schemas.microsoft.com/office/powerpoint/2010/main" val="3999506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4B0F36-7B50-D9B8-DB7C-258A8250504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0BCB557-CEE2-01E1-6242-9B7D660577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C74D499-298A-B2AB-A685-EFE3F45CC1F9}"/>
              </a:ext>
            </a:extLst>
          </p:cNvPr>
          <p:cNvSpPr>
            <a:spLocks noGrp="1"/>
          </p:cNvSpPr>
          <p:nvPr>
            <p:ph type="dt" sz="half" idx="10"/>
          </p:nvPr>
        </p:nvSpPr>
        <p:spPr/>
        <p:txBody>
          <a:bodyPr/>
          <a:lstStyle/>
          <a:p>
            <a:fld id="{F4E69175-A7A0-4D82-91FD-1C795B2F78CD}" type="datetimeFigureOut">
              <a:rPr lang="zh-CN" altLang="en-US" smtClean="0"/>
              <a:t>2024/7/23</a:t>
            </a:fld>
            <a:endParaRPr lang="zh-CN" altLang="en-US"/>
          </a:p>
        </p:txBody>
      </p:sp>
      <p:sp>
        <p:nvSpPr>
          <p:cNvPr id="5" name="页脚占位符 4">
            <a:extLst>
              <a:ext uri="{FF2B5EF4-FFF2-40B4-BE49-F238E27FC236}">
                <a16:creationId xmlns:a16="http://schemas.microsoft.com/office/drawing/2014/main" id="{3A40247C-14EA-006C-6B35-3C154761D6D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E7E4ED1-C2CA-1511-4C86-6FB43259A280}"/>
              </a:ext>
            </a:extLst>
          </p:cNvPr>
          <p:cNvSpPr>
            <a:spLocks noGrp="1"/>
          </p:cNvSpPr>
          <p:nvPr>
            <p:ph type="sldNum" sz="quarter" idx="12"/>
          </p:nvPr>
        </p:nvSpPr>
        <p:spPr/>
        <p:txBody>
          <a:bodyPr/>
          <a:lstStyle/>
          <a:p>
            <a:fld id="{F7165BE7-125B-49D1-8DD9-95B7CDB7F273}" type="slidenum">
              <a:rPr lang="zh-CN" altLang="en-US" smtClean="0"/>
              <a:t>‹#›</a:t>
            </a:fld>
            <a:endParaRPr lang="zh-CN" altLang="en-US"/>
          </a:p>
        </p:txBody>
      </p:sp>
    </p:spTree>
    <p:extLst>
      <p:ext uri="{BB962C8B-B14F-4D97-AF65-F5344CB8AC3E}">
        <p14:creationId xmlns:p14="http://schemas.microsoft.com/office/powerpoint/2010/main" val="2694323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561B48-67EF-B812-1AC2-BC7FAE52D7F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33EF266-B49B-DC59-897A-C6D806D20F1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ABB06BA-E252-20EC-F711-60FD274249CA}"/>
              </a:ext>
            </a:extLst>
          </p:cNvPr>
          <p:cNvSpPr>
            <a:spLocks noGrp="1"/>
          </p:cNvSpPr>
          <p:nvPr>
            <p:ph type="dt" sz="half" idx="10"/>
          </p:nvPr>
        </p:nvSpPr>
        <p:spPr/>
        <p:txBody>
          <a:bodyPr/>
          <a:lstStyle/>
          <a:p>
            <a:fld id="{F4E69175-A7A0-4D82-91FD-1C795B2F78CD}" type="datetimeFigureOut">
              <a:rPr lang="zh-CN" altLang="en-US" smtClean="0"/>
              <a:t>2024/7/23</a:t>
            </a:fld>
            <a:endParaRPr lang="zh-CN" altLang="en-US"/>
          </a:p>
        </p:txBody>
      </p:sp>
      <p:sp>
        <p:nvSpPr>
          <p:cNvPr id="5" name="页脚占位符 4">
            <a:extLst>
              <a:ext uri="{FF2B5EF4-FFF2-40B4-BE49-F238E27FC236}">
                <a16:creationId xmlns:a16="http://schemas.microsoft.com/office/drawing/2014/main" id="{B4B0A11D-3ECD-E97D-BD59-1D3989B19D0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B63368B-D248-1216-7593-4FCBA264901D}"/>
              </a:ext>
            </a:extLst>
          </p:cNvPr>
          <p:cNvSpPr>
            <a:spLocks noGrp="1"/>
          </p:cNvSpPr>
          <p:nvPr>
            <p:ph type="sldNum" sz="quarter" idx="12"/>
          </p:nvPr>
        </p:nvSpPr>
        <p:spPr/>
        <p:txBody>
          <a:bodyPr/>
          <a:lstStyle/>
          <a:p>
            <a:fld id="{F7165BE7-125B-49D1-8DD9-95B7CDB7F273}" type="slidenum">
              <a:rPr lang="zh-CN" altLang="en-US" smtClean="0"/>
              <a:t>‹#›</a:t>
            </a:fld>
            <a:endParaRPr lang="zh-CN" altLang="en-US"/>
          </a:p>
        </p:txBody>
      </p:sp>
    </p:spTree>
    <p:extLst>
      <p:ext uri="{BB962C8B-B14F-4D97-AF65-F5344CB8AC3E}">
        <p14:creationId xmlns:p14="http://schemas.microsoft.com/office/powerpoint/2010/main" val="3354693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D189C1-2E68-2B6C-BEED-F4D51D6112E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5B2639E-E37D-CEA2-42CB-1FFE174C13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E109387-B31F-3E5B-891C-C2112758DE85}"/>
              </a:ext>
            </a:extLst>
          </p:cNvPr>
          <p:cNvSpPr>
            <a:spLocks noGrp="1"/>
          </p:cNvSpPr>
          <p:nvPr>
            <p:ph type="dt" sz="half" idx="10"/>
          </p:nvPr>
        </p:nvSpPr>
        <p:spPr/>
        <p:txBody>
          <a:bodyPr/>
          <a:lstStyle/>
          <a:p>
            <a:fld id="{F4E69175-A7A0-4D82-91FD-1C795B2F78CD}" type="datetimeFigureOut">
              <a:rPr lang="zh-CN" altLang="en-US" smtClean="0"/>
              <a:t>2024/7/23</a:t>
            </a:fld>
            <a:endParaRPr lang="zh-CN" altLang="en-US"/>
          </a:p>
        </p:txBody>
      </p:sp>
      <p:sp>
        <p:nvSpPr>
          <p:cNvPr id="5" name="页脚占位符 4">
            <a:extLst>
              <a:ext uri="{FF2B5EF4-FFF2-40B4-BE49-F238E27FC236}">
                <a16:creationId xmlns:a16="http://schemas.microsoft.com/office/drawing/2014/main" id="{CE8270EF-F6B8-73DD-C2DD-5127011FF3D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2535530-4E41-104A-8D7B-0C4DA2E9E39A}"/>
              </a:ext>
            </a:extLst>
          </p:cNvPr>
          <p:cNvSpPr>
            <a:spLocks noGrp="1"/>
          </p:cNvSpPr>
          <p:nvPr>
            <p:ph type="sldNum" sz="quarter" idx="12"/>
          </p:nvPr>
        </p:nvSpPr>
        <p:spPr/>
        <p:txBody>
          <a:bodyPr/>
          <a:lstStyle/>
          <a:p>
            <a:fld id="{F7165BE7-125B-49D1-8DD9-95B7CDB7F273}" type="slidenum">
              <a:rPr lang="zh-CN" altLang="en-US" smtClean="0"/>
              <a:t>‹#›</a:t>
            </a:fld>
            <a:endParaRPr lang="zh-CN" altLang="en-US"/>
          </a:p>
        </p:txBody>
      </p:sp>
    </p:spTree>
    <p:extLst>
      <p:ext uri="{BB962C8B-B14F-4D97-AF65-F5344CB8AC3E}">
        <p14:creationId xmlns:p14="http://schemas.microsoft.com/office/powerpoint/2010/main" val="5611973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E8B0C9-3411-BD2D-BEAD-B5AE3940470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DEB3053-B0F4-D744-B03C-CC1F2944FF3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C53BF24-6681-400F-6311-1E24960CEF72}"/>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AABA282-2BA4-D745-F19A-F7ACD2160FCB}"/>
              </a:ext>
            </a:extLst>
          </p:cNvPr>
          <p:cNvSpPr>
            <a:spLocks noGrp="1"/>
          </p:cNvSpPr>
          <p:nvPr>
            <p:ph type="dt" sz="half" idx="10"/>
          </p:nvPr>
        </p:nvSpPr>
        <p:spPr/>
        <p:txBody>
          <a:bodyPr/>
          <a:lstStyle/>
          <a:p>
            <a:fld id="{F4E69175-A7A0-4D82-91FD-1C795B2F78CD}" type="datetimeFigureOut">
              <a:rPr lang="zh-CN" altLang="en-US" smtClean="0"/>
              <a:t>2024/7/23</a:t>
            </a:fld>
            <a:endParaRPr lang="zh-CN" altLang="en-US"/>
          </a:p>
        </p:txBody>
      </p:sp>
      <p:sp>
        <p:nvSpPr>
          <p:cNvPr id="6" name="页脚占位符 5">
            <a:extLst>
              <a:ext uri="{FF2B5EF4-FFF2-40B4-BE49-F238E27FC236}">
                <a16:creationId xmlns:a16="http://schemas.microsoft.com/office/drawing/2014/main" id="{9EBCB8A1-1A87-B48D-8F70-002554B0903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1AAF22C-C1CD-A41D-5D3C-9D7C53D2D338}"/>
              </a:ext>
            </a:extLst>
          </p:cNvPr>
          <p:cNvSpPr>
            <a:spLocks noGrp="1"/>
          </p:cNvSpPr>
          <p:nvPr>
            <p:ph type="sldNum" sz="quarter" idx="12"/>
          </p:nvPr>
        </p:nvSpPr>
        <p:spPr/>
        <p:txBody>
          <a:bodyPr/>
          <a:lstStyle/>
          <a:p>
            <a:fld id="{F7165BE7-125B-49D1-8DD9-95B7CDB7F273}" type="slidenum">
              <a:rPr lang="zh-CN" altLang="en-US" smtClean="0"/>
              <a:t>‹#›</a:t>
            </a:fld>
            <a:endParaRPr lang="zh-CN" altLang="en-US"/>
          </a:p>
        </p:txBody>
      </p:sp>
    </p:spTree>
    <p:extLst>
      <p:ext uri="{BB962C8B-B14F-4D97-AF65-F5344CB8AC3E}">
        <p14:creationId xmlns:p14="http://schemas.microsoft.com/office/powerpoint/2010/main" val="962337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129E1F-5C98-29ED-CEAA-FBF8ADFA342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9CCF346-FCB4-AF51-077E-37D3DFC31E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B725FCD-1260-A85A-07D3-BA722E9B327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6B01973-0D53-40ED-9EDC-7364B5F32E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7A8C766-D95E-6160-9B52-C8BE5842F2D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2713B18-5E57-A965-9639-FD294A28998F}"/>
              </a:ext>
            </a:extLst>
          </p:cNvPr>
          <p:cNvSpPr>
            <a:spLocks noGrp="1"/>
          </p:cNvSpPr>
          <p:nvPr>
            <p:ph type="dt" sz="half" idx="10"/>
          </p:nvPr>
        </p:nvSpPr>
        <p:spPr/>
        <p:txBody>
          <a:bodyPr/>
          <a:lstStyle/>
          <a:p>
            <a:fld id="{F4E69175-A7A0-4D82-91FD-1C795B2F78CD}" type="datetimeFigureOut">
              <a:rPr lang="zh-CN" altLang="en-US" smtClean="0"/>
              <a:t>2024/7/23</a:t>
            </a:fld>
            <a:endParaRPr lang="zh-CN" altLang="en-US"/>
          </a:p>
        </p:txBody>
      </p:sp>
      <p:sp>
        <p:nvSpPr>
          <p:cNvPr id="8" name="页脚占位符 7">
            <a:extLst>
              <a:ext uri="{FF2B5EF4-FFF2-40B4-BE49-F238E27FC236}">
                <a16:creationId xmlns:a16="http://schemas.microsoft.com/office/drawing/2014/main" id="{CFC1F531-1555-87AD-4329-F659EDA04A7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1F2FD94-ECEE-2A1F-5CE1-329991A74F02}"/>
              </a:ext>
            </a:extLst>
          </p:cNvPr>
          <p:cNvSpPr>
            <a:spLocks noGrp="1"/>
          </p:cNvSpPr>
          <p:nvPr>
            <p:ph type="sldNum" sz="quarter" idx="12"/>
          </p:nvPr>
        </p:nvSpPr>
        <p:spPr/>
        <p:txBody>
          <a:bodyPr/>
          <a:lstStyle/>
          <a:p>
            <a:fld id="{F7165BE7-125B-49D1-8DD9-95B7CDB7F273}" type="slidenum">
              <a:rPr lang="zh-CN" altLang="en-US" smtClean="0"/>
              <a:t>‹#›</a:t>
            </a:fld>
            <a:endParaRPr lang="zh-CN" altLang="en-US"/>
          </a:p>
        </p:txBody>
      </p:sp>
    </p:spTree>
    <p:extLst>
      <p:ext uri="{BB962C8B-B14F-4D97-AF65-F5344CB8AC3E}">
        <p14:creationId xmlns:p14="http://schemas.microsoft.com/office/powerpoint/2010/main" val="30743009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92A86A-EA63-58F3-FE21-FDA271458C4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9662FD9-CBF2-A335-03E2-0992E0C8DB5F}"/>
              </a:ext>
            </a:extLst>
          </p:cNvPr>
          <p:cNvSpPr>
            <a:spLocks noGrp="1"/>
          </p:cNvSpPr>
          <p:nvPr>
            <p:ph type="dt" sz="half" idx="10"/>
          </p:nvPr>
        </p:nvSpPr>
        <p:spPr/>
        <p:txBody>
          <a:bodyPr/>
          <a:lstStyle/>
          <a:p>
            <a:fld id="{F4E69175-A7A0-4D82-91FD-1C795B2F78CD}" type="datetimeFigureOut">
              <a:rPr lang="zh-CN" altLang="en-US" smtClean="0"/>
              <a:t>2024/7/23</a:t>
            </a:fld>
            <a:endParaRPr lang="zh-CN" altLang="en-US"/>
          </a:p>
        </p:txBody>
      </p:sp>
      <p:sp>
        <p:nvSpPr>
          <p:cNvPr id="4" name="页脚占位符 3">
            <a:extLst>
              <a:ext uri="{FF2B5EF4-FFF2-40B4-BE49-F238E27FC236}">
                <a16:creationId xmlns:a16="http://schemas.microsoft.com/office/drawing/2014/main" id="{A138B341-C9AB-D485-F0D9-9C7DF408DBA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6119EC9-C0EF-36A2-0766-B73981D27937}"/>
              </a:ext>
            </a:extLst>
          </p:cNvPr>
          <p:cNvSpPr>
            <a:spLocks noGrp="1"/>
          </p:cNvSpPr>
          <p:nvPr>
            <p:ph type="sldNum" sz="quarter" idx="12"/>
          </p:nvPr>
        </p:nvSpPr>
        <p:spPr/>
        <p:txBody>
          <a:bodyPr/>
          <a:lstStyle/>
          <a:p>
            <a:fld id="{F7165BE7-125B-49D1-8DD9-95B7CDB7F273}" type="slidenum">
              <a:rPr lang="zh-CN" altLang="en-US" smtClean="0"/>
              <a:t>‹#›</a:t>
            </a:fld>
            <a:endParaRPr lang="zh-CN" altLang="en-US"/>
          </a:p>
        </p:txBody>
      </p:sp>
    </p:spTree>
    <p:extLst>
      <p:ext uri="{BB962C8B-B14F-4D97-AF65-F5344CB8AC3E}">
        <p14:creationId xmlns:p14="http://schemas.microsoft.com/office/powerpoint/2010/main" val="1166030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CB7D815-BA15-1E10-372D-7304A549D86F}"/>
              </a:ext>
            </a:extLst>
          </p:cNvPr>
          <p:cNvSpPr>
            <a:spLocks noGrp="1"/>
          </p:cNvSpPr>
          <p:nvPr>
            <p:ph type="dt" sz="half" idx="10"/>
          </p:nvPr>
        </p:nvSpPr>
        <p:spPr/>
        <p:txBody>
          <a:bodyPr/>
          <a:lstStyle/>
          <a:p>
            <a:fld id="{F4E69175-A7A0-4D82-91FD-1C795B2F78CD}" type="datetimeFigureOut">
              <a:rPr lang="zh-CN" altLang="en-US" smtClean="0"/>
              <a:t>2024/7/23</a:t>
            </a:fld>
            <a:endParaRPr lang="zh-CN" altLang="en-US"/>
          </a:p>
        </p:txBody>
      </p:sp>
      <p:sp>
        <p:nvSpPr>
          <p:cNvPr id="3" name="页脚占位符 2">
            <a:extLst>
              <a:ext uri="{FF2B5EF4-FFF2-40B4-BE49-F238E27FC236}">
                <a16:creationId xmlns:a16="http://schemas.microsoft.com/office/drawing/2014/main" id="{BBBD92DA-1DF0-567A-EC15-B9D8BE27A0C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582AA72-2884-AE92-C909-68031F7FBABD}"/>
              </a:ext>
            </a:extLst>
          </p:cNvPr>
          <p:cNvSpPr>
            <a:spLocks noGrp="1"/>
          </p:cNvSpPr>
          <p:nvPr>
            <p:ph type="sldNum" sz="quarter" idx="12"/>
          </p:nvPr>
        </p:nvSpPr>
        <p:spPr/>
        <p:txBody>
          <a:bodyPr/>
          <a:lstStyle/>
          <a:p>
            <a:fld id="{F7165BE7-125B-49D1-8DD9-95B7CDB7F273}" type="slidenum">
              <a:rPr lang="zh-CN" altLang="en-US" smtClean="0"/>
              <a:t>‹#›</a:t>
            </a:fld>
            <a:endParaRPr lang="zh-CN" altLang="en-US"/>
          </a:p>
        </p:txBody>
      </p:sp>
    </p:spTree>
    <p:extLst>
      <p:ext uri="{BB962C8B-B14F-4D97-AF65-F5344CB8AC3E}">
        <p14:creationId xmlns:p14="http://schemas.microsoft.com/office/powerpoint/2010/main" val="531837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8EF6AA-004C-F8D3-AC21-B6A82F8B32F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F2CCA3A-4718-6A92-A6F7-00F6CE6CC9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4D0E38C-26B1-1F99-7450-0407CB8E75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1640911-41E5-9982-CB7C-32F7C253EC58}"/>
              </a:ext>
            </a:extLst>
          </p:cNvPr>
          <p:cNvSpPr>
            <a:spLocks noGrp="1"/>
          </p:cNvSpPr>
          <p:nvPr>
            <p:ph type="dt" sz="half" idx="10"/>
          </p:nvPr>
        </p:nvSpPr>
        <p:spPr/>
        <p:txBody>
          <a:bodyPr/>
          <a:lstStyle/>
          <a:p>
            <a:fld id="{F4E69175-A7A0-4D82-91FD-1C795B2F78CD}" type="datetimeFigureOut">
              <a:rPr lang="zh-CN" altLang="en-US" smtClean="0"/>
              <a:t>2024/7/23</a:t>
            </a:fld>
            <a:endParaRPr lang="zh-CN" altLang="en-US"/>
          </a:p>
        </p:txBody>
      </p:sp>
      <p:sp>
        <p:nvSpPr>
          <p:cNvPr id="6" name="页脚占位符 5">
            <a:extLst>
              <a:ext uri="{FF2B5EF4-FFF2-40B4-BE49-F238E27FC236}">
                <a16:creationId xmlns:a16="http://schemas.microsoft.com/office/drawing/2014/main" id="{389A8585-0ECD-A736-F06C-AC6083CC9BD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35A4D0A-1658-CB0D-515D-04DFE2623F6D}"/>
              </a:ext>
            </a:extLst>
          </p:cNvPr>
          <p:cNvSpPr>
            <a:spLocks noGrp="1"/>
          </p:cNvSpPr>
          <p:nvPr>
            <p:ph type="sldNum" sz="quarter" idx="12"/>
          </p:nvPr>
        </p:nvSpPr>
        <p:spPr/>
        <p:txBody>
          <a:bodyPr/>
          <a:lstStyle/>
          <a:p>
            <a:fld id="{F7165BE7-125B-49D1-8DD9-95B7CDB7F273}" type="slidenum">
              <a:rPr lang="zh-CN" altLang="en-US" smtClean="0"/>
              <a:t>‹#›</a:t>
            </a:fld>
            <a:endParaRPr lang="zh-CN" altLang="en-US"/>
          </a:p>
        </p:txBody>
      </p:sp>
    </p:spTree>
    <p:extLst>
      <p:ext uri="{BB962C8B-B14F-4D97-AF65-F5344CB8AC3E}">
        <p14:creationId xmlns:p14="http://schemas.microsoft.com/office/powerpoint/2010/main" val="3190776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8E0D34-8766-FD9A-E4A7-B3DCB2FEFF1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F25D82D-2F65-642A-411D-BB87F07497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FD78A8E-D484-04F7-F119-069F079FFF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E3DB7FE-1F81-FCFD-5989-4B545E4783A2}"/>
              </a:ext>
            </a:extLst>
          </p:cNvPr>
          <p:cNvSpPr>
            <a:spLocks noGrp="1"/>
          </p:cNvSpPr>
          <p:nvPr>
            <p:ph type="dt" sz="half" idx="10"/>
          </p:nvPr>
        </p:nvSpPr>
        <p:spPr/>
        <p:txBody>
          <a:bodyPr/>
          <a:lstStyle/>
          <a:p>
            <a:fld id="{F4E69175-A7A0-4D82-91FD-1C795B2F78CD}" type="datetimeFigureOut">
              <a:rPr lang="zh-CN" altLang="en-US" smtClean="0"/>
              <a:t>2024/7/23</a:t>
            </a:fld>
            <a:endParaRPr lang="zh-CN" altLang="en-US"/>
          </a:p>
        </p:txBody>
      </p:sp>
      <p:sp>
        <p:nvSpPr>
          <p:cNvPr id="6" name="页脚占位符 5">
            <a:extLst>
              <a:ext uri="{FF2B5EF4-FFF2-40B4-BE49-F238E27FC236}">
                <a16:creationId xmlns:a16="http://schemas.microsoft.com/office/drawing/2014/main" id="{6106B158-AE3E-5776-AC56-1054FA1BC7A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1340C7C-52B0-15E3-FB30-84BE0774FA39}"/>
              </a:ext>
            </a:extLst>
          </p:cNvPr>
          <p:cNvSpPr>
            <a:spLocks noGrp="1"/>
          </p:cNvSpPr>
          <p:nvPr>
            <p:ph type="sldNum" sz="quarter" idx="12"/>
          </p:nvPr>
        </p:nvSpPr>
        <p:spPr/>
        <p:txBody>
          <a:bodyPr/>
          <a:lstStyle/>
          <a:p>
            <a:fld id="{F7165BE7-125B-49D1-8DD9-95B7CDB7F273}" type="slidenum">
              <a:rPr lang="zh-CN" altLang="en-US" smtClean="0"/>
              <a:t>‹#›</a:t>
            </a:fld>
            <a:endParaRPr lang="zh-CN" altLang="en-US"/>
          </a:p>
        </p:txBody>
      </p:sp>
    </p:spTree>
    <p:extLst>
      <p:ext uri="{BB962C8B-B14F-4D97-AF65-F5344CB8AC3E}">
        <p14:creationId xmlns:p14="http://schemas.microsoft.com/office/powerpoint/2010/main" val="2033286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B9BF94-6981-D8B3-72D0-4B30C9137C6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24E23E3-14EE-39C9-840E-52DA7931A3C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90D721A-858F-3CF7-D5CC-C4F7806303F7}"/>
              </a:ext>
            </a:extLst>
          </p:cNvPr>
          <p:cNvSpPr>
            <a:spLocks noGrp="1"/>
          </p:cNvSpPr>
          <p:nvPr>
            <p:ph type="dt" sz="half" idx="10"/>
          </p:nvPr>
        </p:nvSpPr>
        <p:spPr/>
        <p:txBody>
          <a:bodyPr/>
          <a:lstStyle/>
          <a:p>
            <a:fld id="{F4E69175-A7A0-4D82-91FD-1C795B2F78CD}" type="datetimeFigureOut">
              <a:rPr lang="zh-CN" altLang="en-US" smtClean="0"/>
              <a:t>2024/7/23</a:t>
            </a:fld>
            <a:endParaRPr lang="zh-CN" altLang="en-US"/>
          </a:p>
        </p:txBody>
      </p:sp>
      <p:sp>
        <p:nvSpPr>
          <p:cNvPr id="5" name="页脚占位符 4">
            <a:extLst>
              <a:ext uri="{FF2B5EF4-FFF2-40B4-BE49-F238E27FC236}">
                <a16:creationId xmlns:a16="http://schemas.microsoft.com/office/drawing/2014/main" id="{9B8A8C44-AB7D-5262-7680-8EC65A54877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9E462DA-00BF-E2E7-A680-C0087AA33CFC}"/>
              </a:ext>
            </a:extLst>
          </p:cNvPr>
          <p:cNvSpPr>
            <a:spLocks noGrp="1"/>
          </p:cNvSpPr>
          <p:nvPr>
            <p:ph type="sldNum" sz="quarter" idx="12"/>
          </p:nvPr>
        </p:nvSpPr>
        <p:spPr/>
        <p:txBody>
          <a:bodyPr/>
          <a:lstStyle/>
          <a:p>
            <a:fld id="{F7165BE7-125B-49D1-8DD9-95B7CDB7F273}" type="slidenum">
              <a:rPr lang="zh-CN" altLang="en-US" smtClean="0"/>
              <a:t>‹#›</a:t>
            </a:fld>
            <a:endParaRPr lang="zh-CN" altLang="en-US"/>
          </a:p>
        </p:txBody>
      </p:sp>
    </p:spTree>
    <p:extLst>
      <p:ext uri="{BB962C8B-B14F-4D97-AF65-F5344CB8AC3E}">
        <p14:creationId xmlns:p14="http://schemas.microsoft.com/office/powerpoint/2010/main" val="1962957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5DA2A1A-6ECF-73A1-B478-3EFD1E963C0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2C7A71F-F208-089E-1FD0-DABCDFC9976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8F77F8B-E5AA-AACB-829F-F2118C354E42}"/>
              </a:ext>
            </a:extLst>
          </p:cNvPr>
          <p:cNvSpPr>
            <a:spLocks noGrp="1"/>
          </p:cNvSpPr>
          <p:nvPr>
            <p:ph type="dt" sz="half" idx="10"/>
          </p:nvPr>
        </p:nvSpPr>
        <p:spPr/>
        <p:txBody>
          <a:bodyPr/>
          <a:lstStyle/>
          <a:p>
            <a:fld id="{F4E69175-A7A0-4D82-91FD-1C795B2F78CD}" type="datetimeFigureOut">
              <a:rPr lang="zh-CN" altLang="en-US" smtClean="0"/>
              <a:t>2024/7/23</a:t>
            </a:fld>
            <a:endParaRPr lang="zh-CN" altLang="en-US"/>
          </a:p>
        </p:txBody>
      </p:sp>
      <p:sp>
        <p:nvSpPr>
          <p:cNvPr id="5" name="页脚占位符 4">
            <a:extLst>
              <a:ext uri="{FF2B5EF4-FFF2-40B4-BE49-F238E27FC236}">
                <a16:creationId xmlns:a16="http://schemas.microsoft.com/office/drawing/2014/main" id="{810A5ED1-A46A-EFE3-20D3-40424D41A78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DEEB375-9FB1-A952-E5C7-08FF4B48EFBF}"/>
              </a:ext>
            </a:extLst>
          </p:cNvPr>
          <p:cNvSpPr>
            <a:spLocks noGrp="1"/>
          </p:cNvSpPr>
          <p:nvPr>
            <p:ph type="sldNum" sz="quarter" idx="12"/>
          </p:nvPr>
        </p:nvSpPr>
        <p:spPr/>
        <p:txBody>
          <a:bodyPr/>
          <a:lstStyle/>
          <a:p>
            <a:fld id="{F7165BE7-125B-49D1-8DD9-95B7CDB7F273}" type="slidenum">
              <a:rPr lang="zh-CN" altLang="en-US" smtClean="0"/>
              <a:t>‹#›</a:t>
            </a:fld>
            <a:endParaRPr lang="zh-CN" altLang="en-US"/>
          </a:p>
        </p:txBody>
      </p:sp>
    </p:spTree>
    <p:extLst>
      <p:ext uri="{BB962C8B-B14F-4D97-AF65-F5344CB8AC3E}">
        <p14:creationId xmlns:p14="http://schemas.microsoft.com/office/powerpoint/2010/main" val="1878392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9D38A7A-386C-A3B2-8092-7180F4BEAD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FA3988A-4F76-EC3F-EB20-74B82CCF9C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36207FC-07DA-2FAB-BE67-2B67D3E162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E69175-A7A0-4D82-91FD-1C795B2F78CD}" type="datetimeFigureOut">
              <a:rPr lang="zh-CN" altLang="en-US" smtClean="0"/>
              <a:t>2024/7/23</a:t>
            </a:fld>
            <a:endParaRPr lang="zh-CN" altLang="en-US"/>
          </a:p>
        </p:txBody>
      </p:sp>
      <p:sp>
        <p:nvSpPr>
          <p:cNvPr id="5" name="页脚占位符 4">
            <a:extLst>
              <a:ext uri="{FF2B5EF4-FFF2-40B4-BE49-F238E27FC236}">
                <a16:creationId xmlns:a16="http://schemas.microsoft.com/office/drawing/2014/main" id="{3BBE1B16-5B8F-E7B4-8CF3-BA836FB6B3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3F07454-1ECB-06FF-9964-92297854A0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165BE7-125B-49D1-8DD9-95B7CDB7F273}" type="slidenum">
              <a:rPr lang="zh-CN" altLang="en-US" smtClean="0"/>
              <a:t>‹#›</a:t>
            </a:fld>
            <a:endParaRPr lang="zh-CN" altLang="en-US"/>
          </a:p>
        </p:txBody>
      </p:sp>
    </p:spTree>
    <p:extLst>
      <p:ext uri="{BB962C8B-B14F-4D97-AF65-F5344CB8AC3E}">
        <p14:creationId xmlns:p14="http://schemas.microsoft.com/office/powerpoint/2010/main" val="12240411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customXml" Target="../ink/ink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9B92CCC-AF7A-2C58-7613-60263257F406}"/>
              </a:ext>
            </a:extLst>
          </p:cNvPr>
          <p:cNvSpPr txBox="1"/>
          <p:nvPr/>
        </p:nvSpPr>
        <p:spPr>
          <a:xfrm>
            <a:off x="387546" y="63622"/>
            <a:ext cx="11416908" cy="369332"/>
          </a:xfrm>
          <a:prstGeom prst="rect">
            <a:avLst/>
          </a:prstGeom>
          <a:noFill/>
        </p:spPr>
        <p:txBody>
          <a:bodyPr wrap="none" rtlCol="0">
            <a:spAutoFit/>
          </a:bodyPr>
          <a:lstStyle/>
          <a:p>
            <a:r>
              <a:rPr lang="en-US" altLang="zh-CN" dirty="0"/>
              <a:t>NeurIPS-2023-din-sql-decomposed-in-context-learning-of-text-to-sql-with-self-correction-Paper-Conference</a:t>
            </a:r>
            <a:endParaRPr lang="zh-CN" altLang="en-US" dirty="0"/>
          </a:p>
        </p:txBody>
      </p:sp>
      <p:pic>
        <p:nvPicPr>
          <p:cNvPr id="4" name="图片 3">
            <a:extLst>
              <a:ext uri="{FF2B5EF4-FFF2-40B4-BE49-F238E27FC236}">
                <a16:creationId xmlns:a16="http://schemas.microsoft.com/office/drawing/2014/main" id="{777E6E3D-C73C-0F0D-7C03-1A8BA33BAA64}"/>
              </a:ext>
            </a:extLst>
          </p:cNvPr>
          <p:cNvPicPr>
            <a:picLocks noChangeAspect="1"/>
          </p:cNvPicPr>
          <p:nvPr/>
        </p:nvPicPr>
        <p:blipFill>
          <a:blip r:embed="rId3"/>
          <a:stretch>
            <a:fillRect/>
          </a:stretch>
        </p:blipFill>
        <p:spPr>
          <a:xfrm>
            <a:off x="7178701" y="587519"/>
            <a:ext cx="4846631" cy="3404559"/>
          </a:xfrm>
          <a:prstGeom prst="rect">
            <a:avLst/>
          </a:prstGeom>
        </p:spPr>
      </p:pic>
      <p:sp>
        <p:nvSpPr>
          <p:cNvPr id="5" name="文本框 4">
            <a:extLst>
              <a:ext uri="{FF2B5EF4-FFF2-40B4-BE49-F238E27FC236}">
                <a16:creationId xmlns:a16="http://schemas.microsoft.com/office/drawing/2014/main" id="{A9F1BC40-5D12-57F0-1BA2-6EAEFBFAA233}"/>
              </a:ext>
            </a:extLst>
          </p:cNvPr>
          <p:cNvSpPr txBox="1"/>
          <p:nvPr/>
        </p:nvSpPr>
        <p:spPr>
          <a:xfrm>
            <a:off x="366769" y="483811"/>
            <a:ext cx="6465172" cy="923330"/>
          </a:xfrm>
          <a:prstGeom prst="rect">
            <a:avLst/>
          </a:prstGeom>
          <a:noFill/>
        </p:spPr>
        <p:txBody>
          <a:bodyPr wrap="square" rtlCol="0">
            <a:spAutoFit/>
          </a:bodyPr>
          <a:lstStyle/>
          <a:p>
            <a:r>
              <a:rPr lang="zh-CN" altLang="en-US" dirty="0"/>
              <a:t>为了提高</a:t>
            </a:r>
            <a:r>
              <a:rPr lang="en-US" altLang="zh-CN" dirty="0"/>
              <a:t>LLM</a:t>
            </a:r>
            <a:r>
              <a:rPr lang="zh-CN" altLang="en-US" dirty="0"/>
              <a:t>在推理过程中的表现，研究人员发现将生成问题分解为子问题并将这些子问题的解决方案输入到 </a:t>
            </a:r>
            <a:r>
              <a:rPr lang="en-US" altLang="zh-CN" dirty="0"/>
              <a:t>LLM </a:t>
            </a:r>
            <a:r>
              <a:rPr lang="zh-CN" altLang="en-US" dirty="0"/>
              <a:t>中可以显著提高其性能。</a:t>
            </a:r>
          </a:p>
        </p:txBody>
      </p:sp>
      <p:sp>
        <p:nvSpPr>
          <p:cNvPr id="6" name="文本框 5">
            <a:extLst>
              <a:ext uri="{FF2B5EF4-FFF2-40B4-BE49-F238E27FC236}">
                <a16:creationId xmlns:a16="http://schemas.microsoft.com/office/drawing/2014/main" id="{96A0537B-BAF3-27DB-66A6-812B5149EC10}"/>
              </a:ext>
            </a:extLst>
          </p:cNvPr>
          <p:cNvSpPr txBox="1"/>
          <p:nvPr/>
        </p:nvSpPr>
        <p:spPr>
          <a:xfrm>
            <a:off x="339307" y="1513049"/>
            <a:ext cx="6145874" cy="1477328"/>
          </a:xfrm>
          <a:prstGeom prst="rect">
            <a:avLst/>
          </a:prstGeom>
          <a:noFill/>
        </p:spPr>
        <p:txBody>
          <a:bodyPr wrap="square" rtlCol="0">
            <a:spAutoFit/>
          </a:bodyPr>
          <a:lstStyle/>
          <a:p>
            <a:r>
              <a:rPr lang="zh-CN" altLang="en-US" dirty="0"/>
              <a:t>方法：</a:t>
            </a:r>
            <a:endParaRPr lang="en-US" altLang="zh-CN" dirty="0"/>
          </a:p>
          <a:p>
            <a:r>
              <a:rPr lang="zh-CN" altLang="en-US" dirty="0"/>
              <a:t>（</a:t>
            </a:r>
            <a:r>
              <a:rPr lang="en-US" altLang="zh-CN" dirty="0"/>
              <a:t>1</a:t>
            </a:r>
            <a:r>
              <a:rPr lang="zh-CN" altLang="en-US" dirty="0"/>
              <a:t>）通过任务分解提高基于</a:t>
            </a:r>
            <a:r>
              <a:rPr lang="en-US" altLang="zh-CN" dirty="0"/>
              <a:t>LLM</a:t>
            </a:r>
            <a:r>
              <a:rPr lang="zh-CN" altLang="en-US" dirty="0"/>
              <a:t>的</a:t>
            </a:r>
            <a:r>
              <a:rPr lang="en-US" altLang="zh-CN" dirty="0"/>
              <a:t>text-to-SQL</a:t>
            </a:r>
            <a:r>
              <a:rPr lang="zh-CN" altLang="en-US" dirty="0"/>
              <a:t>模型的性能</a:t>
            </a:r>
            <a:endParaRPr lang="en-US" altLang="zh-CN" dirty="0"/>
          </a:p>
          <a:p>
            <a:r>
              <a:rPr lang="zh-CN" altLang="en-US" dirty="0"/>
              <a:t>（</a:t>
            </a:r>
            <a:r>
              <a:rPr lang="en-US" altLang="zh-CN" dirty="0"/>
              <a:t>2</a:t>
            </a:r>
            <a:r>
              <a:rPr lang="zh-CN" altLang="en-US" dirty="0"/>
              <a:t>）引入针对任务复杂性量身定制的自适应提示策略</a:t>
            </a:r>
            <a:endParaRPr lang="en-US" altLang="zh-CN" dirty="0"/>
          </a:p>
          <a:p>
            <a:r>
              <a:rPr lang="zh-CN" altLang="en-US" dirty="0"/>
              <a:t>（</a:t>
            </a:r>
            <a:r>
              <a:rPr lang="en-US" altLang="zh-CN" dirty="0"/>
              <a:t>3</a:t>
            </a:r>
            <a:r>
              <a:rPr lang="zh-CN" altLang="en-US" dirty="0"/>
              <a:t>）解决提示上下文中的模式链接挑战</a:t>
            </a:r>
            <a:endParaRPr lang="en-US" altLang="zh-CN" dirty="0"/>
          </a:p>
          <a:p>
            <a:r>
              <a:rPr lang="zh-CN" altLang="en-US" dirty="0"/>
              <a:t>（</a:t>
            </a:r>
            <a:r>
              <a:rPr lang="en-US" altLang="zh-CN" dirty="0"/>
              <a:t>4</a:t>
            </a:r>
            <a:r>
              <a:rPr lang="zh-CN" altLang="en-US" dirty="0"/>
              <a:t>）使用</a:t>
            </a:r>
            <a:r>
              <a:rPr lang="en-US" altLang="zh-CN" dirty="0"/>
              <a:t>LLM</a:t>
            </a:r>
            <a:r>
              <a:rPr lang="zh-CN" altLang="en-US" dirty="0"/>
              <a:t>进行自我纠正</a:t>
            </a:r>
          </a:p>
        </p:txBody>
      </p:sp>
      <mc:AlternateContent xmlns:mc="http://schemas.openxmlformats.org/markup-compatibility/2006" xmlns:p14="http://schemas.microsoft.com/office/powerpoint/2010/main">
        <mc:Choice Requires="p14">
          <p:contentPart p14:bwMode="auto" r:id="rId4">
            <p14:nvContentPartPr>
              <p14:cNvPr id="9" name="墨迹 8">
                <a:extLst>
                  <a:ext uri="{FF2B5EF4-FFF2-40B4-BE49-F238E27FC236}">
                    <a16:creationId xmlns:a16="http://schemas.microsoft.com/office/drawing/2014/main" id="{65F7AE9E-FBC2-BDB2-DD27-570E2A61EA45}"/>
                  </a:ext>
                </a:extLst>
              </p14:cNvPr>
              <p14:cNvContentPartPr/>
              <p14:nvPr/>
            </p14:nvContentPartPr>
            <p14:xfrm>
              <a:off x="7263457" y="3323323"/>
              <a:ext cx="4677120" cy="714600"/>
            </p14:xfrm>
          </p:contentPart>
        </mc:Choice>
        <mc:Fallback xmlns="">
          <p:pic>
            <p:nvPicPr>
              <p:cNvPr id="9" name="墨迹 8">
                <a:extLst>
                  <a:ext uri="{FF2B5EF4-FFF2-40B4-BE49-F238E27FC236}">
                    <a16:creationId xmlns:a16="http://schemas.microsoft.com/office/drawing/2014/main" id="{65F7AE9E-FBC2-BDB2-DD27-570E2A61EA45}"/>
                  </a:ext>
                </a:extLst>
              </p:cNvPr>
              <p:cNvPicPr/>
              <p:nvPr/>
            </p:nvPicPr>
            <p:blipFill>
              <a:blip r:embed="rId5"/>
              <a:stretch>
                <a:fillRect/>
              </a:stretch>
            </p:blipFill>
            <p:spPr>
              <a:xfrm>
                <a:off x="7257337" y="3317203"/>
                <a:ext cx="4689360" cy="726840"/>
              </a:xfrm>
              <a:prstGeom prst="rect">
                <a:avLst/>
              </a:prstGeom>
            </p:spPr>
          </p:pic>
        </mc:Fallback>
      </mc:AlternateContent>
      <p:sp>
        <p:nvSpPr>
          <p:cNvPr id="11" name="文本框 10">
            <a:extLst>
              <a:ext uri="{FF2B5EF4-FFF2-40B4-BE49-F238E27FC236}">
                <a16:creationId xmlns:a16="http://schemas.microsoft.com/office/drawing/2014/main" id="{47EC4731-6E8F-A9C8-6306-0E7B22ACF4CA}"/>
              </a:ext>
            </a:extLst>
          </p:cNvPr>
          <p:cNvSpPr txBox="1"/>
          <p:nvPr/>
        </p:nvSpPr>
        <p:spPr>
          <a:xfrm>
            <a:off x="339307" y="3234534"/>
            <a:ext cx="6239772" cy="923330"/>
          </a:xfrm>
          <a:prstGeom prst="rect">
            <a:avLst/>
          </a:prstGeom>
          <a:noFill/>
        </p:spPr>
        <p:txBody>
          <a:bodyPr wrap="square" rtlCol="0">
            <a:spAutoFit/>
          </a:bodyPr>
          <a:lstStyle/>
          <a:p>
            <a:r>
              <a:rPr lang="zh-CN" altLang="en-US" dirty="0"/>
              <a:t>研究人员使用 </a:t>
            </a:r>
            <a:r>
              <a:rPr lang="en-US" altLang="zh-CN" dirty="0" err="1"/>
              <a:t>CodeX</a:t>
            </a:r>
            <a:r>
              <a:rPr lang="en-US" altLang="zh-CN" dirty="0"/>
              <a:t> </a:t>
            </a:r>
            <a:r>
              <a:rPr lang="zh-CN" altLang="en-US" dirty="0"/>
              <a:t>系列的两个变体（</a:t>
            </a:r>
            <a:r>
              <a:rPr lang="en-US" altLang="zh-CN" dirty="0"/>
              <a:t>Davinci </a:t>
            </a:r>
            <a:r>
              <a:rPr lang="zh-CN" altLang="en-US" dirty="0"/>
              <a:t>和 </a:t>
            </a:r>
            <a:r>
              <a:rPr lang="en-US" altLang="zh-CN" dirty="0"/>
              <a:t>Cushman </a:t>
            </a:r>
            <a:r>
              <a:rPr lang="zh-CN" altLang="en-US" dirty="0"/>
              <a:t>变体）和 </a:t>
            </a:r>
            <a:r>
              <a:rPr lang="en-US" altLang="zh-CN" dirty="0"/>
              <a:t>GPT-4 </a:t>
            </a:r>
            <a:r>
              <a:rPr lang="zh-CN" altLang="en-US" dirty="0"/>
              <a:t>模型评估了所提出的方法。较小的模型不太适用。参数数量在数十亿的规模。</a:t>
            </a:r>
          </a:p>
        </p:txBody>
      </p:sp>
      <p:sp>
        <p:nvSpPr>
          <p:cNvPr id="12" name="文本框 11">
            <a:extLst>
              <a:ext uri="{FF2B5EF4-FFF2-40B4-BE49-F238E27FC236}">
                <a16:creationId xmlns:a16="http://schemas.microsoft.com/office/drawing/2014/main" id="{A282FA1D-8262-F63C-C2A8-567C307A7DCB}"/>
              </a:ext>
            </a:extLst>
          </p:cNvPr>
          <p:cNvSpPr txBox="1"/>
          <p:nvPr/>
        </p:nvSpPr>
        <p:spPr>
          <a:xfrm>
            <a:off x="387546" y="4682298"/>
            <a:ext cx="10038914" cy="1754326"/>
          </a:xfrm>
          <a:prstGeom prst="rect">
            <a:avLst/>
          </a:prstGeom>
          <a:noFill/>
        </p:spPr>
        <p:txBody>
          <a:bodyPr wrap="square" rtlCol="0">
            <a:spAutoFit/>
          </a:bodyPr>
          <a:lstStyle/>
          <a:p>
            <a:r>
              <a:rPr lang="zh-CN" altLang="en-US" dirty="0"/>
              <a:t>对于</a:t>
            </a:r>
            <a:r>
              <a:rPr lang="en-US" altLang="zh-CN" dirty="0"/>
              <a:t>spider</a:t>
            </a:r>
            <a:r>
              <a:rPr lang="zh-CN" altLang="en-US" dirty="0"/>
              <a:t>的</a:t>
            </a:r>
            <a:r>
              <a:rPr lang="en-US" altLang="zh-CN" dirty="0"/>
              <a:t>2</a:t>
            </a:r>
            <a:r>
              <a:rPr lang="zh-CN" altLang="en-US" dirty="0"/>
              <a:t>个指标</a:t>
            </a:r>
            <a:r>
              <a:rPr lang="en-US" altLang="zh-CN" dirty="0"/>
              <a:t>EX(execution accuracy)</a:t>
            </a:r>
            <a:r>
              <a:rPr lang="zh-CN" altLang="en-US" dirty="0"/>
              <a:t>和</a:t>
            </a:r>
            <a:r>
              <a:rPr lang="en-US" altLang="zh-CN" dirty="0"/>
              <a:t>EM(exact-set-match accuracy)</a:t>
            </a:r>
            <a:r>
              <a:rPr lang="zh-CN" altLang="en-US" dirty="0"/>
              <a:t>：</a:t>
            </a:r>
            <a:endParaRPr lang="en-US" altLang="zh-CN" dirty="0"/>
          </a:p>
          <a:p>
            <a:r>
              <a:rPr lang="zh-CN" altLang="en-US" dirty="0">
                <a:solidFill>
                  <a:srgbClr val="FF0000"/>
                </a:solidFill>
              </a:rPr>
              <a:t>精确集匹配精度 （</a:t>
            </a:r>
            <a:r>
              <a:rPr lang="en-US" altLang="zh-CN" dirty="0">
                <a:solidFill>
                  <a:srgbClr val="FF0000"/>
                </a:solidFill>
              </a:rPr>
              <a:t>EM</a:t>
            </a:r>
            <a:r>
              <a:rPr lang="zh-CN" altLang="en-US" dirty="0">
                <a:solidFill>
                  <a:srgbClr val="FF0000"/>
                </a:solidFill>
              </a:rPr>
              <a:t>）</a:t>
            </a:r>
            <a:r>
              <a:rPr lang="zh-CN" altLang="en-US" dirty="0"/>
              <a:t> 将每个子句视为一个集合，并将每个子句的预测与引用查询中的相应子句进行比较。只有当预测的 </a:t>
            </a:r>
            <a:r>
              <a:rPr lang="en-US" altLang="zh-CN" dirty="0"/>
              <a:t>SQL </a:t>
            </a:r>
            <a:r>
              <a:rPr lang="zh-CN" altLang="en-US" dirty="0"/>
              <a:t>查询的所有组件都与基本事实匹配时，才被认为是正确的。此指标不考虑值。</a:t>
            </a:r>
            <a:r>
              <a:rPr lang="zh-CN" altLang="en-US" dirty="0">
                <a:solidFill>
                  <a:srgbClr val="FF0000"/>
                </a:solidFill>
              </a:rPr>
              <a:t>执行准确率 （</a:t>
            </a:r>
            <a:r>
              <a:rPr lang="en-US" altLang="zh-CN" dirty="0">
                <a:solidFill>
                  <a:srgbClr val="FF0000"/>
                </a:solidFill>
              </a:rPr>
              <a:t>EX</a:t>
            </a:r>
            <a:r>
              <a:rPr lang="zh-CN" altLang="en-US" dirty="0">
                <a:solidFill>
                  <a:srgbClr val="FF0000"/>
                </a:solidFill>
              </a:rPr>
              <a:t>） </a:t>
            </a:r>
            <a:r>
              <a:rPr lang="zh-CN" altLang="en-US" dirty="0"/>
              <a:t>将预测的 </a:t>
            </a:r>
            <a:r>
              <a:rPr lang="en-US" altLang="zh-CN" dirty="0"/>
              <a:t>SQL </a:t>
            </a:r>
            <a:r>
              <a:rPr lang="zh-CN" altLang="en-US" dirty="0"/>
              <a:t>查询的执行输出与某些数据库实例上的真实 </a:t>
            </a:r>
            <a:r>
              <a:rPr lang="en-US" altLang="zh-CN" dirty="0"/>
              <a:t>SQL </a:t>
            </a:r>
            <a:r>
              <a:rPr lang="zh-CN" altLang="en-US" dirty="0"/>
              <a:t>查询的执行输出进行比较。执行准确性提供了对模型性能的更精确的估计，因为对于给定的问题，可能有多个有效的 </a:t>
            </a:r>
            <a:r>
              <a:rPr lang="en-US" altLang="zh-CN" dirty="0"/>
              <a:t>SQL </a:t>
            </a:r>
            <a:r>
              <a:rPr lang="zh-CN" altLang="en-US" dirty="0"/>
              <a:t>查询，而精确集匹配精度仅针对其中一个评估预测的 </a:t>
            </a:r>
            <a:r>
              <a:rPr lang="en-US" altLang="zh-CN" dirty="0"/>
              <a:t>SQL</a:t>
            </a:r>
            <a:r>
              <a:rPr lang="zh-CN" altLang="en-US" dirty="0"/>
              <a:t>。</a:t>
            </a:r>
          </a:p>
        </p:txBody>
      </p:sp>
    </p:spTree>
    <p:extLst>
      <p:ext uri="{BB962C8B-B14F-4D97-AF65-F5344CB8AC3E}">
        <p14:creationId xmlns:p14="http://schemas.microsoft.com/office/powerpoint/2010/main" val="1521591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EC619F79-8B99-D742-22D9-0B3C0292F1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71205" y="129100"/>
            <a:ext cx="2640404" cy="5455066"/>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D244919B-EE0A-C72D-7C2C-D1F7238A20F7}"/>
              </a:ext>
            </a:extLst>
          </p:cNvPr>
          <p:cNvSpPr txBox="1"/>
          <p:nvPr/>
        </p:nvSpPr>
        <p:spPr>
          <a:xfrm>
            <a:off x="423046" y="3680500"/>
            <a:ext cx="6429554" cy="2031325"/>
          </a:xfrm>
          <a:prstGeom prst="rect">
            <a:avLst/>
          </a:prstGeom>
          <a:noFill/>
        </p:spPr>
        <p:txBody>
          <a:bodyPr wrap="square" rtlCol="0">
            <a:spAutoFit/>
          </a:bodyPr>
          <a:lstStyle/>
          <a:p>
            <a:r>
              <a:rPr lang="zh-CN" altLang="en-US" dirty="0"/>
              <a:t>有待提高的部分：</a:t>
            </a:r>
            <a:endParaRPr lang="en-US" altLang="zh-CN" dirty="0"/>
          </a:p>
          <a:p>
            <a:r>
              <a:rPr lang="zh-CN" altLang="en-US" dirty="0"/>
              <a:t>本文的演示是针对每个查询类固定的，未来的研究可能会探索自适应和自动化方法，以更精细的粒度生成演示，这可以进一步提高性能。此外，截至撰写时，在使用 </a:t>
            </a:r>
            <a:r>
              <a:rPr lang="en-US" altLang="zh-CN" dirty="0"/>
              <a:t>GPT-4 </a:t>
            </a:r>
            <a:r>
              <a:rPr lang="zh-CN" altLang="en-US" dirty="0"/>
              <a:t>回答来自 </a:t>
            </a:r>
            <a:r>
              <a:rPr lang="en-US" altLang="zh-CN" dirty="0"/>
              <a:t>Spider</a:t>
            </a:r>
            <a:r>
              <a:rPr lang="zh-CN" altLang="en-US" dirty="0"/>
              <a:t>数据集的自然语言问题时，会产生大约 </a:t>
            </a:r>
            <a:r>
              <a:rPr lang="en-US" altLang="zh-CN" dirty="0"/>
              <a:t>0.5 </a:t>
            </a:r>
            <a:r>
              <a:rPr lang="zh-CN" altLang="en-US" dirty="0"/>
              <a:t>美元的成本，并表现出大约 </a:t>
            </a:r>
            <a:r>
              <a:rPr lang="en-US" altLang="zh-CN" dirty="0"/>
              <a:t>60 </a:t>
            </a:r>
            <a:r>
              <a:rPr lang="zh-CN" altLang="en-US" dirty="0"/>
              <a:t>秒的延迟。预计随着</a:t>
            </a:r>
            <a:r>
              <a:rPr lang="en-US" altLang="zh-CN" dirty="0"/>
              <a:t>LLM</a:t>
            </a:r>
            <a:r>
              <a:rPr lang="zh-CN" altLang="en-US" dirty="0"/>
              <a:t>的不断发展，这些成本和延迟应该会降低，但降低成本是另一个可能的方向。</a:t>
            </a:r>
          </a:p>
        </p:txBody>
      </p:sp>
      <p:pic>
        <p:nvPicPr>
          <p:cNvPr id="3" name="图片 2">
            <a:extLst>
              <a:ext uri="{FF2B5EF4-FFF2-40B4-BE49-F238E27FC236}">
                <a16:creationId xmlns:a16="http://schemas.microsoft.com/office/drawing/2014/main" id="{D1816224-943C-DC85-1A75-328FDD0398B3}"/>
              </a:ext>
            </a:extLst>
          </p:cNvPr>
          <p:cNvPicPr>
            <a:picLocks noChangeAspect="1"/>
          </p:cNvPicPr>
          <p:nvPr/>
        </p:nvPicPr>
        <p:blipFill>
          <a:blip r:embed="rId4"/>
          <a:stretch>
            <a:fillRect/>
          </a:stretch>
        </p:blipFill>
        <p:spPr>
          <a:xfrm>
            <a:off x="502385" y="0"/>
            <a:ext cx="3618209" cy="2257349"/>
          </a:xfrm>
          <a:prstGeom prst="rect">
            <a:avLst/>
          </a:prstGeom>
        </p:spPr>
      </p:pic>
      <p:sp>
        <p:nvSpPr>
          <p:cNvPr id="4" name="文本框 3">
            <a:extLst>
              <a:ext uri="{FF2B5EF4-FFF2-40B4-BE49-F238E27FC236}">
                <a16:creationId xmlns:a16="http://schemas.microsoft.com/office/drawing/2014/main" id="{57693020-17DA-418B-2477-A39A1B0E1E37}"/>
              </a:ext>
            </a:extLst>
          </p:cNvPr>
          <p:cNvSpPr txBox="1"/>
          <p:nvPr/>
        </p:nvSpPr>
        <p:spPr>
          <a:xfrm>
            <a:off x="9585583" y="5786588"/>
            <a:ext cx="1691489" cy="369332"/>
          </a:xfrm>
          <a:prstGeom prst="rect">
            <a:avLst/>
          </a:prstGeom>
          <a:noFill/>
        </p:spPr>
        <p:txBody>
          <a:bodyPr wrap="none" rtlCol="0">
            <a:spAutoFit/>
          </a:bodyPr>
          <a:lstStyle/>
          <a:p>
            <a:r>
              <a:rPr lang="en-US" altLang="zh-CN" dirty="0"/>
              <a:t>4</a:t>
            </a:r>
            <a:r>
              <a:rPr lang="zh-CN" altLang="en-US" dirty="0"/>
              <a:t>个难度的示例</a:t>
            </a:r>
          </a:p>
        </p:txBody>
      </p:sp>
      <p:pic>
        <p:nvPicPr>
          <p:cNvPr id="6" name="图片 5">
            <a:extLst>
              <a:ext uri="{FF2B5EF4-FFF2-40B4-BE49-F238E27FC236}">
                <a16:creationId xmlns:a16="http://schemas.microsoft.com/office/drawing/2014/main" id="{664FFF09-42DB-D960-2685-3945EF289D9A}"/>
              </a:ext>
            </a:extLst>
          </p:cNvPr>
          <p:cNvPicPr>
            <a:picLocks noChangeAspect="1"/>
          </p:cNvPicPr>
          <p:nvPr/>
        </p:nvPicPr>
        <p:blipFill>
          <a:blip r:embed="rId5"/>
          <a:stretch>
            <a:fillRect/>
          </a:stretch>
        </p:blipFill>
        <p:spPr>
          <a:xfrm>
            <a:off x="4552498" y="0"/>
            <a:ext cx="3792121" cy="2310062"/>
          </a:xfrm>
          <a:prstGeom prst="rect">
            <a:avLst/>
          </a:prstGeom>
        </p:spPr>
      </p:pic>
      <p:sp>
        <p:nvSpPr>
          <p:cNvPr id="7" name="文本框 6">
            <a:extLst>
              <a:ext uri="{FF2B5EF4-FFF2-40B4-BE49-F238E27FC236}">
                <a16:creationId xmlns:a16="http://schemas.microsoft.com/office/drawing/2014/main" id="{4AF8C762-F44B-DF40-BCAE-3A182F123F2D}"/>
              </a:ext>
            </a:extLst>
          </p:cNvPr>
          <p:cNvSpPr txBox="1"/>
          <p:nvPr/>
        </p:nvSpPr>
        <p:spPr>
          <a:xfrm>
            <a:off x="402567" y="2310062"/>
            <a:ext cx="3792121" cy="646331"/>
          </a:xfrm>
          <a:prstGeom prst="rect">
            <a:avLst/>
          </a:prstGeom>
          <a:noFill/>
        </p:spPr>
        <p:txBody>
          <a:bodyPr wrap="square" rtlCol="0">
            <a:spAutoFit/>
          </a:bodyPr>
          <a:lstStyle/>
          <a:p>
            <a:r>
              <a:rPr lang="zh-CN" altLang="en-US" dirty="0"/>
              <a:t>在 </a:t>
            </a:r>
            <a:r>
              <a:rPr lang="en-US" altLang="zh-CN" dirty="0"/>
              <a:t>Spider </a:t>
            </a:r>
            <a:r>
              <a:rPr lang="zh-CN" altLang="en-US" dirty="0"/>
              <a:t>的开发集上使用不同 </a:t>
            </a:r>
            <a:r>
              <a:rPr lang="en-US" altLang="zh-CN" dirty="0"/>
              <a:t>LLM </a:t>
            </a:r>
            <a:r>
              <a:rPr lang="zh-CN" altLang="en-US" dirty="0"/>
              <a:t>的零样本和少样本提示相比的性能</a:t>
            </a:r>
          </a:p>
        </p:txBody>
      </p:sp>
      <p:sp>
        <p:nvSpPr>
          <p:cNvPr id="8" name="文本框 7">
            <a:extLst>
              <a:ext uri="{FF2B5EF4-FFF2-40B4-BE49-F238E27FC236}">
                <a16:creationId xmlns:a16="http://schemas.microsoft.com/office/drawing/2014/main" id="{B8775D03-ABA7-C501-274D-B5397DCCA201}"/>
              </a:ext>
            </a:extLst>
          </p:cNvPr>
          <p:cNvSpPr txBox="1"/>
          <p:nvPr/>
        </p:nvSpPr>
        <p:spPr>
          <a:xfrm>
            <a:off x="4428226" y="2361821"/>
            <a:ext cx="3916393" cy="646331"/>
          </a:xfrm>
          <a:prstGeom prst="rect">
            <a:avLst/>
          </a:prstGeom>
          <a:noFill/>
        </p:spPr>
        <p:txBody>
          <a:bodyPr wrap="square" rtlCol="0">
            <a:spAutoFit/>
          </a:bodyPr>
          <a:lstStyle/>
          <a:p>
            <a:r>
              <a:rPr lang="zh-CN" altLang="en-US" dirty="0"/>
              <a:t>与在不同查询难度级别中的基本的少样本提示相比的性能表现</a:t>
            </a:r>
          </a:p>
        </p:txBody>
      </p:sp>
    </p:spTree>
    <p:extLst>
      <p:ext uri="{BB962C8B-B14F-4D97-AF65-F5344CB8AC3E}">
        <p14:creationId xmlns:p14="http://schemas.microsoft.com/office/powerpoint/2010/main" val="14806804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TotalTime>
  <Words>422</Words>
  <Application>Microsoft Office PowerPoint</Application>
  <PresentationFormat>宽屏</PresentationFormat>
  <Paragraphs>17</Paragraphs>
  <Slides>2</Slides>
  <Notes>2</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vt:i4>
      </vt:variant>
    </vt:vector>
  </HeadingPairs>
  <TitlesOfParts>
    <vt:vector size="6" baseType="lpstr">
      <vt:lpstr>等线</vt:lpstr>
      <vt:lpstr>等线 Light</vt:lpstr>
      <vt:lpstr>Arial</vt:lpstr>
      <vt:lpstr>Office 主题​​</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笑云 刘</dc:creator>
  <cp:lastModifiedBy>笑云 刘</cp:lastModifiedBy>
  <cp:revision>54</cp:revision>
  <dcterms:created xsi:type="dcterms:W3CDTF">2024-07-23T09:37:45Z</dcterms:created>
  <dcterms:modified xsi:type="dcterms:W3CDTF">2024-07-23T12:34:33Z</dcterms:modified>
</cp:coreProperties>
</file>