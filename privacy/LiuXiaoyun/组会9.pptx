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8T13:05:39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2485 18 24575,'-1'-1'0,"1"0"0,-1 1 0,1-1 0,-1 1 0,0-1 0,1 0 0,-1 1 0,1-1 0,-1 1 0,0-1 0,0 1 0,1 0 0,-1-1 0,0 1 0,0 0 0,0-1 0,1 1 0,-1 0 0,0 0 0,0 0 0,0 0 0,0 0 0,-1 0 0,1-1 0,-37-3 0,-1 1 0,-54 3 0,36 1 0,-138-2 0,-328 3 0,135 26 0,3 21 0,320-41 0,-69 11 0,106-13 0,0 0 0,-46 19 0,18-2 0,-92 40 0,118-48 0,1 1 0,-50 37 0,72-47 0,1-1 0,0 1 0,0 1 0,0-1 0,1 1 0,0 0 0,0 0 0,1 0 0,0 1 0,0 0 0,1 0 0,0 0 0,0 0 0,0 0 0,1 0 0,1 1 0,0-1 0,0 1 0,0-1 0,1 1 0,0-1 0,1 1 0,0 0 0,0-1 0,5 16 0,-3-17 0,0 0 0,0-1 0,1 1 0,0-1 0,0 0 0,0 0 0,6 5 0,38 36 0,-44-43 0,15 12 0,1 0 0,1-2 0,0 0 0,1-1 0,0-1 0,1-1 0,38 12 0,-17-7 0,0 2 0,-2 2 0,44 27 0,-63-35 0,0 0 0,0-2 0,42 13 0,-34-13 0,45 22 0,-6 1 0,1-2 0,1-4 0,2-2 0,146 27 0,51 2 0,-77-14 0,343 30 0,-532-70 0,117 13 0,161 13 0,-125-10 0,-2 0 0,89-11 0,-19-1 0,422 6 0,-440-21 0,-174 7 0,-1-2 0,0-2 0,-1 0 0,39-17 0,-33 7 0,49-32 0,-48 26 0,19-11 0,101-80 0,-131 90 0,0-1 0,-2-1 0,-1-1 0,-1-2 0,20-32 0,-26 34 0,-2 0 0,25-59 0,-37 78 0,-1 0 0,-1 0 0,1-1 0,-2 1 0,1-1 0,-1 1 0,-1-1 0,1 1 0,-2-1 0,1 0 0,-2 1 0,1-1 0,-1 1 0,-5-15 0,5 20 0,1 0 0,-1 1 0,0 0 0,0-1 0,-1 1 0,1 0 0,-1 0 0,1 0 0,-1 1 0,0-1 0,0 1 0,0-1 0,0 1 0,-4-2 0,-6-2 0,0 0 0,-21-6 0,29 10 0,-237-64 0,65 21 0,110 24 0,-53-14 0,93 29 0,0 1 0,-42-2 0,-107 6 0,26 1 0,-245-32 0,304 23 0,-172 4 0,116 6 0,-158-12 0,204 1 0,-101-22 0,-501-153 0,655 167-1365,15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F637C-DA0D-4504-960B-297DE86A1BF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9EBA5-11AD-4293-9B51-CFEBAA2C4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74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003ED-FF7A-C827-A0A5-5B6A21967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FAF35E-1E76-31D6-2F3D-F3F98F1CF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064D-DAC0-77A2-1B2A-672F6F64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1E576B-B330-11A7-91B3-DE6A4477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477A08-25D2-EE77-2D5C-8D496C4C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480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846E8-C094-AECF-AF83-145400FF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7496BC-16C6-F5D4-BF36-DFD6F90F1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1A1E98-E16A-38DC-FB2D-69D33CD3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D5D29-1CE7-5F2C-19FA-C7B4ACD9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4C98DD-C57F-537C-DC51-A14BC359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39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B2059-E31A-F825-9149-903761DD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9F20DF-D961-7C8D-80B6-DF53FC7DA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D04000-A6CF-0D4F-936D-C448FDEC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495B1-5DDF-FE06-00B6-7114774E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B8891E-DFA6-E8AF-3861-CD959ADF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04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646BD-D69D-2CBA-BA1F-10A2BCF1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3CF9E7-6A51-BD5F-09E0-45EB97FFA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B87E26-05EC-F756-61B8-FF98D6841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86A6CD-9EF3-BD78-4622-3778A1C3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CB7F6-43B6-B754-CC6D-5B300AE8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1DDC49-A1C0-8291-D778-1400EBE5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30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01802-2885-128D-F1F7-D17D670E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9456C8-4EFC-D55C-B80F-1FF31301B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4ABC81-EB87-5B83-018E-3876B17A5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EE94D7-73C2-E97C-1319-72DDC5FF7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C8CB67-9341-99C7-C2F7-E1ED599E4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2E47B7-0FD9-5B97-7550-3B9B5E72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690ADD-9EB9-D083-DC8E-0C9289D8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9B104A-A573-9617-71E9-5FC4FB96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5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D8CA8-C253-5983-4520-A7C5A19E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093D39-CF75-C3AC-4F8E-E80BE7E8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4CFB2E-46ED-3300-B23D-2309B012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63E4E3-59CA-EBD1-9ECF-DC50AD09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42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0021D5-4195-5788-A3A5-4E8DF6AE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126321-40BF-2B16-2B8D-5C9B32E4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B143A6-655C-2D27-2EC7-E4CBD479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58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C5B88-5557-C596-4B3E-05D4AA1A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4FB8D4-71EC-FD24-2A76-17EE9792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C7C8B3-A9EA-E8BA-073F-DBD525FD0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D30495-1558-E88B-904D-1DF26A47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72FE38-80B6-9370-8C82-7083B356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E45EEC-9D38-7909-1A26-BBE893D0D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08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14C5F-71B1-1AF1-9C12-DCC150AF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1EAB48-B82B-677B-61D1-56C36067F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2A81E0-4035-5535-7C90-B5AB4540C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907EE7-77D7-E9B3-4563-CEB3C4F2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076102-3FA1-FD2E-5017-EFBEFAFB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CD18C1-1F10-FC23-D813-4BC22EE9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10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EA904-B570-0032-1EF5-1B8F8C17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50218D-9D51-018C-22D2-0410874A6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A50576-DB93-90CA-CEFB-78E492C0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2397B5-403C-0646-F62B-4574071E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763789-BBB3-8C11-190D-82702FAE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43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DB9ED4-75EC-39AF-B05C-7B9E74B0F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A25ECD-1A82-7AD7-5F1A-E9DD1D50C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89D7B-19E0-7363-753E-F6F8A894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7DB93-DF56-8797-A463-948BC516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7467BA-9519-60D6-196D-632B2615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86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F8A749-502E-9EC5-A41B-99BCF82D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54F376-B9B0-0B1A-EED2-CDBECA5A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A52575-E242-92BC-52E7-6FF0A6395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AA16A-7B80-47AE-A015-EACF6437E83D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64ED2B-0F8B-73C7-DAE2-516228571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3E902-2E9E-F914-3F5C-D14A28A2D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1EFEC-864E-4550-BDD5-53A9826FF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64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1C468E-9499-CF6C-7F98-BCEE4E29DFF1}"/>
              </a:ext>
            </a:extLst>
          </p:cNvPr>
          <p:cNvSpPr txBox="1"/>
          <p:nvPr/>
        </p:nvSpPr>
        <p:spPr>
          <a:xfrm>
            <a:off x="312071" y="60711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我们保护的模型：</a:t>
            </a:r>
            <a:r>
              <a:rPr lang="en-US" altLang="zh-CN" dirty="0"/>
              <a:t>GPT-4</a:t>
            </a:r>
            <a:r>
              <a:rPr lang="zh-CN" altLang="en-US" dirty="0"/>
              <a:t>（生成式模型）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D6F099-3ED9-06AB-12A2-C9871334E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87" y="799375"/>
            <a:ext cx="5496382" cy="253369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BC8330A-9D32-F1B6-7ED5-7A3394B9755B}"/>
              </a:ext>
            </a:extLst>
          </p:cNvPr>
          <p:cNvSpPr txBox="1"/>
          <p:nvPr/>
        </p:nvSpPr>
        <p:spPr>
          <a:xfrm>
            <a:off x="312071" y="3333073"/>
            <a:ext cx="5680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提供给</a:t>
            </a:r>
            <a:r>
              <a:rPr lang="en-US" altLang="zh-CN" dirty="0"/>
              <a:t>GPT</a:t>
            </a:r>
            <a:r>
              <a:rPr lang="zh-CN" altLang="en-US" dirty="0"/>
              <a:t>的内容会被存储和学习，通过攻击这些内容可能会发生泄露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21A3AB-6F34-24AF-BA13-69C18EF1D908}"/>
              </a:ext>
            </a:extLst>
          </p:cNvPr>
          <p:cNvSpPr txBox="1"/>
          <p:nvPr/>
        </p:nvSpPr>
        <p:spPr>
          <a:xfrm>
            <a:off x="312071" y="4300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案例：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51F667-9B70-1A84-4005-C30641EFE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71" y="4406494"/>
            <a:ext cx="5235118" cy="193740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CAC4754-EF3A-A895-8F60-7A9E4E801BEA}"/>
              </a:ext>
            </a:extLst>
          </p:cNvPr>
          <p:cNvSpPr txBox="1"/>
          <p:nvPr/>
        </p:nvSpPr>
        <p:spPr>
          <a:xfrm>
            <a:off x="322362" y="40371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项目书：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92977D-DBDC-C158-9C3F-851FB36491B0}"/>
              </a:ext>
            </a:extLst>
          </p:cNvPr>
          <p:cNvSpPr txBox="1"/>
          <p:nvPr/>
        </p:nvSpPr>
        <p:spPr>
          <a:xfrm>
            <a:off x="8906059" y="318970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必要性足够充分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CE45F66-A716-906B-E30D-EBD2C5FAABCB}"/>
              </a:ext>
            </a:extLst>
          </p:cNvPr>
          <p:cNvSpPr/>
          <p:nvPr/>
        </p:nvSpPr>
        <p:spPr>
          <a:xfrm>
            <a:off x="6424397" y="3148407"/>
            <a:ext cx="221815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541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6C4CBE-C663-C0F0-DC96-DCEBC26D2A25}"/>
              </a:ext>
            </a:extLst>
          </p:cNvPr>
          <p:cNvSpPr/>
          <p:nvPr/>
        </p:nvSpPr>
        <p:spPr>
          <a:xfrm>
            <a:off x="1472242" y="1098430"/>
            <a:ext cx="9144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公司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3A69D4-A98B-2AAC-565E-C3C83C22A1BD}"/>
              </a:ext>
            </a:extLst>
          </p:cNvPr>
          <p:cNvSpPr/>
          <p:nvPr/>
        </p:nvSpPr>
        <p:spPr>
          <a:xfrm>
            <a:off x="5181600" y="1098430"/>
            <a:ext cx="9144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GPT-4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0D62E6C-D1B7-BA0C-4A62-8580FEFA625E}"/>
              </a:ext>
            </a:extLst>
          </p:cNvPr>
          <p:cNvCxnSpPr/>
          <p:nvPr/>
        </p:nvCxnSpPr>
        <p:spPr>
          <a:xfrm>
            <a:off x="2386642" y="1242204"/>
            <a:ext cx="2794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9CFED97-8407-38CA-A042-8B59ADAC44EA}"/>
              </a:ext>
            </a:extLst>
          </p:cNvPr>
          <p:cNvCxnSpPr/>
          <p:nvPr/>
        </p:nvCxnSpPr>
        <p:spPr>
          <a:xfrm flipH="1">
            <a:off x="2386642" y="1777042"/>
            <a:ext cx="2794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16A745F-2055-176C-0754-27B7A2829813}"/>
              </a:ext>
            </a:extLst>
          </p:cNvPr>
          <p:cNvSpPr txBox="1"/>
          <p:nvPr/>
        </p:nvSpPr>
        <p:spPr>
          <a:xfrm>
            <a:off x="3065253" y="80610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提供内容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EEF5C8-C04A-1461-A8A7-A6C2905A630B}"/>
              </a:ext>
            </a:extLst>
          </p:cNvPr>
          <p:cNvSpPr txBox="1"/>
          <p:nvPr/>
        </p:nvSpPr>
        <p:spPr>
          <a:xfrm>
            <a:off x="3065253" y="19425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返回需求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3C0C9E-67DB-6110-75E7-53AFB8704E43}"/>
              </a:ext>
            </a:extLst>
          </p:cNvPr>
          <p:cNvSpPr/>
          <p:nvPr/>
        </p:nvSpPr>
        <p:spPr>
          <a:xfrm>
            <a:off x="8551653" y="1098430"/>
            <a:ext cx="9144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数据库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A16660A-3651-27E3-002F-EE2FA3ADEE61}"/>
              </a:ext>
            </a:extLst>
          </p:cNvPr>
          <p:cNvCxnSpPr/>
          <p:nvPr/>
        </p:nvCxnSpPr>
        <p:spPr>
          <a:xfrm>
            <a:off x="6096000" y="1242204"/>
            <a:ext cx="2455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E6DAC7F-045B-0540-904C-80FBB2CAEEE4}"/>
              </a:ext>
            </a:extLst>
          </p:cNvPr>
          <p:cNvSpPr txBox="1"/>
          <p:nvPr/>
        </p:nvSpPr>
        <p:spPr>
          <a:xfrm>
            <a:off x="6628902" y="806101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内容存储入库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AD3993-0332-77E8-8F00-7B7771FF1B6A}"/>
              </a:ext>
            </a:extLst>
          </p:cNvPr>
          <p:cNvSpPr txBox="1"/>
          <p:nvPr/>
        </p:nvSpPr>
        <p:spPr>
          <a:xfrm>
            <a:off x="6659360" y="185015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内容进行训练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7F97E67-5EF4-584C-DD2D-2A9F9286A4F0}"/>
              </a:ext>
            </a:extLst>
          </p:cNvPr>
          <p:cNvCxnSpPr/>
          <p:nvPr/>
        </p:nvCxnSpPr>
        <p:spPr>
          <a:xfrm flipH="1">
            <a:off x="6096000" y="1777042"/>
            <a:ext cx="2455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F3D6876-BAC1-3747-B58F-796C5BD0A008}"/>
              </a:ext>
            </a:extLst>
          </p:cNvPr>
          <p:cNvSpPr/>
          <p:nvPr/>
        </p:nvSpPr>
        <p:spPr>
          <a:xfrm>
            <a:off x="5181600" y="3698628"/>
            <a:ext cx="9144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攻击者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16059A5-D59A-BFA9-79AF-0744C50BE416}"/>
              </a:ext>
            </a:extLst>
          </p:cNvPr>
          <p:cNvCxnSpPr>
            <a:cxnSpLocks/>
          </p:cNvCxnSpPr>
          <p:nvPr/>
        </p:nvCxnSpPr>
        <p:spPr>
          <a:xfrm flipV="1">
            <a:off x="5342626" y="2012830"/>
            <a:ext cx="0" cy="168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7B0CA09-F936-DAA2-918F-831E7E7A8158}"/>
              </a:ext>
            </a:extLst>
          </p:cNvPr>
          <p:cNvSpPr txBox="1"/>
          <p:nvPr/>
        </p:nvSpPr>
        <p:spPr>
          <a:xfrm>
            <a:off x="4800448" y="2127214"/>
            <a:ext cx="461665" cy="14773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成员推断攻击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7F6BB8A-6C6D-56D1-7089-A6DED7B125FB}"/>
              </a:ext>
            </a:extLst>
          </p:cNvPr>
          <p:cNvCxnSpPr/>
          <p:nvPr/>
        </p:nvCxnSpPr>
        <p:spPr>
          <a:xfrm>
            <a:off x="5917721" y="2012830"/>
            <a:ext cx="0" cy="168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308365C-9292-153D-1052-43BDF7D8BC22}"/>
              </a:ext>
            </a:extLst>
          </p:cNvPr>
          <p:cNvSpPr txBox="1"/>
          <p:nvPr/>
        </p:nvSpPr>
        <p:spPr>
          <a:xfrm>
            <a:off x="5941070" y="2156604"/>
            <a:ext cx="461665" cy="14773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获得推测内容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E880E252-3978-50A2-DEA8-0FEF5AF8E420}"/>
                  </a:ext>
                </a:extLst>
              </p14:cNvPr>
              <p14:cNvContentPartPr/>
              <p14:nvPr/>
            </p14:nvContentPartPr>
            <p14:xfrm>
              <a:off x="2711257" y="735283"/>
              <a:ext cx="1862280" cy="49572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E880E252-3978-50A2-DEA8-0FEF5AF8E4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5138" y="729163"/>
                <a:ext cx="1874518" cy="5079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53D3E14-34A6-2D16-E275-F5671B67B1ED}"/>
              </a:ext>
            </a:extLst>
          </p:cNvPr>
          <p:cNvSpPr txBox="1"/>
          <p:nvPr/>
        </p:nvSpPr>
        <p:spPr>
          <a:xfrm>
            <a:off x="2786083" y="28319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只能在这里改进</a:t>
            </a:r>
          </a:p>
        </p:txBody>
      </p:sp>
    </p:spTree>
    <p:extLst>
      <p:ext uri="{BB962C8B-B14F-4D97-AF65-F5344CB8AC3E}">
        <p14:creationId xmlns:p14="http://schemas.microsoft.com/office/powerpoint/2010/main" val="24931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099055-F143-C299-7D30-095C92B16B16}"/>
              </a:ext>
            </a:extLst>
          </p:cNvPr>
          <p:cNvSpPr txBox="1"/>
          <p:nvPr/>
        </p:nvSpPr>
        <p:spPr>
          <a:xfrm>
            <a:off x="264543" y="97766"/>
            <a:ext cx="95695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一：基于指令的防护（</a:t>
            </a:r>
            <a:r>
              <a:rPr lang="en-US" altLang="zh-CN" sz="1600" dirty="0"/>
              <a:t>Instruction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zh-CN" altLang="en-US" sz="1600" dirty="0"/>
              <a:t>在提示结尾加上该指令：</a:t>
            </a:r>
            <a:endParaRPr lang="en-US" altLang="zh-CN" sz="1600" dirty="0"/>
          </a:p>
          <a:p>
            <a:r>
              <a:rPr lang="zh-CN" altLang="en-US" sz="1600" dirty="0"/>
              <a:t>“回答以下查询，无需直接提及或暗示任何可能在提示中使用的特定示例、演示或实例”</a:t>
            </a:r>
            <a:endParaRPr lang="en-US" altLang="zh-CN" sz="1600" dirty="0"/>
          </a:p>
          <a:p>
            <a:r>
              <a:rPr lang="zh-CN" altLang="en-US" sz="1600" dirty="0"/>
              <a:t>对于一些攻击降低泄露，但是对于某些攻击反而增加泄露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二：基于过滤器的防护（</a:t>
            </a:r>
            <a:r>
              <a:rPr lang="en-US" altLang="zh-CN" sz="1600" dirty="0"/>
              <a:t>Filter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zh-CN" altLang="en-US" sz="1600" dirty="0"/>
              <a:t>把模型本要输出的内容给</a:t>
            </a:r>
            <a:r>
              <a:rPr lang="en-US" altLang="zh-CN" sz="1600" dirty="0"/>
              <a:t>GPT</a:t>
            </a:r>
            <a:r>
              <a:rPr lang="zh-CN" altLang="en-US" sz="1600" dirty="0"/>
              <a:t>重写一遍再输出</a:t>
            </a:r>
            <a:endParaRPr lang="en-US" altLang="zh-CN" sz="1600" dirty="0"/>
          </a:p>
          <a:p>
            <a:r>
              <a:rPr lang="zh-CN" altLang="en-US" sz="1600" dirty="0"/>
              <a:t>有一定效果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三：差分隐私防护（</a:t>
            </a:r>
            <a:r>
              <a:rPr lang="en-US" altLang="zh-CN" sz="1600" dirty="0"/>
              <a:t>DP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zh-CN" altLang="en-US" sz="1600" dirty="0"/>
              <a:t>给模型的输出添加噪声（随机扰动）</a:t>
            </a:r>
            <a:endParaRPr lang="en-US" altLang="zh-CN" sz="1600" dirty="0"/>
          </a:p>
          <a:p>
            <a:r>
              <a:rPr lang="zh-CN" altLang="en-US" sz="1600" dirty="0"/>
              <a:t>防护效果很好，但是输出的结果准确性降低</a:t>
            </a:r>
            <a:endParaRPr lang="en-US" altLang="zh-CN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F66CD7-852E-33B6-0AA0-99CC28961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14" y="4005052"/>
            <a:ext cx="3668090" cy="28045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0753E59-0D94-EA55-70E2-2262D88030EA}"/>
              </a:ext>
            </a:extLst>
          </p:cNvPr>
          <p:cNvSpPr txBox="1"/>
          <p:nvPr/>
        </p:nvSpPr>
        <p:spPr>
          <a:xfrm>
            <a:off x="402566" y="36357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组合防护效果：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761612-0890-2633-50BE-F603505DC219}"/>
              </a:ext>
            </a:extLst>
          </p:cNvPr>
          <p:cNvSpPr txBox="1"/>
          <p:nvPr/>
        </p:nvSpPr>
        <p:spPr>
          <a:xfrm>
            <a:off x="4389540" y="4074058"/>
            <a:ext cx="6860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疑问：</a:t>
            </a:r>
            <a:endParaRPr lang="en-US" altLang="zh-CN" dirty="0"/>
          </a:p>
          <a:p>
            <a:r>
              <a:rPr lang="zh-CN" altLang="en-US" dirty="0"/>
              <a:t>①一的提示是在使用</a:t>
            </a:r>
            <a:r>
              <a:rPr lang="en-US" altLang="zh-CN" dirty="0"/>
              <a:t>GPT</a:t>
            </a:r>
            <a:r>
              <a:rPr lang="zh-CN" altLang="en-US" dirty="0"/>
              <a:t>生成内容的提示中加入还是在进行攻击的提示中加入（若是后者则不现实，因为攻击者不可能这么做）</a:t>
            </a:r>
            <a:endParaRPr lang="en-US" altLang="zh-CN" dirty="0"/>
          </a:p>
          <a:p>
            <a:r>
              <a:rPr lang="zh-CN" altLang="en-US" dirty="0"/>
              <a:t>②我们不能修改</a:t>
            </a:r>
            <a:r>
              <a:rPr lang="en-US" altLang="zh-CN" dirty="0"/>
              <a:t>GPT</a:t>
            </a:r>
            <a:r>
              <a:rPr lang="zh-CN" altLang="en-US" dirty="0"/>
              <a:t>的工作方式，如何实现二，三</a:t>
            </a:r>
          </a:p>
        </p:txBody>
      </p:sp>
    </p:spTree>
    <p:extLst>
      <p:ext uri="{BB962C8B-B14F-4D97-AF65-F5344CB8AC3E}">
        <p14:creationId xmlns:p14="http://schemas.microsoft.com/office/powerpoint/2010/main" val="13942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225</Words>
  <Application>Microsoft Office PowerPoint</Application>
  <PresentationFormat>宽屏</PresentationFormat>
  <Paragraphs>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笑云 刘</dc:creator>
  <cp:lastModifiedBy>笑云 刘</cp:lastModifiedBy>
  <cp:revision>43</cp:revision>
  <dcterms:created xsi:type="dcterms:W3CDTF">2024-09-08T12:13:22Z</dcterms:created>
  <dcterms:modified xsi:type="dcterms:W3CDTF">2024-09-11T12:58:00Z</dcterms:modified>
</cp:coreProperties>
</file>