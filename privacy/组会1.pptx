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6"/>
  </p:notesMasterIdLst>
  <p:sldIdLst>
    <p:sldId id="257" r:id="rId3"/>
    <p:sldId id="261" r:id="rId4"/>
    <p:sldId id="258" r:id="rId5"/>
  </p:sldIdLst>
  <p:sldSz cx="12192000" cy="6858000"/>
  <p:notesSz cx="6858000" cy="9144000"/>
  <p:embeddedFontLst>
    <p:embeddedFont>
      <p:font typeface="汉仪正圆-55W" panose="00020600040101010101" pitchFamily="18" charset="-122"/>
      <p:regular r:id="rId10"/>
    </p:embeddedFont>
    <p:embeddedFont>
      <p:font typeface="微软雅黑" panose="020B0503020204020204" charset="-122"/>
      <p:regular r:id="rId11"/>
    </p:embeddedFont>
    <p:embeddedFont>
      <p:font typeface="等线" panose="02010600030101010101" charset="-122"/>
      <p:regular r:id="rId12"/>
    </p:embeddedFont>
    <p:embeddedFont>
      <p:font typeface="等线 Light" panose="02010600030101010101" charset="-122"/>
      <p:regular r:id="rId13"/>
    </p:embeddedFont>
  </p:embeddedFontLst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5" autoAdjust="0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73684-DEA6-4057-B32F-1780759304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3DA20-3340-47F2-8F69-CF0BF61921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B59B5-9BAE-C942-B8E0-470663D5EB2F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AF756-2E45-8B42-973C-B9218221F544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深度视觉·原创设计 https://www.docer.com/works?userid=22383862"/>
          <p:cNvSpPr/>
          <p:nvPr/>
        </p:nvSpPr>
        <p:spPr>
          <a:xfrm flipH="1">
            <a:off x="9677400" y="4533899"/>
            <a:ext cx="2514600" cy="2324101"/>
          </a:xfrm>
          <a:prstGeom prst="corner">
            <a:avLst>
              <a:gd name="adj1" fmla="val 17397"/>
              <a:gd name="adj2" fmla="val 166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 rot="10800000" flipH="1">
            <a:off x="0" y="0"/>
            <a:ext cx="2514600" cy="2324101"/>
          </a:xfrm>
          <a:prstGeom prst="corner">
            <a:avLst>
              <a:gd name="adj1" fmla="val 17397"/>
              <a:gd name="adj2" fmla="val 166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6" name="深度视觉·原创设计 https://www.docer.com/works?userid=22383862"/>
          <p:cNvSpPr/>
          <p:nvPr/>
        </p:nvSpPr>
        <p:spPr>
          <a:xfrm>
            <a:off x="3890010" y="130810"/>
            <a:ext cx="4412615" cy="484505"/>
          </a:xfrm>
          <a:prstGeom prst="roundRect">
            <a:avLst>
              <a:gd name="adj" fmla="val 2593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检测恶意代码的</a:t>
            </a:r>
            <a:r>
              <a:rPr lang="zh-CN" altLang="en-US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方法研究</a:t>
            </a:r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4" name="流程图: 可选过程 3"/>
          <p:cNvSpPr/>
          <p:nvPr/>
        </p:nvSpPr>
        <p:spPr>
          <a:xfrm>
            <a:off x="2000885" y="1104265"/>
            <a:ext cx="2049145" cy="72136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基于机器学习</a:t>
            </a:r>
            <a:endParaRPr lang="zh-CN" altLang="en-US"/>
          </a:p>
          <a:p>
            <a:pPr algn="ctr"/>
            <a:r>
              <a:rPr lang="zh-CN" altLang="en-US"/>
              <a:t>自动分析</a:t>
            </a:r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1602105" y="1825625"/>
            <a:ext cx="452755" cy="371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050030" y="1825625"/>
            <a:ext cx="555625" cy="371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可选过程 13"/>
          <p:cNvSpPr/>
          <p:nvPr/>
        </p:nvSpPr>
        <p:spPr>
          <a:xfrm>
            <a:off x="961390" y="2197100"/>
            <a:ext cx="1553210" cy="40513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MPHunter</a:t>
            </a:r>
            <a:endParaRPr lang="en-US" altLang="zh-CN"/>
          </a:p>
        </p:txBody>
      </p:sp>
      <p:sp>
        <p:nvSpPr>
          <p:cNvPr id="15" name="流程图: 可选过程 14"/>
          <p:cNvSpPr/>
          <p:nvPr/>
        </p:nvSpPr>
        <p:spPr>
          <a:xfrm>
            <a:off x="3756025" y="2197100"/>
            <a:ext cx="1553210" cy="40513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AMALFI</a:t>
            </a:r>
            <a:endParaRPr lang="en-US" altLang="zh-CN"/>
          </a:p>
        </p:txBody>
      </p:sp>
      <p:sp>
        <p:nvSpPr>
          <p:cNvPr id="7" name="流程图: 可选过程 6"/>
          <p:cNvSpPr/>
          <p:nvPr/>
        </p:nvSpPr>
        <p:spPr>
          <a:xfrm>
            <a:off x="9277985" y="1238250"/>
            <a:ext cx="1615440" cy="58737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显式</a:t>
            </a:r>
            <a:r>
              <a:rPr lang="zh-CN" altLang="en-US"/>
              <a:t>检测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28" idx="1"/>
          </p:cNvCxnSpPr>
          <p:nvPr/>
        </p:nvCxnSpPr>
        <p:spPr>
          <a:xfrm flipH="1" flipV="1">
            <a:off x="4050030" y="1522730"/>
            <a:ext cx="180467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733550" y="2602230"/>
            <a:ext cx="0" cy="421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流程图: 可选过程 10"/>
          <p:cNvSpPr/>
          <p:nvPr/>
        </p:nvSpPr>
        <p:spPr>
          <a:xfrm>
            <a:off x="990600" y="3023870"/>
            <a:ext cx="1523365" cy="53276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clustering techniques</a:t>
            </a:r>
            <a:endParaRPr lang="en-US" altLang="zh-CN"/>
          </a:p>
        </p:txBody>
      </p:sp>
      <p:sp>
        <p:nvSpPr>
          <p:cNvPr id="16" name="流程图: 可选过程 15"/>
          <p:cNvSpPr/>
          <p:nvPr/>
        </p:nvSpPr>
        <p:spPr>
          <a:xfrm>
            <a:off x="801370" y="4419600"/>
            <a:ext cx="1902460" cy="8934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code embedding model(CCEM)</a:t>
            </a:r>
            <a:endParaRPr lang="en-US" altLang="zh-CN"/>
          </a:p>
        </p:txBody>
      </p:sp>
      <p:sp>
        <p:nvSpPr>
          <p:cNvPr id="17" name="流程图: 可选过程 16"/>
          <p:cNvSpPr/>
          <p:nvPr/>
        </p:nvSpPr>
        <p:spPr>
          <a:xfrm>
            <a:off x="930275" y="5477510"/>
            <a:ext cx="1553210" cy="40513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NLP</a:t>
            </a:r>
            <a:endParaRPr lang="en-US" altLang="zh-CN"/>
          </a:p>
        </p:txBody>
      </p:sp>
      <p:sp>
        <p:nvSpPr>
          <p:cNvPr id="18" name="剪去同侧角的矩形 17"/>
          <p:cNvSpPr/>
          <p:nvPr/>
        </p:nvSpPr>
        <p:spPr>
          <a:xfrm>
            <a:off x="204470" y="3023870"/>
            <a:ext cx="725805" cy="318770"/>
          </a:xfrm>
          <a:prstGeom prst="snip2Same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分组</a:t>
            </a:r>
            <a:endParaRPr lang="zh-CN" altLang="en-US"/>
          </a:p>
        </p:txBody>
      </p:sp>
      <p:sp>
        <p:nvSpPr>
          <p:cNvPr id="20" name="剪去同侧角的矩形 19"/>
          <p:cNvSpPr/>
          <p:nvPr/>
        </p:nvSpPr>
        <p:spPr>
          <a:xfrm>
            <a:off x="160655" y="4657090"/>
            <a:ext cx="725805" cy="510540"/>
          </a:xfrm>
          <a:prstGeom prst="snip2Same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代码</a:t>
            </a:r>
            <a:r>
              <a:rPr lang="zh-CN" altLang="en-US"/>
              <a:t>嵌入</a:t>
            </a:r>
            <a:endParaRPr lang="zh-CN" altLang="en-US"/>
          </a:p>
        </p:txBody>
      </p:sp>
      <p:sp>
        <p:nvSpPr>
          <p:cNvPr id="21" name="剪去同侧角的矩形 20"/>
          <p:cNvSpPr/>
          <p:nvPr/>
        </p:nvSpPr>
        <p:spPr>
          <a:xfrm>
            <a:off x="264795" y="5380990"/>
            <a:ext cx="725805" cy="501650"/>
          </a:xfrm>
          <a:prstGeom prst="snip2Same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文档</a:t>
            </a:r>
            <a:r>
              <a:rPr lang="zh-CN" altLang="en-US"/>
              <a:t>嵌入</a:t>
            </a:r>
            <a:endParaRPr lang="zh-CN" altLang="en-US"/>
          </a:p>
        </p:txBody>
      </p:sp>
      <p:sp>
        <p:nvSpPr>
          <p:cNvPr id="23" name="流程图: 可选过程 22"/>
          <p:cNvSpPr/>
          <p:nvPr/>
        </p:nvSpPr>
        <p:spPr>
          <a:xfrm>
            <a:off x="990600" y="3837305"/>
            <a:ext cx="1553210" cy="40513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APIEM</a:t>
            </a:r>
            <a:endParaRPr lang="en-US" altLang="zh-CN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1733550" y="4242435"/>
            <a:ext cx="0" cy="177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剪去同侧角的矩形 24"/>
          <p:cNvSpPr/>
          <p:nvPr/>
        </p:nvSpPr>
        <p:spPr>
          <a:xfrm>
            <a:off x="3030220" y="5313045"/>
            <a:ext cx="725805" cy="501650"/>
          </a:xfrm>
          <a:prstGeom prst="snip2Same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评估</a:t>
            </a:r>
            <a:endParaRPr lang="zh-CN" altLang="en-US"/>
          </a:p>
        </p:txBody>
      </p:sp>
      <p:sp>
        <p:nvSpPr>
          <p:cNvPr id="26" name="流程图: 可选过程 25"/>
          <p:cNvSpPr/>
          <p:nvPr/>
        </p:nvSpPr>
        <p:spPr>
          <a:xfrm>
            <a:off x="3756025" y="5133975"/>
            <a:ext cx="1553210" cy="84518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决策树、贝叶斯分类器、</a:t>
            </a:r>
            <a:r>
              <a:rPr lang="en-US" altLang="zh-CN"/>
              <a:t>SVM</a:t>
            </a:r>
            <a:endParaRPr lang="en-US" altLang="zh-CN"/>
          </a:p>
        </p:txBody>
      </p:sp>
      <p:sp>
        <p:nvSpPr>
          <p:cNvPr id="27" name="流程图: 可选过程 26"/>
          <p:cNvSpPr/>
          <p:nvPr/>
        </p:nvSpPr>
        <p:spPr>
          <a:xfrm>
            <a:off x="3756025" y="4387850"/>
            <a:ext cx="1553210" cy="5251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文本克隆检测技术</a:t>
            </a:r>
            <a:endParaRPr lang="en-US" altLang="zh-CN"/>
          </a:p>
        </p:txBody>
      </p:sp>
      <p:sp>
        <p:nvSpPr>
          <p:cNvPr id="28" name="流程图: 可选过程 27"/>
          <p:cNvSpPr/>
          <p:nvPr/>
        </p:nvSpPr>
        <p:spPr>
          <a:xfrm>
            <a:off x="5854700" y="1238250"/>
            <a:ext cx="2353945" cy="58737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轻量、有效、</a:t>
            </a:r>
            <a:r>
              <a:rPr lang="zh-CN" altLang="en-US"/>
              <a:t>准确</a:t>
            </a:r>
            <a:endParaRPr lang="zh-CN" altLang="en-US"/>
          </a:p>
        </p:txBody>
      </p:sp>
      <p:cxnSp>
        <p:nvCxnSpPr>
          <p:cNvPr id="29" name="直接箭头连接符 28"/>
          <p:cNvCxnSpPr>
            <a:stCxn id="7" idx="2"/>
          </p:cNvCxnSpPr>
          <p:nvPr/>
        </p:nvCxnSpPr>
        <p:spPr>
          <a:xfrm flipH="1">
            <a:off x="8801100" y="1825625"/>
            <a:ext cx="1284605" cy="623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流程图: 可选过程 29"/>
          <p:cNvSpPr/>
          <p:nvPr/>
        </p:nvSpPr>
        <p:spPr>
          <a:xfrm>
            <a:off x="3756025" y="3088640"/>
            <a:ext cx="1553210" cy="38608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分类器</a:t>
            </a:r>
            <a:endParaRPr lang="zh-CN" altLang="en-US"/>
          </a:p>
        </p:txBody>
      </p:sp>
      <p:sp>
        <p:nvSpPr>
          <p:cNvPr id="31" name="剪去同侧角的矩形 30"/>
          <p:cNvSpPr/>
          <p:nvPr/>
        </p:nvSpPr>
        <p:spPr>
          <a:xfrm>
            <a:off x="3164205" y="3141980"/>
            <a:ext cx="725805" cy="318770"/>
          </a:xfrm>
          <a:prstGeom prst="snip2Same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分组</a:t>
            </a:r>
            <a:endParaRPr lang="zh-CN" altLang="en-US"/>
          </a:p>
        </p:txBody>
      </p:sp>
      <p:sp>
        <p:nvSpPr>
          <p:cNvPr id="32" name="流程图: 可选过程 31"/>
          <p:cNvSpPr/>
          <p:nvPr/>
        </p:nvSpPr>
        <p:spPr>
          <a:xfrm>
            <a:off x="3756025" y="3781425"/>
            <a:ext cx="1553210" cy="38608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再现器</a:t>
            </a:r>
            <a:endParaRPr lang="zh-CN" altLang="en-US"/>
          </a:p>
        </p:txBody>
      </p:sp>
      <p:sp>
        <p:nvSpPr>
          <p:cNvPr id="34" name="流程图: 可选过程 33"/>
          <p:cNvSpPr/>
          <p:nvPr/>
        </p:nvSpPr>
        <p:spPr>
          <a:xfrm>
            <a:off x="7566660" y="2449195"/>
            <a:ext cx="2353945" cy="6896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攻击者采用超出已知检测规则的技术</a:t>
            </a:r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6896100" y="1825625"/>
            <a:ext cx="1170305" cy="623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深度视觉·原创设计 https://www.docer.com/works?userid=22383862"/>
          <p:cNvSpPr/>
          <p:nvPr/>
        </p:nvSpPr>
        <p:spPr>
          <a:xfrm flipH="1">
            <a:off x="9677400" y="4533899"/>
            <a:ext cx="2514600" cy="2324101"/>
          </a:xfrm>
          <a:prstGeom prst="corner">
            <a:avLst>
              <a:gd name="adj1" fmla="val 17397"/>
              <a:gd name="adj2" fmla="val 166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 rot="10800000" flipH="1">
            <a:off x="0" y="0"/>
            <a:ext cx="2514600" cy="2324101"/>
          </a:xfrm>
          <a:prstGeom prst="corner">
            <a:avLst>
              <a:gd name="adj1" fmla="val 17397"/>
              <a:gd name="adj2" fmla="val 166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6" name="深度视觉·原创设计 https://www.docer.com/works?userid=22383862"/>
          <p:cNvSpPr/>
          <p:nvPr/>
        </p:nvSpPr>
        <p:spPr>
          <a:xfrm>
            <a:off x="3890010" y="130810"/>
            <a:ext cx="4412615" cy="484505"/>
          </a:xfrm>
          <a:prstGeom prst="roundRect">
            <a:avLst>
              <a:gd name="adj" fmla="val 2593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恶意代码</a:t>
            </a:r>
            <a:r>
              <a:rPr lang="zh-CN" altLang="en-US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特征研究</a:t>
            </a:r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5288280" y="1045210"/>
            <a:ext cx="1837055" cy="7410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package</a:t>
            </a:r>
            <a:endParaRPr lang="en-US" altLang="zh-CN"/>
          </a:p>
        </p:txBody>
      </p:sp>
      <p:cxnSp>
        <p:nvCxnSpPr>
          <p:cNvPr id="8" name="直接箭头连接符 7"/>
          <p:cNvCxnSpPr>
            <a:endCxn id="23" idx="0"/>
          </p:cNvCxnSpPr>
          <p:nvPr/>
        </p:nvCxnSpPr>
        <p:spPr>
          <a:xfrm>
            <a:off x="6153785" y="1786255"/>
            <a:ext cx="5715" cy="537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剪去同侧角的矩形 17"/>
          <p:cNvSpPr/>
          <p:nvPr/>
        </p:nvSpPr>
        <p:spPr>
          <a:xfrm>
            <a:off x="4081145" y="2489835"/>
            <a:ext cx="1163955" cy="318770"/>
          </a:xfrm>
          <a:prstGeom prst="snip2Same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收集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23" name="流程图: 可选过程 22"/>
          <p:cNvSpPr/>
          <p:nvPr/>
        </p:nvSpPr>
        <p:spPr>
          <a:xfrm>
            <a:off x="5177790" y="2324100"/>
            <a:ext cx="1962785" cy="65024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自动化的恶意代码收集框架</a:t>
            </a:r>
            <a:endParaRPr lang="en-US" altLang="zh-CN"/>
          </a:p>
        </p:txBody>
      </p:sp>
      <p:sp>
        <p:nvSpPr>
          <p:cNvPr id="5" name="流程图: 可选过程 4"/>
          <p:cNvSpPr/>
          <p:nvPr/>
        </p:nvSpPr>
        <p:spPr>
          <a:xfrm>
            <a:off x="2342515" y="1045210"/>
            <a:ext cx="1837055" cy="7410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source code</a:t>
            </a:r>
            <a:endParaRPr lang="en-US" altLang="zh-CN"/>
          </a:p>
        </p:txBody>
      </p:sp>
      <p:sp>
        <p:nvSpPr>
          <p:cNvPr id="19" name="流程图: 可选过程 18"/>
          <p:cNvSpPr/>
          <p:nvPr/>
        </p:nvSpPr>
        <p:spPr>
          <a:xfrm>
            <a:off x="5177790" y="3291840"/>
            <a:ext cx="1962785" cy="65024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恶意代码的</a:t>
            </a:r>
            <a:r>
              <a:rPr lang="zh-CN" altLang="en-US"/>
              <a:t>分析</a:t>
            </a:r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159500" y="2974340"/>
            <a:ext cx="5715" cy="345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流程图: 可选过程 32"/>
          <p:cNvSpPr/>
          <p:nvPr/>
        </p:nvSpPr>
        <p:spPr>
          <a:xfrm>
            <a:off x="1560195" y="4361815"/>
            <a:ext cx="1136650" cy="3727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属性</a:t>
            </a:r>
            <a:endParaRPr lang="zh-CN" altLang="en-US"/>
          </a:p>
        </p:txBody>
      </p:sp>
      <p:sp>
        <p:nvSpPr>
          <p:cNvPr id="34" name="流程图: 可选过程 33"/>
          <p:cNvSpPr/>
          <p:nvPr/>
        </p:nvSpPr>
        <p:spPr>
          <a:xfrm>
            <a:off x="4225290" y="4361815"/>
            <a:ext cx="1136650" cy="3727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攻击</a:t>
            </a:r>
            <a:r>
              <a:rPr lang="zh-CN" altLang="en-US"/>
              <a:t>策略</a:t>
            </a:r>
            <a:endParaRPr lang="zh-CN" altLang="en-US"/>
          </a:p>
        </p:txBody>
      </p:sp>
      <p:sp>
        <p:nvSpPr>
          <p:cNvPr id="35" name="流程图: 可选过程 34"/>
          <p:cNvSpPr/>
          <p:nvPr/>
        </p:nvSpPr>
        <p:spPr>
          <a:xfrm>
            <a:off x="6682105" y="4361815"/>
            <a:ext cx="1136650" cy="3727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传播</a:t>
            </a:r>
            <a:endParaRPr lang="zh-CN" altLang="en-US"/>
          </a:p>
        </p:txBody>
      </p:sp>
      <p:sp>
        <p:nvSpPr>
          <p:cNvPr id="36" name="流程图: 可选过程 35"/>
          <p:cNvSpPr/>
          <p:nvPr/>
        </p:nvSpPr>
        <p:spPr>
          <a:xfrm>
            <a:off x="9307830" y="4361815"/>
            <a:ext cx="1136650" cy="3727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影响</a:t>
            </a:r>
            <a:endParaRPr lang="zh-CN" altLang="en-US"/>
          </a:p>
        </p:txBody>
      </p:sp>
      <p:sp>
        <p:nvSpPr>
          <p:cNvPr id="38" name="流程图: 可选过程 37"/>
          <p:cNvSpPr/>
          <p:nvPr/>
        </p:nvSpPr>
        <p:spPr>
          <a:xfrm>
            <a:off x="880110" y="5071745"/>
            <a:ext cx="2497455" cy="59944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文件数量、文件深度和恶意代码密度</a:t>
            </a:r>
            <a:endParaRPr lang="zh-CN" altLang="en-US"/>
          </a:p>
        </p:txBody>
      </p:sp>
      <p:sp>
        <p:nvSpPr>
          <p:cNvPr id="40" name="对角圆角矩形 39"/>
          <p:cNvSpPr/>
          <p:nvPr/>
        </p:nvSpPr>
        <p:spPr>
          <a:xfrm>
            <a:off x="9375140" y="981075"/>
            <a:ext cx="2172335" cy="361950"/>
          </a:xfrm>
          <a:prstGeom prst="round2Diag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9433560" y="981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penetration tools</a:t>
            </a:r>
            <a:endParaRPr lang="zh-CN" altLang="en-US"/>
          </a:p>
        </p:txBody>
      </p:sp>
      <p:sp>
        <p:nvSpPr>
          <p:cNvPr id="45" name="对角圆角矩形 44"/>
          <p:cNvSpPr/>
          <p:nvPr/>
        </p:nvSpPr>
        <p:spPr>
          <a:xfrm>
            <a:off x="9375140" y="1553845"/>
            <a:ext cx="2172335" cy="361950"/>
          </a:xfrm>
          <a:prstGeom prst="round2Diag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9433560" y="1547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reserve shell code</a:t>
            </a:r>
            <a:endParaRPr lang="en-US" altLang="zh-CN"/>
          </a:p>
        </p:txBody>
      </p:sp>
      <p:sp>
        <p:nvSpPr>
          <p:cNvPr id="48" name="流程图: 可选过程 47"/>
          <p:cNvSpPr/>
          <p:nvPr/>
        </p:nvSpPr>
        <p:spPr>
          <a:xfrm>
            <a:off x="3576955" y="5071745"/>
            <a:ext cx="2433320" cy="61023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信息窃取和命令执行</a:t>
            </a:r>
            <a:endParaRPr lang="zh-CN" altLang="en-US">
              <a:sym typeface="+mn-ea"/>
            </a:endParaRPr>
          </a:p>
          <a:p>
            <a:pPr algn="ctr"/>
            <a:r>
              <a:rPr lang="zh-CN" altLang="en-US"/>
              <a:t>对不同系统的</a:t>
            </a:r>
            <a:r>
              <a:rPr lang="zh-CN" altLang="en-US"/>
              <a:t>适应</a:t>
            </a:r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2133600" y="3679190"/>
            <a:ext cx="3044190" cy="682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4905375" y="3806190"/>
            <a:ext cx="399415" cy="555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7014845" y="3942080"/>
            <a:ext cx="208915" cy="419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7125335" y="3679190"/>
            <a:ext cx="2702560" cy="682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流程图: 可选过程 52"/>
          <p:cNvSpPr/>
          <p:nvPr/>
        </p:nvSpPr>
        <p:spPr>
          <a:xfrm>
            <a:off x="6256655" y="5008245"/>
            <a:ext cx="2305050" cy="10712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反检测</a:t>
            </a:r>
            <a:r>
              <a:rPr lang="zh-CN" altLang="en-US"/>
              <a:t>技术</a:t>
            </a:r>
            <a:endParaRPr lang="zh-CN" altLang="en-US"/>
          </a:p>
          <a:p>
            <a:pPr algn="ctr"/>
            <a:r>
              <a:rPr lang="zh-CN" altLang="en-US"/>
              <a:t>code obfuscation, external payloads</a:t>
            </a:r>
            <a:endParaRPr lang="zh-CN" altLang="en-US"/>
          </a:p>
        </p:txBody>
      </p:sp>
      <p:sp>
        <p:nvSpPr>
          <p:cNvPr id="54" name="深度视觉·原创设计 https://www.docer.com/works?userid=22383862"/>
          <p:cNvSpPr/>
          <p:nvPr/>
        </p:nvSpPr>
        <p:spPr>
          <a:xfrm>
            <a:off x="8919845" y="5742940"/>
            <a:ext cx="2318385" cy="336550"/>
          </a:xfrm>
          <a:prstGeom prst="roundRect">
            <a:avLst>
              <a:gd name="adj" fmla="val 25938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PyPI mirror servers</a:t>
            </a:r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55" name="流程图: 可选过程 54"/>
          <p:cNvSpPr/>
          <p:nvPr/>
        </p:nvSpPr>
        <p:spPr>
          <a:xfrm>
            <a:off x="9307830" y="5008245"/>
            <a:ext cx="1402715" cy="61023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Linux</a:t>
            </a:r>
            <a:r>
              <a:rPr lang="zh-CN" altLang="en-US"/>
              <a:t>系统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深度视觉·原创设计 https://www.docer.com/works?userid=22383862"/>
          <p:cNvSpPr/>
          <p:nvPr/>
        </p:nvSpPr>
        <p:spPr>
          <a:xfrm flipH="1">
            <a:off x="11065328" y="5776232"/>
            <a:ext cx="942238" cy="870857"/>
          </a:xfrm>
          <a:prstGeom prst="corner">
            <a:avLst>
              <a:gd name="adj1" fmla="val 17397"/>
              <a:gd name="adj2" fmla="val 166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 rot="10800000" flipH="1">
            <a:off x="422366" y="292190"/>
            <a:ext cx="942238" cy="870857"/>
          </a:xfrm>
          <a:prstGeom prst="corner">
            <a:avLst>
              <a:gd name="adj1" fmla="val 17397"/>
              <a:gd name="adj2" fmla="val 1661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4" name="深度视觉·原创设计 https://www.docer.com/works?userid=22383862"/>
          <p:cNvSpPr/>
          <p:nvPr/>
        </p:nvSpPr>
        <p:spPr>
          <a:xfrm>
            <a:off x="4481830" y="793750"/>
            <a:ext cx="2280285" cy="657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正圆-55W" panose="00020600040101010101" pitchFamily="18" charset="-122"/>
              </a:rPr>
              <a:t>MALOSS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正圆-55W" panose="00020600040101010101" pitchFamily="18" charset="-122"/>
              </a:rPr>
              <a:t>管道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正圆-55W" panose="00020600040101010101" pitchFamily="18" charset="-122"/>
            </a:endParaRPr>
          </a:p>
        </p:txBody>
      </p:sp>
      <p:sp>
        <p:nvSpPr>
          <p:cNvPr id="5" name="深度视觉·原创设计 https://www.docer.com/works?userid=22383862"/>
          <p:cNvSpPr/>
          <p:nvPr/>
        </p:nvSpPr>
        <p:spPr>
          <a:xfrm>
            <a:off x="1114425" y="793750"/>
            <a:ext cx="2742565" cy="563245"/>
          </a:xfrm>
          <a:prstGeom prst="roundRect">
            <a:avLst>
              <a:gd name="adj" fmla="val 2593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供应链</a:t>
            </a:r>
            <a:r>
              <a:rPr lang="en-US" altLang="zh-CN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/</a:t>
            </a:r>
            <a:r>
              <a: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包</a:t>
            </a:r>
            <a:r>
              <a: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管理器</a:t>
            </a:r>
            <a:endParaRPr lang="zh-CN" altLang="en-US" sz="240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27" name="深度视觉·原创设计 https://www.docer.com/works?userid=22383862"/>
          <p:cNvSpPr/>
          <p:nvPr/>
        </p:nvSpPr>
        <p:spPr>
          <a:xfrm>
            <a:off x="7219950" y="793750"/>
            <a:ext cx="2484755" cy="657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分析</a:t>
            </a:r>
            <a:r>
              <a:rPr lang="en-US" altLang="zh-CN"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RM,PM,Devs,User</a:t>
            </a:r>
            <a:endParaRPr lang="en-US" altLang="zh-CN">
              <a:solidFill>
                <a:schemeClr val="tx1"/>
              </a:solidFill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29" name="深度视觉·原创设计 https://www.docer.com/works?userid=22383862"/>
          <p:cNvSpPr/>
          <p:nvPr/>
        </p:nvSpPr>
        <p:spPr>
          <a:xfrm>
            <a:off x="1114425" y="1630045"/>
            <a:ext cx="2742565" cy="563245"/>
          </a:xfrm>
          <a:prstGeom prst="roundRect">
            <a:avLst>
              <a:gd name="adj" fmla="val 2593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检测</a:t>
            </a:r>
            <a:r>
              <a: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rPr>
              <a:t>工具</a:t>
            </a:r>
            <a:endParaRPr lang="zh-CN" altLang="en-US" sz="2400">
              <a:latin typeface="汉仪正圆-55W" panose="00020600040101010101" pitchFamily="18" charset="-122"/>
              <a:ea typeface="汉仪正圆-55W" panose="00020600040101010101" pitchFamily="18" charset="-122"/>
              <a:sym typeface="汉仪正圆-55W" panose="00020600040101010101" pitchFamily="18" charset="-122"/>
            </a:endParaRPr>
          </a:p>
        </p:txBody>
      </p:sp>
      <p:sp>
        <p:nvSpPr>
          <p:cNvPr id="30" name="深度视觉·原创设计 https://www.docer.com/works?userid=22383862"/>
          <p:cNvSpPr/>
          <p:nvPr/>
        </p:nvSpPr>
        <p:spPr>
          <a:xfrm>
            <a:off x="7219950" y="1688465"/>
            <a:ext cx="2280285" cy="657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域名仿冒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43560" y="3336925"/>
            <a:ext cx="11292840" cy="3099435"/>
            <a:chOff x="1064" y="900"/>
            <a:chExt cx="17784" cy="4881"/>
          </a:xfrm>
        </p:grpSpPr>
        <p:sp>
          <p:nvSpPr>
            <p:cNvPr id="32" name="深度视觉·原创设计 https://www.docer.com/works?userid=22383862"/>
            <p:cNvSpPr/>
            <p:nvPr/>
          </p:nvSpPr>
          <p:spPr>
            <a:xfrm>
              <a:off x="5827" y="900"/>
              <a:ext cx="4822" cy="12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setup.py—&gt;install—&gt;run</a:t>
              </a:r>
              <a:endParaRPr lang="zh-CN" altLang="en-US"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3" name="深度视觉·原创设计 https://www.docer.com/works?userid=22383862"/>
            <p:cNvSpPr/>
            <p:nvPr/>
          </p:nvSpPr>
          <p:spPr>
            <a:xfrm>
              <a:off x="1064" y="916"/>
              <a:ext cx="4319" cy="887"/>
            </a:xfrm>
            <a:prstGeom prst="roundRect">
              <a:avLst>
                <a:gd name="adj" fmla="val 2593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恶意包攻击方法</a:t>
              </a:r>
              <a:endPara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4" name="深度视觉·原创设计 https://www.docer.com/works?userid=22383862"/>
            <p:cNvSpPr/>
            <p:nvPr/>
          </p:nvSpPr>
          <p:spPr>
            <a:xfrm>
              <a:off x="1064" y="2779"/>
              <a:ext cx="4319" cy="887"/>
            </a:xfrm>
            <a:prstGeom prst="roundRect">
              <a:avLst>
                <a:gd name="adj" fmla="val 2593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代码</a:t>
              </a:r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平台</a:t>
              </a:r>
              <a:endPara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5" name="深度视觉·原创设计 https://www.docer.com/works?userid=22383862"/>
            <p:cNvSpPr/>
            <p:nvPr/>
          </p:nvSpPr>
          <p:spPr>
            <a:xfrm>
              <a:off x="5815" y="2503"/>
              <a:ext cx="4822" cy="12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PyPI</a:t>
              </a:r>
              <a:r>
                <a:rPr lang="zh-CN" altLang="en-US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、</a:t>
              </a:r>
              <a:r>
                <a:rPr lang="en-US" altLang="zh-CN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npm</a:t>
              </a:r>
              <a:r>
                <a:rPr lang="zh-CN" altLang="en-US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、</a:t>
              </a:r>
              <a:r>
                <a:rPr lang="en-US" altLang="zh-CN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Rubygems</a:t>
              </a:r>
              <a:endParaRPr lang="en-US" altLang="zh-CN"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6" name="深度视觉·原创设计 https://www.docer.com/works?userid=22383862"/>
            <p:cNvSpPr/>
            <p:nvPr/>
          </p:nvSpPr>
          <p:spPr>
            <a:xfrm>
              <a:off x="1064" y="4513"/>
              <a:ext cx="4319" cy="887"/>
            </a:xfrm>
            <a:prstGeom prst="roundRect">
              <a:avLst>
                <a:gd name="adj" fmla="val 2593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算法</a:t>
              </a:r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选择</a:t>
              </a:r>
              <a:endPara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7" name="深度视觉·原创设计 https://www.docer.com/works?userid=22383862"/>
            <p:cNvSpPr/>
            <p:nvPr/>
          </p:nvSpPr>
          <p:spPr>
            <a:xfrm>
              <a:off x="5815" y="4513"/>
              <a:ext cx="7068" cy="12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聚类分析</a:t>
              </a:r>
              <a:r>
                <a:rPr lang="en-US" altLang="zh-CN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:K-means,DBSCAN</a:t>
              </a:r>
              <a:endParaRPr lang="en-US" altLang="zh-CN"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学习算法</a:t>
              </a:r>
              <a:r>
                <a:rPr lang="en-US" altLang="zh-CN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:</a:t>
              </a:r>
              <a:r>
                <a:rPr lang="zh-CN" altLang="en-US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决策树、神经网络、随机</a:t>
              </a:r>
              <a:r>
                <a:rPr lang="zh-CN" altLang="en-US"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森林</a:t>
              </a:r>
              <a:endParaRPr lang="zh-CN" altLang="en-US"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8" name="深度视觉·原创设计 https://www.docer.com/works?userid=22383862"/>
            <p:cNvSpPr/>
            <p:nvPr/>
          </p:nvSpPr>
          <p:spPr>
            <a:xfrm>
              <a:off x="10869" y="2779"/>
              <a:ext cx="4319" cy="887"/>
            </a:xfrm>
            <a:prstGeom prst="roundRect">
              <a:avLst>
                <a:gd name="adj" fmla="val 2593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恶意代码</a:t>
              </a:r>
              <a:r>
                <a:rPr lang="zh-CN" altLang="en-US" sz="2400"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数据集</a:t>
              </a:r>
              <a:endParaRPr lang="zh-CN" altLang="en-US" sz="2400"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  <p:sp>
          <p:nvSpPr>
            <p:cNvPr id="39" name="深度视觉·原创设计 https://www.docer.com/works?userid=22383862"/>
            <p:cNvSpPr/>
            <p:nvPr/>
          </p:nvSpPr>
          <p:spPr>
            <a:xfrm>
              <a:off x="15420" y="2503"/>
              <a:ext cx="3428" cy="12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>
                  <a:solidFill>
                    <a:schemeClr val="tx1"/>
                  </a:solidFill>
                  <a:latin typeface="汉仪正圆-55W" panose="00020600040101010101" pitchFamily="18" charset="-122"/>
                  <a:ea typeface="汉仪正圆-55W" panose="00020600040101010101" pitchFamily="18" charset="-122"/>
                  <a:sym typeface="汉仪正圆-55W" panose="00020600040101010101" pitchFamily="18" charset="-122"/>
                </a:rPr>
                <a:t>Backstabbers-Knife-Collection</a:t>
              </a:r>
              <a:endParaRPr>
                <a:solidFill>
                  <a:schemeClr val="tx1"/>
                </a:solidFill>
                <a:latin typeface="汉仪正圆-55W" panose="00020600040101010101" pitchFamily="18" charset="-122"/>
                <a:ea typeface="汉仪正圆-55W" panose="00020600040101010101" pitchFamily="18" charset="-122"/>
                <a:sym typeface="汉仪正圆-55W" panose="00020600040101010101" pitchFamily="18" charset="-122"/>
              </a:endParaRPr>
            </a:p>
          </p:txBody>
        </p:sp>
      </p:grpSp>
      <p:sp>
        <p:nvSpPr>
          <p:cNvPr id="40" name="深度视觉·原创设计 https://www.docer.com/works?userid=22383862"/>
          <p:cNvSpPr/>
          <p:nvPr/>
        </p:nvSpPr>
        <p:spPr>
          <a:xfrm>
            <a:off x="4489450" y="1688465"/>
            <a:ext cx="2280285" cy="657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正圆-55W" panose="00020600040101010101" pitchFamily="18" charset="-122"/>
              </a:rPr>
              <a:t>TypoGard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正圆-55W" panose="00020600040101010101" pitchFamily="18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6769735" y="1163320"/>
            <a:ext cx="4502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762115" y="1989455"/>
            <a:ext cx="4578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jb3VudCI6NCwiaGRpZCI6IjYxZTQ0MThjZDE0NmFhZmY0NGJkODI3YWVhY2I4ZjUyIiwidXNlckNvdW50Ijo0fQ=="/>
</p:tagLst>
</file>

<file path=ppt/theme/theme1.xml><?xml version="1.0" encoding="utf-8"?>
<a:theme xmlns:a="http://schemas.openxmlformats.org/drawingml/2006/main" name="Office 主题​​">
  <a:themeElements>
    <a:clrScheme name="自定义 2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65D"/>
      </a:accent1>
      <a:accent2>
        <a:srgbClr val="FEB7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WPS 演示</Application>
  <PresentationFormat>宽屏</PresentationFormat>
  <Paragraphs>106</Paragraphs>
  <Slides>3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汉仪正圆-55W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街道</cp:lastModifiedBy>
  <cp:revision>12</cp:revision>
  <dcterms:created xsi:type="dcterms:W3CDTF">2022-05-31T06:39:00Z</dcterms:created>
  <dcterms:modified xsi:type="dcterms:W3CDTF">2024-07-11T15:39:48Z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KSOTemplateUUID">
    <vt:lpwstr>v1.0_mb_Jmb9RG/n/BRcF2ta8XUeyA==</vt:lpwstr>
  </property>
  <property fmtid="{D5CDD505-2E9C-101B-9397-08002B2CF9AE}" pid="4" name="ICV">
    <vt:lpwstr>5DFF96423F5C4667868C890F85A67F36_11</vt:lpwstr>
  </property>
</Properties>
</file>