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sldIdLst>
    <p:sldId id="297" r:id="rId3"/>
    <p:sldId id="330" r:id="rId4"/>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 id="2" name=" " initials=" " lastIdx="1" clrIdx="1"/>
  <p:cmAuthor id="3" name="shirley" initials="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5E5"/>
    <a:srgbClr val="FFFFFF"/>
    <a:srgbClr val="00CCFF"/>
    <a:srgbClr val="E7E6E6"/>
    <a:srgbClr val="6895D2"/>
    <a:srgbClr val="F3B95F"/>
    <a:srgbClr val="D04848"/>
    <a:srgbClr val="FF9900"/>
    <a:srgbClr val="FF66CC"/>
    <a:srgbClr val="C55A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2" autoAdjust="0"/>
    <p:restoredTop sz="81675" autoAdjust="0"/>
  </p:normalViewPr>
  <p:slideViewPr>
    <p:cSldViewPr snapToGrid="0">
      <p:cViewPr>
        <p:scale>
          <a:sx n="75" d="100"/>
          <a:sy n="75" d="100"/>
        </p:scale>
        <p:origin x="1776" y="40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commentAuthors" Target="commentAuthors.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gs" Target="tags/tag20.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9A9E8B-8668-4EE9-81CF-39121E27677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3DABDA-89F0-4727-B28F-05A90B0069B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pic>
        <p:nvPicPr>
          <p:cNvPr id="16" name="图片 15"/>
          <p:cNvPicPr>
            <a:picLocks noChangeAspect="1"/>
          </p:cNvPicPr>
          <p:nvPr userDrawn="1"/>
        </p:nvPicPr>
        <p:blipFill rotWithShape="1">
          <a:blip r:embed="rId2"/>
          <a:srcRect l="14939" t="-331" r="309" b="27609"/>
          <a:stretch>
            <a:fillRect/>
          </a:stretch>
        </p:blipFill>
        <p:spPr>
          <a:xfrm>
            <a:off x="0" y="4925961"/>
            <a:ext cx="2251587" cy="1932039"/>
          </a:xfrm>
          <a:prstGeom prst="rect">
            <a:avLst/>
          </a:prstGeom>
        </p:spPr>
      </p:pic>
      <p:sp>
        <p:nvSpPr>
          <p:cNvPr id="2" name="标题 1"/>
          <p:cNvSpPr>
            <a:spLocks noGrp="1"/>
          </p:cNvSpPr>
          <p:nvPr>
            <p:ph type="ctrTitle" hasCustomPrompt="1"/>
          </p:nvPr>
        </p:nvSpPr>
        <p:spPr>
          <a:xfrm>
            <a:off x="2387598" y="2130199"/>
            <a:ext cx="6105427" cy="1130146"/>
          </a:xfrm>
        </p:spPr>
        <p:txBody>
          <a:bodyPr anchor="b">
            <a:normAutofit/>
          </a:bodyPr>
          <a:lstStyle>
            <a:lvl1pPr algn="l">
              <a:defRPr sz="3600"/>
            </a:lvl1pPr>
          </a:lstStyle>
          <a:p>
            <a:r>
              <a:rPr lang="zh-CN" altLang="en-US" dirty="0"/>
              <a:t>单击此处</a:t>
            </a:r>
            <a:br>
              <a:rPr lang="en-US" altLang="zh-CN" dirty="0"/>
            </a:br>
            <a:r>
              <a:rPr lang="zh-CN" altLang="en-US" dirty="0"/>
              <a:t>编辑母版标题样式</a:t>
            </a:r>
            <a:endParaRPr lang="zh-CN" altLang="en-US" dirty="0"/>
          </a:p>
        </p:txBody>
      </p:sp>
      <p:sp>
        <p:nvSpPr>
          <p:cNvPr id="3" name="副标题 2"/>
          <p:cNvSpPr>
            <a:spLocks noGrp="1"/>
          </p:cNvSpPr>
          <p:nvPr>
            <p:ph type="subTitle" idx="1" hasCustomPrompt="1"/>
          </p:nvPr>
        </p:nvSpPr>
        <p:spPr>
          <a:xfrm>
            <a:off x="2387599" y="3978670"/>
            <a:ext cx="2768863" cy="281576"/>
          </a:xfrm>
        </p:spPr>
        <p:txBody>
          <a:bodyPr>
            <a:normAutofit/>
          </a:bodyPr>
          <a:lstStyle>
            <a:lvl1pPr marL="0" indent="0" algn="l">
              <a:buNone/>
              <a:defRPr sz="15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单击此处编辑姓名</a:t>
            </a:r>
            <a:endParaRPr lang="en-US" altLang="zh-CN" dirty="0"/>
          </a:p>
          <a:p>
            <a:endParaRPr lang="zh-CN" altLang="en-US" dirty="0"/>
          </a:p>
        </p:txBody>
      </p:sp>
      <p:sp>
        <p:nvSpPr>
          <p:cNvPr id="9" name="任意多边形 25"/>
          <p:cNvSpPr/>
          <p:nvPr userDrawn="1"/>
        </p:nvSpPr>
        <p:spPr>
          <a:xfrm rot="10800000">
            <a:off x="3270515" y="1130300"/>
            <a:ext cx="8249973" cy="4597081"/>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139756 h 4508626"/>
              <a:gd name="connsiteX3-7" fmla="*/ 6762786 w 6826313"/>
              <a:gd name="connsiteY3-8" fmla="*/ 2363957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01324 h 4508626"/>
              <a:gd name="connsiteX3-39" fmla="*/ 6762786 w 6826313"/>
              <a:gd name="connsiteY3-40" fmla="*/ 2363957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01324 h 4508626"/>
              <a:gd name="connsiteX3-75" fmla="*/ 6762786 w 6826313"/>
              <a:gd name="connsiteY3-76" fmla="*/ 2363957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544311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01324 h 4508626"/>
              <a:gd name="connsiteX3-111" fmla="*/ 6762786 w 6826313"/>
              <a:gd name="connsiteY3-112" fmla="*/ 2363957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544311 h 4508626"/>
              <a:gd name="connsiteX14-133" fmla="*/ 6821059 w 6826313"/>
              <a:gd name="connsiteY14-134" fmla="*/ 3600361 h 4508626"/>
              <a:gd name="connsiteX15-135" fmla="*/ 6826313 w 6826313"/>
              <a:gd name="connsiteY15-136" fmla="*/ 4508626 h 4508626"/>
              <a:gd name="connsiteX16-137" fmla="*/ 0 w 6826313"/>
              <a:gd name="connsiteY16-138" fmla="*/ 4508626 h 4508626"/>
              <a:gd name="connsiteX17-139" fmla="*/ 0 w 6826313"/>
              <a:gd name="connsiteY17-140"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26313" h="4508626">
                <a:moveTo>
                  <a:pt x="6762786" y="1876457"/>
                </a:moveTo>
                <a:lnTo>
                  <a:pt x="6826313" y="1876457"/>
                </a:lnTo>
                <a:lnTo>
                  <a:pt x="6826313" y="2401324"/>
                </a:lnTo>
                <a:cubicBezTo>
                  <a:pt x="6805137" y="2401324"/>
                  <a:pt x="6783962" y="2363957"/>
                  <a:pt x="6762786" y="2363957"/>
                </a:cubicBez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544311"/>
                </a:lnTo>
                <a:lnTo>
                  <a:pt x="6821059" y="3600361"/>
                </a:lnTo>
                <a:cubicBezTo>
                  <a:pt x="6822810" y="3903116"/>
                  <a:pt x="6824562" y="4205871"/>
                  <a:pt x="6826313" y="4508626"/>
                </a:cubicBezTo>
                <a:lnTo>
                  <a:pt x="0" y="4508626"/>
                </a:lnTo>
                <a:lnTo>
                  <a:pt x="0"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日期占位符 3"/>
          <p:cNvSpPr>
            <a:spLocks noGrp="1"/>
          </p:cNvSpPr>
          <p:nvPr>
            <p:ph type="dt" sz="half" idx="2"/>
          </p:nvPr>
        </p:nvSpPr>
        <p:spPr>
          <a:xfrm>
            <a:off x="658813" y="6263142"/>
            <a:ext cx="27432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lang="zh-CN" altLang="en-US" dirty="0"/>
          </a:p>
        </p:txBody>
      </p:sp>
      <p:sp>
        <p:nvSpPr>
          <p:cNvPr id="15" name="文本占位符 14"/>
          <p:cNvSpPr>
            <a:spLocks noGrp="1"/>
          </p:cNvSpPr>
          <p:nvPr>
            <p:ph type="body" sz="quarter" idx="10" hasCustomPrompt="1"/>
          </p:nvPr>
        </p:nvSpPr>
        <p:spPr>
          <a:xfrm>
            <a:off x="2389559" y="4369292"/>
            <a:ext cx="2766903" cy="317669"/>
          </a:xfrm>
        </p:spPr>
        <p:txBody>
          <a:bodyPr/>
          <a:lstStyle>
            <a:lvl1pPr marL="0" indent="0">
              <a:buNone/>
              <a:defRPr sz="1500" b="0"/>
            </a:lvl1pPr>
          </a:lstStyle>
          <a:p>
            <a:pPr lvl="0"/>
            <a:r>
              <a:rPr lang="zh-CN" altLang="en-US" dirty="0"/>
              <a:t>单击此处编辑单位或日期</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目录板式">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r="43193"/>
          <a:stretch>
            <a:fillRect/>
          </a:stretch>
        </p:blipFill>
        <p:spPr>
          <a:xfrm>
            <a:off x="9237869" y="1052513"/>
            <a:ext cx="2954132" cy="520033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r="43193"/>
          <a:stretch>
            <a:fillRect/>
          </a:stretch>
        </p:blipFill>
        <p:spPr>
          <a:xfrm>
            <a:off x="9237869" y="1052513"/>
            <a:ext cx="2954132" cy="5200339"/>
          </a:xfrm>
          <a:prstGeom prst="rect">
            <a:avLst/>
          </a:prstGeom>
        </p:spPr>
      </p:pic>
      <p:sp>
        <p:nvSpPr>
          <p:cNvPr id="2" name="标题 1"/>
          <p:cNvSpPr>
            <a:spLocks noGrp="1"/>
          </p:cNvSpPr>
          <p:nvPr>
            <p:ph type="title"/>
          </p:nvPr>
        </p:nvSpPr>
        <p:spPr>
          <a:xfrm>
            <a:off x="6096000" y="2891770"/>
            <a:ext cx="4588562" cy="537230"/>
          </a:xfrm>
        </p:spPr>
        <p:txBody>
          <a:bodyPr anchor="b">
            <a:normAutofit/>
          </a:bodyPr>
          <a:lstStyle>
            <a:lvl1pPr>
              <a:defRPr sz="2800"/>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096000" y="3618502"/>
            <a:ext cx="4588562" cy="1019485"/>
          </a:xfrm>
        </p:spPr>
        <p:txBody>
          <a:bodyPr>
            <a:normAutofit/>
          </a:bodyPr>
          <a:lstStyle>
            <a:lvl1pPr marL="0" indent="0">
              <a:buNone/>
              <a:defRPr sz="1400" b="0">
                <a:solidFill>
                  <a:schemeClr val="tx1">
                    <a:tint val="75000"/>
                  </a:schemeClr>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r="43193"/>
          <a:stretch>
            <a:fillRect/>
          </a:stretch>
        </p:blipFill>
        <p:spPr>
          <a:xfrm>
            <a:off x="11028320" y="4809503"/>
            <a:ext cx="1163680" cy="2048497"/>
          </a:xfrm>
          <a:prstGeom prst="rect">
            <a:avLst/>
          </a:prstGeom>
        </p:spPr>
      </p:pic>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标题 9"/>
          <p:cNvSpPr>
            <a:spLocks noGrp="1"/>
          </p:cNvSpPr>
          <p:nvPr>
            <p:ph type="title"/>
          </p:nvPr>
        </p:nvSpPr>
        <p:spPr/>
        <p:txBody>
          <a:bodyPr/>
          <a:lstStyle/>
          <a:p>
            <a:r>
              <a:rPr lang="zh-CN" altLang="en-US"/>
              <a:t>单击此处编辑母版标题样式</a:t>
            </a:r>
            <a:endParaRPr lang="zh-CN" altLang="en-US"/>
          </a:p>
        </p:txBody>
      </p:sp>
      <p:sp>
        <p:nvSpPr>
          <p:cNvPr id="14" name="日期占位符 13"/>
          <p:cNvSpPr>
            <a:spLocks noGrp="1"/>
          </p:cNvSpPr>
          <p:nvPr>
            <p:ph type="dt" sz="half" idx="10"/>
          </p:nvPr>
        </p:nvSpPr>
        <p:spPr/>
        <p:txBody>
          <a:bodyPr/>
          <a:lstStyle/>
          <a:p>
            <a:endParaRPr lang="zh-CN" altLang="en-US" dirty="0"/>
          </a:p>
        </p:txBody>
      </p:sp>
      <p:sp>
        <p:nvSpPr>
          <p:cNvPr id="15" name="页脚占位符 14"/>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17B61D2E-5690-4C9D-A84F-76BBD1AD9F3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srcRect r="43193"/>
          <a:stretch>
            <a:fillRect/>
          </a:stretch>
        </p:blipFill>
        <p:spPr>
          <a:xfrm>
            <a:off x="11028320" y="4809503"/>
            <a:ext cx="1163680" cy="2048497"/>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5" name="灯片编号占位符 4"/>
          <p:cNvSpPr>
            <a:spLocks noGrp="1"/>
          </p:cNvSpPr>
          <p:nvPr>
            <p:ph type="sldNum" sz="quarter" idx="12"/>
          </p:nvPr>
        </p:nvSpPr>
        <p:spPr/>
        <p:txBody>
          <a:bodyPr/>
          <a:lstStyle/>
          <a:p>
            <a:fld id="{17B61D2E-5690-4C9D-A84F-76BBD1AD9F3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srcRect r="43193"/>
          <a:stretch>
            <a:fillRect/>
          </a:stretch>
        </p:blipFill>
        <p:spPr>
          <a:xfrm>
            <a:off x="9237869" y="1052513"/>
            <a:ext cx="2954132" cy="520033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结尾幻灯片">
    <p:spTree>
      <p:nvGrpSpPr>
        <p:cNvPr id="1" name=""/>
        <p:cNvGrpSpPr/>
        <p:nvPr/>
      </p:nvGrpSpPr>
      <p:grpSpPr>
        <a:xfrm>
          <a:off x="0" y="0"/>
          <a:ext cx="0" cy="0"/>
          <a:chOff x="0" y="0"/>
          <a:chExt cx="0" cy="0"/>
        </a:xfrm>
      </p:grpSpPr>
      <p:grpSp>
        <p:nvGrpSpPr>
          <p:cNvPr id="11" name="组合 10"/>
          <p:cNvGrpSpPr/>
          <p:nvPr userDrawn="1"/>
        </p:nvGrpSpPr>
        <p:grpSpPr>
          <a:xfrm rot="19976833">
            <a:off x="677043" y="138257"/>
            <a:ext cx="6581166" cy="6581166"/>
            <a:chOff x="1337912" y="7055318"/>
            <a:chExt cx="4273616" cy="4273616"/>
          </a:xfrm>
        </p:grpSpPr>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3021" t="2701" r="2778" b="2973"/>
            <a:stretch>
              <a:fillRect/>
            </a:stretch>
          </p:blipFill>
          <p:spPr>
            <a:xfrm>
              <a:off x="1337912" y="7064942"/>
              <a:ext cx="4273616" cy="4254367"/>
            </a:xfrm>
            <a:prstGeom prst="ellipse">
              <a:avLst/>
            </a:prstGeom>
          </p:spPr>
        </p:pic>
        <p:sp>
          <p:nvSpPr>
            <p:cNvPr id="13" name="椭圆 12"/>
            <p:cNvSpPr/>
            <p:nvPr userDrawn="1"/>
          </p:nvSpPr>
          <p:spPr>
            <a:xfrm>
              <a:off x="1337912" y="7055317"/>
              <a:ext cx="4273616" cy="4273616"/>
            </a:xfrm>
            <a:prstGeom prst="ellipse">
              <a:avLst/>
            </a:prstGeom>
            <a:solidFill>
              <a:schemeClr val="bg1">
                <a:alpha val="9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ctrTitle" hasCustomPrompt="1"/>
          </p:nvPr>
        </p:nvSpPr>
        <p:spPr>
          <a:xfrm>
            <a:off x="2387598" y="2391494"/>
            <a:ext cx="5134992" cy="719861"/>
          </a:xfrm>
        </p:spPr>
        <p:txBody>
          <a:bodyPr anchor="b">
            <a:normAutofit/>
          </a:bodyPr>
          <a:lstStyle>
            <a:lvl1pPr algn="l">
              <a:defRPr sz="3600"/>
            </a:lvl1pPr>
          </a:lstStyle>
          <a:p>
            <a:r>
              <a:rPr lang="zh-CN" altLang="en-US" dirty="0"/>
              <a:t>恳请指正</a:t>
            </a:r>
            <a:endParaRPr lang="zh-CN" altLang="en-US" dirty="0"/>
          </a:p>
        </p:txBody>
      </p:sp>
      <p:sp>
        <p:nvSpPr>
          <p:cNvPr id="9" name="任意多边形 25"/>
          <p:cNvSpPr/>
          <p:nvPr userDrawn="1"/>
        </p:nvSpPr>
        <p:spPr>
          <a:xfrm rot="10800000">
            <a:off x="3262047" y="1130300"/>
            <a:ext cx="8258441" cy="4597081"/>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476058 h 4508626"/>
              <a:gd name="connsiteX3-7" fmla="*/ 6762786 w 6826313"/>
              <a:gd name="connsiteY3-8" fmla="*/ 2139756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76058 h 4508626"/>
              <a:gd name="connsiteX3-39" fmla="*/ 6762786 w 6826313"/>
              <a:gd name="connsiteY3-40" fmla="*/ 2455298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76058 h 4508626"/>
              <a:gd name="connsiteX3-75" fmla="*/ 6762786 w 6826313"/>
              <a:gd name="connsiteY3-76" fmla="*/ 2476058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756057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76058 h 4508626"/>
              <a:gd name="connsiteX3-111" fmla="*/ 6762786 w 6826313"/>
              <a:gd name="connsiteY3-112" fmla="*/ 2476058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403147 h 4508626"/>
              <a:gd name="connsiteX14-133" fmla="*/ 6826313 w 6826313"/>
              <a:gd name="connsiteY14-134" fmla="*/ 3756057 h 4508626"/>
              <a:gd name="connsiteX15-135" fmla="*/ 6826313 w 6826313"/>
              <a:gd name="connsiteY15-136" fmla="*/ 4508626 h 4508626"/>
              <a:gd name="connsiteX16-137" fmla="*/ 0 w 6826313"/>
              <a:gd name="connsiteY16-138" fmla="*/ 4508626 h 4508626"/>
              <a:gd name="connsiteX17-139" fmla="*/ 0 w 6826313"/>
              <a:gd name="connsiteY17-140" fmla="*/ 0 h 4508626"/>
              <a:gd name="connsiteX0-141" fmla="*/ 6762786 w 6829816"/>
              <a:gd name="connsiteY0-142" fmla="*/ 1876457 h 4508626"/>
              <a:gd name="connsiteX1-143" fmla="*/ 6826313 w 6829816"/>
              <a:gd name="connsiteY1-144" fmla="*/ 1876457 h 4508626"/>
              <a:gd name="connsiteX2-145" fmla="*/ 6826313 w 6829816"/>
              <a:gd name="connsiteY2-146" fmla="*/ 2476058 h 4508626"/>
              <a:gd name="connsiteX3-147" fmla="*/ 6762786 w 6829816"/>
              <a:gd name="connsiteY3-148" fmla="*/ 2476058 h 4508626"/>
              <a:gd name="connsiteX4-149" fmla="*/ 6762786 w 6829816"/>
              <a:gd name="connsiteY4-150" fmla="*/ 1876457 h 4508626"/>
              <a:gd name="connsiteX5-151" fmla="*/ 0 w 6829816"/>
              <a:gd name="connsiteY5-152" fmla="*/ 0 h 4508626"/>
              <a:gd name="connsiteX6-153" fmla="*/ 6826313 w 6829816"/>
              <a:gd name="connsiteY6-154" fmla="*/ 0 h 4508626"/>
              <a:gd name="connsiteX7-155" fmla="*/ 6826313 w 6829816"/>
              <a:gd name="connsiteY7-156" fmla="*/ 959382 h 4508626"/>
              <a:gd name="connsiteX8-157" fmla="*/ 6762786 w 6829816"/>
              <a:gd name="connsiteY8-158" fmla="*/ 959382 h 4508626"/>
              <a:gd name="connsiteX9-159" fmla="*/ 6762786 w 6829816"/>
              <a:gd name="connsiteY9-160" fmla="*/ 63527 h 4508626"/>
              <a:gd name="connsiteX10-161" fmla="*/ 63527 w 6829816"/>
              <a:gd name="connsiteY10-162" fmla="*/ 63527 h 4508626"/>
              <a:gd name="connsiteX11-163" fmla="*/ 63527 w 6829816"/>
              <a:gd name="connsiteY11-164" fmla="*/ 4445099 h 4508626"/>
              <a:gd name="connsiteX12-165" fmla="*/ 6762786 w 6829816"/>
              <a:gd name="connsiteY12-166" fmla="*/ 4445099 h 4508626"/>
              <a:gd name="connsiteX13-167" fmla="*/ 6762786 w 6829816"/>
              <a:gd name="connsiteY13-168" fmla="*/ 3403147 h 4508626"/>
              <a:gd name="connsiteX14-169" fmla="*/ 6829816 w 6829816"/>
              <a:gd name="connsiteY14-170" fmla="*/ 3415603 h 4508626"/>
              <a:gd name="connsiteX15-171" fmla="*/ 6826313 w 6829816"/>
              <a:gd name="connsiteY15-172" fmla="*/ 4508626 h 4508626"/>
              <a:gd name="connsiteX16-173" fmla="*/ 0 w 6829816"/>
              <a:gd name="connsiteY16-174" fmla="*/ 4508626 h 4508626"/>
              <a:gd name="connsiteX17-175" fmla="*/ 0 w 6829816"/>
              <a:gd name="connsiteY17-176" fmla="*/ 0 h 4508626"/>
              <a:gd name="connsiteX0-177" fmla="*/ 6762786 w 6833319"/>
              <a:gd name="connsiteY0-178" fmla="*/ 1876457 h 4508626"/>
              <a:gd name="connsiteX1-179" fmla="*/ 6826313 w 6833319"/>
              <a:gd name="connsiteY1-180" fmla="*/ 1876457 h 4508626"/>
              <a:gd name="connsiteX2-181" fmla="*/ 6826313 w 6833319"/>
              <a:gd name="connsiteY2-182" fmla="*/ 2476058 h 4508626"/>
              <a:gd name="connsiteX3-183" fmla="*/ 6762786 w 6833319"/>
              <a:gd name="connsiteY3-184" fmla="*/ 2476058 h 4508626"/>
              <a:gd name="connsiteX4-185" fmla="*/ 6762786 w 6833319"/>
              <a:gd name="connsiteY4-186" fmla="*/ 1876457 h 4508626"/>
              <a:gd name="connsiteX5-187" fmla="*/ 0 w 6833319"/>
              <a:gd name="connsiteY5-188" fmla="*/ 0 h 4508626"/>
              <a:gd name="connsiteX6-189" fmla="*/ 6826313 w 6833319"/>
              <a:gd name="connsiteY6-190" fmla="*/ 0 h 4508626"/>
              <a:gd name="connsiteX7-191" fmla="*/ 6826313 w 6833319"/>
              <a:gd name="connsiteY7-192" fmla="*/ 959382 h 4508626"/>
              <a:gd name="connsiteX8-193" fmla="*/ 6762786 w 6833319"/>
              <a:gd name="connsiteY8-194" fmla="*/ 959382 h 4508626"/>
              <a:gd name="connsiteX9-195" fmla="*/ 6762786 w 6833319"/>
              <a:gd name="connsiteY9-196" fmla="*/ 63527 h 4508626"/>
              <a:gd name="connsiteX10-197" fmla="*/ 63527 w 6833319"/>
              <a:gd name="connsiteY10-198" fmla="*/ 63527 h 4508626"/>
              <a:gd name="connsiteX11-199" fmla="*/ 63527 w 6833319"/>
              <a:gd name="connsiteY11-200" fmla="*/ 4445099 h 4508626"/>
              <a:gd name="connsiteX12-201" fmla="*/ 6762786 w 6833319"/>
              <a:gd name="connsiteY12-202" fmla="*/ 4445099 h 4508626"/>
              <a:gd name="connsiteX13-203" fmla="*/ 6762786 w 6833319"/>
              <a:gd name="connsiteY13-204" fmla="*/ 3403147 h 4508626"/>
              <a:gd name="connsiteX14-205" fmla="*/ 6833319 w 6833319"/>
              <a:gd name="connsiteY14-206" fmla="*/ 3394844 h 4508626"/>
              <a:gd name="connsiteX15-207" fmla="*/ 6826313 w 6833319"/>
              <a:gd name="connsiteY15-208" fmla="*/ 4508626 h 4508626"/>
              <a:gd name="connsiteX16-209" fmla="*/ 0 w 6833319"/>
              <a:gd name="connsiteY16-210" fmla="*/ 4508626 h 4508626"/>
              <a:gd name="connsiteX17-211" fmla="*/ 0 w 6833319"/>
              <a:gd name="connsiteY17-212"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33319" h="4508626">
                <a:moveTo>
                  <a:pt x="6762786" y="1876457"/>
                </a:moveTo>
                <a:lnTo>
                  <a:pt x="6826313" y="1876457"/>
                </a:lnTo>
                <a:lnTo>
                  <a:pt x="6826313" y="2476058"/>
                </a:lnTo>
                <a:lnTo>
                  <a:pt x="6762786" y="2476058"/>
                </a:ln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403147"/>
                </a:lnTo>
                <a:lnTo>
                  <a:pt x="6833319" y="3394844"/>
                </a:lnTo>
                <a:cubicBezTo>
                  <a:pt x="6832151" y="3759185"/>
                  <a:pt x="6827481" y="4144285"/>
                  <a:pt x="6826313" y="4508626"/>
                </a:cubicBezTo>
                <a:lnTo>
                  <a:pt x="0" y="4508626"/>
                </a:lnTo>
                <a:lnTo>
                  <a:pt x="0" y="0"/>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 name="日期占位符 3"/>
          <p:cNvSpPr>
            <a:spLocks noGrp="1"/>
          </p:cNvSpPr>
          <p:nvPr>
            <p:ph type="dt" sz="half" idx="2"/>
          </p:nvPr>
        </p:nvSpPr>
        <p:spPr>
          <a:xfrm>
            <a:off x="658813" y="6246372"/>
            <a:ext cx="27432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lang="zh-CN" altLang="en-US" dirty="0"/>
          </a:p>
        </p:txBody>
      </p:sp>
      <p:sp>
        <p:nvSpPr>
          <p:cNvPr id="14" name="副标题 2"/>
          <p:cNvSpPr>
            <a:spLocks noGrp="1"/>
          </p:cNvSpPr>
          <p:nvPr>
            <p:ph type="subTitle" idx="1" hasCustomPrompt="1"/>
          </p:nvPr>
        </p:nvSpPr>
        <p:spPr>
          <a:xfrm>
            <a:off x="2387599" y="3978669"/>
            <a:ext cx="2768863" cy="310527"/>
          </a:xfrm>
        </p:spPr>
        <p:txBody>
          <a:bodyPr>
            <a:normAutofit/>
          </a:bodyPr>
          <a:lstStyle>
            <a:lvl1pPr marL="0" indent="0" algn="l">
              <a:buNone/>
              <a:defRPr sz="15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单击此处编辑姓名</a:t>
            </a:r>
            <a:endParaRPr lang="zh-CN" altLang="en-US" dirty="0"/>
          </a:p>
        </p:txBody>
      </p:sp>
      <p:sp>
        <p:nvSpPr>
          <p:cNvPr id="16" name="文本占位符 14"/>
          <p:cNvSpPr>
            <a:spLocks noGrp="1"/>
          </p:cNvSpPr>
          <p:nvPr>
            <p:ph type="body" sz="quarter" idx="10" hasCustomPrompt="1"/>
          </p:nvPr>
        </p:nvSpPr>
        <p:spPr>
          <a:xfrm>
            <a:off x="2389559" y="4369292"/>
            <a:ext cx="2766903" cy="317669"/>
          </a:xfrm>
        </p:spPr>
        <p:txBody>
          <a:bodyPr/>
          <a:lstStyle>
            <a:lvl1pPr marL="0" indent="0">
              <a:buNone/>
              <a:defRPr sz="1500" b="0"/>
            </a:lvl1pPr>
          </a:lstStyle>
          <a:p>
            <a:pPr lvl="0"/>
            <a:r>
              <a:rPr lang="zh-CN" altLang="en-US" dirty="0"/>
              <a:t>单击此处编辑单位或日期</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grpSp>
        <p:nvGrpSpPr>
          <p:cNvPr id="3074" name="组合 10"/>
          <p:cNvGrpSpPr/>
          <p:nvPr userDrawn="1"/>
        </p:nvGrpSpPr>
        <p:grpSpPr>
          <a:xfrm>
            <a:off x="9725025" y="404813"/>
            <a:ext cx="1914525" cy="442912"/>
            <a:chOff x="10039354" y="485775"/>
            <a:chExt cx="1927228" cy="446088"/>
          </a:xfrm>
        </p:grpSpPr>
        <p:sp>
          <p:nvSpPr>
            <p:cNvPr id="3075" name="矩形 83"/>
            <p:cNvSpPr/>
            <p:nvPr/>
          </p:nvSpPr>
          <p:spPr>
            <a:xfrm>
              <a:off x="11128379" y="577850"/>
              <a:ext cx="260351" cy="261938"/>
            </a:xfrm>
            <a:prstGeom prst="rect">
              <a:avLst/>
            </a:prstGeom>
            <a:solidFill>
              <a:srgbClr val="E72A2E">
                <a:alpha val="59998"/>
              </a:srgbClr>
            </a:solidFill>
            <a:ln w="9525">
              <a:noFill/>
            </a:ln>
          </p:spPr>
          <p:txBody>
            <a:bodyPr anchor="ctr"/>
            <a:lstStyle/>
            <a:p>
              <a:pPr lvl="0" algn="ctr"/>
              <a:endParaRPr lang="zh-CN" altLang="en-US">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6" name="矩形 84"/>
            <p:cNvSpPr/>
            <p:nvPr/>
          </p:nvSpPr>
          <p:spPr>
            <a:xfrm>
              <a:off x="10764842" y="577850"/>
              <a:ext cx="260351" cy="261938"/>
            </a:xfrm>
            <a:prstGeom prst="rect">
              <a:avLst/>
            </a:prstGeom>
            <a:solidFill>
              <a:srgbClr val="E72A2E">
                <a:alpha val="79999"/>
              </a:srgbClr>
            </a:solidFill>
            <a:ln w="9525">
              <a:noFill/>
            </a:ln>
          </p:spPr>
          <p:txBody>
            <a:bodyPr anchor="ctr"/>
            <a:lstStyle/>
            <a:p>
              <a:pPr lvl="0" algn="ctr"/>
              <a:endParaRPr lang="zh-CN" altLang="en-US">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7" name="矩形 85"/>
            <p:cNvSpPr/>
            <p:nvPr/>
          </p:nvSpPr>
          <p:spPr>
            <a:xfrm>
              <a:off x="10401301" y="577850"/>
              <a:ext cx="261939" cy="261938"/>
            </a:xfrm>
            <a:prstGeom prst="rect">
              <a:avLst/>
            </a:prstGeom>
            <a:solidFill>
              <a:srgbClr val="E72A2E"/>
            </a:solidFill>
            <a:ln w="9525">
              <a:noFill/>
            </a:ln>
          </p:spPr>
          <p:txBody>
            <a:bodyPr anchor="ctr"/>
            <a:lstStyle/>
            <a:p>
              <a:pPr lvl="0" algn="ctr"/>
              <a:endParaRPr lang="zh-CN" altLang="en-US">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8" name="矩形 86"/>
            <p:cNvSpPr/>
            <p:nvPr/>
          </p:nvSpPr>
          <p:spPr>
            <a:xfrm>
              <a:off x="10039354" y="577850"/>
              <a:ext cx="260351" cy="261938"/>
            </a:xfrm>
            <a:prstGeom prst="rect">
              <a:avLst/>
            </a:prstGeom>
            <a:solidFill>
              <a:srgbClr val="4B4B4B"/>
            </a:solidFill>
            <a:ln w="9525">
              <a:noFill/>
            </a:ln>
          </p:spPr>
          <p:txBody>
            <a:bodyPr anchor="ctr"/>
            <a:lstStyle/>
            <a:p>
              <a:pPr lvl="0" algn="ctr"/>
              <a:endParaRPr lang="zh-CN" altLang="en-US">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6" name="图片 25" descr="logo1.gif"/>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7157" y="485775"/>
              <a:ext cx="47942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80" name="矩形 17"/>
          <p:cNvSpPr/>
          <p:nvPr userDrawn="1"/>
        </p:nvSpPr>
        <p:spPr>
          <a:xfrm>
            <a:off x="0" y="6634163"/>
            <a:ext cx="12192000" cy="223837"/>
          </a:xfrm>
          <a:prstGeom prst="rect">
            <a:avLst/>
          </a:prstGeom>
          <a:solidFill>
            <a:srgbClr val="C00000"/>
          </a:solidFill>
          <a:ln w="12700">
            <a:noFill/>
          </a:ln>
        </p:spPr>
        <p:txBody>
          <a:bodyPr anchor="ctr"/>
          <a:lstStyle/>
          <a:p>
            <a:pPr lvl="0" algn="ctr"/>
            <a:endParaRPr lang="zh-CN" altLang="zh-CN">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标题 1"/>
          <p:cNvSpPr>
            <a:spLocks noGrp="1"/>
          </p:cNvSpPr>
          <p:nvPr>
            <p:ph type="title"/>
          </p:nvPr>
        </p:nvSpPr>
        <p:spPr>
          <a:xfrm>
            <a:off x="523397" y="242478"/>
            <a:ext cx="9150380" cy="820739"/>
          </a:xfrm>
        </p:spPr>
        <p:txBody>
          <a:bodyPr>
            <a:normAutofit/>
          </a:bodyPr>
          <a:lstStyle>
            <a:lvl1pPr>
              <a:defRPr sz="3600" b="1">
                <a:solidFill>
                  <a:schemeClr val="tx1"/>
                </a:solidFill>
                <a:latin typeface="微软雅黑" panose="020B0503020204020204" pitchFamily="34" charset="-122"/>
                <a:ea typeface="微软雅黑" panose="020B0503020204020204" pitchFamily="34" charset="-122"/>
              </a:defRPr>
            </a:lvl1pPr>
          </a:lstStyle>
          <a:p>
            <a:pPr fontAlgn="auto"/>
            <a:r>
              <a:rPr lang="zh-CN" altLang="en-US" strike="noStrike" noProof="1"/>
              <a:t>单击此处编辑母版标题样式</a:t>
            </a:r>
            <a:endParaRPr lang="zh-CN" altLang="en-US" strike="noStrike" noProof="1"/>
          </a:p>
        </p:txBody>
      </p:sp>
      <p:grpSp>
        <p:nvGrpSpPr>
          <p:cNvPr id="8" name="Group 9"/>
          <p:cNvGrpSpPr/>
          <p:nvPr userDrawn="1"/>
        </p:nvGrpSpPr>
        <p:grpSpPr bwMode="auto">
          <a:xfrm>
            <a:off x="529167" y="1024468"/>
            <a:ext cx="9144610" cy="77498"/>
            <a:chOff x="385" y="617"/>
            <a:chExt cx="5080" cy="46"/>
          </a:xfrm>
          <a:solidFill>
            <a:srgbClr val="FF0000"/>
          </a:solidFill>
        </p:grpSpPr>
        <p:sp>
          <p:nvSpPr>
            <p:cNvPr id="9" name="Rectangle 10"/>
            <p:cNvSpPr>
              <a:spLocks noChangeArrowheads="1"/>
            </p:cNvSpPr>
            <p:nvPr/>
          </p:nvSpPr>
          <p:spPr bwMode="auto">
            <a:xfrm>
              <a:off x="385" y="617"/>
              <a:ext cx="2722" cy="46"/>
            </a:xfrm>
            <a:prstGeom prst="rect">
              <a:avLst/>
            </a:prstGeom>
            <a:solidFill>
              <a:srgbClr val="C00000"/>
            </a:solidFill>
            <a:ln>
              <a:solidFill>
                <a:srgbClr val="C00000"/>
              </a:solidFill>
            </a:ln>
            <a:effectLst>
              <a:outerShdw dist="45791" dir="3378596" algn="ctr" rotWithShape="0">
                <a:schemeClr val="bg2"/>
              </a:outerShdw>
            </a:effec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fontAlgn="auto" hangingPunct="0">
                <a:defRPr/>
              </a:pPr>
              <a:endParaRPr lang="zh-CN" altLang="en-US" sz="2400" strike="noStrike" noProof="1"/>
            </a:p>
          </p:txBody>
        </p:sp>
        <p:sp>
          <p:nvSpPr>
            <p:cNvPr id="10" name="Line 11"/>
            <p:cNvSpPr>
              <a:spLocks noChangeShapeType="1"/>
            </p:cNvSpPr>
            <p:nvPr/>
          </p:nvSpPr>
          <p:spPr bwMode="auto">
            <a:xfrm>
              <a:off x="385" y="663"/>
              <a:ext cx="5080" cy="0"/>
            </a:xfrm>
            <a:prstGeom prst="line">
              <a:avLst/>
            </a:prstGeom>
            <a:grpFill/>
            <a:ln w="19050">
              <a:solidFill>
                <a:srgbClr val="C00000"/>
              </a:solidFill>
              <a:round/>
            </a:ln>
            <a:effectLst>
              <a:outerShdw dist="45791" dir="3378596" algn="ctr" rotWithShape="0">
                <a:schemeClr val="bg2"/>
              </a:outerShdw>
            </a:effectLst>
          </p:spPr>
          <p:txBody>
            <a:bodyPr/>
            <a:lstStyle/>
            <a:p>
              <a:pPr eaLnBrk="0" fontAlgn="auto" hangingPunct="0">
                <a:defRPr/>
              </a:pPr>
              <a:endParaRPr lang="zh-CN" altLang="en-US" sz="2400" strike="noStrike" noProof="1"/>
            </a:p>
          </p:txBody>
        </p:sp>
      </p:grpSp>
      <p:sp>
        <p:nvSpPr>
          <p:cNvPr id="2" name="日期占位符 1"/>
          <p:cNvSpPr>
            <a:spLocks noGrp="1"/>
          </p:cNvSpPr>
          <p:nvPr>
            <p:ph type="dt" sz="half" idx="10"/>
          </p:nvPr>
        </p:nvSpPr>
        <p:spPr>
          <a:xfrm>
            <a:off x="838200" y="6356350"/>
            <a:ext cx="2743200" cy="365125"/>
          </a:xfrm>
          <a:prstGeom prst="rect">
            <a:avLst/>
          </a:prstGeom>
        </p:spPr>
        <p:txBody>
          <a:bodyPr vert="horz" lIns="91440" tIns="45720" rIns="91440" bIns="45720" rtlCol="0" anchor="ctr"/>
          <a:lstStyle/>
          <a:p>
            <a:pPr fontAlgn="auto"/>
            <a:endParaRPr lang="zh-CN" altLang="en-US"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p>
            <a:pPr fontAlgn="auto"/>
            <a:endParaRPr lang="zh-CN" alt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p>
            <a:pPr fontAlgn="auto"/>
            <a:fld id="{117CDB92-385F-46A1-BAA8-3C5739A8A10D}" type="slidenum">
              <a:rPr lang="zh-CN" altLang="en-US" strike="noStrike" noProof="1" smtClean="0">
                <a:latin typeface="+mn-lt"/>
                <a:ea typeface="+mn-ea"/>
                <a:cs typeface="+mn-cs"/>
              </a:rPr>
            </a:fld>
            <a:endParaRPr lang="zh-CN" altLang="en-US" strike="noStrike" noProof="1"/>
          </a:p>
        </p:txBody>
      </p:sp>
    </p:spTree>
  </p:cSld>
  <p:clrMapOvr>
    <a:masterClrMapping/>
  </p:clrMapOvr>
  <p:transition spd="med">
    <p:cover/>
  </p:transition>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58812" y="365126"/>
            <a:ext cx="10874375" cy="687388"/>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58812" y="1129287"/>
            <a:ext cx="10874375" cy="5040312"/>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658813" y="6246372"/>
            <a:ext cx="27432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lang="zh-CN" altLang="en-US" dirty="0"/>
          </a:p>
        </p:txBody>
      </p:sp>
      <p:sp>
        <p:nvSpPr>
          <p:cNvPr id="5" name="页脚占位符 4"/>
          <p:cNvSpPr>
            <a:spLocks noGrp="1"/>
          </p:cNvSpPr>
          <p:nvPr>
            <p:ph type="ftr" sz="quarter" idx="3"/>
          </p:nvPr>
        </p:nvSpPr>
        <p:spPr>
          <a:xfrm>
            <a:off x="4038600" y="6238876"/>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599" y="6238876"/>
            <a:ext cx="2922587" cy="372621"/>
          </a:xfrm>
          <a:prstGeom prst="rect">
            <a:avLst/>
          </a:prstGeom>
        </p:spPr>
        <p:txBody>
          <a:bodyPr vert="horz" lIns="91440" tIns="45720" rIns="91440" bIns="45720" rtlCol="0" anchor="ctr"/>
          <a:lstStyle>
            <a:lvl1pPr algn="r">
              <a:defRPr sz="1200">
                <a:solidFill>
                  <a:schemeClr val="tx1">
                    <a:tint val="75000"/>
                  </a:schemeClr>
                </a:solidFill>
              </a:defRPr>
            </a:lvl1pPr>
          </a:lstStyle>
          <a:p>
            <a:fld id="{17B61D2E-5690-4C9D-A84F-76BBD1AD9F3C}" type="slidenum">
              <a:rPr lang="zh-CN" altLang="en-US" smtClean="0"/>
            </a:fld>
            <a:endParaRPr lang="zh-CN" altLang="en-US"/>
          </a:p>
        </p:txBody>
      </p:sp>
      <p:cxnSp>
        <p:nvCxnSpPr>
          <p:cNvPr id="8" name="直接连接符 7"/>
          <p:cNvCxnSpPr/>
          <p:nvPr userDrawn="1"/>
        </p:nvCxnSpPr>
        <p:spPr>
          <a:xfrm flipV="1">
            <a:off x="658813" y="1052514"/>
            <a:ext cx="10874375" cy="1"/>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0" Type="http://schemas.openxmlformats.org/officeDocument/2006/relationships/notesSlide" Target="../notesSlides/notesSlide1.xml"/><Relationship Id="rId2" Type="http://schemas.openxmlformats.org/officeDocument/2006/relationships/tags" Target="../tags/tag3.xml"/><Relationship Id="rId19" Type="http://schemas.openxmlformats.org/officeDocument/2006/relationships/slideLayout" Target="../slideLayouts/slideLayout5.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代码</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混淆</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
        <p:nvSpPr>
          <p:cNvPr id="10" name="椭圆 9"/>
          <p:cNvSpPr/>
          <p:nvPr/>
        </p:nvSpPr>
        <p:spPr>
          <a:xfrm>
            <a:off x="9267824"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11" name="椭圆 10"/>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12" name="椭圆 11"/>
          <p:cNvSpPr/>
          <p:nvPr/>
        </p:nvSpPr>
        <p:spPr>
          <a:xfrm>
            <a:off x="10215562"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13" name="椭圆 12"/>
          <p:cNvSpPr/>
          <p:nvPr/>
        </p:nvSpPr>
        <p:spPr>
          <a:xfrm>
            <a:off x="1068943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4" name="椭圆 3"/>
          <p:cNvSpPr/>
          <p:nvPr/>
        </p:nvSpPr>
        <p:spPr>
          <a:xfrm>
            <a:off x="11163299"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6" name="椭圆 5"/>
          <p:cNvSpPr/>
          <p:nvPr/>
        </p:nvSpPr>
        <p:spPr>
          <a:xfrm>
            <a:off x="879395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52" name="iṡļîḓê"/>
          <p:cNvSpPr/>
          <p:nvPr/>
        </p:nvSpPr>
        <p:spPr>
          <a:xfrm>
            <a:off x="751681" y="1609602"/>
            <a:ext cx="224790" cy="224790"/>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defTabSz="913765"/>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3" name="í$líde"/>
          <p:cNvSpPr txBox="1"/>
          <p:nvPr/>
        </p:nvSpPr>
        <p:spPr>
          <a:xfrm>
            <a:off x="976470" y="1512399"/>
            <a:ext cx="3191933" cy="423545"/>
          </a:xfrm>
          <a:prstGeom prst="rect">
            <a:avLst/>
          </a:prstGeom>
          <a:noFill/>
        </p:spPr>
        <p:txBody>
          <a:bodyPr wrap="square" rtlCol="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b="1" dirty="0">
                <a:latin typeface="微软雅黑" panose="020B0503020204020204" pitchFamily="34" charset="-122"/>
                <a:ea typeface="微软雅黑" panose="020B0503020204020204" pitchFamily="34" charset="-122"/>
              </a:rPr>
              <a:t>简介</a:t>
            </a:r>
            <a:endParaRPr lang="zh-CN" altLang="en-US" b="1" dirty="0">
              <a:latin typeface="微软雅黑" panose="020B0503020204020204" pitchFamily="34" charset="-122"/>
              <a:ea typeface="微软雅黑" panose="020B0503020204020204" pitchFamily="34" charset="-122"/>
            </a:endParaRPr>
          </a:p>
        </p:txBody>
      </p:sp>
      <p:sp>
        <p:nvSpPr>
          <p:cNvPr id="54" name="íšḷíḓè"/>
          <p:cNvSpPr txBox="1"/>
          <p:nvPr/>
        </p:nvSpPr>
        <p:spPr>
          <a:xfrm>
            <a:off x="976471" y="2074433"/>
            <a:ext cx="3191932" cy="2030095"/>
          </a:xfrm>
          <a:prstGeom prst="rect">
            <a:avLst/>
          </a:prstGeom>
          <a:noFill/>
        </p:spPr>
        <p:txBody>
          <a:bodyPr wrap="square" rtlCol="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a:sym typeface="+mn-ea"/>
              </a:rPr>
              <a:t>代码混淆是使代码变得难以理解的实践，对代码应用转换，使其物理外观发生变化，但程序的黑箱规范保持不变。混淆技术增加了代码的复杂性，隐藏代码中的敏感</a:t>
            </a:r>
            <a:r>
              <a:rPr lang="zh-CN" altLang="en-US" sz="1400">
                <a:sym typeface="+mn-ea"/>
              </a:rPr>
              <a:t>信息，从而阻碍了攻击者对代码的分析和理解。</a:t>
            </a:r>
            <a:endParaRPr lang="zh-CN" altLang="en-US" sz="1400" dirty="0">
              <a:latin typeface="微软雅黑" panose="020B0503020204020204" pitchFamily="34" charset="-122"/>
              <a:ea typeface="微软雅黑" panose="020B0503020204020204" pitchFamily="34" charset="-122"/>
              <a:sym typeface="+mn-ea"/>
            </a:endParaRPr>
          </a:p>
        </p:txBody>
      </p:sp>
      <p:sp>
        <p:nvSpPr>
          <p:cNvPr id="56" name="îṣľiḑe"/>
          <p:cNvSpPr/>
          <p:nvPr/>
        </p:nvSpPr>
        <p:spPr>
          <a:xfrm>
            <a:off x="751046" y="4201089"/>
            <a:ext cx="224790" cy="224790"/>
          </a:xfrm>
          <a:prstGeom prst="ellipse">
            <a:avLst/>
          </a:prstGeom>
          <a:gradFill>
            <a:gsLst>
              <a:gs pos="0">
                <a:schemeClr val="accent6">
                  <a:lumMod val="60000"/>
                  <a:lumOff val="40000"/>
                </a:schemeClr>
              </a:gs>
              <a:gs pos="60000">
                <a:schemeClr val="accent6"/>
              </a:gs>
            </a:gsLst>
            <a:lin ang="2700000" scaled="0"/>
          </a:gra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isḷiḑê"/>
          <p:cNvSpPr txBox="1"/>
          <p:nvPr/>
        </p:nvSpPr>
        <p:spPr>
          <a:xfrm>
            <a:off x="975835" y="4103886"/>
            <a:ext cx="3191933" cy="5067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b="1">
                <a:sym typeface="+mn-ea"/>
              </a:rPr>
              <a:t>反汇编阶段的混淆</a:t>
            </a:r>
            <a:endParaRPr lang="en-US" altLang="zh-CN" b="1" dirty="0">
              <a:latin typeface="微软雅黑" panose="020B0503020204020204" pitchFamily="34" charset="-122"/>
              <a:ea typeface="微软雅黑" panose="020B0503020204020204" pitchFamily="34" charset="-122"/>
            </a:endParaRPr>
          </a:p>
        </p:txBody>
      </p:sp>
      <p:sp>
        <p:nvSpPr>
          <p:cNvPr id="58" name="îṩḷîdè"/>
          <p:cNvSpPr txBox="1"/>
          <p:nvPr/>
        </p:nvSpPr>
        <p:spPr>
          <a:xfrm>
            <a:off x="976471" y="4610675"/>
            <a:ext cx="3191932" cy="1383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lnSpc>
                <a:spcPct val="150000"/>
              </a:lnSpc>
              <a:buFont typeface="Arial" panose="020B0604020202020204" pitchFamily="34" charset="0"/>
              <a:buChar char="•"/>
            </a:pPr>
            <a:r>
              <a:rPr lang="zh-CN" altLang="en-US" sz="1400">
                <a:sym typeface="+mn-ea"/>
              </a:rPr>
              <a:t>垃圾指令插入：在代码中插入无效指令，干扰反汇编。</a:t>
            </a:r>
            <a:endParaRPr lang="zh-CN" altLang="en-US" sz="1400"/>
          </a:p>
          <a:p>
            <a:pPr marL="285750" indent="-285750">
              <a:lnSpc>
                <a:spcPct val="150000"/>
              </a:lnSpc>
              <a:buFont typeface="Arial" panose="020B0604020202020204" pitchFamily="34" charset="0"/>
              <a:buChar char="•"/>
            </a:pPr>
            <a:r>
              <a:rPr lang="zh-CN" altLang="en-US" sz="1400">
                <a:sym typeface="+mn-ea"/>
              </a:rPr>
              <a:t>线性扫描和递归遍历阻碍：通过打乱控制流，迷惑反汇编工具。</a:t>
            </a:r>
            <a:endParaRPr lang="zh-CN" altLang="en-US" sz="1400" dirty="0">
              <a:latin typeface="微软雅黑" panose="020B0503020204020204" pitchFamily="34" charset="-122"/>
              <a:ea typeface="微软雅黑" panose="020B0503020204020204" pitchFamily="34" charset="-122"/>
            </a:endParaRPr>
          </a:p>
        </p:txBody>
      </p:sp>
      <p:sp>
        <p:nvSpPr>
          <p:cNvPr id="60" name="íṥḻiḑè"/>
          <p:cNvSpPr/>
          <p:nvPr/>
        </p:nvSpPr>
        <p:spPr>
          <a:xfrm>
            <a:off x="4353904" y="1609602"/>
            <a:ext cx="224790" cy="224790"/>
          </a:xfrm>
          <a:prstGeom prst="ellipse">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762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defTabSz="913765"/>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61" name="išľíďé"/>
          <p:cNvSpPr txBox="1"/>
          <p:nvPr/>
        </p:nvSpPr>
        <p:spPr>
          <a:xfrm>
            <a:off x="4578693" y="1486999"/>
            <a:ext cx="3191933" cy="506730"/>
          </a:xfrm>
          <a:prstGeom prst="rect">
            <a:avLst/>
          </a:prstGeom>
          <a:noFill/>
        </p:spPr>
        <p:txBody>
          <a:bodyPr wrap="square" rtlCol="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b="1">
                <a:sym typeface="+mn-ea"/>
              </a:rPr>
              <a:t>混淆方法</a:t>
            </a:r>
            <a:endParaRPr lang="en-US" altLang="zh-CN" b="1" dirty="0">
              <a:latin typeface="微软雅黑" panose="020B0503020204020204" pitchFamily="34" charset="-122"/>
              <a:ea typeface="微软雅黑" panose="020B0503020204020204" pitchFamily="34" charset="-122"/>
            </a:endParaRPr>
          </a:p>
        </p:txBody>
      </p:sp>
      <p:sp>
        <p:nvSpPr>
          <p:cNvPr id="62" name="íṡ1îďe"/>
          <p:cNvSpPr txBox="1"/>
          <p:nvPr/>
        </p:nvSpPr>
        <p:spPr>
          <a:xfrm>
            <a:off x="4577424" y="2019188"/>
            <a:ext cx="2984156" cy="2030095"/>
          </a:xfrm>
          <a:prstGeom prst="rect">
            <a:avLst/>
          </a:prstGeom>
          <a:noFill/>
        </p:spPr>
        <p:txBody>
          <a:bodyPr wrap="square" rtlCol="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lnSpc>
                <a:spcPct val="150000"/>
              </a:lnSpc>
              <a:buFont typeface="Arial" panose="020B0604020202020204" pitchFamily="34" charset="0"/>
              <a:buChar char="•"/>
            </a:pPr>
            <a:r>
              <a:rPr lang="zh-CN" altLang="en-US" sz="1400">
                <a:sym typeface="+mn-ea"/>
              </a:rPr>
              <a:t>控制流变换：通过打乱控制流的顺序增加代码理解难度。</a:t>
            </a:r>
            <a:endParaRPr lang="zh-CN" altLang="en-US" sz="1400"/>
          </a:p>
          <a:p>
            <a:pPr marL="285750" indent="-285750">
              <a:lnSpc>
                <a:spcPct val="150000"/>
              </a:lnSpc>
              <a:buFont typeface="Arial" panose="020B0604020202020204" pitchFamily="34" charset="0"/>
              <a:buChar char="•"/>
            </a:pPr>
            <a:r>
              <a:rPr lang="zh-CN" altLang="en-US" sz="1400">
                <a:sym typeface="+mn-ea"/>
              </a:rPr>
              <a:t>数据抽象变换：修改数据结构以混淆数据的存储和访问方式。</a:t>
            </a:r>
            <a:endParaRPr lang="zh-CN" altLang="en-US" sz="1400"/>
          </a:p>
          <a:p>
            <a:pPr marL="285750" indent="-285750">
              <a:lnSpc>
                <a:spcPct val="150000"/>
              </a:lnSpc>
              <a:buFont typeface="Arial" panose="020B0604020202020204" pitchFamily="34" charset="0"/>
              <a:buChar char="•"/>
            </a:pPr>
            <a:r>
              <a:rPr lang="zh-CN" altLang="en-US" sz="1400">
                <a:sym typeface="+mn-ea"/>
              </a:rPr>
              <a:t>程序抽象变换：打乱程序结构，使其难以逆向工程。</a:t>
            </a:r>
            <a:endParaRPr lang="zh-CN" altLang="en-US" sz="1400" dirty="0">
              <a:latin typeface="微软雅黑" panose="020B0503020204020204" pitchFamily="34" charset="-122"/>
              <a:ea typeface="微软雅黑" panose="020B0503020204020204" pitchFamily="34" charset="-122"/>
            </a:endParaRPr>
          </a:p>
        </p:txBody>
      </p:sp>
      <p:sp>
        <p:nvSpPr>
          <p:cNvPr id="64" name="ïṩļídè"/>
          <p:cNvSpPr/>
          <p:nvPr/>
        </p:nvSpPr>
        <p:spPr>
          <a:xfrm>
            <a:off x="4353904" y="4247444"/>
            <a:ext cx="224790" cy="224790"/>
          </a:xfrm>
          <a:prstGeom prst="ellipse">
            <a:avLst/>
          </a:prstGeom>
          <a:gradFill>
            <a:gsLst>
              <a:gs pos="0">
                <a:schemeClr val="accent4">
                  <a:lumMod val="60000"/>
                  <a:lumOff val="40000"/>
                </a:schemeClr>
              </a:gs>
              <a:gs pos="60000">
                <a:schemeClr val="accent4"/>
              </a:gs>
            </a:gsLst>
            <a:lin ang="2700000" scaled="0"/>
          </a:gradFill>
          <a:ln w="57150" cap="rnd">
            <a:noFill/>
            <a:prstDash val="solid"/>
            <a:round/>
          </a:ln>
          <a:effectLst>
            <a:outerShdw blurRad="76200" dist="50800" dir="5400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5" name="iśḷîḑé"/>
          <p:cNvSpPr txBox="1"/>
          <p:nvPr/>
        </p:nvSpPr>
        <p:spPr>
          <a:xfrm>
            <a:off x="4578985" y="4150360"/>
            <a:ext cx="3192145" cy="56197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b="1">
                <a:sym typeface="+mn-ea"/>
              </a:rPr>
              <a:t>利用混淆技术来逃避病毒检测</a:t>
            </a:r>
            <a:endParaRPr lang="zh-CN" altLang="en-US" b="1"/>
          </a:p>
          <a:p>
            <a:pPr>
              <a:lnSpc>
                <a:spcPct val="120000"/>
              </a:lnSpc>
            </a:pPr>
            <a:endParaRPr lang="en-US" altLang="zh-CN" b="1" dirty="0">
              <a:latin typeface="微软雅黑" panose="020B0503020204020204" pitchFamily="34" charset="-122"/>
              <a:ea typeface="微软雅黑" panose="020B0503020204020204" pitchFamily="34" charset="-122"/>
            </a:endParaRPr>
          </a:p>
        </p:txBody>
      </p:sp>
      <p:sp>
        <p:nvSpPr>
          <p:cNvPr id="66" name="îṥḷïḑé"/>
          <p:cNvSpPr txBox="1"/>
          <p:nvPr/>
        </p:nvSpPr>
        <p:spPr>
          <a:xfrm>
            <a:off x="4401820" y="4610735"/>
            <a:ext cx="3275330" cy="20300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lnSpc>
                <a:spcPct val="150000"/>
              </a:lnSpc>
              <a:buFont typeface="Arial" panose="020B0604020202020204" pitchFamily="34" charset="0"/>
              <a:buChar char="•"/>
            </a:pPr>
            <a:r>
              <a:rPr lang="zh-CN" altLang="en-US" sz="1400">
                <a:sym typeface="+mn-ea"/>
              </a:rPr>
              <a:t>多态病毒：改变解密算法，使每次感染后的病毒代码都不同，从而避免被简单的字符串匹配检测到。</a:t>
            </a:r>
            <a:endParaRPr lang="zh-CN" altLang="en-US" sz="1400"/>
          </a:p>
          <a:p>
            <a:pPr marL="285750" indent="-285750">
              <a:lnSpc>
                <a:spcPct val="150000"/>
              </a:lnSpc>
              <a:buFont typeface="Arial" panose="020B0604020202020204" pitchFamily="34" charset="0"/>
              <a:buChar char="•"/>
            </a:pPr>
            <a:r>
              <a:rPr lang="zh-CN" altLang="en-US" sz="1400">
                <a:sym typeface="+mn-ea"/>
              </a:rPr>
              <a:t>变形病毒：通过改变源码并重新编译，使每一代病毒都有不同的代码签名，逃避检测。</a:t>
            </a:r>
            <a:endParaRPr lang="zh-CN" altLang="en-US" sz="1400" dirty="0">
              <a:latin typeface="微软雅黑" panose="020B0503020204020204" pitchFamily="34" charset="-122"/>
              <a:ea typeface="微软雅黑" panose="020B0503020204020204" pitchFamily="34" charset="-122"/>
            </a:endParaRPr>
          </a:p>
        </p:txBody>
      </p:sp>
      <p:sp>
        <p:nvSpPr>
          <p:cNvPr id="68" name="ïsḻîḍé"/>
          <p:cNvSpPr/>
          <p:nvPr/>
        </p:nvSpPr>
        <p:spPr>
          <a:xfrm>
            <a:off x="7746577" y="1609602"/>
            <a:ext cx="224790" cy="224790"/>
          </a:xfrm>
          <a:prstGeom prst="ellipse">
            <a:avLst/>
          </a:prstGeom>
          <a:gradFill>
            <a:gsLst>
              <a:gs pos="0">
                <a:schemeClr val="accent5">
                  <a:lumMod val="60000"/>
                  <a:lumOff val="40000"/>
                </a:schemeClr>
              </a:gs>
              <a:gs pos="60000">
                <a:schemeClr val="accent5"/>
              </a:gs>
            </a:gsLst>
            <a:lin ang="2700000" scaled="0"/>
          </a:gradFill>
          <a:ln w="57150" cap="rnd">
            <a:noFill/>
            <a:prstDash val="solid"/>
            <a:round/>
          </a:ln>
          <a:effectLst>
            <a:outerShdw blurRad="76200" dist="50800" dir="5400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defTabSz="913765"/>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9" name="ïṩľïḓê"/>
          <p:cNvSpPr txBox="1"/>
          <p:nvPr/>
        </p:nvSpPr>
        <p:spPr>
          <a:xfrm>
            <a:off x="7971366" y="1512399"/>
            <a:ext cx="3191933" cy="755650"/>
          </a:xfrm>
          <a:prstGeom prst="rect">
            <a:avLst/>
          </a:prstGeom>
          <a:noFill/>
        </p:spPr>
        <p:txBody>
          <a:bodyPr wrap="square" rtlCol="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b="1">
                <a:sym typeface="+mn-ea"/>
              </a:rPr>
              <a:t>静态分析阻碍</a:t>
            </a:r>
            <a:endParaRPr lang="zh-CN" altLang="en-US"/>
          </a:p>
          <a:p>
            <a:pPr>
              <a:lnSpc>
                <a:spcPct val="120000"/>
              </a:lnSpc>
            </a:pPr>
            <a:endParaRPr lang="en-US" altLang="zh-CN" b="1" dirty="0">
              <a:latin typeface="微软雅黑" panose="020B0503020204020204" pitchFamily="34" charset="-122"/>
              <a:ea typeface="微软雅黑" panose="020B0503020204020204" pitchFamily="34" charset="-122"/>
            </a:endParaRPr>
          </a:p>
        </p:txBody>
      </p:sp>
      <p:sp>
        <p:nvSpPr>
          <p:cNvPr id="70" name="íslïďe"/>
          <p:cNvSpPr txBox="1"/>
          <p:nvPr/>
        </p:nvSpPr>
        <p:spPr>
          <a:xfrm>
            <a:off x="7971366" y="2074433"/>
            <a:ext cx="3763433" cy="1863725"/>
          </a:xfrm>
          <a:prstGeom prst="rect">
            <a:avLst/>
          </a:prstGeom>
          <a:noFill/>
        </p:spPr>
        <p:txBody>
          <a:bodyPr wrap="square" rtlCol="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lnSpc>
                <a:spcPct val="150000"/>
              </a:lnSpc>
              <a:buFont typeface="Arial" panose="020B0604020202020204" pitchFamily="34" charset="0"/>
              <a:buChar char="•"/>
            </a:pPr>
            <a:r>
              <a:rPr lang="zh-CN" altLang="en-US" sz="1600">
                <a:sym typeface="+mn-ea"/>
              </a:rPr>
              <a:t>控制流变换：使控制流图更加复杂，增加静态分析难度。</a:t>
            </a:r>
            <a:endParaRPr lang="zh-CN" altLang="en-US" sz="1600"/>
          </a:p>
          <a:p>
            <a:pPr marL="285750" indent="-285750">
              <a:lnSpc>
                <a:spcPct val="150000"/>
              </a:lnSpc>
              <a:buFont typeface="Arial" panose="020B0604020202020204" pitchFamily="34" charset="0"/>
              <a:buChar char="•"/>
            </a:pPr>
            <a:r>
              <a:rPr lang="zh-CN" altLang="en-US" sz="1600">
                <a:sym typeface="+mn-ea"/>
              </a:rPr>
              <a:t>数据流变换：引入别名和指针，增加数据流分析复杂度。</a:t>
            </a:r>
            <a:endParaRPr lang="zh-CN" altLang="en-US" sz="1600"/>
          </a:p>
          <a:p>
            <a:pPr algn="just">
              <a:lnSpc>
                <a:spcPct val="120000"/>
              </a:lnSpc>
            </a:pP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72" name="iš1îḑê"/>
          <p:cNvSpPr/>
          <p:nvPr/>
        </p:nvSpPr>
        <p:spPr>
          <a:xfrm>
            <a:off x="7747212" y="4239824"/>
            <a:ext cx="224790" cy="224790"/>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73" name="îṩ1îďê"/>
          <p:cNvSpPr txBox="1"/>
          <p:nvPr/>
        </p:nvSpPr>
        <p:spPr>
          <a:xfrm>
            <a:off x="7972001" y="4142621"/>
            <a:ext cx="3191933" cy="4235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b="1" dirty="0">
                <a:latin typeface="微软雅黑" panose="020B0503020204020204" pitchFamily="34" charset="-122"/>
                <a:ea typeface="微软雅黑" panose="020B0503020204020204" pitchFamily="34" charset="-122"/>
              </a:rPr>
              <a:t>存在</a:t>
            </a:r>
            <a:r>
              <a:rPr lang="zh-CN" altLang="en-US" b="1" dirty="0">
                <a:latin typeface="微软雅黑" panose="020B0503020204020204" pitchFamily="34" charset="-122"/>
                <a:ea typeface="微软雅黑" panose="020B0503020204020204" pitchFamily="34" charset="-122"/>
              </a:rPr>
              <a:t>问题</a:t>
            </a:r>
            <a:endParaRPr lang="zh-CN" altLang="en-US" b="1" dirty="0">
              <a:latin typeface="微软雅黑" panose="020B0503020204020204" pitchFamily="34" charset="-122"/>
              <a:ea typeface="微软雅黑" panose="020B0503020204020204" pitchFamily="34" charset="-122"/>
            </a:endParaRPr>
          </a:p>
        </p:txBody>
      </p:sp>
      <p:sp>
        <p:nvSpPr>
          <p:cNvPr id="74" name="îSḷíḓe"/>
          <p:cNvSpPr txBox="1"/>
          <p:nvPr/>
        </p:nvSpPr>
        <p:spPr>
          <a:xfrm>
            <a:off x="7971366" y="4610675"/>
            <a:ext cx="3763433" cy="21583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20000"/>
              </a:lnSpc>
            </a:pPr>
            <a:r>
              <a:rPr lang="en-US" altLang="zh-CN" sz="1400" dirty="0">
                <a:latin typeface="微软雅黑" panose="020B0503020204020204" pitchFamily="34" charset="-122"/>
                <a:ea typeface="微软雅黑" panose="020B0503020204020204" pitchFamily="34" charset="-122"/>
              </a:rPr>
              <a:t>混淆转换通常会导致代码体积增加，进而占用更多的存储空间和内存</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同时由于控制流的复杂性和额外的计算步骤，混淆代码的运行速度也会显著下降，影响程序的性能。混淆代码在维护和调试过程中变得更加复杂，增加了开发和维护的难度。最后，混淆转换可能会干扰编译器的优化过程，导致最终生成的代码性能下降。</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3" grpId="0"/>
      <p:bldP spid="52" grpId="0" animBg="1"/>
      <p:bldP spid="54" grpId="1"/>
      <p:bldP spid="53" grpId="1"/>
      <p:bldP spid="52" grpId="1" animBg="1"/>
      <p:bldP spid="62" grpId="0"/>
      <p:bldP spid="61" grpId="0"/>
      <p:bldP spid="60" grpId="0" animBg="1"/>
      <p:bldP spid="62" grpId="1"/>
      <p:bldP spid="61" grpId="1"/>
      <p:bldP spid="60" grpId="1" animBg="1"/>
      <p:bldP spid="68" grpId="0" animBg="1"/>
      <p:bldP spid="69" grpId="0"/>
      <p:bldP spid="70" grpId="0"/>
      <p:bldP spid="68" grpId="1" animBg="1"/>
      <p:bldP spid="69" grpId="1"/>
      <p:bldP spid="70" grpId="1"/>
      <p:bldP spid="58" grpId="0"/>
      <p:bldP spid="57" grpId="0"/>
      <p:bldP spid="56" grpId="0" animBg="1"/>
      <p:bldP spid="58" grpId="1"/>
      <p:bldP spid="57" grpId="1"/>
      <p:bldP spid="56" grpId="1" animBg="1"/>
      <p:bldP spid="64" grpId="0" animBg="1"/>
      <p:bldP spid="65" grpId="0"/>
      <p:bldP spid="66" grpId="0"/>
      <p:bldP spid="64" grpId="1" animBg="1"/>
      <p:bldP spid="65" grpId="1"/>
      <p:bldP spid="66" grpId="1"/>
      <p:bldP spid="74" grpId="0"/>
      <p:bldP spid="73" grpId="0"/>
      <p:bldP spid="72" grpId="0" animBg="1"/>
      <p:bldP spid="74" grpId="1"/>
      <p:bldP spid="73" grpId="1"/>
      <p:bldP spid="72"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从公共 GitHub 仓库自动检测密码泄露----基于深度学习的创新方法</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
        <p:nvSpPr>
          <p:cNvPr id="10" name="椭圆 9"/>
          <p:cNvSpPr/>
          <p:nvPr/>
        </p:nvSpPr>
        <p:spPr>
          <a:xfrm>
            <a:off x="9267824"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11" name="椭圆 10"/>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12" name="椭圆 11"/>
          <p:cNvSpPr/>
          <p:nvPr/>
        </p:nvSpPr>
        <p:spPr>
          <a:xfrm>
            <a:off x="10215562"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13" name="椭圆 12"/>
          <p:cNvSpPr/>
          <p:nvPr/>
        </p:nvSpPr>
        <p:spPr>
          <a:xfrm>
            <a:off x="1068943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4" name="椭圆 3"/>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6" name="椭圆 5"/>
          <p:cNvSpPr/>
          <p:nvPr/>
        </p:nvSpPr>
        <p:spPr>
          <a:xfrm>
            <a:off x="879395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5" name="文本框 4"/>
          <p:cNvSpPr txBox="1"/>
          <p:nvPr>
            <p:custDataLst>
              <p:tags r:id="rId2"/>
            </p:custDataLst>
          </p:nvPr>
        </p:nvSpPr>
        <p:spPr>
          <a:xfrm>
            <a:off x="657450" y="3592849"/>
            <a:ext cx="1682152" cy="58477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01</a:t>
            </a:r>
            <a:endPar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custDataLst>
              <p:tags r:id="rId3"/>
            </p:custDataLst>
          </p:nvPr>
        </p:nvSpPr>
        <p:spPr>
          <a:xfrm>
            <a:off x="7668996" y="3579514"/>
            <a:ext cx="1682152" cy="58477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03</a:t>
            </a:r>
            <a:endPar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 name="文本框 8"/>
          <p:cNvSpPr txBox="1"/>
          <p:nvPr>
            <p:custDataLst>
              <p:tags r:id="rId4"/>
            </p:custDataLst>
          </p:nvPr>
        </p:nvSpPr>
        <p:spPr>
          <a:xfrm>
            <a:off x="3373120" y="4090035"/>
            <a:ext cx="771525" cy="58356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02</a:t>
            </a:r>
            <a:endPar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custDataLst>
              <p:tags r:id="rId5"/>
            </p:custDataLst>
          </p:nvPr>
        </p:nvSpPr>
        <p:spPr>
          <a:xfrm>
            <a:off x="9833438" y="4102814"/>
            <a:ext cx="1682152" cy="584775"/>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defPPr>
              <a:defRPr lang="zh-CN"/>
            </a:defPPr>
            <a:lvl1pPr algn="ctr" defTabSz="914400">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04</a:t>
            </a:r>
            <a:endParaRPr kumimoji="0" lang="en-US" altLang="zh-CN" sz="32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cxnSp>
        <p:nvCxnSpPr>
          <p:cNvPr id="16" name="直接连接符 15"/>
          <p:cNvCxnSpPr/>
          <p:nvPr>
            <p:custDataLst>
              <p:tags r:id="rId6"/>
            </p:custDataLst>
          </p:nvPr>
        </p:nvCxnSpPr>
        <p:spPr>
          <a:xfrm>
            <a:off x="3347880" y="1781234"/>
            <a:ext cx="0" cy="2870590"/>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9731953" y="1781234"/>
            <a:ext cx="0" cy="2870590"/>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8"/>
            </p:custDataLst>
          </p:nvPr>
        </p:nvCxnSpPr>
        <p:spPr>
          <a:xfrm flipV="1">
            <a:off x="7600719" y="3400217"/>
            <a:ext cx="0" cy="2870590"/>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9"/>
            </p:custDataLst>
          </p:nvPr>
        </p:nvCxnSpPr>
        <p:spPr>
          <a:xfrm>
            <a:off x="666751" y="4066184"/>
            <a:ext cx="108584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custDataLst>
              <p:tags r:id="rId10"/>
            </p:custDataLst>
          </p:nvPr>
        </p:nvSpPr>
        <p:spPr>
          <a:xfrm>
            <a:off x="1353185" y="3646805"/>
            <a:ext cx="1082675" cy="3371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问题</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分析</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5" name="文本框 24"/>
          <p:cNvSpPr txBox="1"/>
          <p:nvPr>
            <p:custDataLst>
              <p:tags r:id="rId11"/>
            </p:custDataLst>
          </p:nvPr>
        </p:nvSpPr>
        <p:spPr>
          <a:xfrm>
            <a:off x="4036060" y="4147820"/>
            <a:ext cx="1766570" cy="3371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PassFinder 方法</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custDataLst>
              <p:tags r:id="rId12"/>
            </p:custDataLst>
          </p:nvPr>
        </p:nvCxnSpPr>
        <p:spPr>
          <a:xfrm>
            <a:off x="4120454" y="4545870"/>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custDataLst>
              <p:tags r:id="rId13"/>
            </p:custDataLst>
          </p:nvPr>
        </p:nvSpPr>
        <p:spPr>
          <a:xfrm>
            <a:off x="8444230" y="3646805"/>
            <a:ext cx="1221740" cy="3371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实验与评估</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cxnSp>
        <p:nvCxnSpPr>
          <p:cNvPr id="29" name="直接连接符 28"/>
          <p:cNvCxnSpPr/>
          <p:nvPr>
            <p:custDataLst>
              <p:tags r:id="rId14"/>
            </p:custDataLst>
          </p:nvPr>
        </p:nvCxnSpPr>
        <p:spPr>
          <a:xfrm>
            <a:off x="7159492" y="4062257"/>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custDataLst>
              <p:tags r:id="rId15"/>
            </p:custDataLst>
          </p:nvPr>
        </p:nvSpPr>
        <p:spPr>
          <a:xfrm>
            <a:off x="10509885" y="4147820"/>
            <a:ext cx="1000760" cy="3371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algn="l" defTabSz="914400" rtl="0" eaLnBrk="1" fontAlgn="auto" latinLnBrk="0" hangingPunct="1">
              <a:lnSpc>
                <a:spcPct val="100000"/>
              </a:lnSpc>
              <a:spcBef>
                <a:spcPts val="0"/>
              </a:spcBef>
              <a:spcAft>
                <a:spcPts val="0"/>
              </a:spcAft>
              <a:buClrTx/>
              <a:buSzPct val="25000"/>
              <a:buFontTx/>
              <a:buNone/>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分析讨</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论</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cxnSp>
        <p:nvCxnSpPr>
          <p:cNvPr id="40" name="直接连接符 39"/>
          <p:cNvCxnSpPr/>
          <p:nvPr>
            <p:custDataLst>
              <p:tags r:id="rId16"/>
            </p:custDataLst>
          </p:nvPr>
        </p:nvCxnSpPr>
        <p:spPr>
          <a:xfrm>
            <a:off x="10594253" y="4613180"/>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custDataLst>
              <p:tags r:id="rId17"/>
            </p:custDataLst>
          </p:nvPr>
        </p:nvCxnSpPr>
        <p:spPr>
          <a:xfrm>
            <a:off x="1437950" y="4062257"/>
            <a:ext cx="45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custDataLst>
              <p:tags r:id="rId18"/>
            </p:custDataLst>
          </p:nvPr>
        </p:nvCxnSpPr>
        <p:spPr>
          <a:xfrm flipV="1">
            <a:off x="276629" y="3398947"/>
            <a:ext cx="0" cy="2870590"/>
          </a:xfrm>
          <a:prstGeom prst="line">
            <a:avLst/>
          </a:prstGeom>
          <a:ln>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253365" y="1282700"/>
            <a:ext cx="2846705" cy="2120265"/>
          </a:xfrm>
          <a:prstGeom prst="rect">
            <a:avLst/>
          </a:prstGeom>
          <a:noFill/>
        </p:spPr>
        <p:txBody>
          <a:bodyPr wrap="square" rtlCol="0">
            <a:noAutofit/>
          </a:bodyPr>
          <a:p>
            <a:pPr marL="171450" indent="-171450">
              <a:buFont typeface="Arial" panose="020B0604020202020204" pitchFamily="34" charset="0"/>
              <a:buChar char="•"/>
            </a:pPr>
            <a:r>
              <a:rPr lang="zh-CN" altLang="en-US" sz="1000">
                <a:latin typeface="幼圆" panose="02010509060101010101" charset="-122"/>
                <a:ea typeface="幼圆" panose="02010509060101010101" charset="-122"/>
                <a:cs typeface="幼圆" panose="02010509060101010101" charset="-122"/>
              </a:rPr>
              <a:t>背景：越来越多的开发者在github上创建和托管代码仓，产生涉及敏感信息（如文本密码、API 密钥等）的泄露的数据安全问题。</a:t>
            </a:r>
            <a:endParaRPr lang="zh-CN" altLang="en-US" sz="1000">
              <a:latin typeface="幼圆" panose="02010509060101010101" charset="-122"/>
              <a:ea typeface="幼圆" panose="02010509060101010101" charset="-122"/>
              <a:cs typeface="幼圆" panose="02010509060101010101" charset="-122"/>
            </a:endParaRPr>
          </a:p>
          <a:p>
            <a:pPr marL="171450" indent="-171450">
              <a:buFont typeface="Arial" panose="020B0604020202020204" pitchFamily="34" charset="0"/>
              <a:buChar char="•"/>
            </a:pPr>
            <a:endParaRPr lang="zh-CN" altLang="en-US" sz="1000">
              <a:latin typeface="幼圆" panose="02010509060101010101" charset="-122"/>
              <a:ea typeface="幼圆" panose="02010509060101010101" charset="-122"/>
              <a:cs typeface="幼圆" panose="02010509060101010101" charset="-122"/>
            </a:endParaRPr>
          </a:p>
          <a:p>
            <a:pPr marL="171450" indent="-171450">
              <a:buFont typeface="Arial" panose="020B0604020202020204" pitchFamily="34" charset="0"/>
              <a:buChar char="•"/>
            </a:pPr>
            <a:r>
              <a:rPr lang="zh-CN" altLang="en-US" sz="1000">
                <a:latin typeface="幼圆" panose="02010509060101010101" charset="-122"/>
                <a:ea typeface="幼圆" panose="02010509060101010101" charset="-122"/>
                <a:cs typeface="幼圆" panose="02010509060101010101" charset="-122"/>
              </a:rPr>
              <a:t>问题：现有的方法主要集中在检测具有特定格式的密钥（如 API 密钥），而对文本密码的检测效果不佳。由于文本密码可以是任意字符串，基于正则表达式的简单检测方案表现不理想。</a:t>
            </a:r>
            <a:endParaRPr lang="zh-CN" altLang="en-US" sz="1000">
              <a:latin typeface="幼圆" panose="02010509060101010101" charset="-122"/>
              <a:ea typeface="幼圆" panose="02010509060101010101" charset="-122"/>
              <a:cs typeface="幼圆" panose="02010509060101010101" charset="-122"/>
            </a:endParaRPr>
          </a:p>
          <a:p>
            <a:pPr marL="171450" indent="-171450">
              <a:buFont typeface="Arial" panose="020B0604020202020204" pitchFamily="34" charset="0"/>
              <a:buChar char="•"/>
            </a:pPr>
            <a:endParaRPr lang="zh-CN" altLang="en-US" sz="1000">
              <a:latin typeface="幼圆" panose="02010509060101010101" charset="-122"/>
              <a:ea typeface="幼圆" panose="02010509060101010101" charset="-122"/>
              <a:cs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cs typeface="幼圆" panose="02010509060101010101" charset="-122"/>
                <a:sym typeface="+mn-ea"/>
              </a:rPr>
              <a:t>创新点</a:t>
            </a:r>
            <a:r>
              <a:rPr lang="zh-CN" altLang="en-US" sz="1000" b="1">
                <a:latin typeface="幼圆" panose="02010509060101010101" charset="-122"/>
                <a:ea typeface="幼圆" panose="02010509060101010101" charset="-122"/>
                <a:cs typeface="幼圆" panose="02010509060101010101" charset="-122"/>
                <a:sym typeface="+mn-ea"/>
              </a:rPr>
              <a:t>：</a:t>
            </a:r>
            <a:r>
              <a:rPr lang="zh-CN" altLang="en-US" sz="1000">
                <a:latin typeface="幼圆" panose="02010509060101010101" charset="-122"/>
                <a:ea typeface="幼圆" panose="02010509060101010101" charset="-122"/>
                <a:cs typeface="幼圆" panose="02010509060101010101" charset="-122"/>
                <a:sym typeface="+mn-ea"/>
              </a:rPr>
              <a:t>PassFinder 通过利用深度学习模型来提取密码的内在特征和代码片段的上下文信息，从而实现更高精度的密码泄露检测。</a:t>
            </a:r>
            <a:endParaRPr lang="zh-CN" altLang="en-US" sz="1000">
              <a:latin typeface="幼圆" panose="02010509060101010101" charset="-122"/>
              <a:ea typeface="幼圆" panose="02010509060101010101" charset="-122"/>
              <a:cs typeface="幼圆" panose="02010509060101010101" charset="-122"/>
            </a:endParaRPr>
          </a:p>
        </p:txBody>
      </p:sp>
      <p:sp>
        <p:nvSpPr>
          <p:cNvPr id="22" name="文本框 21"/>
          <p:cNvSpPr txBox="1"/>
          <p:nvPr/>
        </p:nvSpPr>
        <p:spPr>
          <a:xfrm>
            <a:off x="380365" y="4175760"/>
            <a:ext cx="2853690" cy="2646045"/>
          </a:xfrm>
          <a:prstGeom prst="rect">
            <a:avLst/>
          </a:prstGeom>
          <a:noFill/>
        </p:spPr>
        <p:txBody>
          <a:bodyPr wrap="square" rtlCol="0">
            <a:spAutoFit/>
          </a:bodyPr>
          <a:p>
            <a:pPr indent="0">
              <a:buFont typeface="Arial" panose="020B0604020202020204" pitchFamily="34" charset="0"/>
              <a:buNone/>
            </a:pPr>
            <a:r>
              <a:rPr lang="zh-CN" altLang="en-US" sz="1000" b="1">
                <a:latin typeface="幼圆" panose="02010509060101010101" charset="-122"/>
                <a:ea typeface="幼圆" panose="02010509060101010101" charset="-122"/>
                <a:cs typeface="幼圆" panose="02010509060101010101" charset="-122"/>
              </a:rPr>
              <a:t>模型组件：</a:t>
            </a:r>
            <a:endParaRPr lang="zh-CN" altLang="en-US" sz="1000" b="1">
              <a:latin typeface="幼圆" panose="02010509060101010101" charset="-122"/>
              <a:ea typeface="幼圆" panose="02010509060101010101" charset="-122"/>
              <a:cs typeface="幼圆" panose="02010509060101010101" charset="-122"/>
            </a:endParaRPr>
          </a:p>
          <a:p>
            <a:pPr indent="0">
              <a:lnSpc>
                <a:spcPct val="120000"/>
              </a:lnSpc>
              <a:spcBef>
                <a:spcPts val="0"/>
              </a:spcBef>
              <a:spcAft>
                <a:spcPts val="0"/>
              </a:spcAft>
              <a:buFont typeface="Arial" panose="020B0604020202020204" pitchFamily="34" charset="0"/>
              <a:buNone/>
            </a:pPr>
            <a:r>
              <a:rPr lang="zh-CN" altLang="en-US" sz="1000">
                <a:latin typeface="幼圆" panose="02010509060101010101" charset="-122"/>
                <a:ea typeface="幼圆" panose="02010509060101010101" charset="-122"/>
                <a:cs typeface="幼圆" panose="02010509060101010101" charset="-122"/>
              </a:rPr>
              <a:t>密码模型（ Password Model）：</a:t>
            </a:r>
            <a:endParaRPr lang="zh-CN" altLang="en-US" sz="1000">
              <a:latin typeface="幼圆" panose="02010509060101010101" charset="-122"/>
              <a:ea typeface="幼圆" panose="02010509060101010101" charset="-122"/>
              <a:cs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cs typeface="幼圆" panose="02010509060101010101" charset="-122"/>
              </a:rPr>
              <a:t>目标：识别人类选择和机器生成的密码。</a:t>
            </a:r>
            <a:endParaRPr lang="zh-CN" altLang="en-US" sz="1000">
              <a:latin typeface="幼圆" panose="02010509060101010101" charset="-122"/>
              <a:ea typeface="幼圆" panose="02010509060101010101" charset="-122"/>
              <a:cs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cs typeface="幼圆" panose="02010509060101010101" charset="-122"/>
              </a:rPr>
              <a:t>方法：使用深度神经网络建模，提取密码的内在特征。</a:t>
            </a:r>
            <a:endParaRPr lang="zh-CN" altLang="en-US" sz="1000">
              <a:latin typeface="幼圆" panose="02010509060101010101" charset="-122"/>
              <a:ea typeface="幼圆" panose="02010509060101010101" charset="-122"/>
              <a:cs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cs typeface="幼圆" panose="02010509060101010101" charset="-122"/>
              </a:rPr>
              <a:t>分类：将字符串分为人类选择的密码、机器生成的随机密码和普通字符串。</a:t>
            </a:r>
            <a:endParaRPr lang="zh-CN" altLang="en-US" sz="1000">
              <a:latin typeface="幼圆" panose="02010509060101010101" charset="-122"/>
              <a:ea typeface="幼圆" panose="02010509060101010101" charset="-122"/>
              <a:cs typeface="幼圆" panose="02010509060101010101" charset="-122"/>
            </a:endParaRPr>
          </a:p>
          <a:p>
            <a:pPr indent="0">
              <a:lnSpc>
                <a:spcPct val="120000"/>
              </a:lnSpc>
              <a:spcBef>
                <a:spcPts val="0"/>
              </a:spcBef>
              <a:spcAft>
                <a:spcPts val="0"/>
              </a:spcAft>
              <a:buFont typeface="Arial" panose="020B0604020202020204" pitchFamily="34" charset="0"/>
              <a:buNone/>
            </a:pPr>
            <a:r>
              <a:rPr lang="zh-CN" altLang="en-US" sz="1000">
                <a:latin typeface="幼圆" panose="02010509060101010101" charset="-122"/>
                <a:ea typeface="幼圆" panose="02010509060101010101" charset="-122"/>
                <a:cs typeface="幼圆" panose="02010509060101010101" charset="-122"/>
              </a:rPr>
              <a:t>上下文模型（ Context Model）：</a:t>
            </a:r>
            <a:endParaRPr lang="zh-CN" altLang="en-US" sz="1000">
              <a:latin typeface="幼圆" panose="02010509060101010101" charset="-122"/>
              <a:ea typeface="幼圆" panose="02010509060101010101" charset="-122"/>
              <a:cs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cs typeface="幼圆" panose="02010509060101010101" charset="-122"/>
              </a:rPr>
              <a:t>目标：分析代码片段的语义，判断其是否与身份验证相关。</a:t>
            </a:r>
            <a:endParaRPr lang="zh-CN" altLang="en-US" sz="1000">
              <a:latin typeface="幼圆" panose="02010509060101010101" charset="-122"/>
              <a:ea typeface="幼圆" panose="02010509060101010101" charset="-122"/>
              <a:cs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cs typeface="幼圆" panose="02010509060101010101" charset="-122"/>
              </a:rPr>
              <a:t>方法：使用文本卷积神经网络从代码片段中提取语义信息。</a:t>
            </a:r>
            <a:endParaRPr lang="zh-CN" altLang="en-US" sz="1000">
              <a:latin typeface="幼圆" panose="02010509060101010101" charset="-122"/>
              <a:ea typeface="幼圆" panose="02010509060101010101" charset="-122"/>
              <a:cs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cs typeface="幼圆" panose="02010509060101010101" charset="-122"/>
              </a:rPr>
              <a:t>上下文：提取密码所在行前后的代码片段，分析其使用场景。</a:t>
            </a:r>
            <a:endParaRPr lang="zh-CN" altLang="en-US" sz="1000">
              <a:latin typeface="幼圆" panose="02010509060101010101" charset="-122"/>
              <a:ea typeface="幼圆" panose="02010509060101010101" charset="-122"/>
              <a:cs typeface="幼圆" panose="02010509060101010101" charset="-122"/>
            </a:endParaRPr>
          </a:p>
        </p:txBody>
      </p:sp>
      <p:sp>
        <p:nvSpPr>
          <p:cNvPr id="24" name="文本框 23"/>
          <p:cNvSpPr txBox="1"/>
          <p:nvPr/>
        </p:nvSpPr>
        <p:spPr>
          <a:xfrm>
            <a:off x="3639185" y="4859655"/>
            <a:ext cx="3416935" cy="1906905"/>
          </a:xfrm>
          <a:prstGeom prst="rect">
            <a:avLst/>
          </a:prstGeom>
          <a:noFill/>
        </p:spPr>
        <p:txBody>
          <a:bodyPr wrap="square" rtlCol="0">
            <a:spAutoFit/>
          </a:bodyPr>
          <a:p>
            <a:r>
              <a:rPr lang="zh-CN" altLang="en-US" sz="1000" b="1">
                <a:latin typeface="幼圆" panose="02010509060101010101" charset="-122"/>
                <a:ea typeface="幼圆" panose="02010509060101010101" charset="-122"/>
              </a:rPr>
              <a:t>工作流程：</a:t>
            </a:r>
            <a:endParaRPr lang="zh-CN" altLang="en-US" sz="1000" b="1">
              <a:latin typeface="幼圆" panose="02010509060101010101" charset="-122"/>
              <a:ea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rPr>
              <a:t>候选密码提取：从源代码文件中提取可能的密码字符串，过滤低频词和常见密码。</a:t>
            </a:r>
            <a:endParaRPr lang="zh-CN" altLang="en-US" sz="1000">
              <a:latin typeface="幼圆" panose="02010509060101010101" charset="-122"/>
              <a:ea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rPr>
              <a:t>特征建模：</a:t>
            </a:r>
            <a:endParaRPr lang="zh-CN" altLang="en-US" sz="1000">
              <a:latin typeface="幼圆" panose="02010509060101010101" charset="-122"/>
              <a:ea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rPr>
              <a:t>密码特征：通过密码模型，预测字符串是否为人类选择或机器生成的密码。</a:t>
            </a:r>
            <a:endParaRPr lang="zh-CN" altLang="en-US" sz="1000">
              <a:latin typeface="幼圆" panose="02010509060101010101" charset="-122"/>
              <a:ea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rPr>
              <a:t>上下文特征：通过上下文模型，判断代码片段是否涉及身份验证。</a:t>
            </a:r>
            <a:endParaRPr lang="zh-CN" altLang="en-US" sz="1000">
              <a:latin typeface="幼圆" panose="02010509060101010101" charset="-122"/>
              <a:ea typeface="幼圆" panose="02010509060101010101" charset="-122"/>
            </a:endParaRPr>
          </a:p>
          <a:p>
            <a:pPr marL="171450" indent="-171450">
              <a:lnSpc>
                <a:spcPct val="120000"/>
              </a:lnSpc>
              <a:spcBef>
                <a:spcPts val="0"/>
              </a:spcBef>
              <a:spcAft>
                <a:spcPts val="0"/>
              </a:spcAft>
              <a:buFont typeface="Arial" panose="020B0604020202020204" pitchFamily="34" charset="0"/>
              <a:buChar char="•"/>
            </a:pPr>
            <a:r>
              <a:rPr lang="zh-CN" altLang="en-US" sz="1000">
                <a:latin typeface="幼圆" panose="02010509060101010101" charset="-122"/>
                <a:ea typeface="幼圆" panose="02010509060101010101" charset="-122"/>
              </a:rPr>
              <a:t>结果整合：结合密码模型和上下文模型的结果，仅在两者都认为是密码的情况下，才将其标记为泄露的密码。</a:t>
            </a:r>
            <a:endParaRPr lang="zh-CN" altLang="en-US" sz="1000">
              <a:latin typeface="幼圆" panose="02010509060101010101" charset="-122"/>
              <a:ea typeface="幼圆" panose="02010509060101010101" charset="-122"/>
            </a:endParaRPr>
          </a:p>
        </p:txBody>
      </p:sp>
      <p:sp>
        <p:nvSpPr>
          <p:cNvPr id="27" name="文本框 26"/>
          <p:cNvSpPr txBox="1"/>
          <p:nvPr/>
        </p:nvSpPr>
        <p:spPr>
          <a:xfrm>
            <a:off x="3595370" y="1343025"/>
            <a:ext cx="1605280" cy="2430145"/>
          </a:xfrm>
          <a:prstGeom prst="rect">
            <a:avLst/>
          </a:prstGeom>
          <a:noFill/>
        </p:spPr>
        <p:txBody>
          <a:bodyPr wrap="square" rtlCol="0">
            <a:spAutoFit/>
          </a:bodyPr>
          <a:p>
            <a:r>
              <a:rPr lang="zh-CN" altLang="en-US" sz="1000" b="1">
                <a:latin typeface="幼圆" panose="02010509060101010101" charset="-122"/>
                <a:ea typeface="幼圆" panose="02010509060101010101" charset="-122"/>
                <a:cs typeface="幼圆" panose="02010509060101010101" charset="-122"/>
              </a:rPr>
              <a:t>高效性</a:t>
            </a:r>
            <a:endParaRPr lang="zh-CN" altLang="en-US" sz="1000" b="1">
              <a:latin typeface="幼圆" panose="02010509060101010101" charset="-122"/>
              <a:ea typeface="幼圆" panose="02010509060101010101" charset="-122"/>
              <a:cs typeface="幼圆" panose="02010509060101010101" charset="-122"/>
            </a:endParaRPr>
          </a:p>
          <a:p>
            <a:endParaRPr lang="zh-CN" altLang="en-US" sz="1000" b="1">
              <a:latin typeface="幼圆" panose="02010509060101010101" charset="-122"/>
              <a:ea typeface="幼圆" panose="02010509060101010101" charset="-122"/>
              <a:cs typeface="幼圆" panose="02010509060101010101" charset="-122"/>
            </a:endParaRPr>
          </a:p>
          <a:p>
            <a:pPr>
              <a:lnSpc>
                <a:spcPct val="120000"/>
              </a:lnSpc>
              <a:spcBef>
                <a:spcPts val="0"/>
              </a:spcBef>
              <a:spcAft>
                <a:spcPts val="0"/>
              </a:spcAft>
            </a:pPr>
            <a:r>
              <a:rPr lang="zh-CN" altLang="en-US" sz="1000">
                <a:latin typeface="幼圆" panose="02010509060101010101" charset="-122"/>
                <a:ea typeface="幼圆" panose="02010509060101010101" charset="-122"/>
                <a:cs typeface="幼圆" panose="02010509060101010101" charset="-122"/>
              </a:rPr>
              <a:t>在大规模分析中，PassFinder 达到了 81.54% 的精度和 80.51% 的召回率，显著优于传统的基于正则表达式的方法。传统方法的精度仅为 6.19%，召回率为 56.71%。通过结合深度学习和上下文分析，PassFinder 能够更准确地检测出文本密码，减少误报和漏报。</a:t>
            </a:r>
            <a:endParaRPr lang="zh-CN" altLang="en-US" sz="1000">
              <a:latin typeface="幼圆" panose="02010509060101010101" charset="-122"/>
              <a:ea typeface="幼圆" panose="02010509060101010101" charset="-122"/>
              <a:cs typeface="幼圆" panose="02010509060101010101" charset="-122"/>
            </a:endParaRPr>
          </a:p>
        </p:txBody>
      </p:sp>
      <p:sp>
        <p:nvSpPr>
          <p:cNvPr id="30" name="文本框 29"/>
          <p:cNvSpPr txBox="1"/>
          <p:nvPr/>
        </p:nvSpPr>
        <p:spPr>
          <a:xfrm>
            <a:off x="5479415" y="1343025"/>
            <a:ext cx="1535430" cy="2520950"/>
          </a:xfrm>
          <a:prstGeom prst="rect">
            <a:avLst/>
          </a:prstGeom>
          <a:noFill/>
        </p:spPr>
        <p:txBody>
          <a:bodyPr wrap="square" rtlCol="0">
            <a:noAutofit/>
          </a:bodyPr>
          <a:p>
            <a:r>
              <a:rPr lang="zh-CN" altLang="en-US" sz="1000" b="1">
                <a:latin typeface="幼圆" panose="02010509060101010101" charset="-122"/>
                <a:ea typeface="幼圆" panose="02010509060101010101" charset="-122"/>
                <a:cs typeface="幼圆" panose="02010509060101010101" charset="-122"/>
              </a:rPr>
              <a:t>大规模分析</a:t>
            </a:r>
            <a:endParaRPr lang="zh-CN" altLang="en-US" sz="1000" b="1">
              <a:latin typeface="幼圆" panose="02010509060101010101" charset="-122"/>
              <a:ea typeface="幼圆" panose="02010509060101010101" charset="-122"/>
              <a:cs typeface="幼圆" panose="02010509060101010101" charset="-122"/>
            </a:endParaRPr>
          </a:p>
          <a:p>
            <a:endParaRPr lang="zh-CN" altLang="en-US" sz="1000" b="1">
              <a:latin typeface="幼圆" panose="02010509060101010101" charset="-122"/>
              <a:ea typeface="幼圆" panose="02010509060101010101" charset="-122"/>
              <a:cs typeface="幼圆" panose="02010509060101010101" charset="-122"/>
            </a:endParaRPr>
          </a:p>
          <a:p>
            <a:pPr>
              <a:lnSpc>
                <a:spcPct val="120000"/>
              </a:lnSpc>
              <a:spcBef>
                <a:spcPts val="0"/>
              </a:spcBef>
              <a:spcAft>
                <a:spcPts val="0"/>
              </a:spcAft>
            </a:pPr>
            <a:r>
              <a:rPr lang="zh-CN" altLang="en-US" sz="1000">
                <a:latin typeface="幼圆" panose="02010509060101010101" charset="-122"/>
                <a:ea typeface="幼圆" panose="02010509060101010101" charset="-122"/>
                <a:cs typeface="幼圆" panose="02010509060101010101" charset="-122"/>
              </a:rPr>
              <a:t>在 75 天内，PassFinder 检查了 147 万个公共代码文件，发现了 142,479 个密码泄露，涉及 64,045 个仓库。揭示了 GitHub 上密码泄露的广泛性和严重性。</a:t>
            </a:r>
            <a:endParaRPr lang="zh-CN" altLang="en-US" sz="1000">
              <a:latin typeface="幼圆" panose="02010509060101010101" charset="-122"/>
              <a:ea typeface="幼圆" panose="02010509060101010101" charset="-122"/>
              <a:cs typeface="幼圆" panose="02010509060101010101" charset="-122"/>
            </a:endParaRPr>
          </a:p>
        </p:txBody>
      </p:sp>
      <p:sp>
        <p:nvSpPr>
          <p:cNvPr id="31" name="文本框 30"/>
          <p:cNvSpPr txBox="1"/>
          <p:nvPr/>
        </p:nvSpPr>
        <p:spPr>
          <a:xfrm>
            <a:off x="7461885" y="1343025"/>
            <a:ext cx="1700530" cy="1691640"/>
          </a:xfrm>
          <a:prstGeom prst="rect">
            <a:avLst/>
          </a:prstGeom>
          <a:noFill/>
        </p:spPr>
        <p:txBody>
          <a:bodyPr wrap="square" rtlCol="0">
            <a:spAutoFit/>
          </a:bodyPr>
          <a:p>
            <a:r>
              <a:rPr lang="zh-CN" altLang="en-US" sz="1000" b="1">
                <a:latin typeface="幼圆" panose="02010509060101010101" charset="-122"/>
                <a:ea typeface="幼圆" panose="02010509060101010101" charset="-122"/>
                <a:cs typeface="幼圆" panose="02010509060101010101" charset="-122"/>
              </a:rPr>
              <a:t>跨语言验证</a:t>
            </a:r>
            <a:endParaRPr lang="zh-CN" altLang="en-US" sz="1000" b="1">
              <a:latin typeface="幼圆" panose="02010509060101010101" charset="-122"/>
              <a:ea typeface="幼圆" panose="02010509060101010101" charset="-122"/>
              <a:cs typeface="幼圆" panose="02010509060101010101" charset="-122"/>
            </a:endParaRPr>
          </a:p>
          <a:p>
            <a:endParaRPr lang="zh-CN" altLang="en-US" sz="1000" b="1">
              <a:latin typeface="幼圆" panose="02010509060101010101" charset="-122"/>
              <a:ea typeface="幼圆" panose="02010509060101010101" charset="-122"/>
              <a:cs typeface="幼圆" panose="02010509060101010101" charset="-122"/>
            </a:endParaRPr>
          </a:p>
          <a:p>
            <a:pPr>
              <a:lnSpc>
                <a:spcPct val="120000"/>
              </a:lnSpc>
              <a:spcBef>
                <a:spcPts val="0"/>
              </a:spcBef>
              <a:spcAft>
                <a:spcPts val="0"/>
              </a:spcAft>
            </a:pPr>
            <a:r>
              <a:rPr lang="zh-CN" altLang="en-US" sz="1000">
                <a:latin typeface="幼圆" panose="02010509060101010101" charset="-122"/>
                <a:ea typeface="幼圆" panose="02010509060101010101" charset="-122"/>
                <a:cs typeface="幼圆" panose="02010509060101010101" charset="-122"/>
              </a:rPr>
              <a:t>实验显示，PassFinder 对包括 Python、Java、JavaScript 等多种编程语言均能有效检测密码泄露。表明 PassFinder 模型具有很强的泛化能力，能够适用于多种编程语言环境。</a:t>
            </a:r>
            <a:endParaRPr lang="zh-CN" altLang="en-US" sz="1000">
              <a:latin typeface="幼圆" panose="02010509060101010101" charset="-122"/>
              <a:ea typeface="幼圆" panose="02010509060101010101" charset="-122"/>
              <a:cs typeface="幼圆" panose="02010509060101010101" charset="-122"/>
            </a:endParaRPr>
          </a:p>
        </p:txBody>
      </p:sp>
      <p:sp>
        <p:nvSpPr>
          <p:cNvPr id="52" name="iṡļîḓê"/>
          <p:cNvSpPr/>
          <p:nvPr/>
        </p:nvSpPr>
        <p:spPr>
          <a:xfrm>
            <a:off x="3490595" y="1398270"/>
            <a:ext cx="148590" cy="158115"/>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p>
            <a:pPr algn="ctr" defTabSz="913765"/>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32" name="iṡļîḓê"/>
          <p:cNvSpPr/>
          <p:nvPr/>
        </p:nvSpPr>
        <p:spPr>
          <a:xfrm>
            <a:off x="5379720" y="1398270"/>
            <a:ext cx="148590" cy="158115"/>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p>
            <a:pPr algn="ctr" defTabSz="913765"/>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33" name="iṡļîḓê"/>
          <p:cNvSpPr/>
          <p:nvPr/>
        </p:nvSpPr>
        <p:spPr>
          <a:xfrm>
            <a:off x="7313295" y="1398270"/>
            <a:ext cx="148590" cy="158115"/>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p>
            <a:pPr algn="ctr" defTabSz="913765"/>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7993380" y="4969510"/>
            <a:ext cx="3431540" cy="1706880"/>
          </a:xfrm>
          <a:prstGeom prst="rect">
            <a:avLst/>
          </a:prstGeom>
          <a:noFill/>
        </p:spPr>
        <p:txBody>
          <a:bodyPr wrap="square" rtlCol="0">
            <a:spAutoFit/>
          </a:bodyPr>
          <a:p>
            <a:pPr marL="171450" indent="-171450">
              <a:lnSpc>
                <a:spcPct val="150000"/>
              </a:lnSpc>
              <a:buFont typeface="Arial" panose="020B0604020202020204" pitchFamily="34" charset="0"/>
              <a:buChar char="•"/>
            </a:pPr>
            <a:r>
              <a:rPr lang="zh-CN" altLang="en-US" sz="1000">
                <a:latin typeface="幼圆" panose="02010509060101010101" charset="-122"/>
                <a:ea typeface="幼圆" panose="02010509060101010101" charset="-122"/>
              </a:rPr>
              <a:t>优势：高精度、广泛适用、多语言支持。</a:t>
            </a:r>
            <a:endParaRPr lang="zh-CN" altLang="en-US" sz="1000">
              <a:latin typeface="幼圆" panose="02010509060101010101" charset="-122"/>
              <a:ea typeface="幼圆" panose="02010509060101010101" charset="-122"/>
            </a:endParaRPr>
          </a:p>
          <a:p>
            <a:pPr marL="171450" indent="-171450">
              <a:lnSpc>
                <a:spcPct val="150000"/>
              </a:lnSpc>
              <a:buFont typeface="Arial" panose="020B0604020202020204" pitchFamily="34" charset="0"/>
              <a:buChar char="•"/>
            </a:pPr>
            <a:r>
              <a:rPr lang="zh-CN" altLang="en-US" sz="1000">
                <a:latin typeface="幼圆" panose="02010509060101010101" charset="-122"/>
                <a:ea typeface="幼圆" panose="02010509060101010101" charset="-122"/>
              </a:rPr>
              <a:t>不足：存在一定误报率，需不断优化。模型的准确性依赖于高质量的训练数据。PassFinder 在检测到密码后不验证其有效性，无法确保所有检测到的密码都是当前有效的。</a:t>
            </a:r>
            <a:endParaRPr lang="zh-CN" altLang="en-US" sz="1000">
              <a:latin typeface="幼圆" panose="02010509060101010101" charset="-122"/>
              <a:ea typeface="幼圆" panose="02010509060101010101" charset="-122"/>
            </a:endParaRPr>
          </a:p>
          <a:p>
            <a:pPr marL="171450" indent="-171450">
              <a:lnSpc>
                <a:spcPct val="150000"/>
              </a:lnSpc>
              <a:buFont typeface="Arial" panose="020B0604020202020204" pitchFamily="34" charset="0"/>
              <a:buChar char="•"/>
            </a:pPr>
            <a:r>
              <a:rPr lang="zh-CN" altLang="en-US" sz="1000">
                <a:latin typeface="幼圆" panose="02010509060101010101" charset="-122"/>
                <a:ea typeface="幼圆" panose="02010509060101010101" charset="-122"/>
              </a:rPr>
              <a:t>改进：提高准确性，扩展至其他平台如如 GitLab 和 Bitbucket。</a:t>
            </a:r>
            <a:endParaRPr lang="zh-CN" altLang="en-US" sz="1000">
              <a:latin typeface="幼圆" panose="02010509060101010101" charset="-122"/>
              <a:ea typeface="幼圆"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22" grpId="0"/>
      <p:bldP spid="22" grpId="1"/>
      <p:bldP spid="24" grpId="0"/>
      <p:bldP spid="24" grpId="1"/>
      <p:bldP spid="27" grpId="0"/>
      <p:bldP spid="52" grpId="0" animBg="1"/>
      <p:bldP spid="27" grpId="1"/>
      <p:bldP spid="52" grpId="1" animBg="1"/>
      <p:bldP spid="30" grpId="0"/>
      <p:bldP spid="32" grpId="0" animBg="1"/>
      <p:bldP spid="30" grpId="1"/>
      <p:bldP spid="32" grpId="1" animBg="1"/>
      <p:bldP spid="31" grpId="0"/>
      <p:bldP spid="33" grpId="0" animBg="1"/>
      <p:bldP spid="31" grpId="1"/>
      <p:bldP spid="33" grpId="1" animBg="1"/>
      <p:bldP spid="34" grpId="0"/>
      <p:bldP spid="34" grpId="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4.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5.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6.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7.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8.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9.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0.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1.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2.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3.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4.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5.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6.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7.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8.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19.xml><?xml version="1.0" encoding="utf-8"?>
<p:tagLst xmlns:p="http://schemas.openxmlformats.org/presentationml/2006/main">
  <p:tag name="KSO_WM_DIAGRAM_VIRTUALLY_FRAME" val="{&quot;height&quot;:369.67291338582675,&quot;left&quot;:51.45173228346457,&quot;top&quot;:125.69503937007873,&quot;width&quot;:893.3425984251968}"/>
</p:tagLst>
</file>

<file path=ppt/tags/tag20.xml><?xml version="1.0" encoding="utf-8"?>
<p:tagLst xmlns:p="http://schemas.openxmlformats.org/presentationml/2006/main">
  <p:tag name="OFFICEPLUS.IMAGE" val="New_Batches_0108_Outline/20240108/images_object_8001_9000/83ae77c7-48be-4064-a1e1-2b901c0b93cd-3.source.default.zh-Hans.jpg"/>
  <p:tag name="OFFICEPLUS.THEME" val="New_Batches_0108_Outline/20240108/images_object_8001_9000/83ae77c7-48be-4064-a1e1-2b901c0b93cd-3.source.default.zh-Hans-4.pptx"/>
  <p:tag name="OFFICEPLUS.OUTLINE" val="919961"/>
  <p:tag name="OFFICEPLUS.OUTLINEEXTERNAL" val="25e794ba-3604-f117-1a28-b460119242ae"/>
  <p:tag name="commondata" val="eyJoZGlkIjoiNmE4YWE2NWM2NjkyMzUxOGRkNDNkNjJlMmYxYjJlZDk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1659</Words>
  <Application>WPS 演示</Application>
  <PresentationFormat>宽屏</PresentationFormat>
  <Paragraphs>91</Paragraphs>
  <Slides>2</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vt:i4>
      </vt:variant>
    </vt:vector>
  </HeadingPairs>
  <TitlesOfParts>
    <vt:vector size="12" baseType="lpstr">
      <vt:lpstr>Arial</vt:lpstr>
      <vt:lpstr>宋体</vt:lpstr>
      <vt:lpstr>Wingdings</vt:lpstr>
      <vt:lpstr>Times New Roman</vt:lpstr>
      <vt:lpstr>微软雅黑</vt:lpstr>
      <vt:lpstr>幼圆</vt:lpstr>
      <vt:lpstr>Arial Unicode MS</vt:lpstr>
      <vt:lpstr>等线</vt:lpstr>
      <vt:lpstr>Calibri</vt:lpstr>
      <vt:lpstr>1_Office 主题​​</vt:lpstr>
      <vt:lpstr>PowerPoint 演示文稿</vt:lpstr>
      <vt:lpstr>PowerPoint 演示文稿</vt:lpstr>
    </vt:vector>
  </TitlesOfParts>
  <Company>OfficePLUS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OfficePLUS PowerPoint Template</dc:title>
  <dc:creator>OfficePLUS</dc:creator>
  <cp:lastModifiedBy>李沅衡</cp:lastModifiedBy>
  <cp:revision>16</cp:revision>
  <dcterms:created xsi:type="dcterms:W3CDTF">2023-07-20T03:04:00Z</dcterms:created>
  <dcterms:modified xsi:type="dcterms:W3CDTF">2024-05-22T12:03:55Z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E28E733CB4CF44B6A75FE17707B41AEF_13</vt:lpwstr>
  </property>
  <property fmtid="{D5CDD505-2E9C-101B-9397-08002B2CF9AE}" pid="3" name="KSOProductBuildVer">
    <vt:lpwstr>2052-12.1.0.16929</vt:lpwstr>
  </property>
</Properties>
</file>