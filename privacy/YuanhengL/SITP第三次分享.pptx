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7"/>
  </p:handoutMasterIdLst>
  <p:sldIdLst>
    <p:sldId id="258" r:id="rId4"/>
    <p:sldId id="261" r:id="rId5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82"/>
        <p:guide pos="380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6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err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lIns="0" tIns="0" rIns="0" bIns="0" rtlCol="0" anchor="b" anchorCtr="0">
            <a:normAutofit/>
          </a:bodyPr>
          <a:lstStyle>
            <a:lvl1pPr>
              <a:defRPr sz="32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240790"/>
            <a:ext cx="10799088" cy="40555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400" b="0" spc="2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200" b="1" u="none" strike="noStrike" kern="1200" cap="none" spc="300" normalizeH="0" baseline="0">
          <a:solidFill>
            <a:schemeClr val="tx1"/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圆角矩形 3"/>
          <p:cNvSpPr/>
          <p:nvPr>
            <p:custDataLst>
              <p:tags r:id="rId1"/>
            </p:custDataLst>
          </p:nvPr>
        </p:nvSpPr>
        <p:spPr>
          <a:xfrm>
            <a:off x="74564" y="1017949"/>
            <a:ext cx="3562090" cy="5282226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dist="88900" dir="2700000" sx="100500" sy="100500" algn="tl" rotWithShape="0">
              <a:schemeClr val="accent1">
                <a:alpha val="10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16800" tIns="0" rIns="315151" bIns="1512000" numCol="1" spcCol="0" rtlCol="0" fromWordArt="0" anchor="ctr" anchorCtr="0" forceAA="0" compatLnSpc="1">
            <a:noAutofit/>
          </a:bodyPr>
          <a:lstStyle/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sym typeface="+mn-ea"/>
              </a:rPr>
              <a:t>生成代码模型的输出</a:t>
            </a:r>
            <a:endParaRPr lang="zh-CN" altLang="en-US" sz="1400" b="1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四种不同的生成策略：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sym typeface="+mn-ea"/>
              </a:rPr>
              <a:t>非提示生成（NPG）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：利用语言模型的自回归特性，不使用初始提示生成输出。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sym typeface="+mn-ea"/>
              </a:rPr>
              <a:t>温度衰减生成（TDG）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：通过控制温度参数来增加输出的多样性，从高温逐渐降低至低温。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sym typeface="+mn-ea"/>
              </a:rPr>
              <a:t>条件提示生成（PCG）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：设计特定的提示，如函数定义，然后让模型基于这些提示完成代码。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sym typeface="+mn-ea"/>
              </a:rPr>
              <a:t>两步生成（TSG）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：先使用常见的记忆化内容作为提示，观察模型是否会生成更多相关内容。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圆角矩形 3"/>
          <p:cNvSpPr/>
          <p:nvPr>
            <p:custDataLst>
              <p:tags r:id="rId2"/>
            </p:custDataLst>
          </p:nvPr>
        </p:nvSpPr>
        <p:spPr>
          <a:xfrm>
            <a:off x="4297194" y="1017949"/>
            <a:ext cx="3562090" cy="5282226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>
            <a:solidFill>
              <a:schemeClr val="accent2"/>
            </a:solidFill>
          </a:ln>
          <a:effectLst>
            <a:outerShdw dist="88900" dir="2700000" sx="100500" sy="100500" algn="tl" rotWithShape="0">
              <a:schemeClr val="accent2">
                <a:alpha val="10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16800" tIns="0" rIns="315151" bIns="1512000" numCol="1" spcCol="0" rtlCol="0" fromWordArt="0" anchor="ctr" anchorCtr="0" forceAA="0" compatLnSpc="1">
            <a:noAutofit/>
          </a:bodyPr>
          <a:lstStyle/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sym typeface="+mn-ea"/>
              </a:rPr>
              <a:t>预测记忆化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在没有访问训练数据的情况下如何推断输出是否包含记忆化内容：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困惑度（Perplexity）：衡量语言模型预测样本的能力。较低的困惑度表明模型对训练期间见过的样本更有信心，因此可能表示记忆化。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PPL-PPL比率：使用两个大小不同的模型计算输出的困惑度比率来推断记忆化。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PPL-zlib比率：结合困惑度和zlib压缩库计算的文本熵来评估输出。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平均PPL：通过在输出上使用滑动窗口计算困惑度，然后取平均值来排列输出。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圆角矩形 3"/>
          <p:cNvSpPr/>
          <p:nvPr>
            <p:custDataLst>
              <p:tags r:id="rId3"/>
            </p:custDataLst>
          </p:nvPr>
        </p:nvSpPr>
        <p:spPr>
          <a:xfrm>
            <a:off x="8519824" y="1017949"/>
            <a:ext cx="3562090" cy="5282226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dist="88900" dir="2700000" sx="100500" sy="100500" algn="tl" rotWithShape="0">
              <a:schemeClr val="accent1">
                <a:alpha val="10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16800" tIns="0" rIns="315151" bIns="1512000" numCol="1" spcCol="0" rtlCol="0" fromWordArt="0" anchor="ctr" anchorCtr="0" forceAA="0" compatLnSpc="1">
            <a:noAutofit/>
          </a:bodyPr>
          <a:lstStyle/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sym typeface="+mn-ea"/>
              </a:rPr>
              <a:t>检测记忆化</a:t>
            </a:r>
            <a:endParaRPr lang="zh-CN" altLang="en-US" sz="1400" b="1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如何检测代码模型输出中的记忆化内容：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记忆化定义：如果模型输出的字符串也出现在训练数据中，则认为发生了记忆化。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sym typeface="+mn-ea"/>
              </a:rPr>
              <a:t>检测方法：采用代码克隆（特别是Type-1 clone）的概念来确定输出是否包含记忆化。Type-1 clone指完全相同的代码片段，这提供了记忆化的强证据。</a:t>
            </a:r>
            <a:endParaRPr lang="zh-CN" altLang="en-US" sz="1400">
              <a:solidFill>
                <a:schemeClr val="tx1"/>
              </a:solidFill>
            </a:endParaRPr>
          </a:p>
          <a:p>
            <a:pPr lvl="0" algn="just">
              <a:lnSpc>
                <a:spcPct val="130000"/>
              </a:lnSpc>
              <a:buClrTx/>
              <a:buSzTx/>
              <a:buFontTx/>
            </a:pPr>
            <a:endParaRPr lang="zh-CN" altLang="en-US" sz="14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6065" y="234950"/>
            <a:ext cx="9259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标准粗黑" panose="02000503000000000000" charset="-122"/>
              </a:rPr>
              <a:t>Unveiling Memorization in Code Models</a:t>
            </a:r>
            <a:r>
              <a:rPr lang="en-US" altLang="zh-CN" sz="2400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标准粗黑" panose="02000503000000000000" charset="-122"/>
              </a:rPr>
              <a:t>  揭示代码模型中的记忆化现象</a:t>
            </a:r>
            <a:endParaRPr lang="en-US" altLang="zh-CN" sz="2400">
              <a:latin typeface="标准粗黑" panose="02000503000000000000" charset="-122"/>
              <a:ea typeface="标准粗黑" panose="02000503000000000000" charset="-122"/>
              <a:cs typeface="标准粗黑" panose="02000503000000000000" charset="-122"/>
              <a:sym typeface="标准粗黑" panose="02000503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7933" y="427143"/>
            <a:ext cx="1097362" cy="5885927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"/>
                </a:schemeClr>
              </a:gs>
              <a:gs pos="0">
                <a:schemeClr val="accent1">
                  <a:lumMod val="50000"/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189480" y="494030"/>
            <a:ext cx="3698240" cy="421005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70C0"/>
                </a:solidFill>
                <a:sym typeface="+mn-ea"/>
              </a:rPr>
              <a:t>代码模型记忆了什么？</a:t>
            </a:r>
            <a:endParaRPr lang="zh-CN" altLang="en-US" sz="2200" b="1">
              <a:solidFill>
                <a:srgbClr val="0070C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319020" y="901065"/>
            <a:ext cx="9793605" cy="13271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ym typeface="+mn-ea"/>
              </a:rPr>
              <a:t>实验结果显示，从CodeParrot模型中生成的20,000个输出中，约有43%到57%包含记忆化内容。这些记忆化内容主要分为文档信息、代码逻辑和其他类型，在非提示生成（NPG）中出现了216次，而在温度衰减生成（TDG）中出现了288次。代码逻辑包括方法定义和类定义等，在条件提示生成（PCG）中文档信息出现了315次，代码逻辑出现了304次。</a:t>
            </a:r>
            <a:endParaRPr lang="zh-CN" altLang="en-US" sz="16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284651" y="409810"/>
            <a:ext cx="1713705" cy="137752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6000" b="1">
                <a:ln w="15875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chemeClr val="accent1">
                    <a:lumMod val="50000"/>
                    <a:alpha val="4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zh-CN" altLang="en-US" sz="6000" b="1">
              <a:ln w="15875"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50000"/>
                  <a:alpha val="4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2179320" y="2983865"/>
            <a:ext cx="4568190" cy="371475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70C0"/>
                </a:solidFill>
                <a:sym typeface="+mn-ea"/>
              </a:rPr>
              <a:t>哪些因素影响代码模型的记忆化？</a:t>
            </a:r>
            <a:endParaRPr lang="zh-CN" altLang="en-US" sz="2200" b="1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zh-CN" altLang="en-US" sz="2200" b="1">
              <a:solidFill>
                <a:srgbClr val="0070C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2319020" y="3009265"/>
            <a:ext cx="9592310" cy="29921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ym typeface="+mn-ea"/>
              </a:rPr>
              <a:t>模型大小：</a:t>
            </a:r>
            <a:r>
              <a:rPr lang="zh-CN" altLang="en-US" sz="1400">
                <a:sym typeface="+mn-ea"/>
              </a:rPr>
              <a:t>大模型（CodeParrot 1.5B）与小模型（CodeParrot-small 110M）相比，在相同的设置下，大模型显示出更强的记忆化能力。例如，在非提示生成策略下，大模型生成的具有记忆化内容的输出比例高于小模型。</a:t>
            </a:r>
            <a:endParaRPr lang="zh-CN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ym typeface="+mn-ea"/>
              </a:rPr>
              <a:t>输出长度：</a:t>
            </a:r>
            <a:r>
              <a:rPr lang="zh-CN" altLang="en-US" sz="1400">
                <a:sym typeface="+mn-ea"/>
              </a:rPr>
              <a:t>输出长度的增加（从256到1024令牌）显著增加了记忆化内容的数量。例如，当输出长度为1024时，大模型CodeParrot 1.5B从20,000个输出中识别出了61,787个独特的记忆化片段。</a:t>
            </a:r>
            <a:endParaRPr lang="zh-CN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ym typeface="+mn-ea"/>
              </a:rPr>
              <a:t>训练数据中的出现频率：</a:t>
            </a:r>
            <a:r>
              <a:rPr lang="zh-CN" altLang="en-US" sz="1400">
                <a:sym typeface="+mn-ea"/>
              </a:rPr>
              <a:t>模型更倾向于记忆并生成</a:t>
            </a:r>
            <a:r>
              <a:rPr lang="zh-CN" altLang="en-US" sz="1400">
                <a:sym typeface="+mn-ea"/>
              </a:rPr>
              <a:t>对于在训练数据中出现频率更高的代码片段。</a:t>
            </a:r>
            <a:endParaRPr lang="zh-CN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284651" y="2517559"/>
            <a:ext cx="1713705" cy="137752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6000" b="1">
                <a:ln w="15875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chemeClr val="accent1">
                    <a:lumMod val="50000"/>
                    <a:alpha val="4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zh-CN" altLang="en-US" sz="6000" b="1">
              <a:ln w="15875"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50000"/>
                  <a:alpha val="4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8"/>
            </p:custDataLst>
          </p:nvPr>
        </p:nvSpPr>
        <p:spPr>
          <a:xfrm>
            <a:off x="2270125" y="4353560"/>
            <a:ext cx="5582920" cy="775335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70C0"/>
                </a:solidFill>
                <a:sym typeface="+mn-ea"/>
              </a:rPr>
              <a:t>如何推断输出中是否包含记忆化信息？</a:t>
            </a:r>
            <a:endParaRPr lang="zh-CN" altLang="en-US" sz="2200" b="1">
              <a:solidFill>
                <a:srgbClr val="0070C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9"/>
            </p:custDataLst>
          </p:nvPr>
        </p:nvSpPr>
        <p:spPr>
          <a:xfrm>
            <a:off x="2319020" y="5116195"/>
            <a:ext cx="9296400" cy="13265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ym typeface="+mn-ea"/>
              </a:rPr>
              <a:t>通过四种不同的度量标准来评估输出是否包含记忆化内容，具体数据包括：</a:t>
            </a:r>
            <a:endParaRPr lang="zh-CN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ym typeface="+mn-ea"/>
              </a:rPr>
              <a:t>困惑度（Perplexity）</a:t>
            </a:r>
            <a:r>
              <a:rPr lang="zh-CN" altLang="en-US" sz="1400">
                <a:sym typeface="+mn-ea"/>
              </a:rPr>
              <a:t>和</a:t>
            </a:r>
            <a:r>
              <a:rPr lang="zh-CN" altLang="en-US" sz="1400" b="1">
                <a:sym typeface="+mn-ea"/>
              </a:rPr>
              <a:t>PPL-zlib比率</a:t>
            </a:r>
            <a:r>
              <a:rPr lang="zh-CN" altLang="en-US" sz="1400">
                <a:sym typeface="+mn-ea"/>
              </a:rPr>
              <a:t>表现出极高的效能，在大部分设置中都能准确识别出包含记忆化内容的输出。例如，使用PPL-zlib比率时，所有前100名的输出都被确认包含记忆化内容。</a:t>
            </a:r>
            <a:endParaRPr lang="zh-CN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ym typeface="+mn-ea"/>
              </a:rPr>
              <a:t>PPL-PPL比率</a:t>
            </a:r>
            <a:r>
              <a:rPr lang="zh-CN" altLang="en-US" sz="1400">
                <a:sym typeface="+mn-ea"/>
              </a:rPr>
              <a:t>在输出长度为512令牌的设置中的检测准确率为79%，但在其他设置中接近100%。</a:t>
            </a:r>
            <a:endParaRPr lang="zh-CN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ym typeface="+mn-ea"/>
              </a:rPr>
              <a:t>平均PPL（Average PPL）</a:t>
            </a:r>
            <a:r>
              <a:rPr lang="zh-CN" altLang="en-US" sz="1400">
                <a:sym typeface="+mn-ea"/>
              </a:rPr>
              <a:t>指标在长输出上的效果较差。</a:t>
            </a:r>
            <a:endParaRPr lang="zh-CN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284651" y="4624696"/>
            <a:ext cx="1713705" cy="137752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6000" b="1">
                <a:ln w="15875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chemeClr val="accent1">
                    <a:lumMod val="50000"/>
                    <a:alpha val="40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zh-CN" altLang="en-US" sz="6000" b="1">
              <a:ln w="15875"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50000"/>
                  <a:alpha val="40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D" val="_2**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D" val="_2**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D" val="_2**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374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374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TEMPLATE_SUBCATEGORY" val="0"/>
  <p:tag name="KSO_WM_TAG_VERSION" val="3.0"/>
  <p:tag name="KSO_WM_BEAUTIFY_FLAG" val="#wm#"/>
  <p:tag name="KSO_WM_TEMPLATE_CATEGORY" val="custom"/>
  <p:tag name="KSO_WM_TEMPLATE_INDEX" val="20233374"/>
  <p:tag name="KSO_WM_TEMPLATE_MASTER_TYPE" val="0"/>
  <p:tag name="KSO_WM_TEMPLATE_COLOR_TYPE" val="0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DIAGRAM_VERSION" val="3"/>
  <p:tag name="KSO_WM_DIAGRAM_COLOR_TEXT_CAN_REMOVE" val="n"/>
  <p:tag name="KSO_WM_UNIT_VALUE" val="90"/>
  <p:tag name="KSO_WM_BEAUTIFY_FLAG" val="#wm#"/>
  <p:tag name="KSO_WM_DIAGRAM_MAX_ITEMCNT" val="6"/>
  <p:tag name="KSO_WM_DIAGRAM_MIN_ITEMCNT" val="2"/>
  <p:tag name="KSO_WM_DIAGRAM_VIRTUALLY_FRAME" val="{&quot;height&quot;:520.9016540527343,&quot;left&quot;:5.871210418460941,&quot;top&quot;:25.665275335837485,&quot;width&quot;:945.460571289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DIAGRAM_COLOR_TRICK" val="2"/>
  <p:tag name="KSO_WM_UNIT_FILL_FORE_SCHEMECOLOR_INDEX" val="14"/>
  <p:tag name="KSO_WM_UNIT_FILL_FORE_SCHEMECOLOR_INDEX_BRIGHTNESS" val="0"/>
  <p:tag name="KSO_WM_UNIT_TEXT_FILL_TYPE" val="1"/>
  <p:tag name="KSO_WM_UNIT_PRESET_TEXT" val="单击此处输入你的正文，文字是您思想的提炼，为了最终演示发布的良好效果。"/>
  <p:tag name="KSO_WM_UNIT_LINE_FORE_SCHEMECOLOR_INDEX" val="5"/>
  <p:tag name="KSO_WM_UNIT_SHADOW_SCHEMECOLOR_INDEX" val="5"/>
  <p:tag name="KSO_WM_UNIT_USESOURCEFORMAT_APPLY" val="1"/>
</p:tagLst>
</file>

<file path=ppt/tags/tag8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07_2*l_h_f*1_2_1"/>
  <p:tag name="KSO_WM_TEMPLATE_CATEGORY" val="diagram"/>
  <p:tag name="KSO_WM_TEMPLATE_INDEX" val="20231307"/>
  <p:tag name="KSO_WM_UNIT_LAYERLEVEL" val="1_1_1"/>
  <p:tag name="KSO_WM_TAG_VERSION" val="3.0"/>
  <p:tag name="KSO_WM_DIAGRAM_VERSION" val="3"/>
  <p:tag name="KSO_WM_DIAGRAM_COLOR_TEXT_CAN_REMOVE" val="n"/>
  <p:tag name="KSO_WM_UNIT_VALUE" val="90"/>
  <p:tag name="KSO_WM_BEAUTIFY_FLAG" val="#wm#"/>
  <p:tag name="KSO_WM_DIAGRAM_MAX_ITEMCNT" val="6"/>
  <p:tag name="KSO_WM_DIAGRAM_MIN_ITEMCNT" val="2"/>
  <p:tag name="KSO_WM_DIAGRAM_VIRTUALLY_FRAME" val="{&quot;height&quot;:520.9016540527343,&quot;left&quot;:5.871210418460941,&quot;top&quot;:25.665275335837485,&quot;width&quot;:945.460571289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6,&quot;transparency&quot;:0},&quot;type&quot;:1},&quot;shadow&quot;:{&quot;brightness&quot;:0,&quot;colorType&quot;:1,&quot;foreColorIndex&quot;:6,&quot;transparency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DIAGRAM_COLOR_TRICK" val="2"/>
  <p:tag name="KSO_WM_UNIT_FILL_FORE_SCHEMECOLOR_INDEX" val="14"/>
  <p:tag name="KSO_WM_UNIT_FILL_FORE_SCHEMECOLOR_INDEX_BRIGHTNESS" val="0"/>
  <p:tag name="KSO_WM_UNIT_TEXT_FILL_TYPE" val="1"/>
  <p:tag name="KSO_WM_UNIT_PRESET_TEXT" val="单击此处输入你的正文，文字是您思想的提炼，为了最终演示发布的良好效果。"/>
  <p:tag name="KSO_WM_UNIT_LINE_FORE_SCHEMECOLOR_INDEX" val="6"/>
  <p:tag name="KSO_WM_UNIT_SHADOW_SCHEMECOLOR_INDEX" val="6"/>
  <p:tag name="KSO_WM_UNIT_USESOURCEFORMAT_APPLY" val="1"/>
</p:tagLst>
</file>

<file path=ppt/tags/tag8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07_2*l_h_f*1_3_1"/>
  <p:tag name="KSO_WM_TEMPLATE_CATEGORY" val="diagram"/>
  <p:tag name="KSO_WM_TEMPLATE_INDEX" val="20231307"/>
  <p:tag name="KSO_WM_UNIT_LAYERLEVEL" val="1_1_1"/>
  <p:tag name="KSO_WM_TAG_VERSION" val="3.0"/>
  <p:tag name="KSO_WM_DIAGRAM_VERSION" val="3"/>
  <p:tag name="KSO_WM_DIAGRAM_COLOR_TEXT_CAN_REMOVE" val="n"/>
  <p:tag name="KSO_WM_UNIT_VALUE" val="90"/>
  <p:tag name="KSO_WM_BEAUTIFY_FLAG" val="#wm#"/>
  <p:tag name="KSO_WM_DIAGRAM_MAX_ITEMCNT" val="6"/>
  <p:tag name="KSO_WM_DIAGRAM_MIN_ITEMCNT" val="2"/>
  <p:tag name="KSO_WM_DIAGRAM_VIRTUALLY_FRAME" val="{&quot;height&quot;:520.9016540527343,&quot;left&quot;:5.871210418460941,&quot;top&quot;:25.665275335837485,&quot;width&quot;:945.460571289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DIAGRAM_COLOR_TRICK" val="2"/>
  <p:tag name="KSO_WM_UNIT_FILL_FORE_SCHEMECOLOR_INDEX" val="14"/>
  <p:tag name="KSO_WM_UNIT_FILL_FORE_SCHEMECOLOR_INDEX_BRIGHTNESS" val="0"/>
  <p:tag name="KSO_WM_UNIT_TEXT_FILL_TYPE" val="1"/>
  <p:tag name="KSO_WM_UNIT_PRESET_TEXT" val="单击此处输入你的正文，文字是您思想的提炼，为了最终演示发布的良好效果。"/>
  <p:tag name="KSO_WM_UNIT_LINE_FORE_SCHEMECOLOR_INDEX" val="5"/>
  <p:tag name="KSO_WM_UNIT_SHADOW_SCHEMECOLOR_INDEX" val="5"/>
  <p:tag name="KSO_WM_UNIT_USESOURCEFORMAT_APPLY" val="1"/>
</p:tagLst>
</file>

<file path=ppt/tags/tag84.xml><?xml version="1.0" encoding="utf-8"?>
<p:tagLst xmlns:p="http://schemas.openxmlformats.org/presentationml/2006/main">
  <p:tag name="KSO_WM_SLIDE_ID" val="diagram20231307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SLIDE_SIZE" val="820.842*361.102"/>
  <p:tag name="KSO_WM_SLIDE_POSITION" val="67.0304*121.96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307"/>
  <p:tag name="KSO_WM_SLIDE_LAYOUT" val="a_l"/>
  <p:tag name="KSO_WM_SLIDE_LAYOUT_CNT" val="1_1"/>
</p:tagLst>
</file>

<file path=ppt/tags/tag85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TEMPLATE_CATEGORY" val="diagram"/>
  <p:tag name="KSO_WM_TEMPLATE_INDEX" val="20231760"/>
  <p:tag name="KSO_WM_UNIT_LAYERLEVEL" val="1_1"/>
  <p:tag name="KSO_WM_TAG_VERSION" val="3.0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gradient&quot;:[{&quot;brightness&quot;:0.800000011920929,&quot;colorType&quot;:1,&quot;foreColorIndex&quot;:5,&quot;pos&quot;:1,&quot;transparency&quot;:0.8999999761581421},{&quot;brightness&quot;:-0.5,&quot;colorType&quot;:1,&quot;foreColorIndex&quot;:5,&quot;pos&quot;:0,&quot;transparency&quot;:0.80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ID" val="diagram20231760_2*l_i*1_1"/>
  <p:tag name="KSO_WM_UNIT_INDEX" val="1_1"/>
  <p:tag name="KSO_WM_DIAGRAM_GROUP_CODE" val="l1-1"/>
  <p:tag name="KSO_WM_UNIT_TEXT_FILL_FORE_SCHEMECOLOR_INDEX" val="2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176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添加标题"/>
  <p:tag name="KSO_WM_UNIT_ID" val="diagram20231760_2*l_h_a*1_1_1"/>
  <p:tag name="KSO_WM_UNIT_INDEX" val="1_1_1"/>
  <p:tag name="KSO_WM_DIAGRAM_GROUP_CODE" val="l1-1"/>
  <p:tag name="KSO_WM_UNIT_USESOURCEFORMAT_APPLY" val="1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176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；"/>
  <p:tag name="KSO_WM_UNIT_ID" val="diagram20231760_2*l_h_f*1_1_1"/>
  <p:tag name="KSO_WM_UNIT_INDEX" val="1_1_1"/>
  <p:tag name="KSO_WM_DIAGRAM_GROUP_CODE" val="l1-1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TEMPLATE_CATEGORY" val="diagram"/>
  <p:tag name="KSO_WM_TEMPLATE_INDEX" val="2023176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.6000000238418579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01"/>
  <p:tag name="KSO_WM_UNIT_ID" val="diagram20231760_2*l_h_i*1_1_1"/>
  <p:tag name="KSO_WM_UNIT_INDEX" val="1_1_1"/>
  <p:tag name="KSO_WM_DIAGRAM_GROUP_CODE" val="l1-1"/>
  <p:tag name="KSO_WM_UNIT_TEXT_FORE_SCHEMECOLOR_INDEX" val="5"/>
  <p:tag name="KSO_WM_UNIT_TEXT_LINE_FILL_TYPE" val="2"/>
  <p:tag name="KSO_WM_UNIT_USESOURCEFORMAT_APPLY" val="1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176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添加标题"/>
  <p:tag name="KSO_WM_UNIT_ID" val="diagram20231760_2*l_h_a*1_2_1"/>
  <p:tag name="KSO_WM_UNIT_INDEX" val="1_2_1"/>
  <p:tag name="KSO_WM_DIAGRAM_GROUP_CODE" val="l1-1"/>
  <p:tag name="KSO_WM_UNIT_USESOURCEFORMAT_APPLY" val="1"/>
</p:tagLst>
</file>

<file path=ppt/tags/tag9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176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；"/>
  <p:tag name="KSO_WM_UNIT_ID" val="diagram20231760_2*l_h_f*1_2_1"/>
  <p:tag name="KSO_WM_UNIT_INDEX" val="1_2_1"/>
  <p:tag name="KSO_WM_DIAGRAM_GROUP_CODE" val="l1-1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TEMPLATE_CATEGORY" val="diagram"/>
  <p:tag name="KSO_WM_TEMPLATE_INDEX" val="2023176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.6000000238418579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02"/>
  <p:tag name="KSO_WM_UNIT_ID" val="diagram20231760_2*l_h_i*1_2_1"/>
  <p:tag name="KSO_WM_UNIT_INDEX" val="1_2_1"/>
  <p:tag name="KSO_WM_DIAGRAM_GROUP_CODE" val="l1-1"/>
  <p:tag name="KSO_WM_UNIT_TEXT_FORE_SCHEMECOLOR_INDEX" val="5"/>
  <p:tag name="KSO_WM_UNIT_TEXT_LINE_FILL_TYPE" val="2"/>
  <p:tag name="KSO_WM_UNIT_USESOURCEFORMAT_APPLY" val="1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176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添加标题"/>
  <p:tag name="KSO_WM_UNIT_ID" val="diagram20231760_2*l_h_a*1_3_1"/>
  <p:tag name="KSO_WM_UNIT_INDEX" val="1_3_1"/>
  <p:tag name="KSO_WM_DIAGRAM_GROUP_CODE" val="l1-1"/>
  <p:tag name="KSO_WM_UNIT_USESOURCEFORMAT_APPLY" val="1"/>
</p:tagLst>
</file>

<file path=ppt/tags/tag9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176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，为了最终演示发布的良好效果，请尽量言简意赅的阐述观点；"/>
  <p:tag name="KSO_WM_UNIT_ID" val="diagram20231760_2*l_h_f*1_3_1"/>
  <p:tag name="KSO_WM_UNIT_INDEX" val="1_3_1"/>
  <p:tag name="KSO_WM_DIAGRAM_GROUP_CODE" val="l1-1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TEMPLATE_CATEGORY" val="diagram"/>
  <p:tag name="KSO_WM_TEMPLATE_INDEX" val="2023176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542.9698547363281,&quot;left&quot;:0.6246377491387193,&quot;top&quot;:-35.66232894296718,&quot;width&quot;:974.4004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.6000000238418579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03"/>
  <p:tag name="KSO_WM_UNIT_ID" val="diagram20231760_2*l_h_i*1_3_1"/>
  <p:tag name="KSO_WM_UNIT_INDEX" val="1_3_1"/>
  <p:tag name="KSO_WM_DIAGRAM_GROUP_CODE" val="l1-1"/>
  <p:tag name="KSO_WM_UNIT_TEXT_FORE_SCHEMECOLOR_INDEX" val="5"/>
  <p:tag name="KSO_WM_UNIT_TEXT_LINE_FILL_TYPE" val="2"/>
  <p:tag name="KSO_WM_UNIT_USESOURCEFORMAT_APPLY" val="1"/>
</p:tagLst>
</file>

<file path=ppt/tags/tag95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SLIDE_INDEX" val="1"/>
  <p:tag name="KSO_WM_TAG_VERSION" val="3.0"/>
  <p:tag name="KSO_WM_BEAUTIFY_FLAG" val="#wm#"/>
  <p:tag name="KSO_WM_TEMPLATE_CATEGORY" val="custom"/>
  <p:tag name="KSO_WM_SLIDE_TYPE" val="text"/>
  <p:tag name="KSO_WM_SLIDE_SUBTYPE" val="picTxt"/>
  <p:tag name="KSO_WM_SLIDE_SIZE" val="557.25*349.93"/>
  <p:tag name="KSO_WM_SLIDE_POSITION" val="57.2746*130.772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802"/>
  <p:tag name="KSO_WM_SLIDE_ID" val="custom20231802_1"/>
  <p:tag name="KSO_WM_SLIDE_ITEM_CNT" val="3"/>
</p:tagLst>
</file>

<file path=ppt/tags/tag96.xml><?xml version="1.0" encoding="utf-8"?>
<p:tagLst xmlns:p="http://schemas.openxmlformats.org/presentationml/2006/main">
  <p:tag name="commondata" val="eyJoZGlkIjoiNmE4YWE2NWM2NjkyMzUxOGRkNDNkNjJlMmYxYjJlZD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76FFF"/>
      </a:accent1>
      <a:accent2>
        <a:srgbClr val="17D594"/>
      </a:accent2>
      <a:accent3>
        <a:srgbClr val="FFC000"/>
      </a:accent3>
      <a:accent4>
        <a:srgbClr val="FF7429"/>
      </a:accent4>
      <a:accent5>
        <a:srgbClr val="F84949"/>
      </a:accent5>
      <a:accent6>
        <a:srgbClr val="8830FE"/>
      </a:accent6>
      <a:hlink>
        <a:srgbClr val="304FFE"/>
      </a:hlink>
      <a:folHlink>
        <a:srgbClr val="492067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1275</Words>
  <Application>WPS 演示</Application>
  <PresentationFormat>宽屏</PresentationFormat>
  <Paragraphs>70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幼圆</vt:lpstr>
      <vt:lpstr>黑体</vt:lpstr>
      <vt:lpstr>仿宋</vt:lpstr>
      <vt:lpstr>华文彩云</vt:lpstr>
      <vt:lpstr>华文新魏</vt:lpstr>
      <vt:lpstr>标准粗黑</vt:lpstr>
      <vt:lpstr>WPS</vt:lpstr>
      <vt:lpstr>Office 主题​​</vt:lpstr>
      <vt:lpstr>单击此处添加标题</vt:lpstr>
      <vt:lpstr>单击此处输入标题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嘿嘿</cp:lastModifiedBy>
  <cp:revision>155</cp:revision>
  <dcterms:created xsi:type="dcterms:W3CDTF">2019-06-19T02:08:00Z</dcterms:created>
  <dcterms:modified xsi:type="dcterms:W3CDTF">2024-07-08T10:05:10Z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D6A1F0C87A6744668BB349A87FB0C137_11</vt:lpwstr>
  </property>
</Properties>
</file>