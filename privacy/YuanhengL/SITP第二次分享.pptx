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/>
  <p:cmAuthor id="2" name=" " initials=" " lastIdx="1" clrIdx="1"/>
  <p:cmAuthor id="3" name="shirley" initials="s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4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81.xml"/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DABDA-89F0-4727-B28F-05A90B0069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0" Type="http://schemas.openxmlformats.org/officeDocument/2006/relationships/notesSlide" Target="../notesSlides/notesSlide1.xml"/><Relationship Id="rId2" Type="http://schemas.openxmlformats.org/officeDocument/2006/relationships/tags" Target="../tags/tag64.xml"/><Relationship Id="rId19" Type="http://schemas.openxmlformats.org/officeDocument/2006/relationships/slideLayout" Target="../slideLayouts/slideLayout6.xml"/><Relationship Id="rId18" Type="http://schemas.openxmlformats.org/officeDocument/2006/relationships/tags" Target="../tags/tag80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4766" y="150496"/>
            <a:ext cx="10858498" cy="647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CodexLeaks: Privacy Leaks from Code Generation Language Models in GitHub Copilot</a:t>
            </a:r>
            <a:endParaRPr lang="en-US" altLang="zh-CN" sz="18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CodexLeaks： 来自 GitHub Copilot 代码生成语言模型的隐私泄露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0761344" y="212091"/>
            <a:ext cx="361950" cy="36195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11235213" y="21209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1709082" y="21209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0287475" y="21209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657450" y="3592849"/>
            <a:ext cx="1682152" cy="584775"/>
          </a:xfrm>
          <a:prstGeom prst="rect">
            <a:avLst/>
          </a:prstGeom>
          <a:noFill/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>
            <a:defPPr>
              <a:defRPr lang="zh-CN"/>
            </a:defPPr>
            <a:lvl1pPr algn="ctr" defTabSz="914400">
              <a:defRPr sz="1400" b="1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01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7668996" y="3579514"/>
            <a:ext cx="1682152" cy="584775"/>
          </a:xfrm>
          <a:prstGeom prst="rect">
            <a:avLst/>
          </a:prstGeom>
          <a:noFill/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>
            <a:defPPr>
              <a:defRPr lang="zh-CN"/>
            </a:defPPr>
            <a:lvl1pPr algn="ctr" defTabSz="914400">
              <a:defRPr sz="1400" b="1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03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3373120" y="4090035"/>
            <a:ext cx="771525" cy="583565"/>
          </a:xfrm>
          <a:prstGeom prst="rect">
            <a:avLst/>
          </a:prstGeom>
          <a:noFill/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>
            <a:defPPr>
              <a:defRPr lang="zh-CN"/>
            </a:defPPr>
            <a:lvl1pPr algn="ctr" defTabSz="914400">
              <a:defRPr sz="1400" b="1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02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文本框 14"/>
          <p:cNvSpPr txBox="1"/>
          <p:nvPr>
            <p:custDataLst>
              <p:tags r:id="rId5"/>
            </p:custDataLst>
          </p:nvPr>
        </p:nvSpPr>
        <p:spPr>
          <a:xfrm>
            <a:off x="9833438" y="4102814"/>
            <a:ext cx="1682152" cy="584775"/>
          </a:xfrm>
          <a:prstGeom prst="rect">
            <a:avLst/>
          </a:prstGeom>
          <a:noFill/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>
            <a:defPPr>
              <a:defRPr lang="zh-CN"/>
            </a:defPPr>
            <a:lvl1pPr algn="ctr" defTabSz="914400">
              <a:defRPr sz="1400" b="1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04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6" name="直接连接符 15"/>
          <p:cNvCxnSpPr/>
          <p:nvPr>
            <p:custDataLst>
              <p:tags r:id="rId6"/>
            </p:custDataLst>
          </p:nvPr>
        </p:nvCxnSpPr>
        <p:spPr>
          <a:xfrm>
            <a:off x="3347880" y="1781234"/>
            <a:ext cx="0" cy="2870590"/>
          </a:xfrm>
          <a:prstGeom prst="line">
            <a:avLst/>
          </a:prstGeom>
          <a:ln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7"/>
            </p:custDataLst>
          </p:nvPr>
        </p:nvCxnSpPr>
        <p:spPr>
          <a:xfrm flipH="1">
            <a:off x="9731953" y="1757104"/>
            <a:ext cx="15875" cy="2894965"/>
          </a:xfrm>
          <a:prstGeom prst="line">
            <a:avLst/>
          </a:prstGeom>
          <a:ln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>
            <p:custDataLst>
              <p:tags r:id="rId8"/>
            </p:custDataLst>
          </p:nvPr>
        </p:nvCxnSpPr>
        <p:spPr>
          <a:xfrm flipV="1">
            <a:off x="7641359" y="3400217"/>
            <a:ext cx="0" cy="2870590"/>
          </a:xfrm>
          <a:prstGeom prst="line">
            <a:avLst/>
          </a:prstGeom>
          <a:ln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9"/>
            </p:custDataLst>
          </p:nvPr>
        </p:nvCxnSpPr>
        <p:spPr>
          <a:xfrm>
            <a:off x="666751" y="4066184"/>
            <a:ext cx="108584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>
            <p:custDataLst>
              <p:tags r:id="rId10"/>
            </p:custDataLst>
          </p:nvPr>
        </p:nvSpPr>
        <p:spPr>
          <a:xfrm>
            <a:off x="1353185" y="3646805"/>
            <a:ext cx="1082675" cy="33718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b="1" i="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问题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分析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5" name="文本框 24"/>
          <p:cNvSpPr txBox="1"/>
          <p:nvPr>
            <p:custDataLst>
              <p:tags r:id="rId11"/>
            </p:custDataLst>
          </p:nvPr>
        </p:nvSpPr>
        <p:spPr>
          <a:xfrm>
            <a:off x="4036060" y="4147820"/>
            <a:ext cx="3375660" cy="33718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b="1" i="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membership inference approach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26" name="直接连接符 25"/>
          <p:cNvCxnSpPr/>
          <p:nvPr>
            <p:custDataLst>
              <p:tags r:id="rId12"/>
            </p:custDataLst>
          </p:nvPr>
        </p:nvCxnSpPr>
        <p:spPr>
          <a:xfrm>
            <a:off x="4120454" y="4545870"/>
            <a:ext cx="4502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>
            <p:custDataLst>
              <p:tags r:id="rId13"/>
            </p:custDataLst>
          </p:nvPr>
        </p:nvSpPr>
        <p:spPr>
          <a:xfrm>
            <a:off x="8444230" y="3646805"/>
            <a:ext cx="1221740" cy="33718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b="1" i="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实验与评估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29" name="直接连接符 28"/>
          <p:cNvCxnSpPr/>
          <p:nvPr>
            <p:custDataLst>
              <p:tags r:id="rId14"/>
            </p:custDataLst>
          </p:nvPr>
        </p:nvCxnSpPr>
        <p:spPr>
          <a:xfrm>
            <a:off x="7159492" y="4062257"/>
            <a:ext cx="4502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>
            <p:custDataLst>
              <p:tags r:id="rId15"/>
            </p:custDataLst>
          </p:nvPr>
        </p:nvSpPr>
        <p:spPr>
          <a:xfrm>
            <a:off x="10509885" y="4147820"/>
            <a:ext cx="1000760" cy="33718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 b="1" i="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分析讨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论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40" name="直接连接符 39"/>
          <p:cNvCxnSpPr/>
          <p:nvPr>
            <p:custDataLst>
              <p:tags r:id="rId16"/>
            </p:custDataLst>
          </p:nvPr>
        </p:nvCxnSpPr>
        <p:spPr>
          <a:xfrm>
            <a:off x="10594253" y="4613180"/>
            <a:ext cx="4502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>
            <p:custDataLst>
              <p:tags r:id="rId17"/>
            </p:custDataLst>
          </p:nvPr>
        </p:nvCxnSpPr>
        <p:spPr>
          <a:xfrm>
            <a:off x="1437950" y="4062257"/>
            <a:ext cx="4502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>
            <p:custDataLst>
              <p:tags r:id="rId18"/>
            </p:custDataLst>
          </p:nvPr>
        </p:nvCxnSpPr>
        <p:spPr>
          <a:xfrm flipV="1">
            <a:off x="276629" y="3398947"/>
            <a:ext cx="0" cy="2870590"/>
          </a:xfrm>
          <a:prstGeom prst="line">
            <a:avLst/>
          </a:prstGeom>
          <a:ln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53365" y="1158240"/>
            <a:ext cx="2846705" cy="2120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00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背景</a:t>
            </a:r>
            <a:r>
              <a:rPr lang="zh-CN" altLang="en-US" sz="100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：GitHub Copilot 是</a:t>
            </a:r>
            <a:r>
              <a:rPr lang="zh-CN" altLang="en-US" sz="10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代码生成和自动补全工具</a:t>
            </a:r>
            <a:r>
              <a:rPr lang="zh-CN" altLang="en-US" sz="100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，该类代码生成工具</a:t>
            </a:r>
            <a:r>
              <a:rPr lang="zh-CN" altLang="en-US" sz="10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基于大规模的公开代码数据</a:t>
            </a:r>
            <a:r>
              <a:rPr lang="zh-CN" altLang="en-US" sz="100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进行训练，可能包含敏感的个人信息。这些信息在模型生成的代码中可能被泄露。</a:t>
            </a:r>
            <a:endParaRPr lang="zh-CN" altLang="en-US" sz="1000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目标：</a:t>
            </a:r>
            <a:r>
              <a:rPr lang="zh-CN" altLang="en-US" sz="100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研究一种半自动化流程，用于从 GitHub Copilot 中使用的 Codex 模型中提取敏感个人信息。</a:t>
            </a:r>
            <a:endParaRPr lang="zh-CN" altLang="en-US" sz="1000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zh-CN" altLang="en-US" sz="1000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pPr indent="0">
              <a:buFont typeface="Arial" panose="020B0604020202020204" pitchFamily="34" charset="0"/>
              <a:buNone/>
            </a:pPr>
            <a:endParaRPr lang="zh-CN" altLang="en-US" sz="1000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80365" y="4175760"/>
            <a:ext cx="285369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altLang="en-US" sz="10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1. </a:t>
            </a:r>
            <a:r>
              <a:rPr lang="zh-CN" altLang="en-US" sz="10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设计提示</a:t>
            </a:r>
            <a:endParaRPr lang="zh-CN" altLang="en-US" sz="1000" b="1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 sz="100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为了</a:t>
            </a:r>
            <a:r>
              <a:rPr lang="zh-CN" altLang="en-US" sz="100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引导代码生成模型中的隐私泄露，研究团队设计了多种类型的提示：</a:t>
            </a:r>
            <a:endParaRPr lang="zh-CN" altLang="en-US" sz="1000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pPr indent="0">
              <a:buFont typeface="Arial" panose="020B0604020202020204" pitchFamily="34" charset="0"/>
              <a:buNone/>
            </a:pPr>
            <a:endParaRPr lang="zh-CN" altLang="en-US" sz="1000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手工提示：</a:t>
            </a:r>
            <a:r>
              <a:rPr lang="zh-CN" altLang="en-US" sz="100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手工设计一些可能导致隐私泄露的简单提示。</a:t>
            </a:r>
            <a:endParaRPr lang="zh-CN" altLang="en-US" sz="1000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zh-CN" altLang="en-US" sz="1000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模板提示：基于手工提示，构建可以扩展的大量模板，增加提示的多样性。模板提示通过使用变量和上下文生成更多样的提示。</a:t>
            </a:r>
            <a:endParaRPr lang="zh-CN" altLang="en-US" sz="1000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zh-CN" altLang="en-US" sz="1000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GitHub采样提示：直接从GitHub代码库中采样构建提示，这些提示更有可能出现在模型的训练数据中，提高提示命中率。</a:t>
            </a:r>
            <a:endParaRPr lang="zh-CN" altLang="en-US" sz="1000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639185" y="4626610"/>
            <a:ext cx="34169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latin typeface="幼圆" panose="02010509060101010101" charset="-122"/>
                <a:ea typeface="幼圆" panose="02010509060101010101" charset="-122"/>
              </a:rPr>
              <a:t>2.</a:t>
            </a:r>
            <a:r>
              <a:rPr lang="zh-CN" altLang="en-US" sz="1000" b="1">
                <a:latin typeface="幼圆" panose="02010509060101010101" charset="-122"/>
                <a:ea typeface="幼圆" panose="02010509060101010101" charset="-122"/>
              </a:rPr>
              <a:t>参数调整</a:t>
            </a:r>
            <a:endParaRPr lang="zh-CN" altLang="en-US" sz="1000">
              <a:latin typeface="幼圆" panose="02010509060101010101" charset="-122"/>
              <a:ea typeface="幼圆" panose="02010509060101010101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>
                <a:latin typeface="幼圆" panose="02010509060101010101" charset="-122"/>
                <a:ea typeface="幼圆" panose="02010509060101010101" charset="-122"/>
              </a:rPr>
              <a:t>低温度：使模型输出最可能的结果，增加确定性。</a:t>
            </a:r>
            <a:endParaRPr lang="zh-CN" altLang="en-US" sz="1000">
              <a:latin typeface="幼圆" panose="02010509060101010101" charset="-122"/>
              <a:ea typeface="幼圆" panose="02010509060101010101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>
                <a:latin typeface="幼圆" panose="02010509060101010101" charset="-122"/>
                <a:ea typeface="幼圆" panose="02010509060101010101" charset="-122"/>
              </a:rPr>
              <a:t>高温度：增加输出的</a:t>
            </a:r>
            <a:r>
              <a:rPr lang="zh-CN" altLang="en-US" sz="1000">
                <a:latin typeface="幼圆" panose="02010509060101010101" charset="-122"/>
                <a:ea typeface="幼圆" panose="02010509060101010101" charset="-122"/>
              </a:rPr>
              <a:t>随机性，使模型更具创造性。</a:t>
            </a:r>
            <a:endParaRPr lang="zh-CN" altLang="en-US" sz="1000"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595370" y="1212850"/>
            <a:ext cx="2079625" cy="27844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Codex：</a:t>
            </a:r>
            <a:endParaRPr lang="zh-CN" altLang="en-US" sz="1000" b="1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使用512个提示生成了2560个输出响应。</a:t>
            </a:r>
            <a:endParaRPr lang="zh-CN" altLang="en-US" sz="1000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通过BlindMI攻击筛选出1443个可能的成员。</a:t>
            </a:r>
            <a:endParaRPr lang="zh-CN" altLang="en-US" sz="1000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进一步通过GitHub搜索验证，最终筛选出124个潜在泄露样本。</a:t>
            </a:r>
            <a:endParaRPr lang="zh-CN" altLang="en-US" sz="1000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人工验证发现其中约8%的提示导致了隐私泄露，泄露信息包括个人识别信息（如姓名、地址）、私密信息（如医疗记录）和秘密信息（如密码）。</a:t>
            </a:r>
            <a:endParaRPr lang="zh-CN" altLang="en-US" sz="1000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718175" y="1195705"/>
            <a:ext cx="1535430" cy="2520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0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泄露类型</a:t>
            </a:r>
            <a:endParaRPr lang="zh-CN" altLang="en-US" sz="1000" b="1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直接泄露：生成的代码直接包含提示中的个人信息。</a:t>
            </a:r>
            <a:endParaRPr lang="zh-CN" altLang="en-US" sz="1000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间接泄露：生成的代码包含与提示相关的其他个人信息，虽然不在提示中直接要求但与提示内容有联系。</a:t>
            </a:r>
            <a:endParaRPr lang="zh-CN" altLang="en-US" sz="1000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436485" y="1195705"/>
            <a:ext cx="203327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主要</a:t>
            </a:r>
            <a:r>
              <a:rPr lang="zh-CN" altLang="en-US" sz="1000" b="1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结论</a:t>
            </a:r>
            <a:endParaRPr lang="zh-CN" altLang="en-US" sz="1000" b="1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模型行为：模型倾向于间接</a:t>
            </a:r>
            <a:r>
              <a:rPr lang="zh-CN" altLang="en-US" sz="100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泄露。</a:t>
            </a:r>
            <a:endParaRPr lang="zh-CN" altLang="en-US" sz="1000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泄露频率：约8%的提示会导致隐私泄露，说明当前代码生成模型在隐私保护方面存在显著风险。</a:t>
            </a:r>
            <a:endParaRPr lang="zh-CN" altLang="en-US" sz="1000"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</p:txBody>
      </p:sp>
      <p:sp>
        <p:nvSpPr>
          <p:cNvPr id="52" name="iṡļîḓê"/>
          <p:cNvSpPr/>
          <p:nvPr/>
        </p:nvSpPr>
        <p:spPr>
          <a:xfrm>
            <a:off x="3434715" y="1250950"/>
            <a:ext cx="148590" cy="158115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defTabSz="913765"/>
            <a:endParaRPr lang="zh-CN" altLang="en-US" sz="1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iṡļîḓê"/>
          <p:cNvSpPr/>
          <p:nvPr/>
        </p:nvSpPr>
        <p:spPr>
          <a:xfrm>
            <a:off x="5618480" y="1250950"/>
            <a:ext cx="148590" cy="158115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defTabSz="913765"/>
            <a:endParaRPr lang="zh-CN" altLang="en-US" sz="1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iṡļîḓê"/>
          <p:cNvSpPr/>
          <p:nvPr/>
        </p:nvSpPr>
        <p:spPr>
          <a:xfrm>
            <a:off x="7287895" y="1250950"/>
            <a:ext cx="148590" cy="158115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algn="ctr" defTabSz="913765"/>
            <a:endParaRPr lang="zh-CN" altLang="en-US" sz="16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871460" y="4694555"/>
            <a:ext cx="3431540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indent="-1714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>
                <a:latin typeface="幼圆" panose="02010509060101010101" charset="-122"/>
                <a:ea typeface="幼圆" panose="02010509060101010101" charset="-122"/>
              </a:rPr>
              <a:t>虽然BlindMI攻击方法在多个模型上显示出较高的有效性，但仍需要人工验证，自动化程度和精确度有待进一步提升。</a:t>
            </a:r>
            <a:r>
              <a:rPr lang="zh-CN" altLang="en-US" sz="1000">
                <a:latin typeface="幼圆" panose="02010509060101010101" charset="-122"/>
                <a:ea typeface="幼圆" panose="02010509060101010101" charset="-122"/>
              </a:rPr>
              <a:t>需要进一步提高隐私检测方法的自动化水平和准确性。</a:t>
            </a:r>
            <a:endParaRPr lang="zh-CN" altLang="en-US" sz="1000">
              <a:latin typeface="幼圆" panose="02010509060101010101" charset="-122"/>
              <a:ea typeface="幼圆" panose="02010509060101010101" charset="-122"/>
            </a:endParaRPr>
          </a:p>
          <a:p>
            <a:pPr marL="171450" indent="-1714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>
                <a:latin typeface="幼圆" panose="02010509060101010101" charset="-122"/>
                <a:ea typeface="幼圆" panose="02010509060101010101" charset="-122"/>
              </a:rPr>
              <a:t>开发保护措施：研究如何在不影响模型性能的前提下，减少隐私泄露的风险。例如，通过差分隐私（Differential Privacy）技术来保护训练数据。</a:t>
            </a:r>
            <a:endParaRPr lang="zh-CN" altLang="en-US" sz="1000">
              <a:latin typeface="幼圆" panose="02010509060101010101" charset="-122"/>
              <a:ea typeface="幼圆" panose="02010509060101010101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595370" y="5338445"/>
            <a:ext cx="3865880" cy="15017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latin typeface="幼圆" panose="02010509060101010101" charset="-122"/>
                <a:ea typeface="幼圆" panose="02010509060101010101" charset="-122"/>
              </a:rPr>
              <a:t>3.</a:t>
            </a:r>
            <a:r>
              <a:rPr lang="zh-CN" altLang="en-US" sz="1000" b="1">
                <a:latin typeface="幼圆" panose="02010509060101010101" charset="-122"/>
                <a:ea typeface="幼圆" panose="02010509060101010101" charset="-122"/>
              </a:rPr>
              <a:t> 自动</a:t>
            </a:r>
            <a:r>
              <a:rPr lang="zh-CN" altLang="en-US" sz="1000" b="1">
                <a:latin typeface="幼圆" panose="02010509060101010101" charset="-122"/>
                <a:ea typeface="幼圆" panose="02010509060101010101" charset="-122"/>
              </a:rPr>
              <a:t>筛选</a:t>
            </a:r>
            <a:endParaRPr lang="zh-CN" altLang="en-US" sz="1000" b="1">
              <a:latin typeface="幼圆" panose="02010509060101010101" charset="-122"/>
              <a:ea typeface="幼圆" panose="02010509060101010101" charset="-122"/>
            </a:endParaRPr>
          </a:p>
          <a:p>
            <a:pPr fontAlgn="auto">
              <a:lnSpc>
                <a:spcPts val="1400"/>
              </a:lnSpc>
            </a:pPr>
            <a:r>
              <a:rPr lang="zh-CN" altLang="en-US" sz="1000">
                <a:latin typeface="幼圆" panose="02010509060101010101" charset="-122"/>
                <a:ea typeface="幼圆" panose="02010509060101010101" charset="-122"/>
              </a:rPr>
              <a:t>使用BlindMI（盲目成员推断）技术进行隐私泄露检测：</a:t>
            </a:r>
            <a:endParaRPr lang="zh-CN" altLang="en-US" sz="1000">
              <a:latin typeface="幼圆" panose="02010509060101010101" charset="-122"/>
              <a:ea typeface="幼圆" panose="02010509060101010101" charset="-122"/>
            </a:endParaRPr>
          </a:p>
          <a:p>
            <a:pPr indent="0" fontAlgn="auto">
              <a:lnSpc>
                <a:spcPts val="1400"/>
              </a:lnSpc>
              <a:buFont typeface="Arial" panose="020B0604020202020204" pitchFamily="34" charset="0"/>
              <a:buNone/>
            </a:pPr>
            <a:r>
              <a:rPr lang="zh-CN" altLang="en-US" sz="1000">
                <a:latin typeface="幼圆" panose="02010509060101010101" charset="-122"/>
                <a:ea typeface="幼圆" panose="02010509060101010101" charset="-122"/>
              </a:rPr>
              <a:t>原理：BlindMI基于模型输出的概率分布，比较成员和非成员的分布差异，自动过滤出可能包含泄露信息的输出。</a:t>
            </a:r>
            <a:endParaRPr lang="zh-CN" altLang="en-US" sz="1000">
              <a:latin typeface="幼圆" panose="02010509060101010101" charset="-122"/>
              <a:ea typeface="幼圆" panose="02010509060101010101" charset="-122"/>
            </a:endParaRPr>
          </a:p>
          <a:p>
            <a:pPr indent="0" fontAlgn="auto">
              <a:lnSpc>
                <a:spcPts val="1400"/>
              </a:lnSpc>
              <a:buFont typeface="Arial" panose="020B0604020202020204" pitchFamily="34" charset="0"/>
              <a:buNone/>
            </a:pPr>
            <a:r>
              <a:rPr lang="zh-CN" altLang="en-US" sz="1000">
                <a:latin typeface="幼圆" panose="02010509060101010101" charset="-122"/>
                <a:ea typeface="幼圆" panose="02010509060101010101" charset="-122"/>
              </a:rPr>
              <a:t>步骤：</a:t>
            </a:r>
            <a:endParaRPr lang="zh-CN" altLang="en-US" sz="1000">
              <a:latin typeface="幼圆" panose="02010509060101010101" charset="-122"/>
              <a:ea typeface="幼圆" panose="02010509060101010101" charset="-122"/>
            </a:endParaRPr>
          </a:p>
          <a:p>
            <a:pPr marL="171450" indent="-171450" fontAlgn="auto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zh-CN" altLang="en-US" sz="1000">
                <a:latin typeface="幼圆" panose="02010509060101010101" charset="-122"/>
                <a:ea typeface="幼圆" panose="02010509060101010101" charset="-122"/>
              </a:rPr>
              <a:t>获取模型输出的概率分布。</a:t>
            </a:r>
            <a:endParaRPr lang="zh-CN" altLang="en-US" sz="1000">
              <a:latin typeface="幼圆" panose="02010509060101010101" charset="-122"/>
              <a:ea typeface="幼圆" panose="02010509060101010101" charset="-122"/>
            </a:endParaRPr>
          </a:p>
          <a:p>
            <a:pPr marL="171450" indent="-171450" fontAlgn="auto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zh-CN" altLang="en-US" sz="1000">
                <a:latin typeface="幼圆" panose="02010509060101010101" charset="-122"/>
                <a:ea typeface="幼圆" panose="02010509060101010101" charset="-122"/>
              </a:rPr>
              <a:t>将输出分为成员（可能泄露）和非成员（不泄露）。</a:t>
            </a:r>
            <a:endParaRPr lang="zh-CN" altLang="en-US" sz="1000">
              <a:latin typeface="幼圆" panose="02010509060101010101" charset="-122"/>
              <a:ea typeface="幼圆" panose="02010509060101010101" charset="-122"/>
            </a:endParaRPr>
          </a:p>
          <a:p>
            <a:pPr marL="171450" indent="-171450" fontAlgn="auto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zh-CN" altLang="en-US" sz="1000">
                <a:latin typeface="幼圆" panose="02010509060101010101" charset="-122"/>
                <a:ea typeface="幼圆" panose="02010509060101010101" charset="-122"/>
              </a:rPr>
              <a:t>通过多次迭代，调整成员和非成员的分布，使之最大化区分度。</a:t>
            </a:r>
            <a:endParaRPr lang="zh-CN" altLang="en-US" sz="1000">
              <a:latin typeface="幼圆" panose="02010509060101010101" charset="-122"/>
              <a:ea typeface="幼圆" panose="020105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22" grpId="0"/>
      <p:bldP spid="22" grpId="1"/>
      <p:bldP spid="24" grpId="0"/>
      <p:bldP spid="24" grpId="1"/>
      <p:bldP spid="27" grpId="0"/>
      <p:bldP spid="52" grpId="0" bldLvl="0" animBg="1"/>
      <p:bldP spid="27" grpId="1"/>
      <p:bldP spid="52" grpId="1" animBg="1"/>
      <p:bldP spid="30" grpId="0"/>
      <p:bldP spid="32" grpId="0" bldLvl="0" animBg="1"/>
      <p:bldP spid="30" grpId="1"/>
      <p:bldP spid="32" grpId="1" animBg="1"/>
      <p:bldP spid="31" grpId="0"/>
      <p:bldP spid="33" grpId="0" bldLvl="0" animBg="1"/>
      <p:bldP spid="31" grpId="1"/>
      <p:bldP spid="33" grpId="1" animBg="1"/>
      <p:bldP spid="34" grpId="0"/>
      <p:bldP spid="34" grpId="1"/>
      <p:bldP spid="37" grpId="0"/>
      <p:bldP spid="37" grpId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DIAGRAM_VIRTUALLY_FRAME" val="{&quot;height&quot;:369.67291338582675,&quot;left&quot;:51.45173228346457,&quot;top&quot;:125.69503937007873,&quot;width&quot;:893.3425984251968}"/>
</p:tagLst>
</file>

<file path=ppt/tags/tag65.xml><?xml version="1.0" encoding="utf-8"?>
<p:tagLst xmlns:p="http://schemas.openxmlformats.org/presentationml/2006/main">
  <p:tag name="KSO_WM_DIAGRAM_VIRTUALLY_FRAME" val="{&quot;height&quot;:369.67291338582675,&quot;left&quot;:51.45173228346457,&quot;top&quot;:125.69503937007873,&quot;width&quot;:893.3425984251968}"/>
</p:tagLst>
</file>

<file path=ppt/tags/tag66.xml><?xml version="1.0" encoding="utf-8"?>
<p:tagLst xmlns:p="http://schemas.openxmlformats.org/presentationml/2006/main">
  <p:tag name="KSO_WM_DIAGRAM_VIRTUALLY_FRAME" val="{&quot;height&quot;:369.67291338582675,&quot;left&quot;:51.45173228346457,&quot;top&quot;:125.69503937007873,&quot;width&quot;:893.3425984251968}"/>
</p:tagLst>
</file>

<file path=ppt/tags/tag67.xml><?xml version="1.0" encoding="utf-8"?>
<p:tagLst xmlns:p="http://schemas.openxmlformats.org/presentationml/2006/main">
  <p:tag name="KSO_WM_DIAGRAM_VIRTUALLY_FRAME" val="{&quot;height&quot;:369.67291338582675,&quot;left&quot;:51.45173228346457,&quot;top&quot;:125.69503937007873,&quot;width&quot;:893.3425984251968}"/>
</p:tagLst>
</file>

<file path=ppt/tags/tag68.xml><?xml version="1.0" encoding="utf-8"?>
<p:tagLst xmlns:p="http://schemas.openxmlformats.org/presentationml/2006/main">
  <p:tag name="KSO_WM_DIAGRAM_VIRTUALLY_FRAME" val="{&quot;height&quot;:369.67291338582675,&quot;left&quot;:51.45173228346457,&quot;top&quot;:125.69503937007873,&quot;width&quot;:893.3425984251968}"/>
</p:tagLst>
</file>

<file path=ppt/tags/tag69.xml><?xml version="1.0" encoding="utf-8"?>
<p:tagLst xmlns:p="http://schemas.openxmlformats.org/presentationml/2006/main">
  <p:tag name="KSO_WM_DIAGRAM_VIRTUALLY_FRAME" val="{&quot;height&quot;:369.67291338582675,&quot;left&quot;:51.45173228346457,&quot;top&quot;:125.69503937007873,&quot;width&quot;:893.3425984251968}"/>
</p:tagLst>
</file>

<file path=ppt/tags/tag70.xml><?xml version="1.0" encoding="utf-8"?>
<p:tagLst xmlns:p="http://schemas.openxmlformats.org/presentationml/2006/main">
  <p:tag name="KSO_WM_DIAGRAM_VIRTUALLY_FRAME" val="{&quot;height&quot;:369.67291338582675,&quot;left&quot;:51.45173228346457,&quot;top&quot;:125.69503937007873,&quot;width&quot;:893.3425984251968}"/>
</p:tagLst>
</file>

<file path=ppt/tags/tag71.xml><?xml version="1.0" encoding="utf-8"?>
<p:tagLst xmlns:p="http://schemas.openxmlformats.org/presentationml/2006/main">
  <p:tag name="KSO_WM_DIAGRAM_VIRTUALLY_FRAME" val="{&quot;height&quot;:369.67291338582675,&quot;left&quot;:51.45173228346457,&quot;top&quot;:125.69503937007873,&quot;width&quot;:893.3425984251968}"/>
</p:tagLst>
</file>

<file path=ppt/tags/tag72.xml><?xml version="1.0" encoding="utf-8"?>
<p:tagLst xmlns:p="http://schemas.openxmlformats.org/presentationml/2006/main">
  <p:tag name="KSO_WM_DIAGRAM_VIRTUALLY_FRAME" val="{&quot;height&quot;:369.67291338582675,&quot;left&quot;:51.45173228346457,&quot;top&quot;:125.69503937007873,&quot;width&quot;:893.3425984251968}"/>
</p:tagLst>
</file>

<file path=ppt/tags/tag73.xml><?xml version="1.0" encoding="utf-8"?>
<p:tagLst xmlns:p="http://schemas.openxmlformats.org/presentationml/2006/main">
  <p:tag name="KSO_WM_DIAGRAM_VIRTUALLY_FRAME" val="{&quot;height&quot;:369.67291338582675,&quot;left&quot;:51.45173228346457,&quot;top&quot;:125.69503937007873,&quot;width&quot;:893.3425984251968}"/>
</p:tagLst>
</file>

<file path=ppt/tags/tag74.xml><?xml version="1.0" encoding="utf-8"?>
<p:tagLst xmlns:p="http://schemas.openxmlformats.org/presentationml/2006/main">
  <p:tag name="KSO_WM_DIAGRAM_VIRTUALLY_FRAME" val="{&quot;height&quot;:369.67291338582675,&quot;left&quot;:51.45173228346457,&quot;top&quot;:125.69503937007873,&quot;width&quot;:893.3425984251968}"/>
</p:tagLst>
</file>

<file path=ppt/tags/tag75.xml><?xml version="1.0" encoding="utf-8"?>
<p:tagLst xmlns:p="http://schemas.openxmlformats.org/presentationml/2006/main">
  <p:tag name="KSO_WM_DIAGRAM_VIRTUALLY_FRAME" val="{&quot;height&quot;:369.67291338582675,&quot;left&quot;:51.45173228346457,&quot;top&quot;:125.69503937007873,&quot;width&quot;:893.3425984251968}"/>
</p:tagLst>
</file>

<file path=ppt/tags/tag76.xml><?xml version="1.0" encoding="utf-8"?>
<p:tagLst xmlns:p="http://schemas.openxmlformats.org/presentationml/2006/main">
  <p:tag name="KSO_WM_DIAGRAM_VIRTUALLY_FRAME" val="{&quot;height&quot;:369.67291338582675,&quot;left&quot;:51.45173228346457,&quot;top&quot;:125.69503937007873,&quot;width&quot;:893.3425984251968}"/>
</p:tagLst>
</file>

<file path=ppt/tags/tag77.xml><?xml version="1.0" encoding="utf-8"?>
<p:tagLst xmlns:p="http://schemas.openxmlformats.org/presentationml/2006/main">
  <p:tag name="KSO_WM_DIAGRAM_VIRTUALLY_FRAME" val="{&quot;height&quot;:369.67291338582675,&quot;left&quot;:51.45173228346457,&quot;top&quot;:125.69503937007873,&quot;width&quot;:893.3425984251968}"/>
</p:tagLst>
</file>

<file path=ppt/tags/tag78.xml><?xml version="1.0" encoding="utf-8"?>
<p:tagLst xmlns:p="http://schemas.openxmlformats.org/presentationml/2006/main">
  <p:tag name="KSO_WM_DIAGRAM_VIRTUALLY_FRAME" val="{&quot;height&quot;:369.67291338582675,&quot;left&quot;:51.45173228346457,&quot;top&quot;:125.69503937007873,&quot;width&quot;:893.3425984251968}"/>
</p:tagLst>
</file>

<file path=ppt/tags/tag79.xml><?xml version="1.0" encoding="utf-8"?>
<p:tagLst xmlns:p="http://schemas.openxmlformats.org/presentationml/2006/main">
  <p:tag name="KSO_WM_DIAGRAM_VIRTUALLY_FRAME" val="{&quot;height&quot;:369.67291338582675,&quot;left&quot;:51.45173228346457,&quot;top&quot;:125.69503937007873,&quot;width&quot;:893.3425984251968}"/>
</p:tagLst>
</file>

<file path=ppt/tags/tag80.xml><?xml version="1.0" encoding="utf-8"?>
<p:tagLst xmlns:p="http://schemas.openxmlformats.org/presentationml/2006/main">
  <p:tag name="KSO_WM_DIAGRAM_VIRTUALLY_FRAME" val="{&quot;height&quot;:369.67291338582675,&quot;left&quot;:51.45173228346457,&quot;top&quot;:125.69503937007873,&quot;width&quot;:893.3425984251968}"/>
</p:tagLst>
</file>

<file path=ppt/tags/tag81.xml><?xml version="1.0" encoding="utf-8"?>
<p:tagLst xmlns:p="http://schemas.openxmlformats.org/presentationml/2006/main">
  <p:tag name="commondata" val="eyJoZGlkIjoiNmE4YWE2NWM2NjkyMzUxOGRkNDNkNjJlMmYxYjJlZDk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1138</Words>
  <Application>WPS 演示</Application>
  <PresentationFormat>宽屏</PresentationFormat>
  <Paragraphs>62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幼圆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李沅衡</cp:lastModifiedBy>
  <cp:revision>165</cp:revision>
  <dcterms:created xsi:type="dcterms:W3CDTF">2019-06-19T02:08:00Z</dcterms:created>
  <dcterms:modified xsi:type="dcterms:W3CDTF">2024-05-29T08:45:20Z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F58CB6F18F594ECDB9F84C246257D701_11</vt:lpwstr>
  </property>
</Properties>
</file>