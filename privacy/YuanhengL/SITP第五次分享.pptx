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8" r:id="rId3"/>
    <p:sldId id="257" r:id="rId4"/>
  </p:sldIdLst>
  <p:sldSz cx="12192000" cy="6858000"/>
  <p:notesSz cx="6858000" cy="9144000"/>
  <p:custDataLst>
    <p:tags r:id="rId1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1"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 clrIdx="0"/>
  <p:cmAuthor id="2" name=" " initials=" " lastIdx="1" clrIdx="1"/>
  <p:cmAuthor id="3" name="shirley" initials="s" lastIdx="0"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41"/>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commentAuthors" Target="commentAuthors.xml"/><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gs" Target="tags/tag8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3DABDA-89F0-4727-B28F-05A90B0069B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tags" Target="../tags/tag65.xml"/><Relationship Id="rId22" Type="http://schemas.openxmlformats.org/officeDocument/2006/relationships/notesSlide" Target="../notesSlides/notesSlide1.xml"/><Relationship Id="rId21" Type="http://schemas.openxmlformats.org/officeDocument/2006/relationships/slideLayout" Target="../slideLayouts/slideLayout6.xml"/><Relationship Id="rId20" Type="http://schemas.openxmlformats.org/officeDocument/2006/relationships/image" Target="../media/image2.png"/><Relationship Id="rId2" Type="http://schemas.openxmlformats.org/officeDocument/2006/relationships/tags" Target="../tags/tag64.xml"/><Relationship Id="rId19" Type="http://schemas.openxmlformats.org/officeDocument/2006/relationships/image" Target="../media/image1.png"/><Relationship Id="rId18" Type="http://schemas.openxmlformats.org/officeDocument/2006/relationships/tags" Target="../tags/tag80.xml"/><Relationship Id="rId17" Type="http://schemas.openxmlformats.org/officeDocument/2006/relationships/tags" Target="../tags/tag79.xml"/><Relationship Id="rId16" Type="http://schemas.openxmlformats.org/officeDocument/2006/relationships/tags" Target="../tags/tag78.xml"/><Relationship Id="rId15" Type="http://schemas.openxmlformats.org/officeDocument/2006/relationships/tags" Target="../tags/tag77.xml"/><Relationship Id="rId14" Type="http://schemas.openxmlformats.org/officeDocument/2006/relationships/tags" Target="../tags/tag76.xml"/><Relationship Id="rId13" Type="http://schemas.openxmlformats.org/officeDocument/2006/relationships/tags" Target="../tags/tag75.xml"/><Relationship Id="rId12" Type="http://schemas.openxmlformats.org/officeDocument/2006/relationships/tags" Target="../tags/tag74.xml"/><Relationship Id="rId11" Type="http://schemas.openxmlformats.org/officeDocument/2006/relationships/tags" Target="../tags/tag73.xml"/><Relationship Id="rId10" Type="http://schemas.openxmlformats.org/officeDocument/2006/relationships/tags" Target="../tags/tag72.xml"/><Relationship Id="rId1" Type="http://schemas.openxmlformats.org/officeDocument/2006/relationships/tags" Target="../tags/tag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416560" y="49530"/>
            <a:ext cx="11107420" cy="6667500"/>
          </a:xfrm>
          <a:prstGeom prst="rect">
            <a:avLst/>
          </a:prstGeom>
        </p:spPr>
        <p:txBody>
          <a:bodyPr wrap="square">
            <a:spAutoFit/>
          </a:bodyPr>
          <a:p>
            <a:pPr indent="0" fontAlgn="auto">
              <a:lnSpc>
                <a:spcPct val="115000"/>
              </a:lnSpc>
            </a:pPr>
            <a:r>
              <a:rPr lang="en-US" altLang="zh-CN" sz="2000" b="1">
                <a:solidFill>
                  <a:srgbClr val="333333"/>
                </a:solidFill>
                <a:latin typeface="Calibri" panose="020F0502020204030204" charset="0"/>
                <a:cs typeface="Calibri" panose="020F0502020204030204" charset="0"/>
              </a:rPr>
              <a:t>1. Spider</a:t>
            </a:r>
            <a:r>
              <a:rPr lang="zh-CN" altLang="en-US" sz="2000" b="1">
                <a:solidFill>
                  <a:srgbClr val="333333"/>
                </a:solidFill>
                <a:latin typeface="Calibri" panose="020F0502020204030204" charset="0"/>
                <a:cs typeface="Calibri" panose="020F0502020204030204" charset="0"/>
              </a:rPr>
              <a:t>数据集 </a:t>
            </a:r>
            <a:endParaRPr lang="zh-CN" altLang="en-US" sz="2000" b="1">
              <a:solidFill>
                <a:srgbClr val="333333"/>
              </a:solidFill>
              <a:latin typeface="Calibri" panose="020F0502020204030204" charset="0"/>
              <a:cs typeface="Calibri" panose="020F0502020204030204" charset="0"/>
            </a:endParaRPr>
          </a:p>
          <a:p>
            <a:pPr indent="0" fontAlgn="auto">
              <a:lnSpc>
                <a:spcPct val="115000"/>
              </a:lnSpc>
            </a:pPr>
            <a:r>
              <a:rPr lang="zh-CN" altLang="en-US" sz="1600">
                <a:solidFill>
                  <a:srgbClr val="333333"/>
                </a:solidFill>
                <a:latin typeface="Calibri" panose="020F0502020204030204" charset="0"/>
                <a:cs typeface="Calibri" panose="020F0502020204030204" charset="0"/>
              </a:rPr>
              <a:t>数据库数量</a:t>
            </a:r>
            <a:r>
              <a:rPr lang="en-US" altLang="zh-CN" sz="1600">
                <a:solidFill>
                  <a:srgbClr val="333333"/>
                </a:solidFill>
                <a:latin typeface="Calibri" panose="020F0502020204030204" charset="0"/>
                <a:cs typeface="Calibri" panose="020F0502020204030204" charset="0"/>
              </a:rPr>
              <a:t>: 200</a:t>
            </a:r>
            <a:r>
              <a:rPr lang="zh-CN" altLang="en-US" sz="1600">
                <a:solidFill>
                  <a:srgbClr val="333333"/>
                </a:solidFill>
                <a:latin typeface="Calibri" panose="020F0502020204030204" charset="0"/>
                <a:cs typeface="Calibri" panose="020F0502020204030204" charset="0"/>
              </a:rPr>
              <a:t>个 </a:t>
            </a:r>
            <a:endParaRPr lang="zh-CN" altLang="en-US" sz="1600">
              <a:solidFill>
                <a:srgbClr val="333333"/>
              </a:solidFill>
              <a:latin typeface="Calibri" panose="020F0502020204030204" charset="0"/>
              <a:cs typeface="Calibri" panose="020F0502020204030204" charset="0"/>
            </a:endParaRPr>
          </a:p>
          <a:p>
            <a:pPr indent="0" fontAlgn="auto">
              <a:lnSpc>
                <a:spcPct val="115000"/>
              </a:lnSpc>
            </a:pPr>
            <a:r>
              <a:rPr lang="zh-CN" altLang="en-US" sz="1600">
                <a:solidFill>
                  <a:srgbClr val="333333"/>
                </a:solidFill>
                <a:latin typeface="Calibri" panose="020F0502020204030204" charset="0"/>
                <a:cs typeface="Calibri" panose="020F0502020204030204" charset="0"/>
              </a:rPr>
              <a:t>领域覆盖</a:t>
            </a:r>
            <a:r>
              <a:rPr lang="en-US" altLang="zh-CN" sz="1600">
                <a:solidFill>
                  <a:srgbClr val="333333"/>
                </a:solidFill>
                <a:latin typeface="Calibri" panose="020F0502020204030204" charset="0"/>
                <a:cs typeface="Calibri" panose="020F0502020204030204" charset="0"/>
              </a:rPr>
              <a:t>: 138</a:t>
            </a:r>
            <a:r>
              <a:rPr lang="zh-CN" altLang="en-US" sz="1600">
                <a:solidFill>
                  <a:srgbClr val="333333"/>
                </a:solidFill>
                <a:latin typeface="Calibri" panose="020F0502020204030204" charset="0"/>
                <a:cs typeface="Calibri" panose="020F0502020204030204" charset="0"/>
              </a:rPr>
              <a:t>个不同领域 </a:t>
            </a:r>
            <a:endParaRPr lang="zh-CN" altLang="en-US" sz="1600">
              <a:solidFill>
                <a:srgbClr val="333333"/>
              </a:solidFill>
              <a:latin typeface="Calibri" panose="020F0502020204030204" charset="0"/>
              <a:cs typeface="Calibri" panose="020F0502020204030204" charset="0"/>
            </a:endParaRPr>
          </a:p>
          <a:p>
            <a:pPr indent="0" fontAlgn="auto">
              <a:lnSpc>
                <a:spcPct val="115000"/>
              </a:lnSpc>
            </a:pPr>
            <a:r>
              <a:rPr lang="zh-CN" altLang="en-US" sz="1600">
                <a:solidFill>
                  <a:srgbClr val="333333"/>
                </a:solidFill>
                <a:latin typeface="Calibri" panose="020F0502020204030204" charset="0"/>
                <a:cs typeface="Calibri" panose="020F0502020204030204" charset="0"/>
              </a:rPr>
              <a:t>平均统计</a:t>
            </a:r>
            <a:r>
              <a:rPr lang="en-US" altLang="zh-CN" sz="1600">
                <a:solidFill>
                  <a:srgbClr val="333333"/>
                </a:solidFill>
                <a:latin typeface="Calibri" panose="020F0502020204030204" charset="0"/>
                <a:cs typeface="Calibri" panose="020F0502020204030204" charset="0"/>
              </a:rPr>
              <a:t>: </a:t>
            </a:r>
            <a:r>
              <a:rPr lang="zh-CN" altLang="en-US" sz="1600">
                <a:solidFill>
                  <a:srgbClr val="333333"/>
                </a:solidFill>
                <a:latin typeface="Calibri" panose="020F0502020204030204" charset="0"/>
                <a:cs typeface="Calibri" panose="020F0502020204030204" charset="0"/>
              </a:rPr>
              <a:t>每个数据库平均含</a:t>
            </a:r>
            <a:r>
              <a:rPr lang="en-US" altLang="zh-CN" sz="1600">
                <a:solidFill>
                  <a:srgbClr val="333333"/>
                </a:solidFill>
                <a:latin typeface="Calibri" panose="020F0502020204030204" charset="0"/>
                <a:cs typeface="Calibri" panose="020F0502020204030204" charset="0"/>
              </a:rPr>
              <a:t>27.6</a:t>
            </a:r>
            <a:r>
              <a:rPr lang="zh-CN" altLang="en-US" sz="1600">
                <a:solidFill>
                  <a:srgbClr val="333333"/>
                </a:solidFill>
                <a:latin typeface="Calibri" panose="020F0502020204030204" charset="0"/>
                <a:cs typeface="Calibri" panose="020F0502020204030204" charset="0"/>
              </a:rPr>
              <a:t>个列和</a:t>
            </a:r>
            <a:r>
              <a:rPr lang="en-US" altLang="zh-CN" sz="1600">
                <a:solidFill>
                  <a:srgbClr val="333333"/>
                </a:solidFill>
                <a:latin typeface="Calibri" panose="020F0502020204030204" charset="0"/>
                <a:cs typeface="Calibri" panose="020F0502020204030204" charset="0"/>
              </a:rPr>
              <a:t>8.8</a:t>
            </a:r>
            <a:r>
              <a:rPr lang="zh-CN" altLang="en-US" sz="1600">
                <a:solidFill>
                  <a:srgbClr val="333333"/>
                </a:solidFill>
                <a:latin typeface="Calibri" panose="020F0502020204030204" charset="0"/>
                <a:cs typeface="Calibri" panose="020F0502020204030204" charset="0"/>
              </a:rPr>
              <a:t>个外键 </a:t>
            </a:r>
            <a:endParaRPr lang="zh-CN" altLang="en-US" sz="1600">
              <a:solidFill>
                <a:srgbClr val="333333"/>
              </a:solidFill>
              <a:latin typeface="Calibri" panose="020F0502020204030204" charset="0"/>
              <a:cs typeface="Calibri" panose="020F0502020204030204" charset="0"/>
            </a:endParaRPr>
          </a:p>
          <a:p>
            <a:pPr indent="0" fontAlgn="auto">
              <a:lnSpc>
                <a:spcPct val="115000"/>
              </a:lnSpc>
            </a:pPr>
            <a:r>
              <a:rPr lang="zh-CN" altLang="en-US" sz="1600">
                <a:solidFill>
                  <a:srgbClr val="333333"/>
                </a:solidFill>
                <a:latin typeface="Calibri" panose="020F0502020204030204" charset="0"/>
                <a:cs typeface="Calibri" panose="020F0502020204030204" charset="0"/>
              </a:rPr>
              <a:t>问题与查询</a:t>
            </a:r>
            <a:r>
              <a:rPr lang="en-US" altLang="zh-CN" sz="1600">
                <a:solidFill>
                  <a:srgbClr val="333333"/>
                </a:solidFill>
                <a:latin typeface="Calibri" panose="020F0502020204030204" charset="0"/>
                <a:cs typeface="Calibri" panose="020F0502020204030204" charset="0"/>
              </a:rPr>
              <a:t>: </a:t>
            </a:r>
            <a:r>
              <a:rPr lang="zh-CN" altLang="en-US" sz="1600">
                <a:solidFill>
                  <a:srgbClr val="333333"/>
                </a:solidFill>
                <a:latin typeface="Calibri" panose="020F0502020204030204" charset="0"/>
                <a:cs typeface="Calibri" panose="020F0502020204030204" charset="0"/>
              </a:rPr>
              <a:t>包含</a:t>
            </a:r>
            <a:r>
              <a:rPr lang="en-US" altLang="zh-CN" sz="1600">
                <a:solidFill>
                  <a:srgbClr val="333333"/>
                </a:solidFill>
                <a:latin typeface="Calibri" panose="020F0502020204030204" charset="0"/>
                <a:cs typeface="Calibri" panose="020F0502020204030204" charset="0"/>
              </a:rPr>
              <a:t>10,181</a:t>
            </a:r>
            <a:r>
              <a:rPr lang="zh-CN" altLang="en-US" sz="1600">
                <a:solidFill>
                  <a:srgbClr val="333333"/>
                </a:solidFill>
                <a:latin typeface="Calibri" panose="020F0502020204030204" charset="0"/>
                <a:cs typeface="Calibri" panose="020F0502020204030204" charset="0"/>
              </a:rPr>
              <a:t>个问题和</a:t>
            </a:r>
            <a:r>
              <a:rPr lang="en-US" altLang="zh-CN" sz="1600">
                <a:solidFill>
                  <a:srgbClr val="333333"/>
                </a:solidFill>
                <a:latin typeface="Calibri" panose="020F0502020204030204" charset="0"/>
                <a:cs typeface="Calibri" panose="020F0502020204030204" charset="0"/>
              </a:rPr>
              <a:t>5,693</a:t>
            </a:r>
            <a:r>
              <a:rPr lang="zh-CN" altLang="en-US" sz="1600">
                <a:solidFill>
                  <a:srgbClr val="333333"/>
                </a:solidFill>
                <a:latin typeface="Calibri" panose="020F0502020204030204" charset="0"/>
                <a:cs typeface="Calibri" panose="020F0502020204030204" charset="0"/>
              </a:rPr>
              <a:t>个复杂</a:t>
            </a:r>
            <a:r>
              <a:rPr lang="en-US" altLang="zh-CN" sz="1600">
                <a:solidFill>
                  <a:srgbClr val="333333"/>
                </a:solidFill>
                <a:latin typeface="Calibri" panose="020F0502020204030204" charset="0"/>
                <a:cs typeface="Calibri" panose="020F0502020204030204" charset="0"/>
              </a:rPr>
              <a:t>SQL</a:t>
            </a:r>
            <a:r>
              <a:rPr lang="zh-CN" altLang="en-US" sz="1600">
                <a:solidFill>
                  <a:srgbClr val="333333"/>
                </a:solidFill>
                <a:latin typeface="Calibri" panose="020F0502020204030204" charset="0"/>
                <a:cs typeface="Calibri" panose="020F0502020204030204" charset="0"/>
              </a:rPr>
              <a:t>查询 </a:t>
            </a:r>
            <a:endParaRPr lang="zh-CN" altLang="en-US" sz="1600">
              <a:solidFill>
                <a:srgbClr val="333333"/>
              </a:solidFill>
              <a:latin typeface="Calibri" panose="020F0502020204030204" charset="0"/>
              <a:cs typeface="Calibri" panose="020F0502020204030204" charset="0"/>
            </a:endParaRPr>
          </a:p>
          <a:p>
            <a:pPr indent="0" fontAlgn="auto">
              <a:lnSpc>
                <a:spcPct val="115000"/>
              </a:lnSpc>
            </a:pPr>
            <a:r>
              <a:rPr lang="en-US" altLang="zh-CN" sz="2000" b="1">
                <a:solidFill>
                  <a:srgbClr val="333333"/>
                </a:solidFill>
                <a:latin typeface="Calibri" panose="020F0502020204030204" charset="0"/>
                <a:cs typeface="Calibri" panose="020F0502020204030204" charset="0"/>
              </a:rPr>
              <a:t>2. </a:t>
            </a:r>
            <a:r>
              <a:rPr lang="zh-CN" altLang="en-US" sz="2000" b="1">
                <a:solidFill>
                  <a:srgbClr val="333333"/>
                </a:solidFill>
                <a:latin typeface="Calibri" panose="020F0502020204030204" charset="0"/>
                <a:cs typeface="Calibri" panose="020F0502020204030204" charset="0"/>
              </a:rPr>
              <a:t>数据集特点与任务</a:t>
            </a:r>
            <a:endParaRPr lang="zh-CN" altLang="en-US" sz="2000">
              <a:solidFill>
                <a:srgbClr val="333333"/>
              </a:solidFill>
              <a:latin typeface="Calibri" panose="020F0502020204030204" charset="0"/>
              <a:cs typeface="Calibri" panose="020F0502020204030204" charset="0"/>
            </a:endParaRPr>
          </a:p>
          <a:p>
            <a:pPr indent="0" fontAlgn="auto">
              <a:lnSpc>
                <a:spcPct val="115000"/>
              </a:lnSpc>
            </a:pPr>
            <a:r>
              <a:rPr lang="zh-CN" altLang="en-US" sz="1600" b="1">
                <a:solidFill>
                  <a:srgbClr val="333333"/>
                </a:solidFill>
                <a:latin typeface="Calibri" panose="020F0502020204030204" charset="0"/>
                <a:cs typeface="Calibri" panose="020F0502020204030204" charset="0"/>
              </a:rPr>
              <a:t>特点</a:t>
            </a:r>
            <a:r>
              <a:rPr lang="en-US" altLang="zh-CN" sz="1600" b="1">
                <a:solidFill>
                  <a:srgbClr val="333333"/>
                </a:solidFill>
                <a:latin typeface="Calibri" panose="020F0502020204030204" charset="0"/>
                <a:cs typeface="Calibri" panose="020F0502020204030204" charset="0"/>
              </a:rPr>
              <a:t>:</a:t>
            </a:r>
            <a:r>
              <a:rPr lang="en-US" altLang="zh-CN" sz="1600">
                <a:solidFill>
                  <a:srgbClr val="333333"/>
                </a:solidFill>
                <a:latin typeface="Calibri" panose="020F0502020204030204" charset="0"/>
                <a:cs typeface="Calibri" panose="020F0502020204030204" charset="0"/>
              </a:rPr>
              <a:t> </a:t>
            </a:r>
            <a:endParaRPr lang="en-US" altLang="zh-CN" sz="1600">
              <a:solidFill>
                <a:srgbClr val="333333"/>
              </a:solidFill>
              <a:latin typeface="Calibri" panose="020F0502020204030204" charset="0"/>
              <a:cs typeface="Calibri" panose="020F0502020204030204" charset="0"/>
            </a:endParaRPr>
          </a:p>
          <a:p>
            <a:pPr indent="0" fontAlgn="auto">
              <a:lnSpc>
                <a:spcPct val="115000"/>
              </a:lnSpc>
            </a:pPr>
            <a:r>
              <a:rPr lang="en-US" altLang="zh-CN" sz="1600">
                <a:solidFill>
                  <a:srgbClr val="333333"/>
                </a:solidFill>
                <a:latin typeface="Calibri" panose="020F0502020204030204" charset="0"/>
                <a:cs typeface="Calibri" panose="020F0502020204030204" charset="0"/>
              </a:rPr>
              <a:t>SQL</a:t>
            </a:r>
            <a:r>
              <a:rPr lang="zh-CN" altLang="en-US" sz="1600">
                <a:solidFill>
                  <a:srgbClr val="333333"/>
                </a:solidFill>
                <a:latin typeface="Calibri" panose="020F0502020204030204" charset="0"/>
                <a:cs typeface="Calibri" panose="020F0502020204030204" charset="0"/>
              </a:rPr>
              <a:t>模式覆盖</a:t>
            </a:r>
            <a:r>
              <a:rPr lang="en-US" altLang="zh-CN" sz="1600">
                <a:solidFill>
                  <a:srgbClr val="333333"/>
                </a:solidFill>
                <a:latin typeface="Calibri" panose="020F0502020204030204" charset="0"/>
                <a:cs typeface="Calibri" panose="020F0502020204030204" charset="0"/>
              </a:rPr>
              <a:t>: </a:t>
            </a:r>
            <a:r>
              <a:rPr lang="zh-CN" altLang="en-US" sz="1600">
                <a:solidFill>
                  <a:srgbClr val="333333"/>
                </a:solidFill>
                <a:latin typeface="Calibri" panose="020F0502020204030204" charset="0"/>
                <a:cs typeface="Calibri" panose="020F0502020204030204" charset="0"/>
              </a:rPr>
              <a:t>示例覆盖常见</a:t>
            </a:r>
            <a:r>
              <a:rPr lang="en-US" altLang="zh-CN" sz="1600">
                <a:solidFill>
                  <a:srgbClr val="333333"/>
                </a:solidFill>
                <a:latin typeface="Calibri" panose="020F0502020204030204" charset="0"/>
                <a:cs typeface="Calibri" panose="020F0502020204030204" charset="0"/>
              </a:rPr>
              <a:t>SQL</a:t>
            </a:r>
            <a:r>
              <a:rPr lang="zh-CN" altLang="en-US" sz="1600">
                <a:solidFill>
                  <a:srgbClr val="333333"/>
                </a:solidFill>
                <a:latin typeface="Calibri" panose="020F0502020204030204" charset="0"/>
                <a:cs typeface="Calibri" panose="020F0502020204030204" charset="0"/>
              </a:rPr>
              <a:t>模式，如</a:t>
            </a:r>
            <a:r>
              <a:rPr lang="en-US" altLang="zh-CN" sz="1600">
                <a:solidFill>
                  <a:srgbClr val="333333"/>
                </a:solidFill>
                <a:latin typeface="Calibri" panose="020F0502020204030204" charset="0"/>
                <a:cs typeface="Calibri" panose="020F0502020204030204" charset="0"/>
              </a:rPr>
              <a:t>SELECT</a:t>
            </a:r>
            <a:r>
              <a:rPr lang="zh-CN" altLang="en-US" sz="1600">
                <a:solidFill>
                  <a:srgbClr val="333333"/>
                </a:solidFill>
                <a:latin typeface="Calibri" panose="020F0502020204030204" charset="0"/>
                <a:cs typeface="Calibri" panose="020F0502020204030204" charset="0"/>
              </a:rPr>
              <a:t>、</a:t>
            </a:r>
            <a:r>
              <a:rPr lang="en-US" altLang="zh-CN" sz="1600">
                <a:solidFill>
                  <a:srgbClr val="333333"/>
                </a:solidFill>
                <a:latin typeface="Calibri" panose="020F0502020204030204" charset="0"/>
                <a:cs typeface="Calibri" panose="020F0502020204030204" charset="0"/>
              </a:rPr>
              <a:t>JOIN</a:t>
            </a:r>
            <a:r>
              <a:rPr lang="zh-CN" altLang="en-US" sz="1600">
                <a:solidFill>
                  <a:srgbClr val="333333"/>
                </a:solidFill>
                <a:latin typeface="Calibri" panose="020F0502020204030204" charset="0"/>
                <a:cs typeface="Calibri" panose="020F0502020204030204" charset="0"/>
              </a:rPr>
              <a:t>、</a:t>
            </a:r>
            <a:r>
              <a:rPr lang="en-US" altLang="zh-CN" sz="1600">
                <a:solidFill>
                  <a:srgbClr val="333333"/>
                </a:solidFill>
                <a:latin typeface="Calibri" panose="020F0502020204030204" charset="0"/>
                <a:cs typeface="Calibri" panose="020F0502020204030204" charset="0"/>
              </a:rPr>
              <a:t>GROUP BY</a:t>
            </a:r>
            <a:r>
              <a:rPr lang="zh-CN" altLang="en-US" sz="1600">
                <a:solidFill>
                  <a:srgbClr val="333333"/>
                </a:solidFill>
                <a:latin typeface="Calibri" panose="020F0502020204030204" charset="0"/>
                <a:cs typeface="Calibri" panose="020F0502020204030204" charset="0"/>
              </a:rPr>
              <a:t>等 </a:t>
            </a:r>
            <a:endParaRPr lang="zh-CN" altLang="en-US" sz="1600">
              <a:solidFill>
                <a:srgbClr val="333333"/>
              </a:solidFill>
              <a:latin typeface="Calibri" panose="020F0502020204030204" charset="0"/>
              <a:cs typeface="Calibri" panose="020F0502020204030204" charset="0"/>
            </a:endParaRPr>
          </a:p>
          <a:p>
            <a:pPr indent="0" fontAlgn="auto">
              <a:lnSpc>
                <a:spcPct val="115000"/>
              </a:lnSpc>
            </a:pPr>
            <a:r>
              <a:rPr lang="en-US" altLang="zh-CN" sz="1600">
                <a:solidFill>
                  <a:srgbClr val="333333"/>
                </a:solidFill>
                <a:latin typeface="Calibri" panose="020F0502020204030204" charset="0"/>
                <a:cs typeface="Calibri" panose="020F0502020204030204" charset="0"/>
              </a:rPr>
              <a:t>SQL</a:t>
            </a:r>
            <a:r>
              <a:rPr lang="zh-CN" altLang="en-US" sz="1600">
                <a:solidFill>
                  <a:srgbClr val="333333"/>
                </a:solidFill>
                <a:latin typeface="Calibri" panose="020F0502020204030204" charset="0"/>
                <a:cs typeface="Calibri" panose="020F0502020204030204" charset="0"/>
              </a:rPr>
              <a:t>一致性</a:t>
            </a:r>
            <a:r>
              <a:rPr lang="en-US" altLang="zh-CN" sz="1600">
                <a:solidFill>
                  <a:srgbClr val="333333"/>
                </a:solidFill>
                <a:latin typeface="Calibri" panose="020F0502020204030204" charset="0"/>
                <a:cs typeface="Calibri" panose="020F0502020204030204" charset="0"/>
              </a:rPr>
              <a:t>: </a:t>
            </a:r>
            <a:r>
              <a:rPr lang="zh-CN" altLang="en-US" sz="1600">
                <a:solidFill>
                  <a:srgbClr val="333333"/>
                </a:solidFill>
                <a:latin typeface="Calibri" panose="020F0502020204030204" charset="0"/>
                <a:cs typeface="Calibri" panose="020F0502020204030204" charset="0"/>
              </a:rPr>
              <a:t>设计标注协议以保持查询方式一致性 </a:t>
            </a:r>
            <a:endParaRPr lang="zh-CN" altLang="en-US" sz="1600">
              <a:solidFill>
                <a:srgbClr val="333333"/>
              </a:solidFill>
              <a:latin typeface="Calibri" panose="020F0502020204030204" charset="0"/>
              <a:cs typeface="Calibri" panose="020F0502020204030204" charset="0"/>
            </a:endParaRPr>
          </a:p>
          <a:p>
            <a:pPr indent="0" fontAlgn="auto">
              <a:lnSpc>
                <a:spcPct val="115000"/>
              </a:lnSpc>
            </a:pPr>
            <a:r>
              <a:rPr lang="zh-CN" altLang="en-US" sz="1600">
                <a:solidFill>
                  <a:srgbClr val="333333"/>
                </a:solidFill>
                <a:latin typeface="Calibri" panose="020F0502020204030204" charset="0"/>
                <a:cs typeface="Calibri" panose="020F0502020204030204" charset="0"/>
              </a:rPr>
              <a:t>问题清晰化</a:t>
            </a:r>
            <a:r>
              <a:rPr lang="en-US" altLang="zh-CN" sz="1600">
                <a:solidFill>
                  <a:srgbClr val="333333"/>
                </a:solidFill>
                <a:latin typeface="Calibri" panose="020F0502020204030204" charset="0"/>
                <a:cs typeface="Calibri" panose="020F0502020204030204" charset="0"/>
              </a:rPr>
              <a:t>: </a:t>
            </a:r>
            <a:r>
              <a:rPr lang="zh-CN" altLang="en-US" sz="1600">
                <a:solidFill>
                  <a:srgbClr val="333333"/>
                </a:solidFill>
                <a:latin typeface="Calibri" panose="020F0502020204030204" charset="0"/>
                <a:cs typeface="Calibri" panose="020F0502020204030204" charset="0"/>
              </a:rPr>
              <a:t>避免模糊或需要外部知识的问题 </a:t>
            </a:r>
            <a:endParaRPr lang="zh-CN" altLang="en-US" sz="1600">
              <a:solidFill>
                <a:srgbClr val="333333"/>
              </a:solidFill>
              <a:latin typeface="Calibri" panose="020F0502020204030204" charset="0"/>
              <a:cs typeface="Calibri" panose="020F0502020204030204" charset="0"/>
            </a:endParaRPr>
          </a:p>
          <a:p>
            <a:pPr indent="0" fontAlgn="auto">
              <a:lnSpc>
                <a:spcPct val="115000"/>
              </a:lnSpc>
            </a:pPr>
            <a:r>
              <a:rPr lang="zh-CN" altLang="en-US" sz="1600" b="1">
                <a:solidFill>
                  <a:srgbClr val="333333"/>
                </a:solidFill>
                <a:latin typeface="Calibri" panose="020F0502020204030204" charset="0"/>
                <a:cs typeface="Calibri" panose="020F0502020204030204" charset="0"/>
              </a:rPr>
              <a:t>任务</a:t>
            </a:r>
            <a:r>
              <a:rPr lang="en-US" altLang="zh-CN" sz="1600" b="1">
                <a:solidFill>
                  <a:srgbClr val="333333"/>
                </a:solidFill>
                <a:latin typeface="Calibri" panose="020F0502020204030204" charset="0"/>
                <a:cs typeface="Calibri" panose="020F0502020204030204" charset="0"/>
              </a:rPr>
              <a:t>: </a:t>
            </a:r>
            <a:endParaRPr lang="en-US" altLang="zh-CN" sz="1600" b="1">
              <a:solidFill>
                <a:srgbClr val="333333"/>
              </a:solidFill>
              <a:latin typeface="Calibri" panose="020F0502020204030204" charset="0"/>
              <a:cs typeface="Calibri" panose="020F0502020204030204" charset="0"/>
            </a:endParaRPr>
          </a:p>
          <a:p>
            <a:pPr indent="0" fontAlgn="auto">
              <a:lnSpc>
                <a:spcPct val="115000"/>
              </a:lnSpc>
            </a:pPr>
            <a:r>
              <a:rPr lang="zh-CN" altLang="en-US" sz="1600">
                <a:solidFill>
                  <a:srgbClr val="333333"/>
                </a:solidFill>
                <a:latin typeface="Calibri" panose="020F0502020204030204" charset="0"/>
                <a:cs typeface="Calibri" panose="020F0502020204030204" charset="0"/>
              </a:rPr>
              <a:t>目标</a:t>
            </a:r>
            <a:r>
              <a:rPr lang="en-US" altLang="zh-CN" sz="1600">
                <a:solidFill>
                  <a:srgbClr val="333333"/>
                </a:solidFill>
                <a:latin typeface="Calibri" panose="020F0502020204030204" charset="0"/>
                <a:cs typeface="Calibri" panose="020F0502020204030204" charset="0"/>
              </a:rPr>
              <a:t>: </a:t>
            </a:r>
            <a:r>
              <a:rPr lang="zh-CN" altLang="en-US" sz="1600">
                <a:solidFill>
                  <a:srgbClr val="333333"/>
                </a:solidFill>
                <a:latin typeface="Calibri" panose="020F0502020204030204" charset="0"/>
                <a:cs typeface="Calibri" panose="020F0502020204030204" charset="0"/>
              </a:rPr>
              <a:t>测试模型在理解问题语义及对新数据库的泛化能力 </a:t>
            </a:r>
            <a:endParaRPr lang="zh-CN" altLang="en-US" sz="1600">
              <a:solidFill>
                <a:srgbClr val="333333"/>
              </a:solidFill>
              <a:latin typeface="Calibri" panose="020F0502020204030204" charset="0"/>
              <a:cs typeface="Calibri" panose="020F0502020204030204" charset="0"/>
            </a:endParaRPr>
          </a:p>
          <a:p>
            <a:pPr indent="0" fontAlgn="auto">
              <a:lnSpc>
                <a:spcPct val="115000"/>
              </a:lnSpc>
            </a:pPr>
            <a:r>
              <a:rPr lang="zh-CN" altLang="en-US" sz="1600">
                <a:solidFill>
                  <a:srgbClr val="333333"/>
                </a:solidFill>
                <a:latin typeface="Calibri" panose="020F0502020204030204" charset="0"/>
                <a:cs typeface="Calibri" panose="020F0502020204030204" charset="0"/>
              </a:rPr>
              <a:t>评价侧重</a:t>
            </a:r>
            <a:r>
              <a:rPr lang="en-US" altLang="zh-CN" sz="1600">
                <a:solidFill>
                  <a:srgbClr val="333333"/>
                </a:solidFill>
                <a:latin typeface="Calibri" panose="020F0502020204030204" charset="0"/>
                <a:cs typeface="Calibri" panose="020F0502020204030204" charset="0"/>
              </a:rPr>
              <a:t>: </a:t>
            </a:r>
            <a:r>
              <a:rPr lang="zh-CN" altLang="en-US" sz="1600">
                <a:solidFill>
                  <a:srgbClr val="333333"/>
                </a:solidFill>
                <a:latin typeface="Calibri" panose="020F0502020204030204" charset="0"/>
                <a:cs typeface="Calibri" panose="020F0502020204030204" charset="0"/>
              </a:rPr>
              <a:t>预测正确的</a:t>
            </a:r>
            <a:r>
              <a:rPr lang="en-US" altLang="zh-CN" sz="1600">
                <a:solidFill>
                  <a:srgbClr val="333333"/>
                </a:solidFill>
                <a:latin typeface="Calibri" panose="020F0502020204030204" charset="0"/>
                <a:cs typeface="Calibri" panose="020F0502020204030204" charset="0"/>
              </a:rPr>
              <a:t>SQL</a:t>
            </a:r>
            <a:r>
              <a:rPr lang="zh-CN" altLang="en-US" sz="1600">
                <a:solidFill>
                  <a:srgbClr val="333333"/>
                </a:solidFill>
                <a:latin typeface="Calibri" panose="020F0502020204030204" charset="0"/>
                <a:cs typeface="Calibri" panose="020F0502020204030204" charset="0"/>
              </a:rPr>
              <a:t>结构和列名，而非生成具体值 </a:t>
            </a:r>
            <a:endParaRPr lang="zh-CN" altLang="en-US" sz="1600">
              <a:solidFill>
                <a:srgbClr val="333333"/>
              </a:solidFill>
              <a:latin typeface="Calibri" panose="020F0502020204030204" charset="0"/>
              <a:cs typeface="Calibri" panose="020F0502020204030204" charset="0"/>
            </a:endParaRPr>
          </a:p>
          <a:p>
            <a:pPr indent="0" fontAlgn="auto">
              <a:lnSpc>
                <a:spcPct val="115000"/>
              </a:lnSpc>
            </a:pPr>
            <a:r>
              <a:rPr lang="en-US" altLang="zh-CN" sz="2000" b="1">
                <a:solidFill>
                  <a:srgbClr val="333333"/>
                </a:solidFill>
                <a:latin typeface="Calibri" panose="020F0502020204030204" charset="0"/>
                <a:cs typeface="Calibri" panose="020F0502020204030204" charset="0"/>
              </a:rPr>
              <a:t>3. </a:t>
            </a:r>
            <a:r>
              <a:rPr lang="zh-CN" altLang="en-US" sz="2000" b="1">
                <a:solidFill>
                  <a:srgbClr val="333333"/>
                </a:solidFill>
                <a:latin typeface="Calibri" panose="020F0502020204030204" charset="0"/>
                <a:cs typeface="Calibri" panose="020F0502020204030204" charset="0"/>
              </a:rPr>
              <a:t>评价指标</a:t>
            </a:r>
            <a:r>
              <a:rPr lang="zh-CN" altLang="en-US" sz="2400">
                <a:solidFill>
                  <a:srgbClr val="333333"/>
                </a:solidFill>
                <a:latin typeface="Calibri" panose="020F0502020204030204" charset="0"/>
                <a:cs typeface="Calibri" panose="020F0502020204030204" charset="0"/>
              </a:rPr>
              <a:t> </a:t>
            </a:r>
            <a:endParaRPr lang="zh-CN" altLang="en-US" sz="2400">
              <a:solidFill>
                <a:srgbClr val="333333"/>
              </a:solidFill>
              <a:latin typeface="Calibri" panose="020F0502020204030204" charset="0"/>
              <a:cs typeface="Calibri" panose="020F0502020204030204" charset="0"/>
            </a:endParaRPr>
          </a:p>
          <a:p>
            <a:pPr indent="0" fontAlgn="auto">
              <a:lnSpc>
                <a:spcPct val="115000"/>
              </a:lnSpc>
            </a:pPr>
            <a:r>
              <a:rPr lang="en-US" altLang="zh-CN" sz="1600">
                <a:solidFill>
                  <a:srgbClr val="333333"/>
                </a:solidFill>
                <a:latin typeface="Calibri" panose="020F0502020204030204" charset="0"/>
                <a:cs typeface="Calibri" panose="020F0502020204030204" charset="0"/>
              </a:rPr>
              <a:t>Component Matching: </a:t>
            </a:r>
            <a:r>
              <a:rPr lang="zh-CN" altLang="en-US" sz="1600">
                <a:solidFill>
                  <a:srgbClr val="333333"/>
                </a:solidFill>
                <a:latin typeface="Calibri" panose="020F0502020204030204" charset="0"/>
                <a:cs typeface="Calibri" panose="020F0502020204030204" charset="0"/>
              </a:rPr>
              <a:t>衡量预测和真实</a:t>
            </a:r>
            <a:r>
              <a:rPr lang="en-US" altLang="zh-CN" sz="1600">
                <a:solidFill>
                  <a:srgbClr val="333333"/>
                </a:solidFill>
                <a:latin typeface="Calibri" panose="020F0502020204030204" charset="0"/>
                <a:cs typeface="Calibri" panose="020F0502020204030204" charset="0"/>
              </a:rPr>
              <a:t>SQL</a:t>
            </a:r>
            <a:r>
              <a:rPr lang="zh-CN" altLang="en-US" sz="1600">
                <a:solidFill>
                  <a:srgbClr val="333333"/>
                </a:solidFill>
                <a:latin typeface="Calibri" panose="020F0502020204030204" charset="0"/>
                <a:cs typeface="Calibri" panose="020F0502020204030204" charset="0"/>
              </a:rPr>
              <a:t>中不同组件的精确匹配程度 </a:t>
            </a:r>
            <a:endParaRPr lang="zh-CN" altLang="en-US" sz="1600">
              <a:solidFill>
                <a:srgbClr val="333333"/>
              </a:solidFill>
              <a:latin typeface="Calibri" panose="020F0502020204030204" charset="0"/>
              <a:cs typeface="Calibri" panose="020F0502020204030204" charset="0"/>
            </a:endParaRPr>
          </a:p>
          <a:p>
            <a:pPr indent="0" fontAlgn="auto">
              <a:lnSpc>
                <a:spcPct val="115000"/>
              </a:lnSpc>
            </a:pPr>
            <a:r>
              <a:rPr lang="en-US" altLang="zh-CN" sz="1600">
                <a:solidFill>
                  <a:srgbClr val="333333"/>
                </a:solidFill>
                <a:latin typeface="Calibri" panose="020F0502020204030204" charset="0"/>
                <a:cs typeface="Calibri" panose="020F0502020204030204" charset="0"/>
              </a:rPr>
              <a:t>Exact Matching: </a:t>
            </a:r>
            <a:r>
              <a:rPr lang="zh-CN" altLang="en-US" sz="1600">
                <a:solidFill>
                  <a:srgbClr val="333333"/>
                </a:solidFill>
                <a:latin typeface="Calibri" panose="020F0502020204030204" charset="0"/>
                <a:cs typeface="Calibri" panose="020F0502020204030204" charset="0"/>
              </a:rPr>
              <a:t>衡量两个</a:t>
            </a:r>
            <a:r>
              <a:rPr lang="en-US" altLang="zh-CN" sz="1600">
                <a:solidFill>
                  <a:srgbClr val="333333"/>
                </a:solidFill>
                <a:latin typeface="Calibri" panose="020F0502020204030204" charset="0"/>
                <a:cs typeface="Calibri" panose="020F0502020204030204" charset="0"/>
              </a:rPr>
              <a:t>SQL</a:t>
            </a:r>
            <a:r>
              <a:rPr lang="zh-CN" altLang="en-US" sz="1600">
                <a:solidFill>
                  <a:srgbClr val="333333"/>
                </a:solidFill>
                <a:latin typeface="Calibri" panose="020F0502020204030204" charset="0"/>
                <a:cs typeface="Calibri" panose="020F0502020204030204" charset="0"/>
              </a:rPr>
              <a:t>是否整体相同 </a:t>
            </a:r>
            <a:endParaRPr lang="zh-CN" altLang="en-US" sz="1600">
              <a:solidFill>
                <a:srgbClr val="333333"/>
              </a:solidFill>
              <a:latin typeface="Calibri" panose="020F0502020204030204" charset="0"/>
              <a:cs typeface="Calibri" panose="020F0502020204030204" charset="0"/>
            </a:endParaRPr>
          </a:p>
          <a:p>
            <a:pPr indent="0" fontAlgn="auto">
              <a:lnSpc>
                <a:spcPct val="115000"/>
              </a:lnSpc>
            </a:pPr>
            <a:r>
              <a:rPr lang="en-US" altLang="zh-CN" sz="1600">
                <a:solidFill>
                  <a:srgbClr val="333333"/>
                </a:solidFill>
                <a:latin typeface="Calibri" panose="020F0502020204030204" charset="0"/>
                <a:cs typeface="Calibri" panose="020F0502020204030204" charset="0"/>
              </a:rPr>
              <a:t>Execution Accuracy: </a:t>
            </a:r>
            <a:r>
              <a:rPr lang="zh-CN" altLang="en-US" sz="1600">
                <a:solidFill>
                  <a:srgbClr val="333333"/>
                </a:solidFill>
                <a:latin typeface="Calibri" panose="020F0502020204030204" charset="0"/>
                <a:cs typeface="Calibri" panose="020F0502020204030204" charset="0"/>
              </a:rPr>
              <a:t>比较两个</a:t>
            </a:r>
            <a:r>
              <a:rPr lang="en-US" altLang="zh-CN" sz="1600">
                <a:solidFill>
                  <a:srgbClr val="333333"/>
                </a:solidFill>
                <a:latin typeface="Calibri" panose="020F0502020204030204" charset="0"/>
                <a:cs typeface="Calibri" panose="020F0502020204030204" charset="0"/>
              </a:rPr>
              <a:t>SQL</a:t>
            </a:r>
            <a:r>
              <a:rPr lang="zh-CN" altLang="en-US" sz="1600">
                <a:solidFill>
                  <a:srgbClr val="333333"/>
                </a:solidFill>
                <a:latin typeface="Calibri" panose="020F0502020204030204" charset="0"/>
                <a:cs typeface="Calibri" panose="020F0502020204030204" charset="0"/>
              </a:rPr>
              <a:t>执行结果是否一致 </a:t>
            </a:r>
            <a:endParaRPr lang="zh-CN" altLang="en-US" sz="1600">
              <a:solidFill>
                <a:srgbClr val="333333"/>
              </a:solidFill>
              <a:latin typeface="Calibri" panose="020F0502020204030204" charset="0"/>
              <a:cs typeface="Calibri" panose="020F0502020204030204" charset="0"/>
            </a:endParaRPr>
          </a:p>
          <a:p>
            <a:pPr indent="0" fontAlgn="auto">
              <a:lnSpc>
                <a:spcPct val="115000"/>
              </a:lnSpc>
            </a:pPr>
            <a:r>
              <a:rPr lang="en-US" altLang="zh-CN" sz="2000" b="1">
                <a:solidFill>
                  <a:srgbClr val="333333"/>
                </a:solidFill>
                <a:latin typeface="Calibri" panose="020F0502020204030204" charset="0"/>
                <a:cs typeface="Calibri" panose="020F0502020204030204" charset="0"/>
              </a:rPr>
              <a:t>4. </a:t>
            </a:r>
            <a:r>
              <a:rPr lang="zh-CN" altLang="en-US" sz="2000" b="1">
                <a:solidFill>
                  <a:srgbClr val="333333"/>
                </a:solidFill>
                <a:latin typeface="Calibri" panose="020F0502020204030204" charset="0"/>
                <a:cs typeface="Calibri" panose="020F0502020204030204" charset="0"/>
              </a:rPr>
              <a:t>实验结论 </a:t>
            </a:r>
            <a:endParaRPr lang="zh-CN" altLang="en-US" sz="2000" b="1">
              <a:solidFill>
                <a:srgbClr val="333333"/>
              </a:solidFill>
              <a:latin typeface="Calibri" panose="020F0502020204030204" charset="0"/>
              <a:cs typeface="Calibri" panose="020F0502020204030204" charset="0"/>
            </a:endParaRPr>
          </a:p>
          <a:p>
            <a:pPr indent="0" fontAlgn="auto">
              <a:lnSpc>
                <a:spcPct val="115000"/>
              </a:lnSpc>
            </a:pPr>
            <a:r>
              <a:rPr lang="zh-CN" altLang="en-US" sz="1600">
                <a:solidFill>
                  <a:srgbClr val="333333"/>
                </a:solidFill>
                <a:latin typeface="Calibri" panose="020F0502020204030204" charset="0"/>
                <a:cs typeface="Calibri" panose="020F0502020204030204" charset="0"/>
              </a:rPr>
              <a:t>模型表现</a:t>
            </a:r>
            <a:r>
              <a:rPr lang="en-US" altLang="zh-CN" sz="1600">
                <a:solidFill>
                  <a:srgbClr val="333333"/>
                </a:solidFill>
                <a:latin typeface="Calibri" panose="020F0502020204030204" charset="0"/>
                <a:cs typeface="Calibri" panose="020F0502020204030204" charset="0"/>
              </a:rPr>
              <a:t>: </a:t>
            </a:r>
            <a:r>
              <a:rPr lang="zh-CN" altLang="en-US" sz="1600">
                <a:solidFill>
                  <a:srgbClr val="333333"/>
                </a:solidFill>
                <a:latin typeface="Calibri" panose="020F0502020204030204" charset="0"/>
                <a:cs typeface="Calibri" panose="020F0502020204030204" charset="0"/>
              </a:rPr>
              <a:t>模型在</a:t>
            </a:r>
            <a:r>
              <a:rPr lang="en-US" altLang="zh-CN" sz="1600">
                <a:solidFill>
                  <a:srgbClr val="333333"/>
                </a:solidFill>
                <a:latin typeface="Calibri" panose="020F0502020204030204" charset="0"/>
                <a:cs typeface="Calibri" panose="020F0502020204030204" charset="0"/>
              </a:rPr>
              <a:t>Spider</a:t>
            </a:r>
            <a:r>
              <a:rPr lang="zh-CN" altLang="en-US" sz="1600">
                <a:solidFill>
                  <a:srgbClr val="333333"/>
                </a:solidFill>
                <a:latin typeface="Calibri" panose="020F0502020204030204" charset="0"/>
                <a:cs typeface="Calibri" panose="020F0502020204030204" charset="0"/>
              </a:rPr>
              <a:t>数据集上表现普遍不佳，特别是在预测</a:t>
            </a:r>
            <a:r>
              <a:rPr lang="en-US" altLang="zh-CN" sz="1600">
                <a:solidFill>
                  <a:srgbClr val="333333"/>
                </a:solidFill>
                <a:latin typeface="Calibri" panose="020F0502020204030204" charset="0"/>
                <a:cs typeface="Calibri" panose="020F0502020204030204" charset="0"/>
              </a:rPr>
              <a:t>WHERE</a:t>
            </a:r>
            <a:r>
              <a:rPr lang="zh-CN" altLang="en-US" sz="1600">
                <a:solidFill>
                  <a:srgbClr val="333333"/>
                </a:solidFill>
                <a:latin typeface="Calibri" panose="020F0502020204030204" charset="0"/>
                <a:cs typeface="Calibri" panose="020F0502020204030204" charset="0"/>
              </a:rPr>
              <a:t>子句时 </a:t>
            </a:r>
            <a:endParaRPr lang="zh-CN" altLang="en-US" sz="1600">
              <a:solidFill>
                <a:srgbClr val="333333"/>
              </a:solidFill>
              <a:latin typeface="Calibri" panose="020F0502020204030204" charset="0"/>
              <a:cs typeface="Calibri" panose="020F0502020204030204" charset="0"/>
            </a:endParaRPr>
          </a:p>
          <a:p>
            <a:pPr indent="0" fontAlgn="auto">
              <a:lnSpc>
                <a:spcPct val="115000"/>
              </a:lnSpc>
            </a:pPr>
            <a:r>
              <a:rPr lang="zh-CN" altLang="en-US" sz="1600">
                <a:solidFill>
                  <a:srgbClr val="333333"/>
                </a:solidFill>
                <a:latin typeface="Calibri" panose="020F0502020204030204" charset="0"/>
                <a:cs typeface="Calibri" panose="020F0502020204030204" charset="0"/>
              </a:rPr>
              <a:t>泛化能力</a:t>
            </a:r>
            <a:r>
              <a:rPr lang="en-US" altLang="zh-CN" sz="1600">
                <a:solidFill>
                  <a:srgbClr val="333333"/>
                </a:solidFill>
                <a:latin typeface="Calibri" panose="020F0502020204030204" charset="0"/>
                <a:cs typeface="Calibri" panose="020F0502020204030204" charset="0"/>
              </a:rPr>
              <a:t>: </a:t>
            </a:r>
            <a:r>
              <a:rPr lang="zh-CN" altLang="en-US" sz="1600">
                <a:solidFill>
                  <a:srgbClr val="333333"/>
                </a:solidFill>
                <a:latin typeface="Calibri" panose="020F0502020204030204" charset="0"/>
                <a:cs typeface="Calibri" panose="020F0502020204030204" charset="0"/>
              </a:rPr>
              <a:t>现有模型在新数据库上表现差，显示了模型泛化的挑战 </a:t>
            </a:r>
            <a:endParaRPr lang="zh-CN" altLang="en-US" sz="1600">
              <a:solidFill>
                <a:srgbClr val="333333"/>
              </a:solidFill>
              <a:latin typeface="Calibri" panose="020F0502020204030204" charset="0"/>
              <a:cs typeface="Calibri" panose="020F0502020204030204" charset="0"/>
            </a:endParaRPr>
          </a:p>
          <a:p>
            <a:pPr indent="0" fontAlgn="auto">
              <a:lnSpc>
                <a:spcPct val="115000"/>
              </a:lnSpc>
            </a:pPr>
            <a:r>
              <a:rPr lang="zh-CN" altLang="en-US" sz="1600">
                <a:solidFill>
                  <a:srgbClr val="333333"/>
                </a:solidFill>
                <a:latin typeface="Calibri" panose="020F0502020204030204" charset="0"/>
                <a:cs typeface="Calibri" panose="020F0502020204030204" charset="0"/>
              </a:rPr>
              <a:t>模式复杂性</a:t>
            </a:r>
            <a:r>
              <a:rPr lang="en-US" altLang="zh-CN" sz="1600">
                <a:solidFill>
                  <a:srgbClr val="333333"/>
                </a:solidFill>
                <a:latin typeface="Calibri" panose="020F0502020204030204" charset="0"/>
                <a:cs typeface="Calibri" panose="020F0502020204030204" charset="0"/>
              </a:rPr>
              <a:t>: </a:t>
            </a:r>
            <a:r>
              <a:rPr lang="zh-CN" altLang="en-US" sz="1600">
                <a:solidFill>
                  <a:srgbClr val="333333"/>
                </a:solidFill>
                <a:latin typeface="Calibri" panose="020F0502020204030204" charset="0"/>
                <a:cs typeface="Calibri" panose="020F0502020204030204" charset="0"/>
              </a:rPr>
              <a:t>数据库外键数量多时，模型表现更差 </a:t>
            </a:r>
            <a:endParaRPr lang="zh-CN" altLang="en-US" sz="1600">
              <a:solidFill>
                <a:srgbClr val="333333"/>
              </a:solidFill>
              <a:latin typeface="Calibri" panose="020F0502020204030204" charset="0"/>
              <a:cs typeface="Calibri" panose="020F0502020204030204" charset="0"/>
            </a:endParaRPr>
          </a:p>
          <a:p>
            <a:pPr indent="0" fontAlgn="auto">
              <a:lnSpc>
                <a:spcPct val="115000"/>
              </a:lnSpc>
            </a:pPr>
            <a:r>
              <a:rPr lang="zh-CN" altLang="en-US" sz="1600">
                <a:solidFill>
                  <a:srgbClr val="333333"/>
                </a:solidFill>
                <a:latin typeface="Calibri" panose="020F0502020204030204" charset="0"/>
                <a:cs typeface="Calibri" panose="020F0502020204030204" charset="0"/>
              </a:rPr>
              <a:t>难度分级</a:t>
            </a:r>
            <a:r>
              <a:rPr lang="en-US" altLang="zh-CN" sz="1600" b="1">
                <a:solidFill>
                  <a:srgbClr val="333333"/>
                </a:solidFill>
                <a:latin typeface="Calibri" panose="020F0502020204030204" charset="0"/>
                <a:cs typeface="Calibri" panose="020F0502020204030204" charset="0"/>
              </a:rPr>
              <a:t>: </a:t>
            </a:r>
            <a:r>
              <a:rPr lang="zh-CN" altLang="en-US" sz="1600">
                <a:solidFill>
                  <a:srgbClr val="333333"/>
                </a:solidFill>
                <a:latin typeface="Calibri" panose="020F0502020204030204" charset="0"/>
                <a:cs typeface="Calibri" panose="020F0502020204030204" charset="0"/>
              </a:rPr>
              <a:t>数据集的</a:t>
            </a:r>
            <a:r>
              <a:rPr lang="en-US" altLang="zh-CN" sz="1600">
                <a:solidFill>
                  <a:srgbClr val="333333"/>
                </a:solidFill>
                <a:latin typeface="Calibri" panose="020F0502020204030204" charset="0"/>
                <a:cs typeface="Calibri" panose="020F0502020204030204" charset="0"/>
              </a:rPr>
              <a:t>SQL</a:t>
            </a:r>
            <a:r>
              <a:rPr lang="zh-CN" altLang="en-US" sz="1600">
                <a:solidFill>
                  <a:srgbClr val="333333"/>
                </a:solidFill>
                <a:latin typeface="Calibri" panose="020F0502020204030204" charset="0"/>
                <a:cs typeface="Calibri" panose="020F0502020204030204" charset="0"/>
              </a:rPr>
              <a:t>查询分为</a:t>
            </a:r>
            <a:r>
              <a:rPr lang="en-US" altLang="zh-CN" sz="1600">
                <a:solidFill>
                  <a:srgbClr val="333333"/>
                </a:solidFill>
                <a:latin typeface="Calibri" panose="020F0502020204030204" charset="0"/>
                <a:cs typeface="Calibri" panose="020F0502020204030204" charset="0"/>
              </a:rPr>
              <a:t>easy</a:t>
            </a:r>
            <a:r>
              <a:rPr lang="zh-CN" altLang="en-US" sz="1600">
                <a:solidFill>
                  <a:srgbClr val="333333"/>
                </a:solidFill>
                <a:latin typeface="Calibri" panose="020F0502020204030204" charset="0"/>
                <a:cs typeface="Calibri" panose="020F0502020204030204" charset="0"/>
              </a:rPr>
              <a:t>、</a:t>
            </a:r>
            <a:r>
              <a:rPr lang="en-US" altLang="zh-CN" sz="1600">
                <a:solidFill>
                  <a:srgbClr val="333333"/>
                </a:solidFill>
                <a:latin typeface="Calibri" panose="020F0502020204030204" charset="0"/>
                <a:cs typeface="Calibri" panose="020F0502020204030204" charset="0"/>
              </a:rPr>
              <a:t>medium</a:t>
            </a:r>
            <a:r>
              <a:rPr lang="zh-CN" altLang="en-US" sz="1600">
                <a:solidFill>
                  <a:srgbClr val="333333"/>
                </a:solidFill>
                <a:latin typeface="Calibri" panose="020F0502020204030204" charset="0"/>
                <a:cs typeface="Calibri" panose="020F0502020204030204" charset="0"/>
              </a:rPr>
              <a:t>、</a:t>
            </a:r>
            <a:r>
              <a:rPr lang="en-US" altLang="zh-CN" sz="1600">
                <a:solidFill>
                  <a:srgbClr val="333333"/>
                </a:solidFill>
                <a:latin typeface="Calibri" panose="020F0502020204030204" charset="0"/>
                <a:cs typeface="Calibri" panose="020F0502020204030204" charset="0"/>
              </a:rPr>
              <a:t>hard</a:t>
            </a:r>
            <a:r>
              <a:rPr lang="zh-CN" altLang="en-US" sz="1600">
                <a:solidFill>
                  <a:srgbClr val="333333"/>
                </a:solidFill>
                <a:latin typeface="Calibri" panose="020F0502020204030204" charset="0"/>
                <a:cs typeface="Calibri" panose="020F0502020204030204" charset="0"/>
              </a:rPr>
              <a:t>和</a:t>
            </a:r>
            <a:r>
              <a:rPr lang="en-US" altLang="zh-CN" sz="1600">
                <a:solidFill>
                  <a:srgbClr val="333333"/>
                </a:solidFill>
                <a:latin typeface="Calibri" panose="020F0502020204030204" charset="0"/>
                <a:cs typeface="Calibri" panose="020F0502020204030204" charset="0"/>
              </a:rPr>
              <a:t>extra hard</a:t>
            </a:r>
            <a:r>
              <a:rPr lang="zh-CN" altLang="en-US" sz="1600">
                <a:solidFill>
                  <a:srgbClr val="333333"/>
                </a:solidFill>
                <a:latin typeface="Calibri" panose="020F0502020204030204" charset="0"/>
                <a:cs typeface="Calibri" panose="020F0502020204030204" charset="0"/>
              </a:rPr>
              <a:t>级别</a:t>
            </a:r>
            <a:endParaRPr lang="zh-CN" altLang="en-US" sz="1600">
              <a:solidFill>
                <a:srgbClr val="333333"/>
              </a:solidFill>
              <a:latin typeface="Calibri" panose="020F0502020204030204" charset="0"/>
              <a:cs typeface="Calibri" panose="020F050202020403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custDataLst>
              <p:tags r:id="rId1"/>
            </p:custDataLst>
          </p:nvPr>
        </p:nvSpPr>
        <p:spPr>
          <a:xfrm>
            <a:off x="24765" y="150495"/>
            <a:ext cx="10569575" cy="647700"/>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2800" b="1" kern="1200">
                <a:solidFill>
                  <a:schemeClr val="tx1"/>
                </a:solidFill>
                <a:latin typeface="+mn-lt"/>
                <a:ea typeface="+mj-ea"/>
                <a:cs typeface="+mj-cs"/>
              </a:defRPr>
            </a:lvl1pPr>
          </a:lstStyle>
          <a:p>
            <a:pPr marL="0" marR="0" lvl="0" indent="0" algn="l" defTabSz="914400" rtl="0" eaLnBrk="1" fontAlgn="auto" latinLnBrk="0" hangingPunct="1">
              <a:lnSpc>
                <a:spcPct val="150000"/>
              </a:lnSpc>
              <a:spcBef>
                <a:spcPct val="0"/>
              </a:spcBef>
              <a:spcAft>
                <a:spcPts val="0"/>
              </a:spcAft>
              <a:buClrTx/>
              <a:buSzTx/>
              <a:buFontTx/>
              <a:buNone/>
              <a:defRPr/>
            </a:pPr>
            <a:r>
              <a:rPr lang="en-US" altLang="zh-CN" sz="1800" noProof="0" dirty="0">
                <a:ln>
                  <a:noFill/>
                </a:ln>
                <a:solidFill>
                  <a:prstClr val="black"/>
                </a:solidFill>
                <a:effectLst/>
                <a:uLnTx/>
                <a:uFillTx/>
                <a:latin typeface="微软雅黑" panose="020B0503020204020204" charset="-122"/>
                <a:ea typeface="微软雅黑" panose="020B0503020204020204" charset="-122"/>
                <a:sym typeface="+mn-ea"/>
              </a:rPr>
              <a:t>Leveraging Table Content for Zero-shot Text-to-SQL with Meta-Learning</a:t>
            </a:r>
            <a:endParaRPr lang="en-US" altLang="zh-CN" sz="1800" noProof="0" dirty="0">
              <a:ln>
                <a:noFill/>
              </a:ln>
              <a:solidFill>
                <a:prstClr val="black"/>
              </a:solidFill>
              <a:effectLst/>
              <a:uLnTx/>
              <a:uFillTx/>
              <a:latin typeface="微软雅黑" panose="020B0503020204020204" charset="-122"/>
              <a:ea typeface="微软雅黑" panose="020B0503020204020204" charset="-122"/>
              <a:sym typeface="+mn-ea"/>
            </a:endParaRPr>
          </a:p>
          <a:p>
            <a:pPr marL="0" marR="0" lvl="0" indent="0" algn="l" defTabSz="914400" rtl="0" eaLnBrk="1" fontAlgn="auto" latinLnBrk="0" hangingPunct="1">
              <a:lnSpc>
                <a:spcPct val="150000"/>
              </a:lnSpc>
              <a:spcBef>
                <a:spcPct val="0"/>
              </a:spcBef>
              <a:spcAft>
                <a:spcPts val="0"/>
              </a:spcAft>
              <a:buClrTx/>
              <a:buSzTx/>
              <a:buFontTx/>
              <a:buNone/>
              <a:defRPr/>
            </a:pPr>
            <a:r>
              <a:rPr kumimoji="0" lang="en-US" altLang="zh-CN" sz="1200" b="0" i="0" u="none" strike="noStrike" kern="1200" cap="none" spc="0" normalizeH="0" baseline="0" noProof="0" dirty="0">
                <a:ln>
                  <a:noFill/>
                </a:ln>
                <a:solidFill>
                  <a:prstClr val="black"/>
                </a:solidFill>
                <a:effectLst/>
                <a:uLnTx/>
                <a:uFillTx/>
                <a:latin typeface="幼圆" panose="02010509060101010101" charset="-122"/>
                <a:ea typeface="幼圆" panose="02010509060101010101" charset="-122"/>
                <a:cs typeface="幼圆" panose="02010509060101010101" charset="-122"/>
              </a:rPr>
              <a:t>利用表格内容进行零样本文本到SQL的元学习</a:t>
            </a:r>
            <a:endParaRPr kumimoji="0" lang="en-US" altLang="zh-CN" sz="1200" b="0" i="0" u="none" strike="noStrike" kern="1200" cap="none" spc="0" normalizeH="0" baseline="0" noProof="0" dirty="0">
              <a:ln>
                <a:noFill/>
              </a:ln>
              <a:solidFill>
                <a:prstClr val="black"/>
              </a:solidFill>
              <a:effectLst/>
              <a:uLnTx/>
              <a:uFillTx/>
              <a:latin typeface="幼圆" panose="02010509060101010101" charset="-122"/>
              <a:ea typeface="幼圆" panose="02010509060101010101" charset="-122"/>
              <a:cs typeface="幼圆" panose="02010509060101010101" charset="-122"/>
            </a:endParaRPr>
          </a:p>
        </p:txBody>
      </p:sp>
      <p:sp>
        <p:nvSpPr>
          <p:cNvPr id="10" name="椭圆 9"/>
          <p:cNvSpPr/>
          <p:nvPr/>
        </p:nvSpPr>
        <p:spPr>
          <a:xfrm>
            <a:off x="10761344" y="212091"/>
            <a:ext cx="361950" cy="361950"/>
          </a:xfrm>
          <a:prstGeom prst="ellipse">
            <a:avLst/>
          </a:prstGeom>
          <a:solidFill>
            <a:schemeClr val="accent1">
              <a:lumMod val="40000"/>
              <a:lumOff val="60000"/>
            </a:schemeClr>
          </a:solid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2C4"/>
              </a:solidFill>
              <a:effectLst/>
              <a:uLnTx/>
              <a:uFillTx/>
              <a:latin typeface="微软雅黑" panose="020B0503020204020204" charset="-122"/>
              <a:ea typeface="微软雅黑" panose="020B0503020204020204" charset="-122"/>
              <a:cs typeface="+mn-cs"/>
            </a:endParaRPr>
          </a:p>
        </p:txBody>
      </p:sp>
      <p:sp>
        <p:nvSpPr>
          <p:cNvPr id="11" name="椭圆 10"/>
          <p:cNvSpPr/>
          <p:nvPr/>
        </p:nvSpPr>
        <p:spPr>
          <a:xfrm>
            <a:off x="11235213" y="21209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2C4"/>
              </a:solidFill>
              <a:effectLst/>
              <a:uLnTx/>
              <a:uFillTx/>
              <a:latin typeface="微软雅黑" panose="020B0503020204020204" charset="-122"/>
              <a:ea typeface="微软雅黑" panose="020B0503020204020204" charset="-122"/>
              <a:cs typeface="+mn-cs"/>
            </a:endParaRPr>
          </a:p>
        </p:txBody>
      </p:sp>
      <p:sp>
        <p:nvSpPr>
          <p:cNvPr id="12" name="椭圆 11"/>
          <p:cNvSpPr/>
          <p:nvPr/>
        </p:nvSpPr>
        <p:spPr>
          <a:xfrm>
            <a:off x="11709082" y="21209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2C4"/>
              </a:solidFill>
              <a:effectLst/>
              <a:uLnTx/>
              <a:uFillTx/>
              <a:latin typeface="微软雅黑" panose="020B0503020204020204" charset="-122"/>
              <a:ea typeface="微软雅黑" panose="020B0503020204020204" charset="-122"/>
              <a:cs typeface="+mn-cs"/>
            </a:endParaRPr>
          </a:p>
        </p:txBody>
      </p:sp>
      <p:sp>
        <p:nvSpPr>
          <p:cNvPr id="6" name="椭圆 5"/>
          <p:cNvSpPr/>
          <p:nvPr/>
        </p:nvSpPr>
        <p:spPr>
          <a:xfrm>
            <a:off x="10287475" y="21209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2C4"/>
              </a:solidFill>
              <a:effectLst/>
              <a:uLnTx/>
              <a:uFillTx/>
              <a:latin typeface="微软雅黑" panose="020B0503020204020204" charset="-122"/>
              <a:ea typeface="微软雅黑" panose="020B0503020204020204" charset="-122"/>
              <a:cs typeface="+mn-cs"/>
            </a:endParaRPr>
          </a:p>
        </p:txBody>
      </p:sp>
      <p:sp>
        <p:nvSpPr>
          <p:cNvPr id="5" name="文本框 4"/>
          <p:cNvSpPr txBox="1"/>
          <p:nvPr>
            <p:custDataLst>
              <p:tags r:id="rId2"/>
            </p:custDataLst>
          </p:nvPr>
        </p:nvSpPr>
        <p:spPr>
          <a:xfrm>
            <a:off x="657450" y="3592849"/>
            <a:ext cx="1682152" cy="584775"/>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01</a:t>
            </a:r>
            <a:endParaRPr kumimoji="0" lang="en-US" altLang="zh-CN" sz="3200" b="1"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p:txBody>
      </p:sp>
      <p:sp>
        <p:nvSpPr>
          <p:cNvPr id="7" name="文本框 6"/>
          <p:cNvSpPr txBox="1"/>
          <p:nvPr>
            <p:custDataLst>
              <p:tags r:id="rId3"/>
            </p:custDataLst>
          </p:nvPr>
        </p:nvSpPr>
        <p:spPr>
          <a:xfrm>
            <a:off x="8262086" y="3592849"/>
            <a:ext cx="1682152" cy="584775"/>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03</a:t>
            </a:r>
            <a:endParaRPr kumimoji="0" lang="en-US" altLang="zh-CN" sz="3200" b="1"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p:txBody>
      </p:sp>
      <p:sp>
        <p:nvSpPr>
          <p:cNvPr id="9" name="文本框 8"/>
          <p:cNvSpPr txBox="1"/>
          <p:nvPr>
            <p:custDataLst>
              <p:tags r:id="rId4"/>
            </p:custDataLst>
          </p:nvPr>
        </p:nvSpPr>
        <p:spPr>
          <a:xfrm>
            <a:off x="3373120" y="4039235"/>
            <a:ext cx="771525" cy="583565"/>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02</a:t>
            </a:r>
            <a:endParaRPr kumimoji="0" lang="en-US" altLang="zh-CN" sz="3200" b="1"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p:txBody>
      </p:sp>
      <p:sp>
        <p:nvSpPr>
          <p:cNvPr id="15" name="文本框 14"/>
          <p:cNvSpPr txBox="1"/>
          <p:nvPr>
            <p:custDataLst>
              <p:tags r:id="rId5"/>
            </p:custDataLst>
          </p:nvPr>
        </p:nvSpPr>
        <p:spPr>
          <a:xfrm>
            <a:off x="10026478" y="4147899"/>
            <a:ext cx="1682152" cy="584775"/>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04</a:t>
            </a:r>
            <a:endParaRPr kumimoji="0" lang="en-US" altLang="zh-CN" sz="3200" b="1"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p:txBody>
      </p:sp>
      <p:cxnSp>
        <p:nvCxnSpPr>
          <p:cNvPr id="16" name="直接连接符 15"/>
          <p:cNvCxnSpPr/>
          <p:nvPr>
            <p:custDataLst>
              <p:tags r:id="rId6"/>
            </p:custDataLst>
          </p:nvPr>
        </p:nvCxnSpPr>
        <p:spPr>
          <a:xfrm>
            <a:off x="3438050" y="1757104"/>
            <a:ext cx="0" cy="2870590"/>
          </a:xfrm>
          <a:prstGeom prst="line">
            <a:avLst/>
          </a:prstGeom>
          <a:ln>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7"/>
            </p:custDataLst>
          </p:nvPr>
        </p:nvCxnSpPr>
        <p:spPr>
          <a:xfrm flipH="1">
            <a:off x="10006908" y="1837749"/>
            <a:ext cx="15875" cy="2894965"/>
          </a:xfrm>
          <a:prstGeom prst="line">
            <a:avLst/>
          </a:prstGeom>
          <a:ln>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custDataLst>
              <p:tags r:id="rId8"/>
            </p:custDataLst>
          </p:nvPr>
        </p:nvCxnSpPr>
        <p:spPr>
          <a:xfrm flipV="1">
            <a:off x="8198889" y="3489752"/>
            <a:ext cx="0" cy="2870590"/>
          </a:xfrm>
          <a:prstGeom prst="line">
            <a:avLst/>
          </a:prstGeom>
          <a:ln>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9"/>
            </p:custDataLst>
          </p:nvPr>
        </p:nvCxnSpPr>
        <p:spPr>
          <a:xfrm>
            <a:off x="666751" y="4066184"/>
            <a:ext cx="108584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custDataLst>
              <p:tags r:id="rId10"/>
            </p:custDataLst>
          </p:nvPr>
        </p:nvSpPr>
        <p:spPr>
          <a:xfrm>
            <a:off x="1353185" y="3646805"/>
            <a:ext cx="1082675" cy="337185"/>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marL="0" marR="0" lvl="0" indent="0" algn="l" defTabSz="914400" rtl="0" eaLnBrk="1" fontAlgn="auto" latinLnBrk="0" hangingPunct="1">
              <a:lnSpc>
                <a:spcPct val="100000"/>
              </a:lnSpc>
              <a:spcBef>
                <a:spcPts val="0"/>
              </a:spcBef>
              <a:spcAft>
                <a:spcPts val="0"/>
              </a:spcAft>
              <a:buClrTx/>
              <a:buSzPct val="25000"/>
              <a:buFontTx/>
              <a:buNone/>
              <a:defRPr/>
            </a:pPr>
            <a:r>
              <a:rPr kumimoji="0" lang="zh-CN" altLang="en-US" sz="1600" b="1"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问题</a:t>
            </a:r>
            <a:r>
              <a:rPr kumimoji="0" lang="zh-CN" altLang="en-US" sz="1600" b="1"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分析</a:t>
            </a:r>
            <a:endParaRPr kumimoji="0" lang="zh-CN" altLang="en-US" sz="1600" b="1"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25" name="文本框 24"/>
          <p:cNvSpPr txBox="1"/>
          <p:nvPr>
            <p:custDataLst>
              <p:tags r:id="rId11"/>
            </p:custDataLst>
          </p:nvPr>
        </p:nvSpPr>
        <p:spPr>
          <a:xfrm>
            <a:off x="4036060" y="4097020"/>
            <a:ext cx="3375660" cy="337185"/>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marL="0" marR="0" lvl="0" indent="0" algn="l" defTabSz="914400" rtl="0" eaLnBrk="1" fontAlgn="auto" latinLnBrk="0" hangingPunct="1">
              <a:lnSpc>
                <a:spcPct val="100000"/>
              </a:lnSpc>
              <a:spcBef>
                <a:spcPts val="0"/>
              </a:spcBef>
              <a:spcAft>
                <a:spcPts val="0"/>
              </a:spcAft>
              <a:buClrTx/>
              <a:buSzPct val="25000"/>
              <a:buFontTx/>
              <a:buNone/>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 </a:t>
            </a:r>
            <a:r>
              <a:rPr kumimoji="0" lang="zh-CN" altLang="en-US" sz="1600" b="1"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实验</a:t>
            </a:r>
            <a:r>
              <a:rPr kumimoji="0" lang="zh-CN" altLang="en-US" sz="1600" b="1"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设置</a:t>
            </a:r>
            <a:endParaRPr kumimoji="0" lang="zh-CN" altLang="en-US" sz="1600" b="1"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cxnSp>
        <p:nvCxnSpPr>
          <p:cNvPr id="26" name="直接连接符 25"/>
          <p:cNvCxnSpPr/>
          <p:nvPr>
            <p:custDataLst>
              <p:tags r:id="rId12"/>
            </p:custDataLst>
          </p:nvPr>
        </p:nvCxnSpPr>
        <p:spPr>
          <a:xfrm>
            <a:off x="4120454" y="4464590"/>
            <a:ext cx="4502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custDataLst>
              <p:tags r:id="rId13"/>
            </p:custDataLst>
          </p:nvPr>
        </p:nvSpPr>
        <p:spPr>
          <a:xfrm>
            <a:off x="8781415" y="3697605"/>
            <a:ext cx="1221740" cy="337185"/>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marL="0" marR="0" lvl="0" indent="0" algn="l" defTabSz="914400" rtl="0" eaLnBrk="1" fontAlgn="auto" latinLnBrk="0" hangingPunct="1">
              <a:lnSpc>
                <a:spcPct val="100000"/>
              </a:lnSpc>
              <a:spcBef>
                <a:spcPts val="0"/>
              </a:spcBef>
              <a:spcAft>
                <a:spcPts val="0"/>
              </a:spcAft>
              <a:buClrTx/>
              <a:buSzPct val="25000"/>
              <a:buFontTx/>
              <a:buNone/>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实验与评估</a:t>
            </a:r>
            <a:endParaRPr kumimoji="0" lang="en-US" altLang="zh-CN" sz="1600" b="1"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cxnSp>
        <p:nvCxnSpPr>
          <p:cNvPr id="29" name="直接连接符 28"/>
          <p:cNvCxnSpPr/>
          <p:nvPr>
            <p:custDataLst>
              <p:tags r:id="rId14"/>
            </p:custDataLst>
          </p:nvPr>
        </p:nvCxnSpPr>
        <p:spPr>
          <a:xfrm>
            <a:off x="7159492" y="4062257"/>
            <a:ext cx="4502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文本框 38"/>
          <p:cNvSpPr txBox="1"/>
          <p:nvPr>
            <p:custDataLst>
              <p:tags r:id="rId15"/>
            </p:custDataLst>
          </p:nvPr>
        </p:nvSpPr>
        <p:spPr>
          <a:xfrm>
            <a:off x="10708005" y="4164330"/>
            <a:ext cx="1000760" cy="337185"/>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marL="0" marR="0" lvl="0" indent="0" algn="l" defTabSz="914400" rtl="0" eaLnBrk="1" fontAlgn="auto" latinLnBrk="0" hangingPunct="1">
              <a:lnSpc>
                <a:spcPct val="100000"/>
              </a:lnSpc>
              <a:spcBef>
                <a:spcPts val="0"/>
              </a:spcBef>
              <a:spcAft>
                <a:spcPts val="0"/>
              </a:spcAft>
              <a:buClrTx/>
              <a:buSzPct val="25000"/>
              <a:buFontTx/>
              <a:buNone/>
              <a:defRPr/>
            </a:pPr>
            <a:r>
              <a:rPr kumimoji="0" lang="zh-CN" altLang="en-US" sz="1600" b="1"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结论</a:t>
            </a:r>
            <a:endParaRPr kumimoji="0" lang="zh-CN" altLang="en-US" sz="1600" b="1"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cxnSp>
        <p:nvCxnSpPr>
          <p:cNvPr id="40" name="直接连接符 39"/>
          <p:cNvCxnSpPr/>
          <p:nvPr>
            <p:custDataLst>
              <p:tags r:id="rId16"/>
            </p:custDataLst>
          </p:nvPr>
        </p:nvCxnSpPr>
        <p:spPr>
          <a:xfrm>
            <a:off x="10842538" y="4599845"/>
            <a:ext cx="4502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custDataLst>
              <p:tags r:id="rId17"/>
            </p:custDataLst>
          </p:nvPr>
        </p:nvCxnSpPr>
        <p:spPr>
          <a:xfrm>
            <a:off x="1437950" y="4062257"/>
            <a:ext cx="4502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 name="直接连接符 1"/>
          <p:cNvCxnSpPr/>
          <p:nvPr>
            <p:custDataLst>
              <p:tags r:id="rId18"/>
            </p:custDataLst>
          </p:nvPr>
        </p:nvCxnSpPr>
        <p:spPr>
          <a:xfrm flipV="1">
            <a:off x="276629" y="3398947"/>
            <a:ext cx="0" cy="2870590"/>
          </a:xfrm>
          <a:prstGeom prst="line">
            <a:avLst/>
          </a:prstGeom>
          <a:ln>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475615" y="1334770"/>
            <a:ext cx="2846705" cy="2120265"/>
          </a:xfrm>
          <a:prstGeom prst="rect">
            <a:avLst/>
          </a:prstGeom>
          <a:noFill/>
        </p:spPr>
        <p:txBody>
          <a:bodyPr wrap="square" rtlCol="0">
            <a:noAutofit/>
          </a:bodyPr>
          <a:p>
            <a:pPr indent="0">
              <a:lnSpc>
                <a:spcPct val="100000"/>
              </a:lnSpc>
              <a:buFont typeface="Arial" panose="020B0604020202020204" pitchFamily="34" charset="0"/>
              <a:buNone/>
            </a:pPr>
            <a:endParaRPr lang="zh-CN" altLang="en-US" sz="1400" b="1">
              <a:latin typeface="幼圆" panose="02010509060101010101" charset="-122"/>
              <a:ea typeface="幼圆" panose="02010509060101010101" charset="-122"/>
              <a:cs typeface="幼圆" panose="02010509060101010101" charset="-122"/>
            </a:endParaRPr>
          </a:p>
          <a:p>
            <a:pPr indent="0">
              <a:lnSpc>
                <a:spcPct val="150000"/>
              </a:lnSpc>
              <a:buFont typeface="Arial" panose="020B0604020202020204" pitchFamily="34" charset="0"/>
              <a:buNone/>
            </a:pPr>
            <a:r>
              <a:rPr lang="zh-CN" altLang="en-US" sz="1200">
                <a:latin typeface="幼圆" panose="02010509060101010101" charset="-122"/>
                <a:ea typeface="幼圆" panose="02010509060101010101" charset="-122"/>
                <a:cs typeface="幼圆" panose="02010509060101010101" charset="-122"/>
              </a:rPr>
              <a:t>尽管最近在单表文本到SQL转换任务上有所进展，但如何处理训练集中未见过的表格（零样本表格）仍是限制现有方法实际应用的主要瓶颈。因此，文章提出了一种新的方法</a:t>
            </a:r>
            <a:r>
              <a:rPr lang="zh-CN" altLang="en-US" sz="1200" b="1">
                <a:latin typeface="幼圆" panose="02010509060101010101" charset="-122"/>
                <a:ea typeface="幼圆" panose="02010509060101010101" charset="-122"/>
                <a:cs typeface="幼圆" panose="02010509060101010101" charset="-122"/>
              </a:rPr>
              <a:t>MC-SQL</a:t>
            </a:r>
            <a:r>
              <a:rPr lang="zh-CN" altLang="en-US" sz="1200">
                <a:latin typeface="幼圆" panose="02010509060101010101" charset="-122"/>
                <a:ea typeface="幼圆" panose="02010509060101010101" charset="-122"/>
                <a:cs typeface="幼圆" panose="02010509060101010101" charset="-122"/>
              </a:rPr>
              <a:t>，用于处理在训练集中未见过的数据库表（“零样本”表）的自然语言到SQL查询的转换问题。</a:t>
            </a:r>
            <a:endParaRPr lang="zh-CN" altLang="en-US" sz="1200">
              <a:latin typeface="幼圆" panose="02010509060101010101" charset="-122"/>
              <a:ea typeface="幼圆" panose="02010509060101010101" charset="-122"/>
              <a:cs typeface="幼圆" panose="02010509060101010101" charset="-122"/>
            </a:endParaRPr>
          </a:p>
        </p:txBody>
      </p:sp>
      <p:sp>
        <p:nvSpPr>
          <p:cNvPr id="34" name="文本框 33"/>
          <p:cNvSpPr txBox="1"/>
          <p:nvPr/>
        </p:nvSpPr>
        <p:spPr>
          <a:xfrm>
            <a:off x="8129905" y="4741545"/>
            <a:ext cx="4116070" cy="1979295"/>
          </a:xfrm>
          <a:prstGeom prst="rect">
            <a:avLst/>
          </a:prstGeom>
          <a:noFill/>
        </p:spPr>
        <p:txBody>
          <a:bodyPr wrap="square" rtlCol="0">
            <a:noAutofit/>
          </a:bodyPr>
          <a:p>
            <a:pPr marL="171450" indent="-171450" fontAlgn="auto">
              <a:lnSpc>
                <a:spcPct val="150000"/>
              </a:lnSpc>
              <a:buFont typeface="Arial" panose="020B0604020202020204" pitchFamily="34" charset="0"/>
              <a:buChar char="•"/>
            </a:pPr>
            <a:r>
              <a:rPr lang="zh-CN" altLang="en-US" sz="1200">
                <a:latin typeface="幼圆" panose="02010509060101010101" charset="-122"/>
                <a:ea typeface="幼圆" panose="02010509060101010101" charset="-122"/>
              </a:rPr>
              <a:t>实验结果显示，MC-SQL在WikiSQL和ESQL数据集上均取得了优越的性能，尤其是在零样本子集上表现出了更强的泛化能力。这证明了MC-SQL方法在真实世界场景中对未知表格的适应性和有效性，为未来文本到SQL任务中的研究提供了新的方向，特别是在处理复杂和动态变化的数据库环境中。</a:t>
            </a:r>
            <a:endParaRPr lang="zh-CN" altLang="en-US" sz="1200">
              <a:latin typeface="幼圆" panose="02010509060101010101" charset="-122"/>
              <a:ea typeface="幼圆" panose="02010509060101010101" charset="-122"/>
            </a:endParaRPr>
          </a:p>
        </p:txBody>
      </p:sp>
      <p:sp>
        <p:nvSpPr>
          <p:cNvPr id="4" name="文本框 3"/>
          <p:cNvSpPr txBox="1"/>
          <p:nvPr/>
        </p:nvSpPr>
        <p:spPr>
          <a:xfrm>
            <a:off x="405765" y="4545965"/>
            <a:ext cx="3032760" cy="1814830"/>
          </a:xfrm>
          <a:prstGeom prst="rect">
            <a:avLst/>
          </a:prstGeom>
          <a:noFill/>
        </p:spPr>
        <p:txBody>
          <a:bodyPr wrap="square" rtlCol="0">
            <a:spAutoFit/>
          </a:bodyPr>
          <a:p>
            <a:r>
              <a:rPr lang="zh-CN" altLang="en-US" sz="1400" b="1">
                <a:latin typeface="幼圆" panose="02010509060101010101" charset="-122"/>
                <a:ea typeface="幼圆" panose="02010509060101010101" charset="-122"/>
                <a:cs typeface="幼圆" panose="02010509060101010101" charset="-122"/>
              </a:rPr>
              <a:t>方法</a:t>
            </a:r>
            <a:endParaRPr lang="zh-CN" altLang="en-US" sz="1400" b="1">
              <a:latin typeface="幼圆" panose="02010509060101010101" charset="-122"/>
              <a:ea typeface="幼圆" panose="02010509060101010101" charset="-122"/>
              <a:cs typeface="幼圆" panose="02010509060101010101" charset="-122"/>
            </a:endParaRPr>
          </a:p>
          <a:p>
            <a:endParaRPr lang="zh-CN" altLang="en-US" sz="1400" b="1">
              <a:latin typeface="幼圆" panose="02010509060101010101" charset="-122"/>
              <a:ea typeface="幼圆" panose="02010509060101010101" charset="-122"/>
              <a:cs typeface="幼圆" panose="02010509060101010101" charset="-122"/>
            </a:endParaRPr>
          </a:p>
          <a:p>
            <a:r>
              <a:rPr lang="zh-CN" altLang="en-US" sz="1200" b="1">
                <a:latin typeface="幼圆" panose="02010509060101010101" charset="-122"/>
                <a:ea typeface="幼圆" panose="02010509060101010101" charset="-122"/>
                <a:cs typeface="幼圆" panose="02010509060101010101" charset="-122"/>
              </a:rPr>
              <a:t>表格内容增强模型</a:t>
            </a:r>
            <a:r>
              <a:rPr lang="zh-CN" altLang="en-US" sz="1200">
                <a:latin typeface="幼圆" panose="02010509060101010101" charset="-122"/>
                <a:ea typeface="幼圆" panose="02010509060101010101" charset="-122"/>
                <a:cs typeface="幼圆" panose="02010509060101010101" charset="-122"/>
              </a:rPr>
              <a:t>：通过利用表格中的丰富内容信息帮助建立问题和零样本表之间的映射关系。</a:t>
            </a:r>
            <a:endParaRPr lang="zh-CN" altLang="en-US" sz="1200">
              <a:latin typeface="幼圆" panose="02010509060101010101" charset="-122"/>
              <a:ea typeface="幼圆" panose="02010509060101010101" charset="-122"/>
              <a:cs typeface="幼圆" panose="02010509060101010101" charset="-122"/>
            </a:endParaRPr>
          </a:p>
          <a:p>
            <a:endParaRPr lang="zh-CN" altLang="en-US" sz="1200">
              <a:latin typeface="幼圆" panose="02010509060101010101" charset="-122"/>
              <a:ea typeface="幼圆" panose="02010509060101010101" charset="-122"/>
              <a:cs typeface="幼圆" panose="02010509060101010101" charset="-122"/>
            </a:endParaRPr>
          </a:p>
          <a:p>
            <a:r>
              <a:rPr lang="zh-CN" altLang="en-US" sz="1200" b="1">
                <a:latin typeface="幼圆" panose="02010509060101010101" charset="-122"/>
                <a:ea typeface="幼圆" panose="02010509060101010101" charset="-122"/>
                <a:cs typeface="幼圆" panose="02010509060101010101" charset="-122"/>
              </a:rPr>
              <a:t>元学习策略</a:t>
            </a:r>
            <a:r>
              <a:rPr lang="zh-CN" altLang="en-US" sz="1200">
                <a:latin typeface="幼圆" panose="02010509060101010101" charset="-122"/>
                <a:ea typeface="幼圆" panose="02010509060101010101" charset="-122"/>
                <a:cs typeface="幼圆" panose="02010509060101010101" charset="-122"/>
              </a:rPr>
              <a:t>：使用简单但有效的元学习策略来训练模型，通过两步梯度更新来促使模型学习对零样本表的泛化能力。</a:t>
            </a:r>
            <a:endParaRPr lang="zh-CN" altLang="en-US" sz="1200">
              <a:latin typeface="幼圆" panose="02010509060101010101" charset="-122"/>
              <a:ea typeface="幼圆" panose="02010509060101010101" charset="-122"/>
              <a:cs typeface="幼圆" panose="02010509060101010101" charset="-122"/>
            </a:endParaRPr>
          </a:p>
        </p:txBody>
      </p:sp>
      <p:pic>
        <p:nvPicPr>
          <p:cNvPr id="22" name="图片 21" descr="屏幕截图 2024-07-22 230300"/>
          <p:cNvPicPr>
            <a:picLocks noChangeAspect="1"/>
          </p:cNvPicPr>
          <p:nvPr/>
        </p:nvPicPr>
        <p:blipFill>
          <a:blip r:embed="rId19"/>
          <a:stretch>
            <a:fillRect/>
          </a:stretch>
        </p:blipFill>
        <p:spPr>
          <a:xfrm>
            <a:off x="3894455" y="4363720"/>
            <a:ext cx="4403725" cy="2418080"/>
          </a:xfrm>
          <a:prstGeom prst="rect">
            <a:avLst/>
          </a:prstGeom>
        </p:spPr>
      </p:pic>
      <p:pic>
        <p:nvPicPr>
          <p:cNvPr id="23" name="图片 22" descr="屏幕截图 2024-07-22 230657"/>
          <p:cNvPicPr>
            <a:picLocks noChangeAspect="1"/>
          </p:cNvPicPr>
          <p:nvPr/>
        </p:nvPicPr>
        <p:blipFill>
          <a:blip r:embed="rId20"/>
          <a:stretch>
            <a:fillRect/>
          </a:stretch>
        </p:blipFill>
        <p:spPr>
          <a:xfrm>
            <a:off x="3846830" y="753110"/>
            <a:ext cx="4860290" cy="1628140"/>
          </a:xfrm>
          <a:prstGeom prst="rect">
            <a:avLst/>
          </a:prstGeom>
        </p:spPr>
      </p:pic>
      <p:sp>
        <p:nvSpPr>
          <p:cNvPr id="24" name="文本框 23"/>
          <p:cNvSpPr txBox="1"/>
          <p:nvPr/>
        </p:nvSpPr>
        <p:spPr>
          <a:xfrm>
            <a:off x="3590925" y="2597785"/>
            <a:ext cx="5442585" cy="1386205"/>
          </a:xfrm>
          <a:prstGeom prst="rect">
            <a:avLst/>
          </a:prstGeom>
          <a:noFill/>
        </p:spPr>
        <p:txBody>
          <a:bodyPr wrap="square" rtlCol="0" anchor="t">
            <a:noAutofit/>
          </a:bodyPr>
          <a:p>
            <a:r>
              <a:rPr lang="zh-CN" altLang="en-US" sz="1200">
                <a:latin typeface="幼圆" panose="02010509060101010101" charset="-122"/>
                <a:ea typeface="幼圆" panose="02010509060101010101" charset="-122"/>
                <a:cs typeface="幼圆" panose="02010509060101010101" charset="-122"/>
              </a:rPr>
              <a:t>在处理零样本问题时，MC-SQL的表现尤其出色，这证实了其设计目标的成功，即通过表格内容和元学习策略来提升对未知表格的处理能力。</a:t>
            </a:r>
            <a:endParaRPr lang="zh-CN" altLang="en-US" sz="1200">
              <a:latin typeface="幼圆" panose="02010509060101010101" charset="-122"/>
              <a:ea typeface="幼圆" panose="02010509060101010101" charset="-122"/>
              <a:cs typeface="幼圆" panose="02010509060101010101" charset="-122"/>
            </a:endParaRPr>
          </a:p>
          <a:p>
            <a:endParaRPr lang="zh-CN" altLang="en-US" sz="1200">
              <a:latin typeface="幼圆" panose="02010509060101010101" charset="-122"/>
              <a:ea typeface="幼圆" panose="02010509060101010101" charset="-122"/>
              <a:cs typeface="幼圆" panose="02010509060101010101" charset="-122"/>
            </a:endParaRPr>
          </a:p>
          <a:p>
            <a:r>
              <a:rPr lang="zh-CN" altLang="en-US" sz="1200">
                <a:latin typeface="幼圆" panose="02010509060101010101" charset="-122"/>
                <a:ea typeface="幼圆" panose="02010509060101010101" charset="-122"/>
                <a:cs typeface="幼圆" panose="02010509060101010101" charset="-122"/>
              </a:rPr>
              <a:t>在WikiSQL上的测试表明，即使与使用更大或特定于表格的预训练模型的方法相比，MC-SQL依然具有竞争力，这表明其方法在资源受限的情况下依然有效</a:t>
            </a:r>
            <a:r>
              <a:rPr lang="zh-CN" altLang="en-US"/>
              <a:t>。</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34" grpId="0"/>
      <p:bldP spid="34" grpId="1"/>
    </p:bld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65.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66.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67.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68.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69.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70.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71.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72.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73.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74.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75.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76.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77.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78.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79.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80.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81.xml><?xml version="1.0" encoding="utf-8"?>
<p:tagLst xmlns:p="http://schemas.openxmlformats.org/presentationml/2006/main">
  <p:tag name="commondata" val="eyJoZGlkIjoiNmE4YWE2NWM2NjkyMzUxOGRkNDNkNjJlMmYxYjJlZDk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1147</Words>
  <Application>WPS 演示</Application>
  <PresentationFormat>宽屏</PresentationFormat>
  <Paragraphs>56</Paragraphs>
  <Slides>2</Slides>
  <Notes>4</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vt:i4>
      </vt:variant>
    </vt:vector>
  </HeadingPairs>
  <TitlesOfParts>
    <vt:vector size="15" baseType="lpstr">
      <vt:lpstr>Arial</vt:lpstr>
      <vt:lpstr>宋体</vt:lpstr>
      <vt:lpstr>Wingdings</vt:lpstr>
      <vt:lpstr>Wingdings</vt:lpstr>
      <vt:lpstr>微软雅黑</vt:lpstr>
      <vt:lpstr>幼圆</vt:lpstr>
      <vt:lpstr>Arial Unicode MS</vt:lpstr>
      <vt:lpstr>Calibri</vt:lpstr>
      <vt:lpstr>OpenSans-Bold</vt:lpstr>
      <vt:lpstr>MicrosoftYaHei-Bold</vt:lpstr>
      <vt:lpstr>OpenSans-Regular</vt:lpstr>
      <vt:lpstr>Segoe Print</vt:lpstr>
      <vt:lpstr>WPS</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李沅衡</cp:lastModifiedBy>
  <cp:revision>177</cp:revision>
  <dcterms:created xsi:type="dcterms:W3CDTF">2019-06-19T02:08:00Z</dcterms:created>
  <dcterms:modified xsi:type="dcterms:W3CDTF">2024-07-22T15:33:19Z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2052-12.1.0.17147</vt:lpwstr>
  </property>
  <property fmtid="{D5CDD505-2E9C-101B-9397-08002B2CF9AE}" pid="3" name="ICV">
    <vt:lpwstr>F58CB6F18F594ECDB9F84C246257D701_11</vt:lpwstr>
  </property>
</Properties>
</file>