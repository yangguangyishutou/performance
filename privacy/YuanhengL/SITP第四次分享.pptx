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  <p:cmAuthor id="2" name=" " initials=" " lastIdx="1" clrIdx="1"/>
  <p:cmAuthor id="3" name="shirley" initials="s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8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9" Type="http://schemas.openxmlformats.org/officeDocument/2006/relationships/image" Target="../media/image1.png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765" y="150495"/>
            <a:ext cx="10569575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Can LLM Already Serve as A Database Interface? A Big Bench for Large-Scale Database Grounded Text-to-SQLs</a:t>
            </a:r>
            <a:endParaRPr lang="en-US" altLang="zh-CN" sz="1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LLM 已经可以作为数据库接口了吗？大型数据库的大工作台 基于文本的 SQLs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761344" y="212091"/>
            <a:ext cx="361950" cy="3619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235213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709082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87475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57450" y="3592849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668996" y="3579514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373120" y="4090035"/>
            <a:ext cx="771525" cy="58356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9833438" y="4102814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3438050" y="1757104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 flipH="1">
            <a:off x="9731953" y="1757104"/>
            <a:ext cx="15875" cy="2894965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8"/>
            </p:custDataLst>
          </p:nvPr>
        </p:nvCxnSpPr>
        <p:spPr>
          <a:xfrm flipV="1">
            <a:off x="7641359" y="3400217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9"/>
            </p:custDataLst>
          </p:nvPr>
        </p:nvCxnSpPr>
        <p:spPr>
          <a:xfrm>
            <a:off x="666751" y="4066184"/>
            <a:ext cx="108584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353185" y="3646805"/>
            <a:ext cx="1082675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问题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036060" y="4147820"/>
            <a:ext cx="337566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数据集构建与注释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2"/>
            </p:custDataLst>
          </p:nvPr>
        </p:nvCxnSpPr>
        <p:spPr>
          <a:xfrm>
            <a:off x="4120454" y="4545870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8444230" y="3646805"/>
            <a:ext cx="122174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实验与评估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>
            <a:off x="7159492" y="4062257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5"/>
            </p:custDataLst>
          </p:nvPr>
        </p:nvSpPr>
        <p:spPr>
          <a:xfrm>
            <a:off x="10509885" y="4147820"/>
            <a:ext cx="100076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结论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6"/>
            </p:custDataLst>
          </p:nvPr>
        </p:nvCxnSpPr>
        <p:spPr>
          <a:xfrm>
            <a:off x="10594253" y="4613180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17"/>
            </p:custDataLst>
          </p:nvPr>
        </p:nvCxnSpPr>
        <p:spPr>
          <a:xfrm>
            <a:off x="1437950" y="4062257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18"/>
            </p:custDataLst>
          </p:nvPr>
        </p:nvCxnSpPr>
        <p:spPr>
          <a:xfrm flipV="1">
            <a:off x="276629" y="3398947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5615" y="1334770"/>
            <a:ext cx="2846705" cy="2120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zh-CN" altLang="en-US" sz="14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现有的自然语言到SQL基准测试（如Spider和WikiSQL）主要集中在数据库模式上，并且数据库中的行数较少，忽略了大量真实世界数据库中的数值和噪声数据之间的差距。这导致学术研究与实际应用之间存在较大的差距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92110" y="4566920"/>
            <a:ext cx="41160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幼圆" panose="02010509060101010101" charset="-122"/>
                <a:ea typeface="幼圆" panose="02010509060101010101" charset="-122"/>
              </a:rPr>
              <a:t>尽管GPT-4在所有基线模型中表现最佳，但仍远低于人类在同一任务中的92.96%的准确性。这表明当前的语言模型在处理复杂且大规模的数据库任务时，依然存在显著的改进空间。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幼圆" panose="02010509060101010101" charset="-122"/>
                <a:ea typeface="幼圆" panose="02010509060101010101" charset="-122"/>
              </a:rPr>
              <a:t>大规模数据库和噪声数据对文本到SQL任务构成了显著挑战，即使是最先进的语言模型在这些任务上仍有很大的改进空间。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幼圆" panose="02010509060101010101" charset="-122"/>
                <a:ea typeface="幼圆" panose="02010509060101010101" charset="-122"/>
              </a:rPr>
              <a:t>提供外部知识证据可以显著提升模型表现。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4485005"/>
            <a:ext cx="63036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数据库来源</a:t>
            </a:r>
            <a:endParaRPr lang="zh-CN" altLang="en-US" sz="12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1. 32%的数据库具有</a:t>
            </a:r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挑战性和噪声</a:t>
            </a:r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的数据。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2. 48%的数据库包含</a:t>
            </a:r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多关系</a:t>
            </a:r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数据。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3. 20%的数据库通过获取开放表格、合成和标准化模式生成。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总共包含95个数据库，覆盖37个专业领域，包括区块链、体育、医疗保健和政治等。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问题与SQL注释</a:t>
            </a:r>
            <a:endParaRPr lang="zh-CN" altLang="en-US" sz="12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1. 数据库描述文件：帮助注释人员理解数据库值，包含完整的模式名称和值描述。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2. 外部知识证据：收集并分类数值推理知识、领域知识、同义词知识和值说明，以帮助生成SQL。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3. 双盲注释：两个独立的SQL注释人员生成SQL，专家检查结果确保一致性。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4. 专家评审：确保每个SQL的有效性和文本-知识-SQL对齐，保证数据质量。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04185" y="798195"/>
            <a:ext cx="6944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评估指标：</a:t>
            </a:r>
            <a:endParaRPr lang="zh-CN" altLang="en-US" sz="12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执行准确性（EX）</a:t>
            </a:r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：衡量生成的SQL与真实SQL执行结果一致的比例。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有效效率分数（VES）</a:t>
            </a:r>
            <a:r>
              <a:rPr lang="zh-CN" altLang="en-US" sz="12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：评估生成的SQL在执行效率和准确性上的表现，主要考虑运行时间。</a:t>
            </a:r>
            <a:endParaRPr lang="zh-CN" altLang="en-US" sz="12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37890" y="1647825"/>
            <a:ext cx="6233795" cy="327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人类表现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结果：人类在测试集上的执行准确性（EX）为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92.96%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21" name="图片 20" descr="屏幕截图 2024-07-15 2236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8315" y="1393825"/>
            <a:ext cx="4587240" cy="2077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34" grpId="0"/>
      <p:bldP spid="34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5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6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7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8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9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0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1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2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3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4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5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6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7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8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9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80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81.xml><?xml version="1.0" encoding="utf-8"?>
<p:tagLst xmlns:p="http://schemas.openxmlformats.org/presentationml/2006/main">
  <p:tag name="commondata" val="eyJoZGlkIjoiNmE4YWE2NWM2NjkyMzUxOGRkNDNkNjJlMmYxYjJlZ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WPS 演示</Application>
  <PresentationFormat>宽屏</PresentationFormat>
  <Paragraphs>56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幼圆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Bibia Be Ye Ye</cp:lastModifiedBy>
  <cp:revision>170</cp:revision>
  <dcterms:created xsi:type="dcterms:W3CDTF">2019-06-19T02:08:00Z</dcterms:created>
  <dcterms:modified xsi:type="dcterms:W3CDTF">2024-07-16T11:18:20Z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F58CB6F18F594ECDB9F84C246257D701_11</vt:lpwstr>
  </property>
</Properties>
</file>