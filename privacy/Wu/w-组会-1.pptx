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60" r:id="rId3"/>
    <p:sldId id="259" r:id="rId4"/>
    <p:sldId id="261" r:id="rId5"/>
    <p:sldId id="258" r:id="rId6"/>
    <p:sldId id="262" r:id="rId7"/>
    <p:sldId id="269" r:id="rId8"/>
    <p:sldId id="263" r:id="rId9"/>
    <p:sldId id="264" r:id="rId10"/>
    <p:sldId id="266" r:id="rId11"/>
    <p:sldId id="267" r:id="rId12"/>
    <p:sldId id="270" r:id="rId13"/>
    <p:sldId id="265" r:id="rId14"/>
    <p:sldId id="268"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俊 吴" initials="俊" lastIdx="1" clrIdx="0">
    <p:extLst>
      <p:ext uri="{19B8F6BF-5375-455C-9EA6-DF929625EA0E}">
        <p15:presenceInfo xmlns:p15="http://schemas.microsoft.com/office/powerpoint/2012/main" userId="d69f6f12710e744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7DCF11-A518-4685-9A0C-5197459CB0E3}" type="datetimeFigureOut">
              <a:rPr lang="zh-CN" altLang="en-US" smtClean="0"/>
              <a:t>2024/7/16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306F5-5274-4856-920E-55A3806DB540}" type="slidenum">
              <a:rPr lang="zh-CN" altLang="en-US" smtClean="0"/>
              <a:t>‹#›</a:t>
            </a:fld>
            <a:endParaRPr lang="zh-CN" altLang="en-US"/>
          </a:p>
        </p:txBody>
      </p:sp>
    </p:spTree>
    <p:extLst>
      <p:ext uri="{BB962C8B-B14F-4D97-AF65-F5344CB8AC3E}">
        <p14:creationId xmlns:p14="http://schemas.microsoft.com/office/powerpoint/2010/main" val="113783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C306F5-5274-4856-920E-55A3806DB540}" type="slidenum">
              <a:rPr lang="zh-CN" altLang="en-US" smtClean="0"/>
              <a:t>1</a:t>
            </a:fld>
            <a:endParaRPr lang="zh-CN" altLang="en-US"/>
          </a:p>
        </p:txBody>
      </p:sp>
    </p:spTree>
    <p:extLst>
      <p:ext uri="{BB962C8B-B14F-4D97-AF65-F5344CB8AC3E}">
        <p14:creationId xmlns:p14="http://schemas.microsoft.com/office/powerpoint/2010/main" val="701466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85A569-28F1-42D2-AD97-4742C9C889B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9B02FB4-1EA1-4080-A52A-3C9D89907D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5FC3A26-CA75-43BF-81B8-5DD53F22A9AE}"/>
              </a:ext>
            </a:extLst>
          </p:cNvPr>
          <p:cNvSpPr>
            <a:spLocks noGrp="1"/>
          </p:cNvSpPr>
          <p:nvPr>
            <p:ph type="dt" sz="half" idx="10"/>
          </p:nvPr>
        </p:nvSpPr>
        <p:spPr/>
        <p:txBody>
          <a:bodyPr/>
          <a:lstStyle/>
          <a:p>
            <a:fld id="{87F6FAFB-6937-4637-86B7-8CEF4825106B}" type="datetimeFigureOut">
              <a:rPr lang="zh-CN" altLang="en-US" smtClean="0"/>
              <a:t>2024/7/16</a:t>
            </a:fld>
            <a:endParaRPr lang="zh-CN" altLang="en-US"/>
          </a:p>
        </p:txBody>
      </p:sp>
      <p:sp>
        <p:nvSpPr>
          <p:cNvPr id="5" name="页脚占位符 4">
            <a:extLst>
              <a:ext uri="{FF2B5EF4-FFF2-40B4-BE49-F238E27FC236}">
                <a16:creationId xmlns:a16="http://schemas.microsoft.com/office/drawing/2014/main" id="{F706DC52-8633-44B7-98CD-E5558B4CA1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2231514-2D85-4C01-91F6-E468999AC9F5}"/>
              </a:ext>
            </a:extLst>
          </p:cNvPr>
          <p:cNvSpPr>
            <a:spLocks noGrp="1"/>
          </p:cNvSpPr>
          <p:nvPr>
            <p:ph type="sldNum" sz="quarter" idx="12"/>
          </p:nvPr>
        </p:nvSpPr>
        <p:spPr/>
        <p:txBody>
          <a:bodyPr/>
          <a:lstStyle/>
          <a:p>
            <a:fld id="{5A157027-BEAC-492A-9425-3BB0E1EB2B1C}" type="slidenum">
              <a:rPr lang="zh-CN" altLang="en-US" smtClean="0"/>
              <a:t>‹#›</a:t>
            </a:fld>
            <a:endParaRPr lang="zh-CN" altLang="en-US"/>
          </a:p>
        </p:txBody>
      </p:sp>
    </p:spTree>
    <p:extLst>
      <p:ext uri="{BB962C8B-B14F-4D97-AF65-F5344CB8AC3E}">
        <p14:creationId xmlns:p14="http://schemas.microsoft.com/office/powerpoint/2010/main" val="3461788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4B482E-75B9-47A0-896A-5BB3BBFFDF3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ADB8423-1E1A-43FC-B6C7-81A9AA5374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206466B-00E2-4C69-A305-666DC0E90B1A}"/>
              </a:ext>
            </a:extLst>
          </p:cNvPr>
          <p:cNvSpPr>
            <a:spLocks noGrp="1"/>
          </p:cNvSpPr>
          <p:nvPr>
            <p:ph type="dt" sz="half" idx="10"/>
          </p:nvPr>
        </p:nvSpPr>
        <p:spPr/>
        <p:txBody>
          <a:bodyPr/>
          <a:lstStyle/>
          <a:p>
            <a:fld id="{87F6FAFB-6937-4637-86B7-8CEF4825106B}" type="datetimeFigureOut">
              <a:rPr lang="zh-CN" altLang="en-US" smtClean="0"/>
              <a:t>2024/7/16</a:t>
            </a:fld>
            <a:endParaRPr lang="zh-CN" altLang="en-US"/>
          </a:p>
        </p:txBody>
      </p:sp>
      <p:sp>
        <p:nvSpPr>
          <p:cNvPr id="5" name="页脚占位符 4">
            <a:extLst>
              <a:ext uri="{FF2B5EF4-FFF2-40B4-BE49-F238E27FC236}">
                <a16:creationId xmlns:a16="http://schemas.microsoft.com/office/drawing/2014/main" id="{4BB830FA-EE3F-4B50-BEAA-9818465597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3A6D1F1-ECEA-4006-A043-7204C9BF6D8E}"/>
              </a:ext>
            </a:extLst>
          </p:cNvPr>
          <p:cNvSpPr>
            <a:spLocks noGrp="1"/>
          </p:cNvSpPr>
          <p:nvPr>
            <p:ph type="sldNum" sz="quarter" idx="12"/>
          </p:nvPr>
        </p:nvSpPr>
        <p:spPr/>
        <p:txBody>
          <a:bodyPr/>
          <a:lstStyle/>
          <a:p>
            <a:fld id="{5A157027-BEAC-492A-9425-3BB0E1EB2B1C}" type="slidenum">
              <a:rPr lang="zh-CN" altLang="en-US" smtClean="0"/>
              <a:t>‹#›</a:t>
            </a:fld>
            <a:endParaRPr lang="zh-CN" altLang="en-US"/>
          </a:p>
        </p:txBody>
      </p:sp>
    </p:spTree>
    <p:extLst>
      <p:ext uri="{BB962C8B-B14F-4D97-AF65-F5344CB8AC3E}">
        <p14:creationId xmlns:p14="http://schemas.microsoft.com/office/powerpoint/2010/main" val="245880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8E5DFB-DCEB-475F-A90D-B3B472D7F3E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E31C453-02A0-431A-9643-63120BA1E9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C0FB305-E779-41DF-9C6F-D433F4A0DD78}"/>
              </a:ext>
            </a:extLst>
          </p:cNvPr>
          <p:cNvSpPr>
            <a:spLocks noGrp="1"/>
          </p:cNvSpPr>
          <p:nvPr>
            <p:ph type="dt" sz="half" idx="10"/>
          </p:nvPr>
        </p:nvSpPr>
        <p:spPr/>
        <p:txBody>
          <a:bodyPr/>
          <a:lstStyle/>
          <a:p>
            <a:fld id="{87F6FAFB-6937-4637-86B7-8CEF4825106B}" type="datetimeFigureOut">
              <a:rPr lang="zh-CN" altLang="en-US" smtClean="0"/>
              <a:t>2024/7/16</a:t>
            </a:fld>
            <a:endParaRPr lang="zh-CN" altLang="en-US"/>
          </a:p>
        </p:txBody>
      </p:sp>
      <p:sp>
        <p:nvSpPr>
          <p:cNvPr id="5" name="页脚占位符 4">
            <a:extLst>
              <a:ext uri="{FF2B5EF4-FFF2-40B4-BE49-F238E27FC236}">
                <a16:creationId xmlns:a16="http://schemas.microsoft.com/office/drawing/2014/main" id="{9BD9F515-BAD5-42F9-AF66-5AA6176463A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E7DB9DA-5558-4069-A196-BB503EB12758}"/>
              </a:ext>
            </a:extLst>
          </p:cNvPr>
          <p:cNvSpPr>
            <a:spLocks noGrp="1"/>
          </p:cNvSpPr>
          <p:nvPr>
            <p:ph type="sldNum" sz="quarter" idx="12"/>
          </p:nvPr>
        </p:nvSpPr>
        <p:spPr/>
        <p:txBody>
          <a:bodyPr/>
          <a:lstStyle/>
          <a:p>
            <a:fld id="{5A157027-BEAC-492A-9425-3BB0E1EB2B1C}" type="slidenum">
              <a:rPr lang="zh-CN" altLang="en-US" smtClean="0"/>
              <a:t>‹#›</a:t>
            </a:fld>
            <a:endParaRPr lang="zh-CN" altLang="en-US"/>
          </a:p>
        </p:txBody>
      </p:sp>
    </p:spTree>
    <p:extLst>
      <p:ext uri="{BB962C8B-B14F-4D97-AF65-F5344CB8AC3E}">
        <p14:creationId xmlns:p14="http://schemas.microsoft.com/office/powerpoint/2010/main" val="1306069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CC9B5E-A3BE-4685-8124-EFBFC6F2712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EB21075-DE4F-4EDD-851C-6ECBCD08575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03F3FE5-7869-4047-8078-9368DEA45AA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4625D29-2E37-4A3E-BDC1-40B90D19E72E}"/>
              </a:ext>
            </a:extLst>
          </p:cNvPr>
          <p:cNvSpPr>
            <a:spLocks noGrp="1"/>
          </p:cNvSpPr>
          <p:nvPr>
            <p:ph type="dt" sz="half" idx="10"/>
          </p:nvPr>
        </p:nvSpPr>
        <p:spPr/>
        <p:txBody>
          <a:bodyPr/>
          <a:lstStyle/>
          <a:p>
            <a:fld id="{87F6FAFB-6937-4637-86B7-8CEF4825106B}" type="datetimeFigureOut">
              <a:rPr lang="zh-CN" altLang="en-US" smtClean="0"/>
              <a:t>2024/7/16</a:t>
            </a:fld>
            <a:endParaRPr lang="zh-CN" altLang="en-US"/>
          </a:p>
        </p:txBody>
      </p:sp>
      <p:sp>
        <p:nvSpPr>
          <p:cNvPr id="6" name="页脚占位符 5">
            <a:extLst>
              <a:ext uri="{FF2B5EF4-FFF2-40B4-BE49-F238E27FC236}">
                <a16:creationId xmlns:a16="http://schemas.microsoft.com/office/drawing/2014/main" id="{AF007A85-09DF-4AD2-A3F3-089E2DAA219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C116652-1F69-48D0-8448-7701AE1FE424}"/>
              </a:ext>
            </a:extLst>
          </p:cNvPr>
          <p:cNvSpPr>
            <a:spLocks noGrp="1"/>
          </p:cNvSpPr>
          <p:nvPr>
            <p:ph type="sldNum" sz="quarter" idx="12"/>
          </p:nvPr>
        </p:nvSpPr>
        <p:spPr/>
        <p:txBody>
          <a:bodyPr/>
          <a:lstStyle/>
          <a:p>
            <a:fld id="{5A157027-BEAC-492A-9425-3BB0E1EB2B1C}" type="slidenum">
              <a:rPr lang="zh-CN" altLang="en-US" smtClean="0"/>
              <a:t>‹#›</a:t>
            </a:fld>
            <a:endParaRPr lang="zh-CN" altLang="en-US"/>
          </a:p>
        </p:txBody>
      </p:sp>
    </p:spTree>
    <p:extLst>
      <p:ext uri="{BB962C8B-B14F-4D97-AF65-F5344CB8AC3E}">
        <p14:creationId xmlns:p14="http://schemas.microsoft.com/office/powerpoint/2010/main" val="41191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F31501-1C82-41A9-B115-2404194E080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8CFAEDF-1615-4B6F-9404-70BDDE7000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7114F2-E64A-4064-8FB3-3DB86D3905D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4B2EC84-6CF8-49FA-BC76-B5D6A39515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DF3547-FF9D-46B9-9BB4-BE53C79DF12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135F9FE-D6A6-408F-B354-DD5417226651}"/>
              </a:ext>
            </a:extLst>
          </p:cNvPr>
          <p:cNvSpPr>
            <a:spLocks noGrp="1"/>
          </p:cNvSpPr>
          <p:nvPr>
            <p:ph type="dt" sz="half" idx="10"/>
          </p:nvPr>
        </p:nvSpPr>
        <p:spPr/>
        <p:txBody>
          <a:bodyPr/>
          <a:lstStyle/>
          <a:p>
            <a:fld id="{87F6FAFB-6937-4637-86B7-8CEF4825106B}" type="datetimeFigureOut">
              <a:rPr lang="zh-CN" altLang="en-US" smtClean="0"/>
              <a:t>2024/7/16</a:t>
            </a:fld>
            <a:endParaRPr lang="zh-CN" altLang="en-US"/>
          </a:p>
        </p:txBody>
      </p:sp>
      <p:sp>
        <p:nvSpPr>
          <p:cNvPr id="8" name="页脚占位符 7">
            <a:extLst>
              <a:ext uri="{FF2B5EF4-FFF2-40B4-BE49-F238E27FC236}">
                <a16:creationId xmlns:a16="http://schemas.microsoft.com/office/drawing/2014/main" id="{828C0E47-68A4-4BEC-965A-375DB274E2E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35D062D-9C7F-47BC-A211-84059413A0E9}"/>
              </a:ext>
            </a:extLst>
          </p:cNvPr>
          <p:cNvSpPr>
            <a:spLocks noGrp="1"/>
          </p:cNvSpPr>
          <p:nvPr>
            <p:ph type="sldNum" sz="quarter" idx="12"/>
          </p:nvPr>
        </p:nvSpPr>
        <p:spPr/>
        <p:txBody>
          <a:bodyPr/>
          <a:lstStyle/>
          <a:p>
            <a:fld id="{5A157027-BEAC-492A-9425-3BB0E1EB2B1C}" type="slidenum">
              <a:rPr lang="zh-CN" altLang="en-US" smtClean="0"/>
              <a:t>‹#›</a:t>
            </a:fld>
            <a:endParaRPr lang="zh-CN" altLang="en-US"/>
          </a:p>
        </p:txBody>
      </p:sp>
    </p:spTree>
    <p:extLst>
      <p:ext uri="{BB962C8B-B14F-4D97-AF65-F5344CB8AC3E}">
        <p14:creationId xmlns:p14="http://schemas.microsoft.com/office/powerpoint/2010/main" val="318065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1DC1C5-7C73-4737-A61F-F57721DE956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24BB882-36C9-4D76-8943-CE9565F8972D}"/>
              </a:ext>
            </a:extLst>
          </p:cNvPr>
          <p:cNvSpPr>
            <a:spLocks noGrp="1"/>
          </p:cNvSpPr>
          <p:nvPr>
            <p:ph type="dt" sz="half" idx="10"/>
          </p:nvPr>
        </p:nvSpPr>
        <p:spPr/>
        <p:txBody>
          <a:bodyPr/>
          <a:lstStyle/>
          <a:p>
            <a:fld id="{87F6FAFB-6937-4637-86B7-8CEF4825106B}" type="datetimeFigureOut">
              <a:rPr lang="zh-CN" altLang="en-US" smtClean="0"/>
              <a:t>2024/7/16</a:t>
            </a:fld>
            <a:endParaRPr lang="zh-CN" altLang="en-US"/>
          </a:p>
        </p:txBody>
      </p:sp>
      <p:sp>
        <p:nvSpPr>
          <p:cNvPr id="4" name="页脚占位符 3">
            <a:extLst>
              <a:ext uri="{FF2B5EF4-FFF2-40B4-BE49-F238E27FC236}">
                <a16:creationId xmlns:a16="http://schemas.microsoft.com/office/drawing/2014/main" id="{46C96BC3-3E43-4126-9784-8891B648FA2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2C3B8AD-EF92-4DFD-8F71-D266DE0C69B5}"/>
              </a:ext>
            </a:extLst>
          </p:cNvPr>
          <p:cNvSpPr>
            <a:spLocks noGrp="1"/>
          </p:cNvSpPr>
          <p:nvPr>
            <p:ph type="sldNum" sz="quarter" idx="12"/>
          </p:nvPr>
        </p:nvSpPr>
        <p:spPr/>
        <p:txBody>
          <a:bodyPr/>
          <a:lstStyle/>
          <a:p>
            <a:fld id="{5A157027-BEAC-492A-9425-3BB0E1EB2B1C}" type="slidenum">
              <a:rPr lang="zh-CN" altLang="en-US" smtClean="0"/>
              <a:t>‹#›</a:t>
            </a:fld>
            <a:endParaRPr lang="zh-CN" altLang="en-US"/>
          </a:p>
        </p:txBody>
      </p:sp>
    </p:spTree>
    <p:extLst>
      <p:ext uri="{BB962C8B-B14F-4D97-AF65-F5344CB8AC3E}">
        <p14:creationId xmlns:p14="http://schemas.microsoft.com/office/powerpoint/2010/main" val="1245323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636D3C0-3F19-433C-B438-78E09F3DB6A7}"/>
              </a:ext>
            </a:extLst>
          </p:cNvPr>
          <p:cNvSpPr>
            <a:spLocks noGrp="1"/>
          </p:cNvSpPr>
          <p:nvPr>
            <p:ph type="dt" sz="half" idx="10"/>
          </p:nvPr>
        </p:nvSpPr>
        <p:spPr/>
        <p:txBody>
          <a:bodyPr/>
          <a:lstStyle/>
          <a:p>
            <a:fld id="{87F6FAFB-6937-4637-86B7-8CEF4825106B}" type="datetimeFigureOut">
              <a:rPr lang="zh-CN" altLang="en-US" smtClean="0"/>
              <a:t>2024/7/16</a:t>
            </a:fld>
            <a:endParaRPr lang="zh-CN" altLang="en-US"/>
          </a:p>
        </p:txBody>
      </p:sp>
      <p:sp>
        <p:nvSpPr>
          <p:cNvPr id="3" name="页脚占位符 2">
            <a:extLst>
              <a:ext uri="{FF2B5EF4-FFF2-40B4-BE49-F238E27FC236}">
                <a16:creationId xmlns:a16="http://schemas.microsoft.com/office/drawing/2014/main" id="{A0083431-465B-41DA-B041-A368CD7589A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99E18B5-DF5F-449D-9852-CDFE51B6E125}"/>
              </a:ext>
            </a:extLst>
          </p:cNvPr>
          <p:cNvSpPr>
            <a:spLocks noGrp="1"/>
          </p:cNvSpPr>
          <p:nvPr>
            <p:ph type="sldNum" sz="quarter" idx="12"/>
          </p:nvPr>
        </p:nvSpPr>
        <p:spPr/>
        <p:txBody>
          <a:bodyPr/>
          <a:lstStyle/>
          <a:p>
            <a:fld id="{5A157027-BEAC-492A-9425-3BB0E1EB2B1C}" type="slidenum">
              <a:rPr lang="zh-CN" altLang="en-US" smtClean="0"/>
              <a:t>‹#›</a:t>
            </a:fld>
            <a:endParaRPr lang="zh-CN" altLang="en-US"/>
          </a:p>
        </p:txBody>
      </p:sp>
    </p:spTree>
    <p:extLst>
      <p:ext uri="{BB962C8B-B14F-4D97-AF65-F5344CB8AC3E}">
        <p14:creationId xmlns:p14="http://schemas.microsoft.com/office/powerpoint/2010/main" val="1907815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AD8C5D-9283-49C5-97B9-14714BB8E65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3D4D653-96A7-4B15-A179-1958AC664A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02E03A4-828B-4C8A-985B-5A62425531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FE85CC1-79E3-4A13-ACC9-A0521B2EFF32}"/>
              </a:ext>
            </a:extLst>
          </p:cNvPr>
          <p:cNvSpPr>
            <a:spLocks noGrp="1"/>
          </p:cNvSpPr>
          <p:nvPr>
            <p:ph type="dt" sz="half" idx="10"/>
          </p:nvPr>
        </p:nvSpPr>
        <p:spPr/>
        <p:txBody>
          <a:bodyPr/>
          <a:lstStyle/>
          <a:p>
            <a:fld id="{87F6FAFB-6937-4637-86B7-8CEF4825106B}" type="datetimeFigureOut">
              <a:rPr lang="zh-CN" altLang="en-US" smtClean="0"/>
              <a:t>2024/7/16</a:t>
            </a:fld>
            <a:endParaRPr lang="zh-CN" altLang="en-US"/>
          </a:p>
        </p:txBody>
      </p:sp>
      <p:sp>
        <p:nvSpPr>
          <p:cNvPr id="6" name="页脚占位符 5">
            <a:extLst>
              <a:ext uri="{FF2B5EF4-FFF2-40B4-BE49-F238E27FC236}">
                <a16:creationId xmlns:a16="http://schemas.microsoft.com/office/drawing/2014/main" id="{243D462D-9F7E-455B-A3E2-85B4970BB29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166683B-9415-41EE-9F3D-9584A3374085}"/>
              </a:ext>
            </a:extLst>
          </p:cNvPr>
          <p:cNvSpPr>
            <a:spLocks noGrp="1"/>
          </p:cNvSpPr>
          <p:nvPr>
            <p:ph type="sldNum" sz="quarter" idx="12"/>
          </p:nvPr>
        </p:nvSpPr>
        <p:spPr/>
        <p:txBody>
          <a:bodyPr/>
          <a:lstStyle/>
          <a:p>
            <a:fld id="{5A157027-BEAC-492A-9425-3BB0E1EB2B1C}" type="slidenum">
              <a:rPr lang="zh-CN" altLang="en-US" smtClean="0"/>
              <a:t>‹#›</a:t>
            </a:fld>
            <a:endParaRPr lang="zh-CN" altLang="en-US"/>
          </a:p>
        </p:txBody>
      </p:sp>
    </p:spTree>
    <p:extLst>
      <p:ext uri="{BB962C8B-B14F-4D97-AF65-F5344CB8AC3E}">
        <p14:creationId xmlns:p14="http://schemas.microsoft.com/office/powerpoint/2010/main" val="1089948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3EE39F-ED37-4116-8714-0678760FBA2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C7F6057-51D2-4AC3-B818-6506B2385E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32BF198-3CB5-4F7D-95AC-C0B242FE81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854826E-3514-4918-92A5-2F8DF4A33868}"/>
              </a:ext>
            </a:extLst>
          </p:cNvPr>
          <p:cNvSpPr>
            <a:spLocks noGrp="1"/>
          </p:cNvSpPr>
          <p:nvPr>
            <p:ph type="dt" sz="half" idx="10"/>
          </p:nvPr>
        </p:nvSpPr>
        <p:spPr/>
        <p:txBody>
          <a:bodyPr/>
          <a:lstStyle/>
          <a:p>
            <a:fld id="{87F6FAFB-6937-4637-86B7-8CEF4825106B}" type="datetimeFigureOut">
              <a:rPr lang="zh-CN" altLang="en-US" smtClean="0"/>
              <a:t>2024/7/16</a:t>
            </a:fld>
            <a:endParaRPr lang="zh-CN" altLang="en-US"/>
          </a:p>
        </p:txBody>
      </p:sp>
      <p:sp>
        <p:nvSpPr>
          <p:cNvPr id="6" name="页脚占位符 5">
            <a:extLst>
              <a:ext uri="{FF2B5EF4-FFF2-40B4-BE49-F238E27FC236}">
                <a16:creationId xmlns:a16="http://schemas.microsoft.com/office/drawing/2014/main" id="{8ED3F82D-51AD-4759-A243-CEAF3033904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EAA3094-D489-4F5C-BDFF-59C315C08368}"/>
              </a:ext>
            </a:extLst>
          </p:cNvPr>
          <p:cNvSpPr>
            <a:spLocks noGrp="1"/>
          </p:cNvSpPr>
          <p:nvPr>
            <p:ph type="sldNum" sz="quarter" idx="12"/>
          </p:nvPr>
        </p:nvSpPr>
        <p:spPr/>
        <p:txBody>
          <a:bodyPr/>
          <a:lstStyle/>
          <a:p>
            <a:fld id="{5A157027-BEAC-492A-9425-3BB0E1EB2B1C}" type="slidenum">
              <a:rPr lang="zh-CN" altLang="en-US" smtClean="0"/>
              <a:t>‹#›</a:t>
            </a:fld>
            <a:endParaRPr lang="zh-CN" altLang="en-US"/>
          </a:p>
        </p:txBody>
      </p:sp>
    </p:spTree>
    <p:extLst>
      <p:ext uri="{BB962C8B-B14F-4D97-AF65-F5344CB8AC3E}">
        <p14:creationId xmlns:p14="http://schemas.microsoft.com/office/powerpoint/2010/main" val="334961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821AE4-BA2E-4D16-A3E2-7989AF0EA44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9BAD73B-6CEF-4851-9AE9-4F0D9FD822D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DAAC32F-FA3D-4BFE-BDD0-481D5E774B98}"/>
              </a:ext>
            </a:extLst>
          </p:cNvPr>
          <p:cNvSpPr>
            <a:spLocks noGrp="1"/>
          </p:cNvSpPr>
          <p:nvPr>
            <p:ph type="dt" sz="half" idx="10"/>
          </p:nvPr>
        </p:nvSpPr>
        <p:spPr/>
        <p:txBody>
          <a:bodyPr/>
          <a:lstStyle/>
          <a:p>
            <a:fld id="{87F6FAFB-6937-4637-86B7-8CEF4825106B}" type="datetimeFigureOut">
              <a:rPr lang="zh-CN" altLang="en-US" smtClean="0"/>
              <a:t>2024/7/16</a:t>
            </a:fld>
            <a:endParaRPr lang="zh-CN" altLang="en-US"/>
          </a:p>
        </p:txBody>
      </p:sp>
      <p:sp>
        <p:nvSpPr>
          <p:cNvPr id="5" name="页脚占位符 4">
            <a:extLst>
              <a:ext uri="{FF2B5EF4-FFF2-40B4-BE49-F238E27FC236}">
                <a16:creationId xmlns:a16="http://schemas.microsoft.com/office/drawing/2014/main" id="{185752B4-ACE3-48DD-A60E-03A5CFF4A80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9768862-1FD3-44C6-818A-C30ED124288E}"/>
              </a:ext>
            </a:extLst>
          </p:cNvPr>
          <p:cNvSpPr>
            <a:spLocks noGrp="1"/>
          </p:cNvSpPr>
          <p:nvPr>
            <p:ph type="sldNum" sz="quarter" idx="12"/>
          </p:nvPr>
        </p:nvSpPr>
        <p:spPr/>
        <p:txBody>
          <a:bodyPr/>
          <a:lstStyle/>
          <a:p>
            <a:fld id="{5A157027-BEAC-492A-9425-3BB0E1EB2B1C}" type="slidenum">
              <a:rPr lang="zh-CN" altLang="en-US" smtClean="0"/>
              <a:t>‹#›</a:t>
            </a:fld>
            <a:endParaRPr lang="zh-CN" altLang="en-US"/>
          </a:p>
        </p:txBody>
      </p:sp>
    </p:spTree>
    <p:extLst>
      <p:ext uri="{BB962C8B-B14F-4D97-AF65-F5344CB8AC3E}">
        <p14:creationId xmlns:p14="http://schemas.microsoft.com/office/powerpoint/2010/main" val="3728403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3916678-20B6-4402-9C1F-AACEC4F6560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E1F6BA5-4AC3-4CD2-B4D0-D6D4B4D0640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4CA8C02-6EE2-4C94-9555-CD1B0D86AF64}"/>
              </a:ext>
            </a:extLst>
          </p:cNvPr>
          <p:cNvSpPr>
            <a:spLocks noGrp="1"/>
          </p:cNvSpPr>
          <p:nvPr>
            <p:ph type="dt" sz="half" idx="10"/>
          </p:nvPr>
        </p:nvSpPr>
        <p:spPr/>
        <p:txBody>
          <a:bodyPr/>
          <a:lstStyle/>
          <a:p>
            <a:fld id="{87F6FAFB-6937-4637-86B7-8CEF4825106B}" type="datetimeFigureOut">
              <a:rPr lang="zh-CN" altLang="en-US" smtClean="0"/>
              <a:t>2024/7/16</a:t>
            </a:fld>
            <a:endParaRPr lang="zh-CN" altLang="en-US"/>
          </a:p>
        </p:txBody>
      </p:sp>
      <p:sp>
        <p:nvSpPr>
          <p:cNvPr id="5" name="页脚占位符 4">
            <a:extLst>
              <a:ext uri="{FF2B5EF4-FFF2-40B4-BE49-F238E27FC236}">
                <a16:creationId xmlns:a16="http://schemas.microsoft.com/office/drawing/2014/main" id="{4EAF4F87-5F94-4A1E-A155-B71AA22EAD1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C316437-9D3B-4D36-9064-4D231BE50123}"/>
              </a:ext>
            </a:extLst>
          </p:cNvPr>
          <p:cNvSpPr>
            <a:spLocks noGrp="1"/>
          </p:cNvSpPr>
          <p:nvPr>
            <p:ph type="sldNum" sz="quarter" idx="12"/>
          </p:nvPr>
        </p:nvSpPr>
        <p:spPr/>
        <p:txBody>
          <a:bodyPr/>
          <a:lstStyle/>
          <a:p>
            <a:fld id="{5A157027-BEAC-492A-9425-3BB0E1EB2B1C}" type="slidenum">
              <a:rPr lang="zh-CN" altLang="en-US" smtClean="0"/>
              <a:t>‹#›</a:t>
            </a:fld>
            <a:endParaRPr lang="zh-CN" altLang="en-US"/>
          </a:p>
        </p:txBody>
      </p:sp>
    </p:spTree>
    <p:extLst>
      <p:ext uri="{BB962C8B-B14F-4D97-AF65-F5344CB8AC3E}">
        <p14:creationId xmlns:p14="http://schemas.microsoft.com/office/powerpoint/2010/main" val="356973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5C1620B-A2F5-498C-B079-AF6963B67B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D6B6650-6F1E-468D-A42D-E51FE20639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C696B33-FDE6-48E4-9D01-B7615BEDC0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F6FAFB-6937-4637-86B7-8CEF4825106B}" type="datetimeFigureOut">
              <a:rPr lang="zh-CN" altLang="en-US" smtClean="0"/>
              <a:t>2024/7/16</a:t>
            </a:fld>
            <a:endParaRPr lang="zh-CN" altLang="en-US"/>
          </a:p>
        </p:txBody>
      </p:sp>
      <p:sp>
        <p:nvSpPr>
          <p:cNvPr id="5" name="页脚占位符 4">
            <a:extLst>
              <a:ext uri="{FF2B5EF4-FFF2-40B4-BE49-F238E27FC236}">
                <a16:creationId xmlns:a16="http://schemas.microsoft.com/office/drawing/2014/main" id="{EAB67CCF-FB7C-474C-B6E7-4034683B7D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44C23AC-0682-4B62-8C83-48432DEAAC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157027-BEAC-492A-9425-3BB0E1EB2B1C}" type="slidenum">
              <a:rPr lang="zh-CN" altLang="en-US" smtClean="0"/>
              <a:t>‹#›</a:t>
            </a:fld>
            <a:endParaRPr lang="zh-CN" altLang="en-US"/>
          </a:p>
        </p:txBody>
      </p:sp>
    </p:spTree>
    <p:extLst>
      <p:ext uri="{BB962C8B-B14F-4D97-AF65-F5344CB8AC3E}">
        <p14:creationId xmlns:p14="http://schemas.microsoft.com/office/powerpoint/2010/main" val="39292359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asfreak.github.io/Backstabbers-Knife-Collection/"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6FD3E2B-364A-473A-B618-B0A23CB1F65D}"/>
              </a:ext>
            </a:extLst>
          </p:cNvPr>
          <p:cNvSpPr txBox="1"/>
          <p:nvPr/>
        </p:nvSpPr>
        <p:spPr>
          <a:xfrm>
            <a:off x="1086233" y="343667"/>
            <a:ext cx="10285465" cy="646331"/>
          </a:xfrm>
          <a:prstGeom prst="rect">
            <a:avLst/>
          </a:prstGeom>
          <a:noFill/>
        </p:spPr>
        <p:txBody>
          <a:bodyPr wrap="square" rtlCol="0">
            <a:spAutoFit/>
          </a:bodyPr>
          <a:lstStyle/>
          <a:p>
            <a:r>
              <a:rPr lang="en-US" altLang="zh-CN" sz="1800" kern="100" dirty="0">
                <a:effectLst/>
                <a:latin typeface="等线" panose="02010600030101010101" pitchFamily="2" charset="-122"/>
                <a:ea typeface="等线" panose="02010600030101010101" pitchFamily="2" charset="-122"/>
                <a:cs typeface="Lucida Console" panose="020B0609040504020204" pitchFamily="49" charset="0"/>
              </a:rPr>
              <a:t>Backstabber’s Knife Collection: A Review of Open Source Software Supply Chain Attacks</a:t>
            </a:r>
            <a:b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br>
            <a:endParaRPr lang="zh-CN" altLang="en-US" dirty="0"/>
          </a:p>
        </p:txBody>
      </p:sp>
      <p:sp>
        <p:nvSpPr>
          <p:cNvPr id="3" name="文本框 2">
            <a:extLst>
              <a:ext uri="{FF2B5EF4-FFF2-40B4-BE49-F238E27FC236}">
                <a16:creationId xmlns:a16="http://schemas.microsoft.com/office/drawing/2014/main" id="{40699FC2-71A7-41D3-AB3B-9D5CB18DB7DE}"/>
              </a:ext>
            </a:extLst>
          </p:cNvPr>
          <p:cNvSpPr txBox="1"/>
          <p:nvPr/>
        </p:nvSpPr>
        <p:spPr>
          <a:xfrm>
            <a:off x="110464" y="5461329"/>
            <a:ext cx="10156591" cy="369332"/>
          </a:xfrm>
          <a:prstGeom prst="rect">
            <a:avLst/>
          </a:prstGeom>
          <a:noFill/>
        </p:spPr>
        <p:txBody>
          <a:bodyPr wrap="square" rtlCol="0">
            <a:spAutoFit/>
          </a:bodyPr>
          <a:lstStyle/>
          <a:p>
            <a:r>
              <a:rPr lang="zh-CN" altLang="en-US" dirty="0"/>
              <a:t>数据集：</a:t>
            </a:r>
            <a:r>
              <a:rPr lang="en-US" altLang="zh-CN" dirty="0">
                <a:hlinkClick r:id="rId3"/>
              </a:rPr>
              <a:t>Backstabber’s Knife Collection | Backstabbers-Knife-Collection (dasfreak.github.io)</a:t>
            </a:r>
            <a:endParaRPr lang="zh-CN" altLang="en-US" dirty="0"/>
          </a:p>
        </p:txBody>
      </p:sp>
      <p:pic>
        <p:nvPicPr>
          <p:cNvPr id="4" name="图片 3">
            <a:extLst>
              <a:ext uri="{FF2B5EF4-FFF2-40B4-BE49-F238E27FC236}">
                <a16:creationId xmlns:a16="http://schemas.microsoft.com/office/drawing/2014/main" id="{C9AB6A93-AFF8-4EA4-B74E-6E65D445F470}"/>
              </a:ext>
            </a:extLst>
          </p:cNvPr>
          <p:cNvPicPr/>
          <p:nvPr/>
        </p:nvPicPr>
        <p:blipFill>
          <a:blip r:embed="rId4"/>
          <a:stretch>
            <a:fillRect/>
          </a:stretch>
        </p:blipFill>
        <p:spPr>
          <a:xfrm>
            <a:off x="347101" y="1396671"/>
            <a:ext cx="9748119" cy="3758336"/>
          </a:xfrm>
          <a:prstGeom prst="rect">
            <a:avLst/>
          </a:prstGeom>
        </p:spPr>
      </p:pic>
    </p:spTree>
    <p:extLst>
      <p:ext uri="{BB962C8B-B14F-4D97-AF65-F5344CB8AC3E}">
        <p14:creationId xmlns:p14="http://schemas.microsoft.com/office/powerpoint/2010/main" val="212445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49D6841-165E-45C5-A3F5-73C1B7C1185D}"/>
              </a:ext>
            </a:extLst>
          </p:cNvPr>
          <p:cNvSpPr txBox="1"/>
          <p:nvPr/>
        </p:nvSpPr>
        <p:spPr>
          <a:xfrm>
            <a:off x="711882" y="441858"/>
            <a:ext cx="10254781" cy="646331"/>
          </a:xfrm>
          <a:prstGeom prst="rect">
            <a:avLst/>
          </a:prstGeom>
          <a:noFill/>
        </p:spPr>
        <p:txBody>
          <a:bodyPr wrap="square" rtlCol="0">
            <a:spAutoFit/>
          </a:bodyPr>
          <a:lstStyle/>
          <a:p>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Sect.5 174</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恶意</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代码包分析分类：</a:t>
            </a:r>
          </a:p>
          <a:p>
            <a:endParaRPr lang="zh-CN" altLang="en-US" dirty="0"/>
          </a:p>
        </p:txBody>
      </p:sp>
      <p:sp>
        <p:nvSpPr>
          <p:cNvPr id="2" name="文本框 1">
            <a:extLst>
              <a:ext uri="{FF2B5EF4-FFF2-40B4-BE49-F238E27FC236}">
                <a16:creationId xmlns:a16="http://schemas.microsoft.com/office/drawing/2014/main" id="{70CFD291-AAF6-4C3A-A1BA-0DE2F36BE7B8}"/>
              </a:ext>
            </a:extLst>
          </p:cNvPr>
          <p:cNvSpPr txBox="1"/>
          <p:nvPr/>
        </p:nvSpPr>
        <p:spPr>
          <a:xfrm>
            <a:off x="859168" y="1147603"/>
            <a:ext cx="9211506" cy="4247317"/>
          </a:xfrm>
          <a:prstGeom prst="rect">
            <a:avLst/>
          </a:prstGeom>
          <a:noFill/>
        </p:spPr>
        <p:txBody>
          <a:bodyPr wrap="square" rtlCol="0">
            <a:spAutoFit/>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Pypi</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n</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能简便地被用来传播恶意代码由于代码包管理员在安装时可以执行任意代码的权限；而</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R</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ubyGems</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不允许，但却被作为大量的攻击对象（</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PyPI</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npm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会阻止攻击者滥用他们的包库）</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 </a:t>
            </a:r>
            <a:r>
              <a:rPr lang="zh-CN" altLang="zh-CN" sz="1800" kern="100" dirty="0">
                <a:solidFill>
                  <a:srgbClr val="C00000"/>
                </a:solidFill>
                <a:effectLst/>
                <a:latin typeface="等线" panose="02010600030101010101" pitchFamily="2" charset="-122"/>
                <a:ea typeface="等线" panose="02010600030101010101" pitchFamily="2" charset="-122"/>
                <a:cs typeface="Times New Roman" panose="02020603050405020304" pitchFamily="18" charset="0"/>
              </a:rPr>
              <a:t>通过下载附加文件实现——最简单的方法</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Npm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包比</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P</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yPI</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包需要更多的信任关系（</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dependency</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4. 41%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Malicious</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的包会先进行状态检查再触发更多的执行——找到有价值的目标并避免沙箱检查</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 Malicious code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不能在沙盒中运行原因：</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check</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其他包是否在依赖树中运行或程序包是否是在某一操作系统上执行（可能有些函数调用的是系统的函数）</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6. </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yposquatting</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占</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61%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——平均莱温斯坦距离为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2.3</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。常用连字符</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(hyphen)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、单字母误拼</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7.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少数针对特定的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OS(47%)</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，例如</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if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platform.system</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is ’Windows’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8.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Base64</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或</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16</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进制编码来对存疑变量和恶意函数进行编码</a:t>
            </a:r>
          </a:p>
          <a:p>
            <a:pPr algn="just"/>
            <a:r>
              <a:rPr lang="en-US" alt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Domain name</a:t>
            </a:r>
            <a:r>
              <a:rPr lang="zh-CN" altLang="zh-CN" sz="18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rPr>
              <a:t>——域名</a:t>
            </a:r>
          </a:p>
          <a:p>
            <a:pPr algn="just"/>
            <a:r>
              <a:rPr lang="en-US" altLang="zh-CN" sz="1800" kern="100">
                <a:effectLst/>
                <a:latin typeface="等线" panose="02010600030101010101" pitchFamily="2" charset="-122"/>
                <a:ea typeface="等线" panose="02010600030101010101" pitchFamily="2" charset="-122"/>
                <a:cs typeface="Times New Roman" panose="02020603050405020304" pitchFamily="18" charset="0"/>
              </a:rPr>
              <a:t>9. </a:t>
            </a:r>
            <a:r>
              <a:rPr lang="zh-CN" altLang="zh-CN" sz="1800" kern="100">
                <a:effectLst/>
                <a:latin typeface="等线" panose="02010600030101010101" pitchFamily="2" charset="-122"/>
                <a:ea typeface="等线" panose="02010600030101010101" pitchFamily="2" charset="-122"/>
                <a:cs typeface="Times New Roman" panose="02020603050405020304" pitchFamily="18" charset="0"/>
              </a:rPr>
              <a:t>字符串</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采样</a:t>
            </a:r>
            <a:r>
              <a:rPr lang="en-US" altLang="zh-CN" kern="100" dirty="0">
                <a:latin typeface="等线" panose="02010600030101010101" pitchFamily="2" charset="-122"/>
                <a:ea typeface="等线" panose="02010600030101010101" pitchFamily="2" charset="-122"/>
                <a:cs typeface="Times New Roman" panose="02020603050405020304" pitchFamily="18" charset="0"/>
              </a:rPr>
              <a:t>——</a:t>
            </a:r>
            <a:r>
              <a:rPr lang="zh-CN" altLang="en-US" kern="100" dirty="0">
                <a:latin typeface="等线" panose="02010600030101010101" pitchFamily="2" charset="-122"/>
                <a:ea typeface="等线" panose="02010600030101010101" pitchFamily="2" charset="-122"/>
                <a:cs typeface="Times New Roman" panose="02020603050405020304" pitchFamily="18" charset="0"/>
              </a:rPr>
              <a:t>文件压缩后变成恶意的代码</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2565862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B3D4AFE-7CA7-4788-B8EA-7EBB67D2AF9B}"/>
              </a:ext>
            </a:extLst>
          </p:cNvPr>
          <p:cNvSpPr txBox="1"/>
          <p:nvPr/>
        </p:nvSpPr>
        <p:spPr>
          <a:xfrm>
            <a:off x="859168" y="238222"/>
            <a:ext cx="6529675" cy="369332"/>
          </a:xfrm>
          <a:prstGeom prst="rect">
            <a:avLst/>
          </a:prstGeom>
          <a:noFill/>
        </p:spPr>
        <p:txBody>
          <a:bodyPr wrap="square" rtlCol="0">
            <a:spAutoFit/>
          </a:bodyPr>
          <a:lstStyle/>
          <a:p>
            <a:r>
              <a:rPr lang="en-US" altLang="zh-CN" sz="1800" kern="0" dirty="0">
                <a:effectLst/>
                <a:latin typeface="Corbel" panose="020B0503020204020204" pitchFamily="34" charset="0"/>
                <a:ea typeface="等线" panose="02010600030101010101" pitchFamily="2" charset="-122"/>
                <a:cs typeface="Lucida Console" panose="020B0609040504020204" pitchFamily="49" charset="0"/>
              </a:rPr>
              <a:t>Defending Against Package </a:t>
            </a:r>
            <a:r>
              <a:rPr lang="en-US" altLang="zh-CN" sz="1800" kern="0" dirty="0" err="1">
                <a:effectLst/>
                <a:latin typeface="Corbel" panose="020B0503020204020204" pitchFamily="34" charset="0"/>
                <a:ea typeface="等线" panose="02010600030101010101" pitchFamily="2" charset="-122"/>
                <a:cs typeface="Lucida Console" panose="020B0609040504020204" pitchFamily="49" charset="0"/>
              </a:rPr>
              <a:t>Typosquatting</a:t>
            </a:r>
            <a:endParaRPr lang="zh-CN" altLang="zh-CN" sz="1800" kern="100" dirty="0">
              <a:effectLst/>
              <a:latin typeface="Corbel" panose="020B0503020204020204" pitchFamily="34" charset="0"/>
              <a:ea typeface="等线" panose="0201060003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9CFC1057-63BC-4B25-8595-1FF78DCE0BFA}"/>
              </a:ext>
            </a:extLst>
          </p:cNvPr>
          <p:cNvSpPr txBox="1"/>
          <p:nvPr/>
        </p:nvSpPr>
        <p:spPr>
          <a:xfrm>
            <a:off x="589144" y="834620"/>
            <a:ext cx="9039672" cy="369332"/>
          </a:xfrm>
          <a:prstGeom prst="rect">
            <a:avLst/>
          </a:prstGeom>
          <a:noFill/>
        </p:spPr>
        <p:txBody>
          <a:bodyPr wrap="square" rtlCol="0">
            <a:spAutoFit/>
          </a:bodyPr>
          <a:lstStyle/>
          <a:p>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Laborious</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typosquatting</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confuses manual inspection by definition</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3718090A-2794-4168-924D-CEC300357EA2}"/>
              </a:ext>
            </a:extLst>
          </p:cNvPr>
          <p:cNvSpPr txBox="1"/>
          <p:nvPr/>
        </p:nvSpPr>
        <p:spPr>
          <a:xfrm>
            <a:off x="693471" y="1620145"/>
            <a:ext cx="7229283" cy="923330"/>
          </a:xfrm>
          <a:prstGeom prst="rect">
            <a:avLst/>
          </a:prstGeom>
          <a:noFill/>
        </p:spPr>
        <p:txBody>
          <a:bodyPr wrap="square" rtlCol="0">
            <a:spAutoFit/>
          </a:bodyPr>
          <a:lstStyle/>
          <a:p>
            <a:r>
              <a:rPr lang="zh-CN" altLang="en-US" dirty="0"/>
              <a:t>贡献：</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Develop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TypoGard</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dirty="0">
                <a:effectLst/>
                <a:latin typeface="等线" panose="02010600030101010101" pitchFamily="2" charset="-122"/>
                <a:cs typeface="Times New Roman" panose="02020603050405020304" pitchFamily="18" charset="0"/>
              </a:rPr>
              <a:t>high level TPR(</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true positive rate</a:t>
            </a:r>
            <a:r>
              <a:rPr lang="en-US" altLang="zh-CN" sz="1800" dirty="0">
                <a:effectLst/>
                <a:latin typeface="等线" panose="02010600030101010101" pitchFamily="2" charset="-122"/>
                <a:cs typeface="Times New Roman" panose="02020603050405020304" pitchFamily="18" charset="0"/>
              </a:rPr>
              <a:t>), </a:t>
            </a:r>
            <a:r>
              <a:rPr lang="zh-CN" altLang="zh-CN" sz="1800" dirty="0">
                <a:effectLst/>
                <a:ea typeface="等线" panose="02010600030101010101" pitchFamily="2" charset="-122"/>
                <a:cs typeface="Times New Roman" panose="02020603050405020304" pitchFamily="18" charset="0"/>
              </a:rPr>
              <a:t>推广性强</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npm</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package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loadsh</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which was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typosquatting</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lodash</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providing an outdated version of the code vulnerable to prototype pollution</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A43252C0-4504-48B3-895A-2B3E2F27A248}"/>
              </a:ext>
            </a:extLst>
          </p:cNvPr>
          <p:cNvSpPr txBox="1"/>
          <p:nvPr/>
        </p:nvSpPr>
        <p:spPr>
          <a:xfrm>
            <a:off x="693471" y="2841391"/>
            <a:ext cx="7186325" cy="923330"/>
          </a:xfrm>
          <a:prstGeom prst="rect">
            <a:avLst/>
          </a:prstGeom>
          <a:noFill/>
        </p:spPr>
        <p:txBody>
          <a:bodyPr wrap="square" rtlCol="0">
            <a:spAutoFit/>
          </a:bodyPr>
          <a:lstStyle/>
          <a:p>
            <a:pPr algn="just"/>
            <a:r>
              <a:rPr lang="zh-CN" altLang="en-US" kern="100" dirty="0">
                <a:latin typeface="等线" panose="02010600030101010101" pitchFamily="2" charset="-122"/>
                <a:ea typeface="等线" panose="02010600030101010101" pitchFamily="2" charset="-122"/>
                <a:cs typeface="Times New Roman" panose="02020603050405020304" pitchFamily="18" charset="0"/>
              </a:rPr>
              <a:t>建立</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typo</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gard</a:t>
            </a:r>
            <a:r>
              <a:rPr lang="zh-CN" altLang="en-US" kern="100" dirty="0">
                <a:latin typeface="等线" panose="02010600030101010101" pitchFamily="2" charset="-122"/>
                <a:ea typeface="等线" panose="02010600030101010101" pitchFamily="2" charset="-122"/>
                <a:cs typeface="Times New Roman" panose="02020603050405020304" pitchFamily="18" charset="0"/>
              </a:rPr>
              <a:t>：</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即使莱温斯坦距离值为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，但考虑键盘</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字母之间的</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位置</a:t>
            </a:r>
            <a:r>
              <a:rPr lang="zh-CN" altLang="en-US" kern="100" dirty="0">
                <a:latin typeface="等线" panose="02010600030101010101" pitchFamily="2" charset="-122"/>
                <a:ea typeface="等线" panose="02010600030101010101" pitchFamily="2" charset="-122"/>
                <a:cs typeface="Times New Roman" panose="02020603050405020304" pitchFamily="18" charset="0"/>
              </a:rPr>
              <a:t>关系</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，部分情况省略以减少报错量</a:t>
            </a:r>
          </a:p>
        </p:txBody>
      </p:sp>
      <p:sp>
        <p:nvSpPr>
          <p:cNvPr id="6" name="文本框 5">
            <a:extLst>
              <a:ext uri="{FF2B5EF4-FFF2-40B4-BE49-F238E27FC236}">
                <a16:creationId xmlns:a16="http://schemas.microsoft.com/office/drawing/2014/main" id="{51E1AB3D-85E0-417A-8968-8506C6075B16}"/>
              </a:ext>
            </a:extLst>
          </p:cNvPr>
          <p:cNvSpPr txBox="1"/>
          <p:nvPr/>
        </p:nvSpPr>
        <p:spPr>
          <a:xfrm>
            <a:off x="779388" y="3946035"/>
            <a:ext cx="7032902" cy="1477328"/>
          </a:xfrm>
          <a:prstGeom prst="rect">
            <a:avLst/>
          </a:prstGeom>
          <a:noFill/>
        </p:spPr>
        <p:txBody>
          <a:bodyPr wrap="square" rtlCol="0">
            <a:spAutoFit/>
          </a:bodyPr>
          <a:lstStyle/>
          <a:p>
            <a:r>
              <a:rPr lang="en-US" altLang="zh-CN" dirty="0"/>
              <a:t>Typo</a:t>
            </a:r>
            <a:r>
              <a:rPr lang="zh-CN" altLang="en-US" dirty="0"/>
              <a:t>的后果</a:t>
            </a:r>
            <a:endParaRPr lang="en-US" altLang="zh-CN" dirty="0"/>
          </a:p>
          <a:p>
            <a:pPr marL="342900" indent="-342900">
              <a:buAutoNum type="arabicPeriod"/>
            </a:pPr>
            <a:r>
              <a:rPr lang="en-US" altLang="zh-CN" dirty="0"/>
              <a:t>Attacks against end-users</a:t>
            </a:r>
          </a:p>
          <a:p>
            <a:pPr marL="342900" indent="-342900">
              <a:buAutoNum type="arabicPeriod"/>
            </a:pPr>
            <a:r>
              <a:rPr lang="en-US" altLang="zh-CN" dirty="0"/>
              <a:t>Attacks against developers using a package</a:t>
            </a:r>
          </a:p>
          <a:p>
            <a:pPr marL="342900" indent="-342900">
              <a:buAutoNum type="arabicPeriod"/>
            </a:pPr>
            <a:r>
              <a:rPr lang="en-US" altLang="zh-CN" dirty="0"/>
              <a:t>Degradation of functionality</a:t>
            </a:r>
          </a:p>
          <a:p>
            <a:pPr marL="342900" indent="-342900">
              <a:buAutoNum type="arabicPeriod"/>
            </a:pPr>
            <a:r>
              <a:rPr lang="en-US" altLang="zh-CN" dirty="0"/>
              <a:t>Latent vulnerabilities</a:t>
            </a:r>
            <a:endParaRPr lang="zh-CN" altLang="en-US" dirty="0"/>
          </a:p>
        </p:txBody>
      </p:sp>
      <p:sp>
        <p:nvSpPr>
          <p:cNvPr id="9" name="文本框 8">
            <a:extLst>
              <a:ext uri="{FF2B5EF4-FFF2-40B4-BE49-F238E27FC236}">
                <a16:creationId xmlns:a16="http://schemas.microsoft.com/office/drawing/2014/main" id="{B3111AD3-43C1-4CFD-A765-9ABAD61BC2B0}"/>
              </a:ext>
            </a:extLst>
          </p:cNvPr>
          <p:cNvSpPr txBox="1"/>
          <p:nvPr/>
        </p:nvSpPr>
        <p:spPr>
          <a:xfrm>
            <a:off x="859168" y="5676644"/>
            <a:ext cx="4780655" cy="369332"/>
          </a:xfrm>
          <a:prstGeom prst="rect">
            <a:avLst/>
          </a:prstGeom>
          <a:noFill/>
        </p:spPr>
        <p:txBody>
          <a:bodyPr wrap="square" rtlCol="0">
            <a:spAutoFit/>
          </a:bodyPr>
          <a:lstStyle/>
          <a:p>
            <a:r>
              <a:rPr lang="zh-CN" altLang="en-US" dirty="0"/>
              <a:t>莱温斯坦距离</a:t>
            </a:r>
            <a:r>
              <a:rPr lang="en-US" altLang="zh-CN" dirty="0"/>
              <a:t>——</a:t>
            </a:r>
            <a:r>
              <a:rPr lang="zh-CN" altLang="en-US" dirty="0"/>
              <a:t>衡量字符串的相似性</a:t>
            </a:r>
          </a:p>
        </p:txBody>
      </p:sp>
    </p:spTree>
    <p:extLst>
      <p:ext uri="{BB962C8B-B14F-4D97-AF65-F5344CB8AC3E}">
        <p14:creationId xmlns:p14="http://schemas.microsoft.com/office/powerpoint/2010/main" val="2164820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71F02CE-62C3-4174-840A-E745ADF793DE}"/>
              </a:ext>
            </a:extLst>
          </p:cNvPr>
          <p:cNvSpPr txBox="1"/>
          <p:nvPr/>
        </p:nvSpPr>
        <p:spPr>
          <a:xfrm>
            <a:off x="767114" y="398899"/>
            <a:ext cx="7339748" cy="2862322"/>
          </a:xfrm>
          <a:prstGeom prst="rect">
            <a:avLst/>
          </a:prstGeom>
          <a:noFill/>
        </p:spPr>
        <p:txBody>
          <a:bodyPr wrap="square" rtlCol="0">
            <a:spAutoFit/>
          </a:bodyPr>
          <a:lstStyle/>
          <a:p>
            <a:r>
              <a:rPr lang="zh-CN" altLang="en-US" dirty="0"/>
              <a:t>常见</a:t>
            </a:r>
            <a:r>
              <a:rPr lang="en-US" altLang="zh-CN" dirty="0" err="1"/>
              <a:t>typosquatting</a:t>
            </a:r>
            <a:r>
              <a:rPr lang="zh-CN" altLang="en-US" dirty="0"/>
              <a:t>情况：</a:t>
            </a:r>
            <a:endParaRPr lang="en-US" altLang="zh-CN" dirty="0"/>
          </a:p>
          <a:p>
            <a:r>
              <a:rPr lang="en-US" altLang="zh-CN" dirty="0"/>
              <a:t>1.Repeat characters</a:t>
            </a:r>
          </a:p>
          <a:p>
            <a:r>
              <a:rPr lang="en-US" altLang="zh-CN" dirty="0"/>
              <a:t>2.Omit characters</a:t>
            </a:r>
          </a:p>
          <a:p>
            <a:r>
              <a:rPr lang="en-US" altLang="zh-CN" dirty="0"/>
              <a:t>3.Swap characters</a:t>
            </a:r>
          </a:p>
          <a:p>
            <a:r>
              <a:rPr lang="en-US" altLang="zh-CN" dirty="0"/>
              <a:t>4.Swap words</a:t>
            </a:r>
          </a:p>
          <a:p>
            <a:r>
              <a:rPr lang="en-US" altLang="zh-CN" dirty="0"/>
              <a:t>5.</a:t>
            </a:r>
            <a:r>
              <a:rPr lang="zh-CN" altLang="en-US" dirty="0"/>
              <a:t>键盘靠近键输入错误</a:t>
            </a:r>
            <a:endParaRPr lang="en-US" altLang="zh-CN" dirty="0"/>
          </a:p>
          <a:p>
            <a:r>
              <a:rPr lang="en-US" altLang="zh-CN" dirty="0"/>
              <a:t>6.</a:t>
            </a:r>
            <a:r>
              <a:rPr lang="zh-CN" altLang="en-US" dirty="0"/>
              <a:t>常见拼写错误</a:t>
            </a:r>
            <a:endParaRPr lang="en-US" altLang="zh-CN" dirty="0"/>
          </a:p>
          <a:p>
            <a:r>
              <a:rPr lang="en-US" altLang="zh-CN" dirty="0"/>
              <a:t>7.</a:t>
            </a:r>
            <a:r>
              <a:rPr lang="zh-CN" altLang="en-US" dirty="0"/>
              <a:t>外观相似字符的替代</a:t>
            </a:r>
            <a:endParaRPr lang="en-US" altLang="zh-CN" dirty="0"/>
          </a:p>
          <a:p>
            <a:r>
              <a:rPr lang="en-US" altLang="zh-CN" dirty="0"/>
              <a:t>8.</a:t>
            </a:r>
            <a:r>
              <a:rPr lang="zh-CN" altLang="en-US" dirty="0"/>
              <a:t>添加下划线</a:t>
            </a:r>
            <a:endParaRPr lang="en-US" altLang="zh-CN" dirty="0"/>
          </a:p>
          <a:p>
            <a:r>
              <a:rPr lang="en-US" altLang="zh-CN" dirty="0"/>
              <a:t>9.</a:t>
            </a:r>
            <a:r>
              <a:rPr lang="zh-CN" altLang="en-US" dirty="0"/>
              <a:t>版本数字问题</a:t>
            </a:r>
            <a:endParaRPr lang="en-US" altLang="zh-CN" dirty="0"/>
          </a:p>
        </p:txBody>
      </p:sp>
      <p:pic>
        <p:nvPicPr>
          <p:cNvPr id="4" name="图片 3">
            <a:extLst>
              <a:ext uri="{FF2B5EF4-FFF2-40B4-BE49-F238E27FC236}">
                <a16:creationId xmlns:a16="http://schemas.microsoft.com/office/drawing/2014/main" id="{E4D76BAF-BBE8-4B8A-889B-D19E4CFA1A2B}"/>
              </a:ext>
            </a:extLst>
          </p:cNvPr>
          <p:cNvPicPr>
            <a:picLocks noChangeAspect="1"/>
          </p:cNvPicPr>
          <p:nvPr/>
        </p:nvPicPr>
        <p:blipFill>
          <a:blip r:embed="rId2"/>
          <a:stretch>
            <a:fillRect/>
          </a:stretch>
        </p:blipFill>
        <p:spPr>
          <a:xfrm>
            <a:off x="994830" y="3950652"/>
            <a:ext cx="6199309" cy="2339684"/>
          </a:xfrm>
          <a:prstGeom prst="rect">
            <a:avLst/>
          </a:prstGeom>
        </p:spPr>
      </p:pic>
      <p:sp>
        <p:nvSpPr>
          <p:cNvPr id="3" name="文本框 2">
            <a:extLst>
              <a:ext uri="{FF2B5EF4-FFF2-40B4-BE49-F238E27FC236}">
                <a16:creationId xmlns:a16="http://schemas.microsoft.com/office/drawing/2014/main" id="{B5C2C3AC-3E3B-4315-9E21-91D8C302CDA3}"/>
              </a:ext>
            </a:extLst>
          </p:cNvPr>
          <p:cNvSpPr txBox="1"/>
          <p:nvPr/>
        </p:nvSpPr>
        <p:spPr>
          <a:xfrm>
            <a:off x="920537" y="3581320"/>
            <a:ext cx="5326840" cy="369332"/>
          </a:xfrm>
          <a:prstGeom prst="rect">
            <a:avLst/>
          </a:prstGeom>
          <a:noFill/>
        </p:spPr>
        <p:txBody>
          <a:bodyPr wrap="square" rtlCol="0">
            <a:spAutoFit/>
          </a:bodyPr>
          <a:lstStyle/>
          <a:p>
            <a:r>
              <a:rPr lang="en-US" altLang="zh-CN" dirty="0" err="1"/>
              <a:t>Typogard</a:t>
            </a:r>
            <a:r>
              <a:rPr lang="zh-CN" altLang="en-US" dirty="0"/>
              <a:t>实现的伪代码</a:t>
            </a:r>
          </a:p>
        </p:txBody>
      </p:sp>
    </p:spTree>
    <p:extLst>
      <p:ext uri="{BB962C8B-B14F-4D97-AF65-F5344CB8AC3E}">
        <p14:creationId xmlns:p14="http://schemas.microsoft.com/office/powerpoint/2010/main" val="4209996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8B0F689-5D79-437E-95BA-0062AC1E6331}"/>
              </a:ext>
            </a:extLst>
          </p:cNvPr>
          <p:cNvPicPr/>
          <p:nvPr/>
        </p:nvPicPr>
        <p:blipFill>
          <a:blip r:embed="rId2"/>
          <a:stretch>
            <a:fillRect/>
          </a:stretch>
        </p:blipFill>
        <p:spPr>
          <a:xfrm>
            <a:off x="678129" y="448553"/>
            <a:ext cx="5676397" cy="4118076"/>
          </a:xfrm>
          <a:prstGeom prst="rect">
            <a:avLst/>
          </a:prstGeom>
        </p:spPr>
      </p:pic>
      <p:sp>
        <p:nvSpPr>
          <p:cNvPr id="5" name="文本框 4">
            <a:extLst>
              <a:ext uri="{FF2B5EF4-FFF2-40B4-BE49-F238E27FC236}">
                <a16:creationId xmlns:a16="http://schemas.microsoft.com/office/drawing/2014/main" id="{241925DE-0585-4F4B-88D1-D6CAB54749DB}"/>
              </a:ext>
            </a:extLst>
          </p:cNvPr>
          <p:cNvSpPr txBox="1"/>
          <p:nvPr/>
        </p:nvSpPr>
        <p:spPr>
          <a:xfrm>
            <a:off x="276161" y="573036"/>
            <a:ext cx="803936" cy="369332"/>
          </a:xfrm>
          <a:prstGeom prst="rect">
            <a:avLst/>
          </a:prstGeom>
          <a:noFill/>
        </p:spPr>
        <p:txBody>
          <a:bodyPr wrap="square" rtlCol="0">
            <a:spAutoFit/>
          </a:bodyPr>
          <a:lstStyle/>
          <a:p>
            <a:r>
              <a:rPr lang="en-US" altLang="zh-CN" dirty="0"/>
              <a:t>1.</a:t>
            </a:r>
          </a:p>
        </p:txBody>
      </p:sp>
      <p:sp>
        <p:nvSpPr>
          <p:cNvPr id="6" name="文本框 5">
            <a:extLst>
              <a:ext uri="{FF2B5EF4-FFF2-40B4-BE49-F238E27FC236}">
                <a16:creationId xmlns:a16="http://schemas.microsoft.com/office/drawing/2014/main" id="{12C2D3FE-1D2D-4CF8-977B-C9E6AEF0E4C0}"/>
              </a:ext>
            </a:extLst>
          </p:cNvPr>
          <p:cNvSpPr txBox="1"/>
          <p:nvPr/>
        </p:nvSpPr>
        <p:spPr>
          <a:xfrm>
            <a:off x="678129" y="36263"/>
            <a:ext cx="2295206" cy="369332"/>
          </a:xfrm>
          <a:prstGeom prst="rect">
            <a:avLst/>
          </a:prstGeom>
          <a:noFill/>
        </p:spPr>
        <p:txBody>
          <a:bodyPr wrap="square" rtlCol="0">
            <a:spAutoFit/>
          </a:bodyPr>
          <a:lstStyle/>
          <a:p>
            <a:r>
              <a:rPr lang="zh-CN" altLang="en-US" dirty="0"/>
              <a:t>问题</a:t>
            </a:r>
            <a:r>
              <a:rPr lang="en-US" altLang="zh-CN" dirty="0"/>
              <a:t>(2024.05.28)</a:t>
            </a:r>
            <a:endParaRPr lang="zh-CN" altLang="en-US" dirty="0"/>
          </a:p>
        </p:txBody>
      </p:sp>
      <p:sp>
        <p:nvSpPr>
          <p:cNvPr id="3" name="文本框 2">
            <a:extLst>
              <a:ext uri="{FF2B5EF4-FFF2-40B4-BE49-F238E27FC236}">
                <a16:creationId xmlns:a16="http://schemas.microsoft.com/office/drawing/2014/main" id="{34405FF3-9281-4340-9A33-D6C4284E99B1}"/>
              </a:ext>
            </a:extLst>
          </p:cNvPr>
          <p:cNvSpPr txBox="1"/>
          <p:nvPr/>
        </p:nvSpPr>
        <p:spPr>
          <a:xfrm>
            <a:off x="386626" y="4506446"/>
            <a:ext cx="5197965" cy="369332"/>
          </a:xfrm>
          <a:prstGeom prst="rect">
            <a:avLst/>
          </a:prstGeom>
          <a:noFill/>
        </p:spPr>
        <p:txBody>
          <a:bodyPr wrap="square" rtlCol="0">
            <a:spAutoFit/>
          </a:bodyPr>
          <a:lstStyle/>
          <a:p>
            <a:r>
              <a:rPr lang="en-US" altLang="zh-CN" dirty="0"/>
              <a:t>2.</a:t>
            </a:r>
            <a:r>
              <a:rPr lang="en-US" altLang="zh-CN" sz="1800" dirty="0">
                <a:effectLst/>
                <a:latin typeface="等线" panose="02010600030101010101" pitchFamily="2" charset="-122"/>
                <a:cs typeface="Times New Roman" panose="02020603050405020304" pitchFamily="18" charset="0"/>
              </a:rPr>
              <a:t> dynamic analysis(</a:t>
            </a:r>
            <a:r>
              <a:rPr lang="zh-CN" altLang="en-US" dirty="0">
                <a:latin typeface="等线" panose="02010600030101010101" pitchFamily="2" charset="-122"/>
                <a:cs typeface="Times New Roman" panose="02020603050405020304" pitchFamily="18" charset="0"/>
              </a:rPr>
              <a:t>暂时保留</a:t>
            </a:r>
            <a:r>
              <a:rPr lang="en-US" altLang="zh-CN" sz="1800" dirty="0">
                <a:effectLst/>
                <a:latin typeface="等线" panose="02010600030101010101" pitchFamily="2" charset="-122"/>
                <a:cs typeface="Times New Roman" panose="02020603050405020304" pitchFamily="18" charset="0"/>
              </a:rPr>
              <a:t>)</a:t>
            </a:r>
            <a:endParaRPr lang="zh-CN" altLang="en-US" dirty="0"/>
          </a:p>
        </p:txBody>
      </p:sp>
      <p:sp>
        <p:nvSpPr>
          <p:cNvPr id="4" name="文本框 3">
            <a:extLst>
              <a:ext uri="{FF2B5EF4-FFF2-40B4-BE49-F238E27FC236}">
                <a16:creationId xmlns:a16="http://schemas.microsoft.com/office/drawing/2014/main" id="{08FF55D0-0E75-4AA9-A6DA-6B4FD3A4FE2D}"/>
              </a:ext>
            </a:extLst>
          </p:cNvPr>
          <p:cNvSpPr txBox="1"/>
          <p:nvPr/>
        </p:nvSpPr>
        <p:spPr>
          <a:xfrm>
            <a:off x="386626" y="4940215"/>
            <a:ext cx="4467672" cy="369332"/>
          </a:xfrm>
          <a:prstGeom prst="rect">
            <a:avLst/>
          </a:prstGeom>
          <a:noFill/>
        </p:spPr>
        <p:txBody>
          <a:bodyPr wrap="square" rtlCol="0">
            <a:spAutoFit/>
          </a:bodyPr>
          <a:lstStyle/>
          <a:p>
            <a:r>
              <a:rPr lang="en-US" altLang="zh-CN" dirty="0"/>
              <a:t>3.</a:t>
            </a:r>
            <a:r>
              <a:rPr lang="en-US" altLang="zh-CN" sz="1800" dirty="0">
                <a:effectLst/>
                <a:latin typeface="等线" panose="02010600030101010101" pitchFamily="2" charset="-122"/>
                <a:cs typeface="Times New Roman" panose="02020603050405020304" pitchFamily="18" charset="0"/>
              </a:rPr>
              <a:t> </a:t>
            </a:r>
            <a:r>
              <a:rPr lang="en-US" altLang="zh-CN" sz="1800" dirty="0" err="1">
                <a:effectLst/>
                <a:latin typeface="等线" panose="02010600030101010101" pitchFamily="2" charset="-122"/>
                <a:cs typeface="Times New Roman" panose="02020603050405020304" pitchFamily="18" charset="0"/>
              </a:rPr>
              <a:t>Levenshtein</a:t>
            </a:r>
            <a:r>
              <a:rPr lang="en-US" altLang="zh-CN" sz="1800" dirty="0">
                <a:effectLst/>
                <a:latin typeface="等线" panose="02010600030101010101" pitchFamily="2" charset="-122"/>
                <a:cs typeface="Times New Roman" panose="02020603050405020304" pitchFamily="18" charset="0"/>
              </a:rPr>
              <a:t> distance</a:t>
            </a:r>
            <a:r>
              <a:rPr lang="zh-CN" altLang="en-US" sz="1800" dirty="0">
                <a:effectLst/>
                <a:latin typeface="等线" panose="02010600030101010101" pitchFamily="2" charset="-122"/>
                <a:cs typeface="Times New Roman" panose="02020603050405020304" pitchFamily="18" charset="0"/>
              </a:rPr>
              <a:t>（已解决）</a:t>
            </a:r>
            <a:endParaRPr lang="zh-CN" altLang="en-US" dirty="0"/>
          </a:p>
        </p:txBody>
      </p:sp>
      <p:sp>
        <p:nvSpPr>
          <p:cNvPr id="7" name="文本框 6">
            <a:extLst>
              <a:ext uri="{FF2B5EF4-FFF2-40B4-BE49-F238E27FC236}">
                <a16:creationId xmlns:a16="http://schemas.microsoft.com/office/drawing/2014/main" id="{E3E16717-FC50-4B51-89C3-EA4ECEE9C630}"/>
              </a:ext>
            </a:extLst>
          </p:cNvPr>
          <p:cNvSpPr txBox="1"/>
          <p:nvPr/>
        </p:nvSpPr>
        <p:spPr>
          <a:xfrm>
            <a:off x="386626" y="5343858"/>
            <a:ext cx="4338797" cy="369332"/>
          </a:xfrm>
          <a:prstGeom prst="rect">
            <a:avLst/>
          </a:prstGeom>
          <a:noFill/>
        </p:spPr>
        <p:txBody>
          <a:bodyPr wrap="square" rtlCol="0">
            <a:spAutoFit/>
          </a:bodyPr>
          <a:lstStyle/>
          <a:p>
            <a:r>
              <a:rPr lang="en-US" altLang="zh-CN" dirty="0"/>
              <a:t>4.</a:t>
            </a:r>
            <a:r>
              <a:rPr lang="zh-CN" altLang="en-US" dirty="0"/>
              <a:t>数据来源，</a:t>
            </a:r>
            <a:r>
              <a:rPr lang="en-US" altLang="zh-CN" dirty="0" err="1"/>
              <a:t>PyPI</a:t>
            </a:r>
            <a:endParaRPr lang="zh-CN" altLang="en-US" dirty="0"/>
          </a:p>
        </p:txBody>
      </p:sp>
    </p:spTree>
    <p:extLst>
      <p:ext uri="{BB962C8B-B14F-4D97-AF65-F5344CB8AC3E}">
        <p14:creationId xmlns:p14="http://schemas.microsoft.com/office/powerpoint/2010/main" val="1149536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7F2B5B3-42AE-4293-BC6B-C3E5B3284AD8}"/>
              </a:ext>
            </a:extLst>
          </p:cNvPr>
          <p:cNvSpPr txBox="1"/>
          <p:nvPr/>
        </p:nvSpPr>
        <p:spPr>
          <a:xfrm>
            <a:off x="405035" y="362077"/>
            <a:ext cx="5774835" cy="2585323"/>
          </a:xfrm>
          <a:prstGeom prst="rect">
            <a:avLst/>
          </a:prstGeom>
          <a:noFill/>
        </p:spPr>
        <p:txBody>
          <a:bodyPr wrap="square" rtlCol="0">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笔记（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2024.05.28</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文件深度</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外部负载——</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external payloads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获得</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shell</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powershell</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4.cdn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内容分发网络</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箱线图</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6.Ntu</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开头的论文</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作者来自</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南洋理工</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mirror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网站不同步——为追求数据集更大</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的话使用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7.precision and recall</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20928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3005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75EEBC-941C-4CCF-9D80-1674EE09BD30}"/>
              </a:ext>
            </a:extLst>
          </p:cNvPr>
          <p:cNvSpPr txBox="1"/>
          <p:nvPr/>
        </p:nvSpPr>
        <p:spPr>
          <a:xfrm>
            <a:off x="780582" y="511191"/>
            <a:ext cx="11036767" cy="400110"/>
          </a:xfrm>
          <a:prstGeom prst="rect">
            <a:avLst/>
          </a:prstGeom>
          <a:noFill/>
        </p:spPr>
        <p:txBody>
          <a:bodyPr wrap="square" rtlCol="0">
            <a:spAutoFit/>
          </a:bodyPr>
          <a:lstStyle/>
          <a:p>
            <a:r>
              <a:rPr lang="en-US" altLang="zh-CN" sz="2000" dirty="0"/>
              <a:t>Towards Measuring Supply Chain Attacks on Package Managers for Interpreted Languages</a:t>
            </a:r>
            <a:endParaRPr lang="zh-CN" altLang="en-US" sz="2000" dirty="0"/>
          </a:p>
        </p:txBody>
      </p:sp>
      <p:sp>
        <p:nvSpPr>
          <p:cNvPr id="3" name="文本框 2">
            <a:extLst>
              <a:ext uri="{FF2B5EF4-FFF2-40B4-BE49-F238E27FC236}">
                <a16:creationId xmlns:a16="http://schemas.microsoft.com/office/drawing/2014/main" id="{CF57B9E9-1313-4CB5-ACDC-81616BFD2223}"/>
              </a:ext>
            </a:extLst>
          </p:cNvPr>
          <p:cNvSpPr txBox="1"/>
          <p:nvPr/>
        </p:nvSpPr>
        <p:spPr>
          <a:xfrm>
            <a:off x="780584" y="5979304"/>
            <a:ext cx="9865561" cy="923330"/>
          </a:xfrm>
          <a:prstGeom prst="rect">
            <a:avLst/>
          </a:prstGeom>
          <a:noFill/>
        </p:spPr>
        <p:txBody>
          <a:bodyPr wrap="square" rtlCol="0">
            <a:spAutoFit/>
          </a:bodyPr>
          <a:lstStyle/>
          <a:p>
            <a:r>
              <a:rPr lang="en-US" altLang="zh-CN" dirty="0"/>
              <a:t>CVE——</a:t>
            </a:r>
            <a:r>
              <a:rPr lang="zh-CN" altLang="en-US" b="0" i="0" dirty="0">
                <a:solidFill>
                  <a:srgbClr val="494949"/>
                </a:solidFill>
                <a:effectLst/>
                <a:latin typeface="Microsoft YaHei" panose="020B0503020204020204" pitchFamily="34" charset="-122"/>
                <a:ea typeface="Microsoft YaHei" panose="020B0503020204020204" pitchFamily="34" charset="-122"/>
              </a:rPr>
              <a:t>公共漏洞和暴露</a:t>
            </a:r>
            <a:endParaRPr lang="en-US" altLang="zh-CN" b="0" i="0" dirty="0">
              <a:solidFill>
                <a:srgbClr val="494949"/>
              </a:solidFill>
              <a:effectLst/>
              <a:latin typeface="Microsoft YaHei" panose="020B0503020204020204" pitchFamily="34" charset="-122"/>
              <a:ea typeface="Microsoft YaHei" panose="020B0503020204020204" pitchFamily="34" charset="-122"/>
            </a:endParaRPr>
          </a:p>
          <a:p>
            <a:r>
              <a:rPr lang="en-US" altLang="zh-CN" dirty="0">
                <a:solidFill>
                  <a:srgbClr val="494949"/>
                </a:solidFill>
                <a:latin typeface="Microsoft YaHei" panose="020B0503020204020204" pitchFamily="34" charset="-122"/>
                <a:ea typeface="Microsoft YaHei" panose="020B0503020204020204" pitchFamily="34" charset="-122"/>
              </a:rPr>
              <a:t>hook——</a:t>
            </a:r>
            <a:r>
              <a:rPr lang="zh-CN" altLang="en-US" dirty="0">
                <a:solidFill>
                  <a:srgbClr val="494949"/>
                </a:solidFill>
                <a:latin typeface="Microsoft YaHei" panose="020B0503020204020204" pitchFamily="34" charset="-122"/>
                <a:ea typeface="Microsoft YaHei" panose="020B0503020204020204" pitchFamily="34" charset="-122"/>
              </a:rPr>
              <a:t>通过拦截系统或者应用中的事件，信号和调用，来更改系统或者应用的默认行为</a:t>
            </a:r>
            <a:endParaRPr lang="en-US" altLang="zh-CN" dirty="0">
              <a:solidFill>
                <a:srgbClr val="494949"/>
              </a:solidFill>
              <a:latin typeface="Microsoft YaHei" panose="020B0503020204020204" pitchFamily="34" charset="-122"/>
              <a:ea typeface="Microsoft YaHei" panose="020B0503020204020204" pitchFamily="34" charset="-122"/>
            </a:endParaRPr>
          </a:p>
          <a:p>
            <a:r>
              <a:rPr lang="zh-CN" altLang="en-US" dirty="0">
                <a:solidFill>
                  <a:srgbClr val="494949"/>
                </a:solidFill>
                <a:latin typeface="Microsoft YaHei" panose="020B0503020204020204" pitchFamily="34" charset="-122"/>
                <a:ea typeface="Microsoft YaHei" panose="020B0503020204020204" pitchFamily="34" charset="-122"/>
              </a:rPr>
              <a:t>元数据</a:t>
            </a:r>
            <a:endParaRPr lang="zh-CN" altLang="en-US" dirty="0"/>
          </a:p>
        </p:txBody>
      </p:sp>
      <p:sp>
        <p:nvSpPr>
          <p:cNvPr id="4" name="文本框 3">
            <a:extLst>
              <a:ext uri="{FF2B5EF4-FFF2-40B4-BE49-F238E27FC236}">
                <a16:creationId xmlns:a16="http://schemas.microsoft.com/office/drawing/2014/main" id="{B25DDFDD-8514-4C07-A966-33439B8B46EF}"/>
              </a:ext>
            </a:extLst>
          </p:cNvPr>
          <p:cNvSpPr txBox="1"/>
          <p:nvPr/>
        </p:nvSpPr>
        <p:spPr>
          <a:xfrm>
            <a:off x="780585" y="3872778"/>
            <a:ext cx="9151435" cy="1477328"/>
          </a:xfrm>
          <a:prstGeom prst="rect">
            <a:avLst/>
          </a:prstGeom>
          <a:noFill/>
        </p:spPr>
        <p:txBody>
          <a:bodyPr wrap="square" rtlCol="0">
            <a:spAutoFit/>
          </a:bodyPr>
          <a:lstStyle/>
          <a:p>
            <a:r>
              <a:rPr lang="zh-CN" altLang="en-US" dirty="0"/>
              <a:t>二、完成的工作：</a:t>
            </a:r>
            <a:endParaRPr lang="en-US" altLang="zh-CN" dirty="0"/>
          </a:p>
          <a:p>
            <a:r>
              <a:rPr lang="en-US" altLang="zh-CN" dirty="0"/>
              <a:t>1. Propose a</a:t>
            </a:r>
            <a:r>
              <a:rPr lang="zh-CN" altLang="en-US" dirty="0"/>
              <a:t> </a:t>
            </a:r>
            <a:r>
              <a:rPr lang="en-US" altLang="zh-CN" dirty="0"/>
              <a:t>framework</a:t>
            </a:r>
          </a:p>
          <a:p>
            <a:r>
              <a:rPr lang="en-US" altLang="zh-CN" dirty="0"/>
              <a:t>2. Apply metadata(</a:t>
            </a:r>
            <a:r>
              <a:rPr lang="zh-CN" altLang="en-US" dirty="0"/>
              <a:t>元数据</a:t>
            </a:r>
            <a:r>
              <a:rPr lang="en-US" altLang="zh-CN" dirty="0"/>
              <a:t>), static and dynamic analysis</a:t>
            </a:r>
          </a:p>
          <a:p>
            <a:r>
              <a:rPr lang="en-US" altLang="zh-CN" dirty="0"/>
              <a:t>3. Anti-analysis Techniques and Logic Bomb(executed only under certain </a:t>
            </a:r>
            <a:r>
              <a:rPr lang="en-US" altLang="zh-CN" dirty="0" err="1"/>
              <a:t>circumstancess</a:t>
            </a:r>
            <a:r>
              <a:rPr lang="en-US" altLang="zh-CN" dirty="0"/>
              <a:t>)</a:t>
            </a:r>
          </a:p>
          <a:p>
            <a:r>
              <a:rPr lang="en-US" altLang="zh-CN" dirty="0"/>
              <a:t>4. </a:t>
            </a:r>
            <a:r>
              <a:rPr lang="zh-CN" altLang="en-US" dirty="0"/>
              <a:t>安全分析障碍</a:t>
            </a:r>
          </a:p>
        </p:txBody>
      </p:sp>
      <p:sp>
        <p:nvSpPr>
          <p:cNvPr id="5" name="文本框 4">
            <a:extLst>
              <a:ext uri="{FF2B5EF4-FFF2-40B4-BE49-F238E27FC236}">
                <a16:creationId xmlns:a16="http://schemas.microsoft.com/office/drawing/2014/main" id="{B409D3C4-FD63-4E27-9364-2D8E80829714}"/>
              </a:ext>
            </a:extLst>
          </p:cNvPr>
          <p:cNvSpPr txBox="1"/>
          <p:nvPr/>
        </p:nvSpPr>
        <p:spPr>
          <a:xfrm>
            <a:off x="780584" y="1010456"/>
            <a:ext cx="9065767" cy="2862322"/>
          </a:xfrm>
          <a:prstGeom prst="rect">
            <a:avLst/>
          </a:prstGeom>
          <a:noFill/>
        </p:spPr>
        <p:txBody>
          <a:bodyPr wrap="square" rtlCol="0">
            <a:spAutoFit/>
          </a:bodyPr>
          <a:lstStyle/>
          <a:p>
            <a:r>
              <a:rPr lang="zh-CN" altLang="en-US" dirty="0"/>
              <a:t>一、前人的工作：</a:t>
            </a:r>
            <a:endParaRPr lang="en-US" altLang="zh-CN" dirty="0"/>
          </a:p>
          <a:p>
            <a:r>
              <a:rPr lang="en-US" altLang="zh-CN" dirty="0"/>
              <a:t>  1.off-the-shelf tools suffer from accuracy and lack of domain knowledge</a:t>
            </a:r>
          </a:p>
          <a:p>
            <a:r>
              <a:rPr lang="en-US" altLang="zh-CN" dirty="0"/>
              <a:t>  2. since these packages can have a large number of dependencies, directly applying existing static analysis tools to them not only incurs significant time and space overhead, but also wastes computing resources in repeatedly analyzing commonly used packages</a:t>
            </a:r>
          </a:p>
          <a:p>
            <a:r>
              <a:rPr lang="en-US" altLang="zh-CN" dirty="0"/>
              <a:t>  3. these packages are written in dynamically typed languages and are flexible in terms of execution, leading to inaccurate static analysis and complicated runtime requirements in dynamic analysis</a:t>
            </a:r>
          </a:p>
          <a:p>
            <a:r>
              <a:rPr lang="en-US" altLang="zh-CN" dirty="0"/>
              <a:t>  4. three registries currently have little to no review process for publishing packages and existing supply chain attacks are mainly reported by the community without automation</a:t>
            </a:r>
          </a:p>
        </p:txBody>
      </p:sp>
    </p:spTree>
    <p:extLst>
      <p:ext uri="{BB962C8B-B14F-4D97-AF65-F5344CB8AC3E}">
        <p14:creationId xmlns:p14="http://schemas.microsoft.com/office/powerpoint/2010/main" val="3825977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2FD5A7B-4DC4-4985-BA2F-CDB06A39429B}"/>
              </a:ext>
            </a:extLst>
          </p:cNvPr>
          <p:cNvSpPr txBox="1"/>
          <p:nvPr/>
        </p:nvSpPr>
        <p:spPr>
          <a:xfrm>
            <a:off x="1115122" y="468351"/>
            <a:ext cx="10048178" cy="400110"/>
          </a:xfrm>
          <a:prstGeom prst="rect">
            <a:avLst/>
          </a:prstGeom>
          <a:noFill/>
        </p:spPr>
        <p:txBody>
          <a:bodyPr wrap="square" rtlCol="0">
            <a:spAutoFit/>
          </a:bodyPr>
          <a:lstStyle/>
          <a:p>
            <a:r>
              <a:rPr lang="en-US" altLang="zh-CN" sz="2000" dirty="0"/>
              <a:t>Poster: Towards Using Source Code Repositories to Identify Software Supply Chain Attacks</a:t>
            </a:r>
            <a:endParaRPr lang="zh-CN" altLang="en-US" sz="2000" dirty="0"/>
          </a:p>
        </p:txBody>
      </p:sp>
      <p:sp>
        <p:nvSpPr>
          <p:cNvPr id="3" name="文本框 2">
            <a:extLst>
              <a:ext uri="{FF2B5EF4-FFF2-40B4-BE49-F238E27FC236}">
                <a16:creationId xmlns:a16="http://schemas.microsoft.com/office/drawing/2014/main" id="{3166E740-70EF-4F2A-9B22-481A685E922D}"/>
              </a:ext>
            </a:extLst>
          </p:cNvPr>
          <p:cNvSpPr txBox="1"/>
          <p:nvPr/>
        </p:nvSpPr>
        <p:spPr>
          <a:xfrm>
            <a:off x="532116" y="1110781"/>
            <a:ext cx="10870268" cy="2585323"/>
          </a:xfrm>
          <a:prstGeom prst="rect">
            <a:avLst/>
          </a:prstGeom>
          <a:noFill/>
        </p:spPr>
        <p:txBody>
          <a:bodyPr wrap="square" rtlCol="0">
            <a:spAutoFit/>
          </a:bodyPr>
          <a:lstStyle/>
          <a:p>
            <a:r>
              <a:rPr lang="zh-CN" altLang="en-US" dirty="0"/>
              <a:t>一、之前研究的工作情况</a:t>
            </a:r>
            <a:endParaRPr lang="en-US" altLang="zh-CN" dirty="0"/>
          </a:p>
          <a:p>
            <a:pPr marL="342900" indent="-342900">
              <a:buAutoNum type="arabicPeriod"/>
            </a:pPr>
            <a:r>
              <a:rPr lang="en-US" altLang="zh-CN" dirty="0" err="1"/>
              <a:t>SpellBound</a:t>
            </a:r>
            <a:r>
              <a:rPr lang="en-US" altLang="zh-CN" dirty="0"/>
              <a:t>: Defending Against Package </a:t>
            </a:r>
            <a:r>
              <a:rPr lang="en-US" altLang="zh-CN" dirty="0" err="1"/>
              <a:t>Typosquatting</a:t>
            </a:r>
            <a:r>
              <a:rPr lang="en-US" altLang="zh-CN" dirty="0"/>
              <a:t>. </a:t>
            </a:r>
            <a:r>
              <a:rPr lang="en-US" altLang="zh-CN" dirty="0" err="1"/>
              <a:t>arXiv</a:t>
            </a:r>
            <a:r>
              <a:rPr lang="en-US" altLang="zh-CN" dirty="0"/>
              <a:t> (2020)——the lack of essential features (e.g., source code similarity of suspected packages) might cause the approach to generate a high number of false alerts.</a:t>
            </a:r>
          </a:p>
          <a:p>
            <a:pPr marL="342900" indent="-342900">
              <a:buAutoNum type="arabicPeriod"/>
            </a:pPr>
            <a:r>
              <a:rPr lang="en-US" altLang="zh-CN" dirty="0" err="1"/>
              <a:t>MalOSS:the</a:t>
            </a:r>
            <a:r>
              <a:rPr lang="en-US" altLang="zh-CN" dirty="0"/>
              <a:t> proposed system is computationally expensive, and only process packages of a specific environment (e.g., Linux Ubuntu).</a:t>
            </a:r>
          </a:p>
          <a:p>
            <a:pPr marL="342900" indent="-342900">
              <a:buAutoNum type="arabicPeriod"/>
            </a:pPr>
            <a:r>
              <a:rPr lang="en-US" altLang="zh-CN" dirty="0" err="1"/>
              <a:t>Garret:features</a:t>
            </a:r>
            <a:r>
              <a:rPr lang="en-US" altLang="zh-CN" dirty="0"/>
              <a:t> extracted from packages’ metadata and source code to detect suspicious updates</a:t>
            </a:r>
          </a:p>
          <a:p>
            <a:pPr marL="342900" indent="-342900">
              <a:buAutoNum type="arabicPeriod"/>
            </a:pPr>
            <a:r>
              <a:rPr lang="en-US" altLang="zh-CN" dirty="0"/>
              <a:t>Ohm:</a:t>
            </a:r>
            <a:r>
              <a:rPr lang="zh-CN" altLang="en-US" dirty="0"/>
              <a:t>恶意包同早先版本的比较，但早先版本不宜获得</a:t>
            </a:r>
            <a:endParaRPr lang="en-US" altLang="zh-CN" dirty="0"/>
          </a:p>
          <a:p>
            <a:r>
              <a:rPr lang="zh-CN" altLang="en-US" dirty="0"/>
              <a:t>目前问题：错误率较高、无法实时检测上传的包</a:t>
            </a:r>
            <a:endParaRPr lang="en-US" altLang="zh-CN" dirty="0"/>
          </a:p>
        </p:txBody>
      </p:sp>
      <p:sp>
        <p:nvSpPr>
          <p:cNvPr id="4" name="文本框 3">
            <a:extLst>
              <a:ext uri="{FF2B5EF4-FFF2-40B4-BE49-F238E27FC236}">
                <a16:creationId xmlns:a16="http://schemas.microsoft.com/office/drawing/2014/main" id="{F7D8DD21-F1C8-49F5-9B47-289D154E5016}"/>
              </a:ext>
            </a:extLst>
          </p:cNvPr>
          <p:cNvSpPr txBox="1"/>
          <p:nvPr/>
        </p:nvSpPr>
        <p:spPr>
          <a:xfrm>
            <a:off x="532116" y="4242630"/>
            <a:ext cx="11735573" cy="1754326"/>
          </a:xfrm>
          <a:prstGeom prst="rect">
            <a:avLst/>
          </a:prstGeom>
          <a:noFill/>
        </p:spPr>
        <p:txBody>
          <a:bodyPr wrap="square" rtlCol="0">
            <a:spAutoFit/>
          </a:bodyPr>
          <a:lstStyle/>
          <a:p>
            <a:r>
              <a:rPr lang="zh-CN" altLang="en-US" dirty="0"/>
              <a:t>二、完成的工作</a:t>
            </a:r>
            <a:endParaRPr lang="en-US" altLang="zh-CN" dirty="0"/>
          </a:p>
          <a:p>
            <a:pPr marL="342900" indent="-342900">
              <a:buAutoNum type="arabicPeriod"/>
            </a:pPr>
            <a:r>
              <a:rPr lang="en-US" altLang="zh-CN" dirty="0"/>
              <a:t>it is suspicious if the code in the source code repository differs from the code in the artifacts distributed in the package repository.</a:t>
            </a:r>
          </a:p>
          <a:p>
            <a:pPr marL="342900" indent="-342900">
              <a:buAutoNum type="arabicPeriod"/>
            </a:pPr>
            <a:r>
              <a:rPr lang="en-US" altLang="zh-CN" dirty="0"/>
              <a:t>malicious imports focus on opening URLs, establishing connections, and encoding/decoding data</a:t>
            </a:r>
          </a:p>
          <a:p>
            <a:pPr marL="342900" indent="-342900">
              <a:buAutoNum type="arabicPeriod"/>
            </a:pPr>
            <a:r>
              <a:rPr lang="en-US" altLang="zh-CN" dirty="0"/>
              <a:t>reduces the review effort for distributed software releases by 97 percent</a:t>
            </a:r>
          </a:p>
          <a:p>
            <a:r>
              <a:rPr lang="zh-CN" altLang="en-US" dirty="0"/>
              <a:t>问题：仍需手动处理恶意非恶意，计划未来实现自动化</a:t>
            </a:r>
            <a:r>
              <a:rPr lang="en-US" altLang="zh-CN" dirty="0"/>
              <a:t>	</a:t>
            </a:r>
            <a:endParaRPr lang="zh-CN" altLang="en-US" dirty="0"/>
          </a:p>
        </p:txBody>
      </p:sp>
    </p:spTree>
    <p:extLst>
      <p:ext uri="{BB962C8B-B14F-4D97-AF65-F5344CB8AC3E}">
        <p14:creationId xmlns:p14="http://schemas.microsoft.com/office/powerpoint/2010/main" val="2811618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DB4038-7820-4E64-B908-5DDBC8D66739}"/>
              </a:ext>
            </a:extLst>
          </p:cNvPr>
          <p:cNvSpPr txBox="1"/>
          <p:nvPr/>
        </p:nvSpPr>
        <p:spPr>
          <a:xfrm>
            <a:off x="957358" y="521638"/>
            <a:ext cx="10475710" cy="400110"/>
          </a:xfrm>
          <a:prstGeom prst="rect">
            <a:avLst/>
          </a:prstGeom>
          <a:noFill/>
        </p:spPr>
        <p:txBody>
          <a:bodyPr wrap="square" rtlCol="0">
            <a:spAutoFit/>
          </a:bodyPr>
          <a:lstStyle/>
          <a:p>
            <a:r>
              <a:rPr lang="en-US" altLang="zh-CN" sz="2000" dirty="0"/>
              <a:t>An Empirical Study of Data Disruption by Ransomware Attacks</a:t>
            </a:r>
            <a:endParaRPr lang="zh-CN" altLang="en-US" sz="2000" dirty="0"/>
          </a:p>
        </p:txBody>
      </p:sp>
      <p:sp>
        <p:nvSpPr>
          <p:cNvPr id="3" name="文本框 2">
            <a:extLst>
              <a:ext uri="{FF2B5EF4-FFF2-40B4-BE49-F238E27FC236}">
                <a16:creationId xmlns:a16="http://schemas.microsoft.com/office/drawing/2014/main" id="{7BD58D3F-B2A9-448B-95B9-C1BC6A0E1A6A}"/>
              </a:ext>
            </a:extLst>
          </p:cNvPr>
          <p:cNvSpPr txBox="1"/>
          <p:nvPr/>
        </p:nvSpPr>
        <p:spPr>
          <a:xfrm>
            <a:off x="1092370" y="981906"/>
            <a:ext cx="8014808" cy="646331"/>
          </a:xfrm>
          <a:prstGeom prst="rect">
            <a:avLst/>
          </a:prstGeom>
          <a:noFill/>
        </p:spPr>
        <p:txBody>
          <a:bodyPr wrap="square" rtlCol="0">
            <a:spAutoFit/>
          </a:bodyPr>
          <a:lstStyle/>
          <a:p>
            <a:r>
              <a:rPr lang="zh-CN" altLang="en-US" dirty="0"/>
              <a:t>一、之前研究的工作情况</a:t>
            </a:r>
            <a:endParaRPr lang="en-US" altLang="zh-CN" dirty="0"/>
          </a:p>
          <a:p>
            <a:r>
              <a:rPr lang="en-US" altLang="zh-CN" dirty="0"/>
              <a:t>1.</a:t>
            </a:r>
            <a:r>
              <a:rPr lang="zh-CN" altLang="en-US" dirty="0"/>
              <a:t>采用动态分析，缺乏普遍性</a:t>
            </a:r>
          </a:p>
        </p:txBody>
      </p:sp>
      <p:sp>
        <p:nvSpPr>
          <p:cNvPr id="4" name="文本框 3">
            <a:extLst>
              <a:ext uri="{FF2B5EF4-FFF2-40B4-BE49-F238E27FC236}">
                <a16:creationId xmlns:a16="http://schemas.microsoft.com/office/drawing/2014/main" id="{E3DA755E-517A-4A81-B840-352C5D604A23}"/>
              </a:ext>
            </a:extLst>
          </p:cNvPr>
          <p:cNvSpPr txBox="1"/>
          <p:nvPr/>
        </p:nvSpPr>
        <p:spPr>
          <a:xfrm>
            <a:off x="576869" y="2114721"/>
            <a:ext cx="10856199" cy="2585323"/>
          </a:xfrm>
          <a:prstGeom prst="rect">
            <a:avLst/>
          </a:prstGeom>
          <a:noFill/>
        </p:spPr>
        <p:txBody>
          <a:bodyPr wrap="square" rtlCol="0">
            <a:spAutoFit/>
          </a:bodyPr>
          <a:lstStyle/>
          <a:p>
            <a:r>
              <a:rPr lang="zh-CN" altLang="en-US" dirty="0"/>
              <a:t>二、完成的工作</a:t>
            </a:r>
            <a:endParaRPr lang="en-US" altLang="zh-CN" dirty="0"/>
          </a:p>
          <a:p>
            <a:r>
              <a:rPr lang="en-US" altLang="zh-CN" dirty="0"/>
              <a:t>1.</a:t>
            </a:r>
            <a:r>
              <a:rPr lang="zh-CN" altLang="en-US" dirty="0"/>
              <a:t>显著增强对</a:t>
            </a:r>
            <a:r>
              <a:rPr lang="en-US" altLang="zh-CN" dirty="0"/>
              <a:t>ransomware</a:t>
            </a:r>
            <a:r>
              <a:rPr lang="zh-CN" altLang="en-US" dirty="0"/>
              <a:t>的检测能力</a:t>
            </a:r>
            <a:r>
              <a:rPr lang="en-US" altLang="zh-CN" dirty="0"/>
              <a:t>(41%-69%)</a:t>
            </a:r>
            <a:r>
              <a:rPr lang="zh-CN" altLang="en-US" dirty="0"/>
              <a:t>，无额外的</a:t>
            </a:r>
            <a:r>
              <a:rPr lang="en-US" altLang="zh-CN" dirty="0" err="1"/>
              <a:t>fp</a:t>
            </a:r>
            <a:r>
              <a:rPr lang="en-US" altLang="zh-CN" dirty="0"/>
              <a:t>(false positive)</a:t>
            </a:r>
          </a:p>
          <a:p>
            <a:r>
              <a:rPr lang="en-US" altLang="zh-CN" dirty="0"/>
              <a:t>2. open-source dataset MarauderMap1, comprising 7,796 active ransomware samples and analysis metadata</a:t>
            </a:r>
          </a:p>
          <a:p>
            <a:r>
              <a:rPr lang="en-US" altLang="zh-CN" dirty="0"/>
              <a:t>3.Log collection</a:t>
            </a:r>
          </a:p>
          <a:p>
            <a:r>
              <a:rPr lang="en-US" altLang="zh-CN" dirty="0"/>
              <a:t>4.ransomware: Data Reconnaissance, Data Tampering, Data Exfiltration</a:t>
            </a:r>
          </a:p>
          <a:p>
            <a:r>
              <a:rPr lang="en-US" altLang="zh-CN" dirty="0"/>
              <a:t>5.process injection, registry modification, and file scanning are common procedures used by ransomware during the data reconnaissance phase</a:t>
            </a:r>
          </a:p>
          <a:p>
            <a:r>
              <a:rPr lang="zh-CN" altLang="en-US" dirty="0"/>
              <a:t>局限：</a:t>
            </a:r>
            <a:endParaRPr lang="en-US" altLang="zh-CN" dirty="0"/>
          </a:p>
          <a:p>
            <a:r>
              <a:rPr lang="zh-CN" altLang="en-US" dirty="0"/>
              <a:t>涵盖</a:t>
            </a:r>
            <a:r>
              <a:rPr lang="en-US" altLang="zh-CN" dirty="0"/>
              <a:t>OS</a:t>
            </a:r>
            <a:r>
              <a:rPr lang="zh-CN" altLang="en-US" dirty="0"/>
              <a:t>单一</a:t>
            </a:r>
          </a:p>
        </p:txBody>
      </p:sp>
      <p:sp>
        <p:nvSpPr>
          <p:cNvPr id="5" name="文本框 4">
            <a:extLst>
              <a:ext uri="{FF2B5EF4-FFF2-40B4-BE49-F238E27FC236}">
                <a16:creationId xmlns:a16="http://schemas.microsoft.com/office/drawing/2014/main" id="{21C5A135-0162-46A0-B2FA-0763FBDED6B4}"/>
              </a:ext>
            </a:extLst>
          </p:cNvPr>
          <p:cNvSpPr txBox="1"/>
          <p:nvPr/>
        </p:nvSpPr>
        <p:spPr>
          <a:xfrm>
            <a:off x="632102" y="4909530"/>
            <a:ext cx="3369165" cy="1754326"/>
          </a:xfrm>
          <a:prstGeom prst="rect">
            <a:avLst/>
          </a:prstGeom>
          <a:noFill/>
        </p:spPr>
        <p:txBody>
          <a:bodyPr wrap="square" rtlCol="0">
            <a:spAutoFit/>
          </a:bodyPr>
          <a:lstStyle/>
          <a:p>
            <a:r>
              <a:rPr lang="en-US" altLang="zh-CN" dirty="0"/>
              <a:t>Data Reconnaissance:</a:t>
            </a:r>
          </a:p>
          <a:p>
            <a:r>
              <a:rPr lang="en-US" altLang="zh-CN" dirty="0"/>
              <a:t>1.Inject</a:t>
            </a:r>
          </a:p>
          <a:p>
            <a:r>
              <a:rPr lang="en-US" altLang="zh-CN" dirty="0"/>
              <a:t>2.Keep persistence</a:t>
            </a:r>
          </a:p>
          <a:p>
            <a:r>
              <a:rPr lang="en-US" altLang="zh-CN" dirty="0"/>
              <a:t>3.Identify network environment</a:t>
            </a:r>
          </a:p>
          <a:p>
            <a:r>
              <a:rPr lang="en-US" altLang="zh-CN" dirty="0"/>
              <a:t>4.Locate C&amp;C Server</a:t>
            </a:r>
          </a:p>
          <a:p>
            <a:r>
              <a:rPr lang="en-US" altLang="zh-CN" dirty="0"/>
              <a:t>5.Profile Crucial Data</a:t>
            </a:r>
            <a:endParaRPr lang="zh-CN" altLang="en-US" dirty="0"/>
          </a:p>
        </p:txBody>
      </p:sp>
      <p:sp>
        <p:nvSpPr>
          <p:cNvPr id="6" name="文本框 5">
            <a:extLst>
              <a:ext uri="{FF2B5EF4-FFF2-40B4-BE49-F238E27FC236}">
                <a16:creationId xmlns:a16="http://schemas.microsoft.com/office/drawing/2014/main" id="{D7DA4F88-7965-404D-97CF-45FEFFA667E1}"/>
              </a:ext>
            </a:extLst>
          </p:cNvPr>
          <p:cNvSpPr txBox="1"/>
          <p:nvPr/>
        </p:nvSpPr>
        <p:spPr>
          <a:xfrm>
            <a:off x="4001267" y="4866572"/>
            <a:ext cx="3093004" cy="1477328"/>
          </a:xfrm>
          <a:prstGeom prst="rect">
            <a:avLst/>
          </a:prstGeom>
          <a:noFill/>
        </p:spPr>
        <p:txBody>
          <a:bodyPr wrap="square" rtlCol="0">
            <a:spAutoFit/>
          </a:bodyPr>
          <a:lstStyle/>
          <a:p>
            <a:r>
              <a:rPr lang="en-US" altLang="zh-CN" dirty="0"/>
              <a:t>Data Tampering</a:t>
            </a:r>
          </a:p>
          <a:p>
            <a:r>
              <a:rPr lang="en-US" altLang="zh-CN" dirty="0"/>
              <a:t>1.Modify firewall</a:t>
            </a:r>
          </a:p>
          <a:p>
            <a:r>
              <a:rPr lang="en-US" altLang="zh-CN" dirty="0"/>
              <a:t>2.Download Payload</a:t>
            </a:r>
          </a:p>
          <a:p>
            <a:r>
              <a:rPr lang="en-US" altLang="zh-CN" dirty="0"/>
              <a:t>3.Prevent Rollback</a:t>
            </a:r>
          </a:p>
          <a:p>
            <a:r>
              <a:rPr lang="en-US" altLang="zh-CN"/>
              <a:t>4.Encrypt Data</a:t>
            </a:r>
          </a:p>
        </p:txBody>
      </p:sp>
      <p:sp>
        <p:nvSpPr>
          <p:cNvPr id="7" name="文本框 6">
            <a:extLst>
              <a:ext uri="{FF2B5EF4-FFF2-40B4-BE49-F238E27FC236}">
                <a16:creationId xmlns:a16="http://schemas.microsoft.com/office/drawing/2014/main" id="{09D50AF9-73EB-47BC-8A42-3CF2031A87ED}"/>
              </a:ext>
            </a:extLst>
          </p:cNvPr>
          <p:cNvSpPr txBox="1"/>
          <p:nvPr/>
        </p:nvSpPr>
        <p:spPr>
          <a:xfrm>
            <a:off x="7824564" y="5142733"/>
            <a:ext cx="2301342" cy="646331"/>
          </a:xfrm>
          <a:prstGeom prst="rect">
            <a:avLst/>
          </a:prstGeom>
          <a:noFill/>
        </p:spPr>
        <p:txBody>
          <a:bodyPr wrap="square" rtlCol="0">
            <a:spAutoFit/>
          </a:bodyPr>
          <a:lstStyle/>
          <a:p>
            <a:r>
              <a:rPr lang="zh-CN" altLang="en-US" dirty="0"/>
              <a:t>问题：</a:t>
            </a:r>
            <a:br>
              <a:rPr lang="en-US" altLang="zh-CN" dirty="0"/>
            </a:br>
            <a:r>
              <a:rPr lang="en-US" altLang="zh-CN" dirty="0"/>
              <a:t>Redemption</a:t>
            </a:r>
          </a:p>
        </p:txBody>
      </p:sp>
    </p:spTree>
    <p:extLst>
      <p:ext uri="{BB962C8B-B14F-4D97-AF65-F5344CB8AC3E}">
        <p14:creationId xmlns:p14="http://schemas.microsoft.com/office/powerpoint/2010/main" val="633593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531B7BA-BBFF-4108-A6D6-3B1BEF98D3A1}"/>
              </a:ext>
            </a:extLst>
          </p:cNvPr>
          <p:cNvSpPr txBox="1"/>
          <p:nvPr/>
        </p:nvSpPr>
        <p:spPr>
          <a:xfrm>
            <a:off x="244539" y="368939"/>
            <a:ext cx="7118819" cy="2585323"/>
          </a:xfrm>
          <a:prstGeom prst="rect">
            <a:avLst/>
          </a:prstGeom>
          <a:noFill/>
        </p:spPr>
        <p:txBody>
          <a:bodyPr wrap="square" rtlCol="0">
            <a:spAutoFit/>
          </a:bodyPr>
          <a:lstStyle/>
          <a:p>
            <a:r>
              <a:rPr lang="zh-CN" altLang="en-US" dirty="0"/>
              <a:t>笔记：</a:t>
            </a:r>
            <a:endParaRPr lang="en-US" altLang="zh-CN" dirty="0"/>
          </a:p>
          <a:p>
            <a:r>
              <a:rPr lang="en-US" altLang="zh-CN" dirty="0"/>
              <a:t>1.A needle is an outlier in a hay stack</a:t>
            </a:r>
          </a:p>
          <a:p>
            <a:r>
              <a:rPr lang="en-US" altLang="zh-CN" dirty="0"/>
              <a:t>2.An empirical study of</a:t>
            </a:r>
            <a:r>
              <a:rPr lang="zh-CN" altLang="en-US" dirty="0"/>
              <a:t> </a:t>
            </a:r>
            <a:r>
              <a:rPr lang="en-US" altLang="zh-CN" dirty="0"/>
              <a:t>malicious</a:t>
            </a:r>
            <a:r>
              <a:rPr lang="zh-CN" altLang="en-US" dirty="0"/>
              <a:t> </a:t>
            </a:r>
            <a:r>
              <a:rPr lang="en-US" altLang="zh-CN" dirty="0"/>
              <a:t>code</a:t>
            </a:r>
            <a:r>
              <a:rPr lang="zh-CN" altLang="en-US" dirty="0"/>
              <a:t> </a:t>
            </a:r>
            <a:r>
              <a:rPr lang="en-US" altLang="zh-CN" dirty="0"/>
              <a:t>in</a:t>
            </a:r>
            <a:r>
              <a:rPr lang="zh-CN" altLang="en-US" dirty="0"/>
              <a:t> </a:t>
            </a:r>
            <a:r>
              <a:rPr lang="en-US" altLang="zh-CN" dirty="0" err="1"/>
              <a:t>pypi</a:t>
            </a:r>
            <a:r>
              <a:rPr lang="zh-CN" altLang="en-US" dirty="0"/>
              <a:t> </a:t>
            </a:r>
            <a:r>
              <a:rPr lang="en-US" altLang="zh-CN" dirty="0"/>
              <a:t>ecosystem</a:t>
            </a:r>
          </a:p>
          <a:p>
            <a:r>
              <a:rPr lang="en-US" altLang="zh-CN" dirty="0"/>
              <a:t>3.</a:t>
            </a:r>
            <a:r>
              <a:rPr lang="zh-CN" altLang="en-US" dirty="0"/>
              <a:t>混淆技术</a:t>
            </a:r>
            <a:endParaRPr lang="en-US" altLang="zh-CN" dirty="0"/>
          </a:p>
          <a:p>
            <a:r>
              <a:rPr lang="en-US" altLang="zh-CN" dirty="0"/>
              <a:t>4.</a:t>
            </a:r>
            <a:r>
              <a:rPr lang="zh-CN" altLang="en-US" dirty="0"/>
              <a:t>开始收集数据</a:t>
            </a:r>
            <a:endParaRPr lang="en-US" altLang="zh-CN" dirty="0"/>
          </a:p>
          <a:p>
            <a:r>
              <a:rPr lang="en-US" altLang="zh-CN" dirty="0"/>
              <a:t>5.</a:t>
            </a:r>
            <a:r>
              <a:rPr lang="zh-CN" altLang="en-US" dirty="0"/>
              <a:t>混淆的代码表现过多可以向这个方向</a:t>
            </a:r>
            <a:endParaRPr lang="en-US" altLang="zh-CN" dirty="0"/>
          </a:p>
          <a:p>
            <a:r>
              <a:rPr lang="en-US" altLang="zh-CN" dirty="0"/>
              <a:t>6.</a:t>
            </a:r>
            <a:r>
              <a:rPr lang="zh-CN" altLang="en-US" dirty="0"/>
              <a:t>跑数据将</a:t>
            </a:r>
            <a:r>
              <a:rPr lang="en-US" altLang="zh-CN" dirty="0"/>
              <a:t>false</a:t>
            </a:r>
            <a:r>
              <a:rPr lang="zh-CN" altLang="en-US" dirty="0"/>
              <a:t>展出思考</a:t>
            </a:r>
            <a:r>
              <a:rPr lang="en-US" altLang="zh-CN" dirty="0"/>
              <a:t>(</a:t>
            </a:r>
            <a:r>
              <a:rPr lang="zh-CN" altLang="en-US" dirty="0"/>
              <a:t>从数据出发</a:t>
            </a:r>
            <a:r>
              <a:rPr lang="en-US" altLang="zh-CN" dirty="0"/>
              <a:t>)</a:t>
            </a:r>
          </a:p>
          <a:p>
            <a:r>
              <a:rPr lang="en-US" altLang="zh-CN" dirty="0"/>
              <a:t>7.Ntu</a:t>
            </a:r>
            <a:r>
              <a:rPr lang="zh-CN" altLang="en-US" dirty="0"/>
              <a:t>数据集</a:t>
            </a:r>
            <a:endParaRPr lang="en-US" altLang="zh-CN" dirty="0"/>
          </a:p>
          <a:p>
            <a:r>
              <a:rPr lang="en-US" altLang="zh-CN" dirty="0"/>
              <a:t>8.pypi_malregistry</a:t>
            </a:r>
          </a:p>
        </p:txBody>
      </p:sp>
      <p:sp>
        <p:nvSpPr>
          <p:cNvPr id="3" name="文本框 2">
            <a:extLst>
              <a:ext uri="{FF2B5EF4-FFF2-40B4-BE49-F238E27FC236}">
                <a16:creationId xmlns:a16="http://schemas.microsoft.com/office/drawing/2014/main" id="{6E65B392-846C-4E71-B1E6-54DACACB73AE}"/>
              </a:ext>
            </a:extLst>
          </p:cNvPr>
          <p:cNvSpPr txBox="1"/>
          <p:nvPr/>
        </p:nvSpPr>
        <p:spPr>
          <a:xfrm>
            <a:off x="497090" y="3749654"/>
            <a:ext cx="5774835" cy="369332"/>
          </a:xfrm>
          <a:prstGeom prst="rect">
            <a:avLst/>
          </a:prstGeom>
          <a:noFill/>
        </p:spPr>
        <p:txBody>
          <a:bodyPr wrap="square" rtlCol="0">
            <a:spAutoFit/>
          </a:bodyPr>
          <a:lstStyle/>
          <a:p>
            <a:r>
              <a:rPr lang="zh-CN" altLang="en-US" dirty="0"/>
              <a:t>数据集＋方案</a:t>
            </a:r>
          </a:p>
        </p:txBody>
      </p:sp>
    </p:spTree>
    <p:extLst>
      <p:ext uri="{BB962C8B-B14F-4D97-AF65-F5344CB8AC3E}">
        <p14:creationId xmlns:p14="http://schemas.microsoft.com/office/powerpoint/2010/main" val="718710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74116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0439E4F-9F1F-45FD-A835-89D532DB6C08}"/>
              </a:ext>
            </a:extLst>
          </p:cNvPr>
          <p:cNvSpPr txBox="1"/>
          <p:nvPr/>
        </p:nvSpPr>
        <p:spPr>
          <a:xfrm>
            <a:off x="632102" y="378048"/>
            <a:ext cx="11543532" cy="369332"/>
          </a:xfrm>
          <a:prstGeom prst="rect">
            <a:avLst/>
          </a:prstGeom>
          <a:noFill/>
        </p:spPr>
        <p:txBody>
          <a:bodyPr wrap="square" rtlCol="0">
            <a:spAutoFit/>
          </a:bodyPr>
          <a:lstStyle/>
          <a:p>
            <a:r>
              <a:rPr lang="en-US" altLang="zh-CN" dirty="0" err="1"/>
              <a:t>LastPyMile</a:t>
            </a:r>
            <a:r>
              <a:rPr lang="en-US" altLang="zh-CN" dirty="0"/>
              <a:t>:</a:t>
            </a:r>
            <a:r>
              <a:rPr lang="zh-CN" altLang="en-US"/>
              <a:t> </a:t>
            </a:r>
            <a:r>
              <a:rPr lang="en-US" altLang="zh-CN"/>
              <a:t>Identifying </a:t>
            </a:r>
            <a:r>
              <a:rPr lang="en-US" altLang="zh-CN" dirty="0"/>
              <a:t>the Discrepancy between Sources and Packages </a:t>
            </a:r>
            <a:endParaRPr lang="zh-CN" altLang="en-US" dirty="0"/>
          </a:p>
        </p:txBody>
      </p:sp>
      <p:sp>
        <p:nvSpPr>
          <p:cNvPr id="3" name="文本框 2">
            <a:extLst>
              <a:ext uri="{FF2B5EF4-FFF2-40B4-BE49-F238E27FC236}">
                <a16:creationId xmlns:a16="http://schemas.microsoft.com/office/drawing/2014/main" id="{C1C4A644-573A-4BC7-AD2B-B3479AF07761}"/>
              </a:ext>
            </a:extLst>
          </p:cNvPr>
          <p:cNvSpPr txBox="1"/>
          <p:nvPr/>
        </p:nvSpPr>
        <p:spPr>
          <a:xfrm>
            <a:off x="632102" y="2299808"/>
            <a:ext cx="8186642" cy="1477328"/>
          </a:xfrm>
          <a:prstGeom prst="rect">
            <a:avLst/>
          </a:prstGeom>
          <a:noFill/>
        </p:spPr>
        <p:txBody>
          <a:bodyPr wrap="square" rtlCol="0">
            <a:spAutoFit/>
          </a:bodyPr>
          <a:lstStyle/>
          <a:p>
            <a:r>
              <a:rPr lang="zh-CN" altLang="en-US" dirty="0"/>
              <a:t>二、完成的工作</a:t>
            </a:r>
            <a:endParaRPr lang="en-US" altLang="zh-CN" dirty="0"/>
          </a:p>
          <a:p>
            <a:pPr marL="342900" indent="-342900">
              <a:buAutoNum type="arabicPeriod"/>
            </a:pPr>
            <a:r>
              <a:rPr lang="en-US" altLang="zh-CN" dirty="0"/>
              <a:t>deploying malicious code during package installation</a:t>
            </a:r>
          </a:p>
          <a:p>
            <a:pPr marL="342900" indent="-342900">
              <a:buAutoNum type="arabicPeriod"/>
            </a:pPr>
            <a:r>
              <a:rPr lang="en-US" altLang="zh-CN" dirty="0" err="1"/>
              <a:t>LastPyMile</a:t>
            </a:r>
            <a:endParaRPr lang="en-US" altLang="zh-CN" dirty="0"/>
          </a:p>
          <a:p>
            <a:pPr marL="342900" indent="-342900">
              <a:buAutoNum type="arabicPeriod"/>
            </a:pPr>
            <a:r>
              <a:rPr lang="zh-CN" altLang="en-US" dirty="0"/>
              <a:t>合法包与恶意包都会对源代码进行修改</a:t>
            </a:r>
            <a:endParaRPr lang="en-US" altLang="zh-CN" dirty="0"/>
          </a:p>
          <a:p>
            <a:pPr marL="342900" indent="-342900">
              <a:buAutoNum type="arabicPeriod"/>
            </a:pPr>
            <a:r>
              <a:rPr lang="zh-CN" altLang="en-US" dirty="0"/>
              <a:t>花费时间较命令</a:t>
            </a:r>
            <a:r>
              <a:rPr lang="en-US" altLang="zh-CN" dirty="0"/>
              <a:t>git log</a:t>
            </a:r>
            <a:r>
              <a:rPr lang="zh-CN" altLang="en-US" dirty="0"/>
              <a:t>更短</a:t>
            </a:r>
            <a:endParaRPr lang="en-US" altLang="zh-CN" dirty="0"/>
          </a:p>
        </p:txBody>
      </p:sp>
      <p:sp>
        <p:nvSpPr>
          <p:cNvPr id="5" name="文本框 4">
            <a:extLst>
              <a:ext uri="{FF2B5EF4-FFF2-40B4-BE49-F238E27FC236}">
                <a16:creationId xmlns:a16="http://schemas.microsoft.com/office/drawing/2014/main" id="{394462F6-6CCF-495E-A10D-FC17CBCEFBF2}"/>
              </a:ext>
            </a:extLst>
          </p:cNvPr>
          <p:cNvSpPr txBox="1"/>
          <p:nvPr/>
        </p:nvSpPr>
        <p:spPr>
          <a:xfrm>
            <a:off x="632102" y="1036712"/>
            <a:ext cx="10402067" cy="646331"/>
          </a:xfrm>
          <a:prstGeom prst="rect">
            <a:avLst/>
          </a:prstGeom>
          <a:noFill/>
        </p:spPr>
        <p:txBody>
          <a:bodyPr wrap="square" rtlCol="0">
            <a:spAutoFit/>
          </a:bodyPr>
          <a:lstStyle/>
          <a:p>
            <a:r>
              <a:rPr lang="zh-CN" altLang="en-US" dirty="0"/>
              <a:t>一、之前研究的工作情况</a:t>
            </a:r>
            <a:endParaRPr lang="en-US" altLang="zh-CN" dirty="0"/>
          </a:p>
          <a:p>
            <a:r>
              <a:rPr lang="en-US" altLang="zh-CN" dirty="0"/>
              <a:t>1.Ohm: hijacking and </a:t>
            </a:r>
            <a:r>
              <a:rPr lang="en-US" altLang="zh-CN" dirty="0" err="1"/>
              <a:t>typosquatting</a:t>
            </a:r>
            <a:r>
              <a:rPr lang="en-US" altLang="zh-CN" dirty="0"/>
              <a:t> attacks to be the most common</a:t>
            </a:r>
            <a:endParaRPr lang="zh-CN" altLang="en-US" dirty="0"/>
          </a:p>
        </p:txBody>
      </p:sp>
      <p:sp>
        <p:nvSpPr>
          <p:cNvPr id="6" name="文本框 5">
            <a:extLst>
              <a:ext uri="{FF2B5EF4-FFF2-40B4-BE49-F238E27FC236}">
                <a16:creationId xmlns:a16="http://schemas.microsoft.com/office/drawing/2014/main" id="{34887E0E-363B-4C30-A12B-2E8D70273C1D}"/>
              </a:ext>
            </a:extLst>
          </p:cNvPr>
          <p:cNvSpPr txBox="1"/>
          <p:nvPr/>
        </p:nvSpPr>
        <p:spPr>
          <a:xfrm>
            <a:off x="632102" y="4559726"/>
            <a:ext cx="5279791" cy="646331"/>
          </a:xfrm>
          <a:prstGeom prst="rect">
            <a:avLst/>
          </a:prstGeom>
          <a:noFill/>
        </p:spPr>
        <p:txBody>
          <a:bodyPr wrap="square" rtlCol="0">
            <a:spAutoFit/>
          </a:bodyPr>
          <a:lstStyle/>
          <a:p>
            <a:r>
              <a:rPr lang="zh-CN" altLang="en-US" dirty="0"/>
              <a:t>问题：</a:t>
            </a:r>
            <a:endParaRPr lang="en-US" altLang="zh-CN" dirty="0"/>
          </a:p>
          <a:p>
            <a:r>
              <a:rPr lang="en-US" altLang="zh-CN" dirty="0"/>
              <a:t>1.jellyfish</a:t>
            </a:r>
            <a:endParaRPr lang="zh-CN" altLang="en-US" dirty="0"/>
          </a:p>
        </p:txBody>
      </p:sp>
    </p:spTree>
    <p:extLst>
      <p:ext uri="{BB962C8B-B14F-4D97-AF65-F5344CB8AC3E}">
        <p14:creationId xmlns:p14="http://schemas.microsoft.com/office/powerpoint/2010/main" val="1442926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3DB7B34-847A-4BF6-881C-F67FB60D2FED}"/>
              </a:ext>
            </a:extLst>
          </p:cNvPr>
          <p:cNvSpPr txBox="1"/>
          <p:nvPr/>
        </p:nvSpPr>
        <p:spPr>
          <a:xfrm>
            <a:off x="691376" y="550127"/>
            <a:ext cx="7731512" cy="1200329"/>
          </a:xfrm>
          <a:prstGeom prst="rect">
            <a:avLst/>
          </a:prstGeom>
          <a:noFill/>
        </p:spPr>
        <p:txBody>
          <a:bodyPr wrap="square" rtlCol="0">
            <a:spAutoFit/>
          </a:bodyPr>
          <a:lstStyle/>
          <a:p>
            <a:r>
              <a:rPr lang="en-US" altLang="zh-CN" dirty="0"/>
              <a:t>1.Typosquatting</a:t>
            </a:r>
          </a:p>
          <a:p>
            <a:r>
              <a:rPr lang="en-US" altLang="zh-CN" dirty="0"/>
              <a:t>2.Package(steal credentials, install backdoors)</a:t>
            </a:r>
          </a:p>
          <a:p>
            <a:r>
              <a:rPr lang="en-US" altLang="zh-CN" dirty="0"/>
              <a:t>3.url</a:t>
            </a:r>
            <a:r>
              <a:rPr lang="zh-CN" altLang="en-US" dirty="0"/>
              <a:t>引入</a:t>
            </a:r>
            <a:endParaRPr lang="en-US" altLang="zh-CN" dirty="0"/>
          </a:p>
          <a:p>
            <a:r>
              <a:rPr lang="en-US" altLang="zh-CN" dirty="0"/>
              <a:t>4.ransomware</a:t>
            </a:r>
            <a:endParaRPr lang="zh-CN" altLang="en-US" dirty="0"/>
          </a:p>
        </p:txBody>
      </p:sp>
    </p:spTree>
    <p:extLst>
      <p:ext uri="{BB962C8B-B14F-4D97-AF65-F5344CB8AC3E}">
        <p14:creationId xmlns:p14="http://schemas.microsoft.com/office/powerpoint/2010/main" val="171465171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857</TotalTime>
  <Words>1220</Words>
  <Application>Microsoft Office PowerPoint</Application>
  <PresentationFormat>宽屏</PresentationFormat>
  <Paragraphs>124</Paragraphs>
  <Slides>14</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14</vt:i4>
      </vt:variant>
    </vt:vector>
  </HeadingPairs>
  <TitlesOfParts>
    <vt:vector size="20" baseType="lpstr">
      <vt:lpstr>等线</vt:lpstr>
      <vt:lpstr>等线 Light</vt:lpstr>
      <vt:lpstr>Microsoft YaHei</vt:lpstr>
      <vt:lpstr>Arial</vt:lpstr>
      <vt:lpstr>Corbel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俊 吴</dc:creator>
  <cp:lastModifiedBy>俊 吴</cp:lastModifiedBy>
  <cp:revision>128</cp:revision>
  <dcterms:created xsi:type="dcterms:W3CDTF">2024-05-28T05:47:45Z</dcterms:created>
  <dcterms:modified xsi:type="dcterms:W3CDTF">2024-07-16T11:51:53Z</dcterms:modified>
</cp:coreProperties>
</file>