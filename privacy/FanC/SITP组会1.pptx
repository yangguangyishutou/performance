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6" userDrawn="1">
          <p15:clr>
            <a:srgbClr val="A4A3A4"/>
          </p15:clr>
        </p15:guide>
        <p15:guide id="2" pos="383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8" d="100"/>
          <a:sy n="98" d="100"/>
        </p:scale>
        <p:origin x="592" y="60"/>
      </p:cViewPr>
      <p:guideLst>
        <p:guide orient="horz" pos="2196"/>
        <p:guide pos="383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2024/7/16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58775" y="115570"/>
            <a:ext cx="97637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/>
              <a:t>Practical Automated Detection of Malicious npm Packages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54685" y="94297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>
                <a:sym typeface="+mn-ea"/>
              </a:rPr>
              <a:t>目标:</a:t>
            </a:r>
          </a:p>
          <a:p>
            <a:r>
              <a:rPr>
                <a:sym typeface="+mn-ea"/>
              </a:rPr>
              <a:t>介绍Amalfi，一种基于机器学习的检测恶意npm包的方法</a:t>
            </a:r>
            <a:endParaRPr lang="zh-CN" altLang="en-US"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01980" y="1588135"/>
            <a:ext cx="9930130" cy="17145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dirty="0" err="1">
                <a:sym typeface="+mn-ea"/>
              </a:rPr>
              <a:t>组成部分</a:t>
            </a:r>
            <a:r>
              <a:rPr dirty="0">
                <a:sym typeface="+mn-ea"/>
              </a:rPr>
              <a:t>:</a:t>
            </a:r>
          </a:p>
          <a:p>
            <a:r>
              <a:rPr dirty="0">
                <a:sym typeface="+mn-ea"/>
              </a:rPr>
              <a:t>- </a:t>
            </a:r>
            <a:r>
              <a:rPr dirty="0" err="1">
                <a:sym typeface="+mn-ea"/>
              </a:rPr>
              <a:t>在恶意和良性包上训练的</a:t>
            </a:r>
            <a:r>
              <a:rPr lang="zh-CN" dirty="0">
                <a:sym typeface="+mn-ea"/>
              </a:rPr>
              <a:t>机器学习</a:t>
            </a:r>
            <a:r>
              <a:rPr dirty="0" err="1">
                <a:sym typeface="+mn-ea"/>
              </a:rPr>
              <a:t>分类器</a:t>
            </a:r>
            <a:endParaRPr dirty="0">
              <a:sym typeface="+mn-ea"/>
            </a:endParaRPr>
          </a:p>
          <a:p>
            <a:r>
              <a:rPr dirty="0">
                <a:sym typeface="+mn-ea"/>
              </a:rPr>
              <a:t>- </a:t>
            </a:r>
            <a:r>
              <a:rPr lang="zh-CN" altLang="en-US" dirty="0">
                <a:sym typeface="+mn-ea"/>
              </a:rPr>
              <a:t>复制器</a:t>
            </a:r>
            <a:endParaRPr lang="en-US" altLang="zh-CN" dirty="0">
              <a:sym typeface="+mn-ea"/>
            </a:endParaRPr>
          </a:p>
          <a:p>
            <a:r>
              <a:rPr dirty="0">
                <a:sym typeface="+mn-ea"/>
              </a:rPr>
              <a:t>- </a:t>
            </a:r>
            <a:r>
              <a:rPr lang="zh-CN" dirty="0">
                <a:sym typeface="+mn-ea"/>
              </a:rPr>
              <a:t>克隆</a:t>
            </a:r>
            <a:r>
              <a:rPr dirty="0" err="1">
                <a:sym typeface="+mn-ea"/>
              </a:rPr>
              <a:t>检测</a:t>
            </a:r>
            <a:r>
              <a:rPr lang="zh-CN" altLang="en-US" dirty="0">
                <a:sym typeface="+mn-ea"/>
              </a:rPr>
              <a:t>器</a:t>
            </a:r>
            <a:r>
              <a:rPr dirty="0">
                <a:sym typeface="+mn-ea"/>
              </a:rPr>
              <a:t>，</a:t>
            </a:r>
            <a:r>
              <a:rPr dirty="0" err="1">
                <a:sym typeface="+mn-ea"/>
              </a:rPr>
              <a:t>用于识别恶意包的副本</a:t>
            </a:r>
            <a:endParaRPr dirty="0">
              <a:sym typeface="+mn-ea"/>
            </a:endParaRPr>
          </a:p>
          <a:p>
            <a:endParaRPr lang="zh-CN" altLang="en-US" dirty="0">
              <a:sym typeface="+mn-ea"/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V="1">
            <a:off x="76200" y="3069590"/>
            <a:ext cx="11910060" cy="127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H="1">
            <a:off x="3994785" y="3105785"/>
            <a:ext cx="38100" cy="37522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>
            <a:off x="8168640" y="3105785"/>
            <a:ext cx="38100" cy="37522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06400" y="3082290"/>
            <a:ext cx="3015615" cy="554990"/>
          </a:xfrm>
        </p:spPr>
        <p:txBody>
          <a:bodyPr/>
          <a:lstStyle/>
          <a:p>
            <a:r>
              <a:rPr sz="2400"/>
              <a:t>分类器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213360" y="3499485"/>
            <a:ext cx="3601085" cy="2960370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ClrTx/>
              <a:buSzTx/>
              <a:buNone/>
            </a:pPr>
            <a:r>
              <a:rPr sz="1400" spc="0">
                <a:solidFill>
                  <a:schemeClr val="tx1"/>
                </a:solidFill>
              </a:rPr>
              <a:t>特性: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ClrTx/>
              <a:buSzTx/>
              <a:buNone/>
            </a:pPr>
            <a:r>
              <a:rPr sz="1400" spc="0">
                <a:solidFill>
                  <a:schemeClr val="tx1"/>
                </a:solidFill>
              </a:rPr>
              <a:t>- API使用的变化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ClrTx/>
              <a:buSzTx/>
              <a:buNone/>
            </a:pPr>
            <a:r>
              <a:rPr sz="1400" spc="0">
                <a:solidFill>
                  <a:schemeClr val="tx1"/>
                </a:solidFill>
              </a:rPr>
              <a:t>- 包元数据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ClrTx/>
              <a:buSzTx/>
              <a:buNone/>
            </a:pPr>
            <a:endParaRPr sz="1400" spc="0">
              <a:solidFill>
                <a:schemeClr val="tx1"/>
              </a:solidFill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ClrTx/>
              <a:buSzTx/>
              <a:buNone/>
            </a:pPr>
            <a:r>
              <a:rPr sz="1400" spc="0">
                <a:solidFill>
                  <a:schemeClr val="tx1"/>
                </a:solidFill>
              </a:rPr>
              <a:t>技术: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ClrTx/>
              <a:buSzTx/>
              <a:buNone/>
            </a:pPr>
            <a:r>
              <a:rPr sz="1400" spc="0">
                <a:solidFill>
                  <a:schemeClr val="tx1"/>
                </a:solidFill>
              </a:rPr>
              <a:t>- 决策树</a:t>
            </a:r>
            <a:r>
              <a:rPr lang="zh-CN" sz="1400" spc="0">
                <a:solidFill>
                  <a:schemeClr val="tx1"/>
                </a:solidFill>
              </a:rPr>
              <a:t>、</a:t>
            </a:r>
            <a:r>
              <a:rPr sz="1400" spc="0">
                <a:solidFill>
                  <a:schemeClr val="tx1"/>
                </a:solidFill>
              </a:rPr>
              <a:t>朴素贝叶斯分类器</a:t>
            </a:r>
            <a:r>
              <a:rPr lang="zh-CN" sz="1400" spc="0">
                <a:solidFill>
                  <a:schemeClr val="tx1"/>
                </a:solidFill>
              </a:rPr>
              <a:t>、</a:t>
            </a:r>
            <a:r>
              <a:rPr sz="1400" spc="0">
                <a:solidFill>
                  <a:schemeClr val="tx1"/>
                </a:solidFill>
              </a:rPr>
              <a:t>SVM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ClrTx/>
              <a:buSzTx/>
              <a:buNone/>
            </a:pPr>
            <a:endParaRPr sz="1400" spc="0">
              <a:solidFill>
                <a:schemeClr val="tx1"/>
              </a:solidFill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ClrTx/>
              <a:buSzTx/>
              <a:buNone/>
            </a:pPr>
            <a:r>
              <a:rPr sz="1400" spc="0">
                <a:solidFill>
                  <a:schemeClr val="tx1"/>
                </a:solidFill>
              </a:rPr>
              <a:t>训练数据: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ClrTx/>
              <a:buSzTx/>
              <a:buNone/>
            </a:pPr>
            <a:r>
              <a:rPr sz="1400" spc="0">
                <a:solidFill>
                  <a:schemeClr val="tx1"/>
                </a:solidFill>
              </a:rPr>
              <a:t>npm提供的恶意和良性包标签语料</a:t>
            </a:r>
            <a:r>
              <a:rPr lang="zh-CN" sz="1400" spc="0">
                <a:solidFill>
                  <a:schemeClr val="tx1"/>
                </a:solidFill>
              </a:rPr>
              <a:t>库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4478655" y="4126865"/>
            <a:ext cx="3345815" cy="2731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>
                <a:sym typeface="+mn-ea"/>
              </a:rPr>
              <a:t>方法:</a:t>
            </a:r>
          </a:p>
          <a:p>
            <a:r>
              <a:rPr>
                <a:sym typeface="+mn-ea"/>
              </a:rPr>
              <a:t>- 从源码重新构建包</a:t>
            </a:r>
          </a:p>
          <a:p>
            <a:r>
              <a:rPr>
                <a:sym typeface="+mn-ea"/>
              </a:rPr>
              <a:t>- 与注册表中的版本进行比较</a:t>
            </a:r>
          </a:p>
          <a:p>
            <a:endParaRPr lang="zh-CN" altLang="en-US"/>
          </a:p>
          <a:p>
            <a:r>
              <a:rPr>
                <a:sym typeface="+mn-ea"/>
              </a:rPr>
              <a:t>见解:</a:t>
            </a:r>
          </a:p>
          <a:p>
            <a:r>
              <a:rPr>
                <a:sym typeface="+mn-ea"/>
              </a:rPr>
              <a:t>恶意包通常没有公开的源码</a:t>
            </a:r>
          </a:p>
          <a:p>
            <a:endParaRPr lang="zh-CN" altLang="en-US"/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4478655" y="3209290"/>
            <a:ext cx="3015615" cy="554990"/>
          </a:xfrm>
          <a:prstGeom prst="rect">
            <a:avLst/>
          </a:prstGeom>
        </p:spPr>
        <p:txBody>
          <a:bodyPr vert="horz" lIns="90000" tIns="46800" rIns="90000" bIns="46800" rtlCol="0" anchor="b" anchorCtr="0">
            <a:norm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sz="2400"/>
              <a:t>复制器</a:t>
            </a:r>
          </a:p>
        </p:txBody>
      </p:sp>
      <p:sp>
        <p:nvSpPr>
          <p:cNvPr id="8" name="Title 1"/>
          <p:cNvSpPr>
            <a:spLocks noGrp="1"/>
          </p:cNvSpPr>
          <p:nvPr/>
        </p:nvSpPr>
        <p:spPr>
          <a:xfrm>
            <a:off x="8733790" y="3209290"/>
            <a:ext cx="3015615" cy="554990"/>
          </a:xfrm>
          <a:prstGeom prst="rect">
            <a:avLst/>
          </a:prstGeom>
        </p:spPr>
        <p:txBody>
          <a:bodyPr vert="horz" lIns="90000" tIns="46800" rIns="90000" bIns="46800" rtlCol="0" anchor="b" anchorCtr="0">
            <a:norm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sz="2400"/>
              <a:t>克隆检测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644255" y="4011295"/>
            <a:ext cx="310515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>
                <a:sym typeface="+mn-ea"/>
              </a:rPr>
              <a:t>方法:</a:t>
            </a:r>
          </a:p>
          <a:p>
            <a:r>
              <a:rPr>
                <a:sym typeface="+mn-ea"/>
              </a:rPr>
              <a:t>- 对包的内容进行哈希处理，忽略名称和版本等唯一标识符</a:t>
            </a:r>
          </a:p>
          <a:p>
            <a:endParaRPr lang="zh-CN" altLang="en-US"/>
          </a:p>
          <a:p>
            <a:r>
              <a:rPr>
                <a:sym typeface="+mn-ea"/>
              </a:rPr>
              <a:t>目的:</a:t>
            </a:r>
          </a:p>
          <a:p>
            <a:r>
              <a:rPr>
                <a:sym typeface="+mn-ea"/>
              </a:rPr>
              <a:t>消除分类器遗漏的相同副本的假阴性</a:t>
            </a:r>
            <a:endParaRPr lang="zh-CN" altLang="en-US"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9585" y="481330"/>
            <a:ext cx="83896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恶意</a:t>
            </a:r>
            <a:r>
              <a:rPr lang="en-US" altLang="zh-CN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npm</a:t>
            </a:r>
            <a:r>
              <a:rPr lang="zh-CN" altLang="en-US" sz="160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软件包的实用自动检测</a:t>
            </a:r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-15240" y="812165"/>
            <a:ext cx="12206605" cy="63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20065" y="31686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>
                <a:sym typeface="+mn-ea"/>
              </a:rPr>
              <a:t>结果</a:t>
            </a:r>
            <a:endParaRPr lang="zh-CN" altLang="en-US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25450" y="775335"/>
            <a:ext cx="6028690" cy="23901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>
                <a:sym typeface="+mn-ea"/>
              </a:rPr>
              <a:t>数据集:</a:t>
            </a:r>
          </a:p>
          <a:p>
            <a:r>
              <a:rPr>
                <a:sym typeface="+mn-ea"/>
              </a:rPr>
              <a:t>一周内96,287个包版本</a:t>
            </a:r>
          </a:p>
          <a:p>
            <a:endParaRPr lang="zh-CN" altLang="en-US"/>
          </a:p>
          <a:p>
            <a:r>
              <a:rPr>
                <a:sym typeface="+mn-ea"/>
              </a:rPr>
              <a:t>发现:</a:t>
            </a:r>
          </a:p>
          <a:p>
            <a:r>
              <a:rPr>
                <a:sym typeface="+mn-ea"/>
              </a:rPr>
              <a:t>识别出95个之前未知的恶意软件样本</a:t>
            </a:r>
          </a:p>
          <a:p>
            <a:endParaRPr lang="zh-CN" altLang="en-US"/>
          </a:p>
          <a:p>
            <a:r>
              <a:rPr>
                <a:sym typeface="+mn-ea"/>
              </a:rPr>
              <a:t>结论:</a:t>
            </a:r>
          </a:p>
          <a:p>
            <a:r>
              <a:rPr>
                <a:sym typeface="+mn-ea"/>
              </a:rPr>
              <a:t>Amalfi提高了检测速度和准确性</a:t>
            </a:r>
            <a:endParaRPr lang="zh-CN" altLang="en-US">
              <a:sym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F67E4C4-5361-D930-0199-704A3358B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477" y="3653451"/>
            <a:ext cx="6697010" cy="2429214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7553E2FC-1D3D-3575-9F0C-B7EA302F7E38}"/>
              </a:ext>
            </a:extLst>
          </p:cNvPr>
          <p:cNvSpPr/>
          <p:nvPr/>
        </p:nvSpPr>
        <p:spPr>
          <a:xfrm>
            <a:off x="823608" y="4539574"/>
            <a:ext cx="2300591" cy="343711"/>
          </a:xfrm>
          <a:prstGeom prst="ellipse">
            <a:avLst/>
          </a:prstGeom>
          <a:solidFill>
            <a:srgbClr val="C00000">
              <a:alpha val="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CC1CD5B-71D9-11F0-02FD-DFF14F150EE7}"/>
              </a:ext>
            </a:extLst>
          </p:cNvPr>
          <p:cNvSpPr/>
          <p:nvPr/>
        </p:nvSpPr>
        <p:spPr>
          <a:xfrm>
            <a:off x="754854" y="5139263"/>
            <a:ext cx="2813211" cy="343711"/>
          </a:xfrm>
          <a:prstGeom prst="ellipse">
            <a:avLst/>
          </a:prstGeom>
          <a:solidFill>
            <a:srgbClr val="C00000">
              <a:alpha val="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2ZiNGU4NTMxOTE0ZjQ1NzE5MGY1YmQ5ODQ3ODgxZDA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94</Words>
  <Application>Microsoft Office PowerPoint</Application>
  <PresentationFormat>宽屏</PresentationFormat>
  <Paragraphs>40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华文仿宋</vt:lpstr>
      <vt:lpstr>Arial</vt:lpstr>
      <vt:lpstr>Wingdings</vt:lpstr>
      <vt:lpstr>WPS</vt:lpstr>
      <vt:lpstr>分类器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帆 陈</cp:lastModifiedBy>
  <cp:revision>157</cp:revision>
  <dcterms:created xsi:type="dcterms:W3CDTF">2019-06-19T02:08:00Z</dcterms:created>
  <dcterms:modified xsi:type="dcterms:W3CDTF">2024-07-16T11:52:29Z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2052-12.1.0.17147</vt:lpwstr>
  </property>
  <property fmtid="{D5CDD505-2E9C-101B-9397-08002B2CF9AE}" pid="3" name="ICV">
    <vt:lpwstr>3C0BF6E86D114BF7B8893BB463076886_11</vt:lpwstr>
  </property>
</Properties>
</file>