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8" r:id="rId3"/>
    <p:sldId id="315" r:id="rId5"/>
    <p:sldId id="316" r:id="rId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0070C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99" autoAdjust="0"/>
    <p:restoredTop sz="94660"/>
  </p:normalViewPr>
  <p:slideViewPr>
    <p:cSldViewPr snapToGrid="0">
      <p:cViewPr varScale="1">
        <p:scale>
          <a:sx n="73" d="100"/>
          <a:sy n="73" d="100"/>
        </p:scale>
        <p:origin x="5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E5DC90-454D-46DB-AFEB-0ECF9E248F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7DDCB-88F8-4C0C-946E-463F46B0E8C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7DDCB-88F8-4C0C-946E-463F46B0E8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86385" y="63500"/>
            <a:ext cx="11116310" cy="6721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/>
              <a:t>1. </a:t>
            </a:r>
            <a:r>
              <a:rPr lang="zh-CN" altLang="en-US"/>
              <a:t>样本选择</a:t>
            </a:r>
            <a:endParaRPr lang="zh-CN" altLang="en-US"/>
          </a:p>
          <a:p>
            <a:pPr lvl="1">
              <a:lnSpc>
                <a:spcPct val="150000"/>
              </a:lnSpc>
            </a:pPr>
            <a:r>
              <a:rPr lang="zh-CN" altLang="en-US">
                <a:sym typeface="+mn-ea"/>
              </a:rPr>
              <a:t>挑选项目：</a:t>
            </a:r>
            <a:r>
              <a:rPr lang="zh-CN" altLang="en-US"/>
              <a:t>github advanced search(</a:t>
            </a:r>
            <a:r>
              <a:rPr lang="zh-CN" altLang="en-US">
                <a:solidFill>
                  <a:srgbClr val="FF0000"/>
                </a:solidFill>
              </a:rPr>
              <a:t>date&gt;=2024</a:t>
            </a:r>
            <a:r>
              <a:rPr lang="zh-CN" altLang="en-US"/>
              <a:t> &amp;&amp; license=gpl)</a:t>
            </a:r>
            <a:r>
              <a:rPr lang="en-US" altLang="zh-CN"/>
              <a:t> </a:t>
            </a:r>
            <a:endParaRPr lang="zh-CN" altLang="en-US"/>
          </a:p>
          <a:p>
            <a:pPr lvl="1">
              <a:lnSpc>
                <a:spcPct val="150000"/>
              </a:lnSpc>
            </a:pPr>
            <a:r>
              <a:rPr lang="zh-CN" altLang="en-US"/>
              <a:t>确定Llama没见过：</a:t>
            </a:r>
            <a:r>
              <a:rPr lang="en-US" altLang="zh-CN"/>
              <a:t>in Google BigQuery,  “</a:t>
            </a:r>
            <a:r>
              <a:rPr lang="zh-CN" altLang="en-US"/>
              <a:t>select*from repo where repo</a:t>
            </a:r>
            <a:r>
              <a:rPr lang="en-US" altLang="zh-CN"/>
              <a:t> </a:t>
            </a:r>
            <a:r>
              <a:rPr lang="zh-CN" altLang="en-US">
                <a:solidFill>
                  <a:srgbClr val="FF0000"/>
                </a:solidFill>
              </a:rPr>
              <a:t>creation</a:t>
            </a:r>
            <a:r>
              <a:rPr lang="en-US" altLang="zh-CN">
                <a:solidFill>
                  <a:srgbClr val="FF0000"/>
                </a:solidFill>
              </a:rPr>
              <a:t>_</a:t>
            </a:r>
            <a:r>
              <a:rPr lang="zh-CN" altLang="en-US">
                <a:solidFill>
                  <a:srgbClr val="FF0000"/>
                </a:solidFill>
              </a:rPr>
              <a:t>date&lt;2023</a:t>
            </a:r>
            <a:r>
              <a:rPr lang="zh-CN" altLang="en-US"/>
              <a:t> and code like"return a;%</a:t>
            </a:r>
            <a:r>
              <a:rPr lang="en-US" altLang="zh-CN"/>
              <a:t>”  </a:t>
            </a:r>
            <a:endParaRPr lang="en-US" altLang="zh-CN"/>
          </a:p>
          <a:p>
            <a:pPr lvl="1">
              <a:lnSpc>
                <a:spcPct val="150000"/>
              </a:lnSpc>
            </a:pPr>
            <a:r>
              <a:rPr lang="zh-CN" altLang="en-US" u="sng"/>
              <a:t>存在困难：</a:t>
            </a:r>
            <a:endParaRPr lang="zh-CN" altLang="en-US" u="sng"/>
          </a:p>
          <a:p>
            <a:pPr lvl="1" indent="457200">
              <a:lnSpc>
                <a:spcPct val="150000"/>
              </a:lnSpc>
            </a:pPr>
            <a:r>
              <a:rPr lang="en-US" altLang="zh-CN" u="sng"/>
              <a:t>BigQuery 的 GitHub 数据集可能不包含所有公共仓库</a:t>
            </a:r>
            <a:r>
              <a:rPr lang="zh-CN" altLang="en-US" u="sng"/>
              <a:t>，需要使用其他代码搜索工具（如 GitHub 自身的</a:t>
            </a:r>
            <a:r>
              <a:rPr lang="en-US" altLang="zh-CN"/>
              <a:t>	</a:t>
            </a:r>
            <a:r>
              <a:rPr lang="zh-CN" altLang="en-US" u="sng"/>
              <a:t>搜索功能、Sourcegraph 等）进行验证。</a:t>
            </a:r>
            <a:endParaRPr lang="zh-CN" altLang="en-US" u="sng"/>
          </a:p>
          <a:p>
            <a:pPr lvl="1" indent="0">
              <a:lnSpc>
                <a:spcPct val="150000"/>
              </a:lnSpc>
            </a:pPr>
            <a:r>
              <a:rPr lang="zh-CN" altLang="en-US" u="sng"/>
              <a:t>可以选择未公开的或更独特的代码片段</a:t>
            </a:r>
            <a:endParaRPr lang="zh-CN" altLang="en-US" u="sng"/>
          </a:p>
          <a:p>
            <a:pPr lvl="1" indent="0">
              <a:lnSpc>
                <a:spcPct val="150000"/>
              </a:lnSpc>
            </a:pPr>
            <a:r>
              <a:rPr lang="zh-CN" altLang="en-US" u="sng"/>
              <a:t>数据集与模型：实验使用了PILE数据集的20个子集，包括Wikipedia、GitHub等。实验在Pythia系列模型（从410M到12B参数）上进行，这些模型均在PILE数据集上训练，以确保验证集和训练集的明确区分。</a:t>
            </a:r>
            <a:endParaRPr lang="zh-CN" altLang="en-US" u="sng"/>
          </a:p>
          <a:p>
            <a:pPr>
              <a:lnSpc>
                <a:spcPct val="150000"/>
              </a:lnSpc>
            </a:pPr>
            <a:r>
              <a:rPr lang="en-US" altLang="zh-CN"/>
              <a:t>2. </a:t>
            </a:r>
            <a:r>
              <a:rPr lang="zh-CN" altLang="en-US"/>
              <a:t>构造</a:t>
            </a:r>
            <a:r>
              <a:rPr lang="en-US" altLang="zh-CN"/>
              <a:t>prompt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/>
              <a:t>3. 观察llama结果，得到结果集合1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/>
              <a:t>4. fine-tune =&gt; </a:t>
            </a:r>
            <a:r>
              <a:rPr lang="zh-CN" altLang="en-US"/>
              <a:t>让</a:t>
            </a:r>
            <a:r>
              <a:rPr lang="en-US" altLang="zh-CN"/>
              <a:t>Llama</a:t>
            </a:r>
            <a:r>
              <a:rPr lang="zh-CN" altLang="en-US"/>
              <a:t>见过样本</a:t>
            </a:r>
            <a:endParaRPr lang="zh-CN" altLang="en-US"/>
          </a:p>
          <a:p>
            <a:pPr lvl="1">
              <a:lnSpc>
                <a:spcPct val="150000"/>
              </a:lnSpc>
            </a:pPr>
            <a:r>
              <a:rPr lang="en-US" altLang="zh-CN" u="sng"/>
              <a:t>控制微调参数：严格控制微调过程中的超参数，保持与原模型的一致性</a:t>
            </a:r>
            <a:endParaRPr lang="en-US" altLang="zh-CN" u="sng"/>
          </a:p>
          <a:p>
            <a:pPr lvl="1">
              <a:lnSpc>
                <a:spcPct val="150000"/>
              </a:lnSpc>
            </a:pPr>
            <a:r>
              <a:rPr lang="en-US" altLang="zh-CN" u="sng"/>
              <a:t>使用对照微调：可以对模型进行一次不包含目标代码的微调，作为对照组，评估微调过程本身的影响</a:t>
            </a:r>
            <a:endParaRPr lang="en-US" altLang="zh-CN" u="sng"/>
          </a:p>
          <a:p>
            <a:pPr>
              <a:lnSpc>
                <a:spcPct val="150000"/>
              </a:lnSpc>
            </a:pPr>
            <a:r>
              <a:rPr lang="en-US" altLang="zh-CN"/>
              <a:t>5. 选择同样的prompt观察llama结果，得到结果集合2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597025" y="1343025"/>
            <a:ext cx="8324215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使用的主要数据集：实验使用了PILE数据集的20个子集。PILE数据集包含了多个特定领域的数据源，例如Wikipedia、GitHub、OpenWebText等，这些子集提供了多样化的文本类型，确保了在不同数据分布上的泛化性。实验中，每个子集被分成训练集和验证集，验证集用于检测模型的训练归属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独立同分布（IID）分区：在实验设计中，研究者要求怀疑数据集和验证数据集的分区是独立同分布的，以减少由于时间偏移或分布差异所带来的干扰。例如，在Wikipedia数据子集的设置中，他们选取了来自相同时间段的数据，这样可以确保在进行推断时不会因为数据的时间性而导致假阳性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非重叠分区：怀疑数据集和验证数据集均被划分为不重叠的两个分区（A和B），其中A分区用于模型的权重学习（阶段2），B分区则用于最终的T检验（阶段3）。这种分区方式确保了每个分区内的数据不会相互干扰，有利于推断的准确性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多样性检测：实验过程中使用了PILE数据集的20个不同子集，确保了模型在不同数据分布上的适应性。例如，实验包含了以法律文本为主的FreeLaw子集，以代码为主的GitHub子集，以及以论文为主的Arxiv子集等。这些数据子集的多样性增加了实验的代表性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62000" y="823595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TODO</a:t>
            </a:r>
            <a:endParaRPr lang="en-US" altLang="zh-CN"/>
          </a:p>
          <a:p>
            <a:r>
              <a:rPr lang="en-US" altLang="zh-CN"/>
              <a:t>1. MIA</a:t>
            </a:r>
            <a:r>
              <a:rPr lang="zh-CN" altLang="en-US"/>
              <a:t>的方法</a:t>
            </a:r>
            <a:r>
              <a:rPr lang="en-US" altLang="zh-CN"/>
              <a:t> </a:t>
            </a:r>
            <a:r>
              <a:rPr lang="zh-CN" altLang="en-US"/>
              <a:t>改进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设计</a:t>
            </a:r>
            <a:r>
              <a:rPr lang="en-US" altLang="zh-CN"/>
              <a:t>prompt </a:t>
            </a:r>
            <a:r>
              <a:rPr lang="zh-CN" altLang="en-US"/>
              <a:t>参考文章</a:t>
            </a:r>
            <a:endParaRPr lang="zh-CN" altLang="en-US"/>
          </a:p>
          <a:p>
            <a:pPr indent="457200"/>
            <a:r>
              <a:rPr lang="zh-CN" altLang="en-US"/>
              <a:t>补全代码</a:t>
            </a:r>
            <a:r>
              <a:rPr lang="en-US" altLang="zh-CN"/>
              <a:t> / </a:t>
            </a:r>
            <a:r>
              <a:rPr lang="zh-CN" altLang="en-US"/>
              <a:t>给出函数框架</a:t>
            </a:r>
            <a:endParaRPr lang="en-US" altLang="zh-CN"/>
          </a:p>
          <a:p>
            <a:r>
              <a:rPr lang="en-US" altLang="zh-CN"/>
              <a:t>3. </a:t>
            </a:r>
            <a:r>
              <a:rPr lang="zh-CN" altLang="en-US"/>
              <a:t>含有具体训练数据集的</a:t>
            </a:r>
            <a:r>
              <a:rPr lang="en-US" altLang="zh-CN"/>
              <a:t>model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>
</file>

<file path=ppt/tags/tag1.xml><?xml version="1.0" encoding="utf-8"?>
<p:tagLst xmlns:p="http://schemas.openxmlformats.org/presentationml/2006/main">
  <p:tag name="ISPRING_PRESENTATION_TITLE" val="PowerPoint 演示文稿"/>
  <p:tag name="commondata" val="eyJoZGlkIjoiMTFmMWJmZjM1MTUzOGJhZGQ2YzVjZTI0ZGVkOTAwZTk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1125</Words>
  <Application>WPS 演示</Application>
  <PresentationFormat>宽屏</PresentationFormat>
  <Paragraphs>28</Paragraphs>
  <Slides>3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Calibri</vt:lpstr>
      <vt:lpstr>微软雅黑</vt:lpstr>
      <vt:lpstr>Arial Unicode MS</vt:lpstr>
      <vt:lpstr>Calibri Light</vt:lpstr>
      <vt:lpstr>Office 主题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陈茁扬</cp:lastModifiedBy>
  <cp:revision>102</cp:revision>
  <dcterms:created xsi:type="dcterms:W3CDTF">2019-12-26T07:15:00Z</dcterms:created>
  <dcterms:modified xsi:type="dcterms:W3CDTF">2024-10-29T13:52:16Z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B46647F2AF1C4422B2C4462CB9BDD3B3_13</vt:lpwstr>
  </property>
  <property fmtid="{D5CDD505-2E9C-101B-9397-08002B2CF9AE}" pid="3" name="KSOProductBuildVer">
    <vt:lpwstr>2052-12.1.0.16929</vt:lpwstr>
  </property>
</Properties>
</file>