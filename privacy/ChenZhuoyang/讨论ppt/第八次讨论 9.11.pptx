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7" r:id="rId3"/>
    <p:sldId id="309" r:id="rId5"/>
    <p:sldId id="308" r:id="rId6"/>
    <p:sldId id="31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70C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5DC90-454D-46DB-AFEB-0ECF9E248F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228600" y="332740"/>
            <a:ext cx="782955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dist"/>
            <a:r>
              <a:rPr lang="en-US" altLang="zh-CN" sz="2000" b="1" dirty="0" smtClean="0">
                <a:sym typeface="+mn-ea"/>
              </a:rPr>
              <a:t>Do Membership Inference Attacks Work on Large Language Models?</a:t>
            </a:r>
            <a:endParaRPr lang="en-US" altLang="zh-CN" sz="2000" b="1" dirty="0" smtClean="0"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8600" y="2232025"/>
            <a:ext cx="11706225" cy="2108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b="1"/>
              <a:t>2. </a:t>
            </a:r>
            <a:r>
              <a:rPr lang="zh-CN" altLang="en-US" b="1"/>
              <a:t>实验设置</a:t>
            </a:r>
            <a:endParaRPr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模型： 使用了</a:t>
            </a:r>
            <a:r>
              <a:rPr sz="1600">
                <a:solidFill>
                  <a:srgbClr val="FF0000"/>
                </a:solidFill>
              </a:rPr>
              <a:t>Pythia模型系列</a:t>
            </a:r>
            <a:r>
              <a:rPr sz="1600"/>
              <a:t>（参数规模从160M到12B），包括去重版本（PYTHIA-DEDUP）和非去重版本。此外还使用了GPT-Neo模型家族来验证结果的通用性。</a:t>
            </a:r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数据集： 数据来自</a:t>
            </a:r>
            <a:r>
              <a:rPr sz="1600">
                <a:solidFill>
                  <a:srgbClr val="FF0000"/>
                </a:solidFill>
              </a:rPr>
              <a:t>The Pile数据集</a:t>
            </a:r>
            <a:r>
              <a:rPr sz="1600"/>
              <a:t>，涵盖多个领域，包括Wikipedia、GitHub、ArXiv、PubMed Central、HackerNews等。成员样本从训练集中抽取，非成员样本从测试集中抽取，确保训练数据和测试数据之间的去重。</a:t>
            </a:r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评估指标： 主要使用</a:t>
            </a:r>
            <a:r>
              <a:rPr sz="1600">
                <a:solidFill>
                  <a:srgbClr val="FF0000"/>
                </a:solidFill>
              </a:rPr>
              <a:t>AUC-ROC</a:t>
            </a:r>
            <a:r>
              <a:rPr sz="1600"/>
              <a:t>（接收者操作特性曲线下的面积）来衡量攻击效果，还记录了低误报率下的真阳性率（TPR@low%FPR）以评估高置信度下的攻击性能。</a:t>
            </a:r>
            <a:endParaRPr sz="1600"/>
          </a:p>
        </p:txBody>
      </p:sp>
      <p:sp>
        <p:nvSpPr>
          <p:cNvPr id="5" name="文本框 4"/>
          <p:cNvSpPr txBox="1"/>
          <p:nvPr/>
        </p:nvSpPr>
        <p:spPr>
          <a:xfrm>
            <a:off x="228600" y="878840"/>
            <a:ext cx="1073975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1. </a:t>
            </a:r>
            <a:r>
              <a:rPr lang="zh-CN" altLang="en-US" b="1"/>
              <a:t>背景</a:t>
            </a:r>
            <a:endParaRPr lang="zh-CN" altLang="en-US"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成员推断攻击即预测某个数据点是否属于模型的训练数据，广泛用于隐私审计、检测模型记忆训练数据的能力等。在传统机器学习模型上，MIA表现较好，但</a:t>
            </a:r>
            <a:r>
              <a:rPr lang="zh-CN" altLang="en-US" sz="1600">
                <a:solidFill>
                  <a:srgbClr val="FF0000"/>
                </a:solidFill>
              </a:rPr>
              <a:t>对LLM的预训练数据尚未进行系统评估</a:t>
            </a:r>
            <a:r>
              <a:rPr lang="zh-CN" altLang="en-US" sz="1600"/>
              <a:t>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本文旨在评估多种攻击方式在</a:t>
            </a:r>
            <a:r>
              <a:rPr lang="en-US" altLang="zh-CN" sz="1600"/>
              <a:t>LLM</a:t>
            </a:r>
            <a:r>
              <a:rPr lang="zh-CN" altLang="en-US" sz="1600"/>
              <a:t>上的表现，涵盖不同的模型参数规模和数据集。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228600" y="4340860"/>
            <a:ext cx="11706225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3. </a:t>
            </a:r>
            <a:r>
              <a:rPr lang="zh-CN" altLang="en-US" b="1"/>
              <a:t>结果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攻击效果接近随机：</a:t>
            </a:r>
            <a:r>
              <a:rPr lang="zh-CN" altLang="en-US" sz="1600"/>
              <a:t> 表1展示了在Pythia-DEDUP模型上使用不同攻击方法的AUC-ROC值。在大多数领域中，所有攻击的表现均接近随机，AUC值在0.5左右。例如，Wikipedia领域的表现为0.504至0.516之间，Github领域则稍高，为0.638至0.678。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模型规模的影响：</a:t>
            </a:r>
            <a:r>
              <a:rPr lang="zh-CN" altLang="en-US" sz="1600"/>
              <a:t> 表1显示，随着模型参数的增加，攻击效果有小幅提升。例如，在GitHub数据集上，160M模型的AUC为0.638，而12B模型的AUC为0.678。然而，这种提升幅度很小，不足以显著改善攻击效果。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去重的影响：</a:t>
            </a:r>
            <a:r>
              <a:rPr lang="zh-CN" altLang="en-US" sz="1600"/>
              <a:t> 去重模型的表现略低于未去重模型，这表明去重有助于减少成员推断攻击的成功率。例如，在Wikipedia领域，去重后的模型AUC为0.504，而非去重模型AUC为0.516。</a:t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0725" y="1035050"/>
            <a:ext cx="10779760" cy="3305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3685" y="396875"/>
            <a:ext cx="113849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4</a:t>
            </a:r>
            <a:r>
              <a:rPr lang="zh-CN" altLang="en-US" b="1"/>
              <a:t>. LLM上MIA表现差的原因分析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大规模训练数据：</a:t>
            </a:r>
            <a:r>
              <a:rPr lang="zh-CN" altLang="en-US" sz="1600"/>
              <a:t> 语言模型通常使用数十亿甚至上万亿的token进行训练，这增加了模型的泛化能力，并且随着训练数据量的增加，MIA表现逐渐下降。实验结果（图2）显示，随着训练步数的增加，MIA的AUC-ROC值先急剧上升，然后逐渐下降。这表明模型在训练早期可能会过拟合训练数据，但随着训练的进行，泛化能力增强，MIA效果降低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较少的训练迭代：</a:t>
            </a:r>
            <a:r>
              <a:rPr lang="zh-CN" altLang="en-US" sz="1600"/>
              <a:t> 当前的LLM通常只进行一次epoch的训练，意味着每个样本在训练中只出现一次，这大大减少了模型记住特定数据点的可能性。图3中的实验表明，随着训练epoch的增加，MIA的效果显著提升，尤其是在增加epoch次数后AUC值线性增加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成员与非成员之间的重叠：</a:t>
            </a:r>
            <a:r>
              <a:rPr lang="zh-CN" altLang="en-US" sz="1600"/>
              <a:t> 非成员数据与成员数据之间的n-gram重叠（即文本片段的相似度）较高，这使得MIA难以区分成员和非成员。表3显示，严格控制n-gram重叠（如7-gram重叠率小于20%）后，MIA的AUC值显著提升，例如在PubMed Central领域，AUC从0.506提升至0.780。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273685" y="3111500"/>
            <a:ext cx="1138491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5.</a:t>
            </a:r>
            <a:r>
              <a:rPr lang="zh-CN" altLang="en-US" b="1">
                <a:solidFill>
                  <a:srgbClr val="FF0000"/>
                </a:solidFill>
              </a:rPr>
              <a:t>特定情况下存在潜在威胁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zh-CN" altLang="en-US" sz="1600"/>
              <a:t>尽管MIA总体表现不佳，但在某些特定场景下（如成员和非成员数据有时间分布差异的情况下），MIA可能会表现出较高的成功率。这些情况表明，在存在数据分布变化的场景中，MIA仍可能成为一种隐私威胁。因此，研究人员呼吁在这些特定条件下要更加谨慎地评估隐私风险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54635" y="314325"/>
            <a:ext cx="7698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 dirty="0" smtClean="0">
                <a:solidFill>
                  <a:schemeClr val="tx1"/>
                </a:solidFill>
                <a:sym typeface="+mn-ea"/>
              </a:rPr>
              <a:t>Semantic Membership Inference Attack against Large Language Models</a:t>
            </a:r>
            <a:endParaRPr lang="en-US" altLang="zh-CN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4635" y="2335530"/>
            <a:ext cx="11464290" cy="4369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2</a:t>
            </a:r>
            <a:r>
              <a:rPr lang="zh-CN" altLang="en-US" b="1"/>
              <a:t>. </a:t>
            </a:r>
            <a:r>
              <a:rPr lang="en-US" altLang="zh-CN" b="1"/>
              <a:t>SIMIA</a:t>
            </a:r>
            <a:r>
              <a:rPr lang="zh-CN" altLang="en-US" b="1"/>
              <a:t>方法</a:t>
            </a:r>
            <a:r>
              <a:rPr lang="zh-CN" altLang="en-US" b="1"/>
              <a:t>设计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SMIA方法假设</a:t>
            </a:r>
            <a:r>
              <a:rPr lang="zh-CN" altLang="en-US" sz="1600">
                <a:sym typeface="+mn-ea"/>
              </a:rPr>
              <a:t>：</a:t>
            </a:r>
            <a:r>
              <a:rPr lang="zh-CN" altLang="en-US" sz="1600">
                <a:solidFill>
                  <a:srgbClr val="FF0000"/>
                </a:solidFill>
              </a:rPr>
              <a:t>当输入数据被扰动时，模型对成员和非成员数据的输出概率会有显著不同</a:t>
            </a:r>
            <a:r>
              <a:rPr lang="zh-CN" altLang="en-US" sz="1600">
                <a:sym typeface="+mn-ea"/>
              </a:rPr>
              <a:t>，</a:t>
            </a:r>
            <a:r>
              <a:rPr lang="en-US" altLang="zh-CN" sz="1600"/>
              <a:t>这种差异是可以被神经网络学习到的</a:t>
            </a:r>
            <a:r>
              <a:rPr lang="zh-CN" altLang="en-US" sz="1600"/>
              <a:t>。SMIA通过以下四个步骤进行推断：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1</a:t>
            </a:r>
            <a:r>
              <a:rPr lang="zh-CN" altLang="en-US" sz="1600"/>
              <a:t>）邻居生成（Neighbor Generation）：利用T5模型对输入进行随机遮盖和填充，生成多个相似的邻居数据集。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2</a:t>
            </a:r>
            <a:r>
              <a:rPr lang="zh-CN" altLang="en-US" sz="1600"/>
              <a:t>）语义嵌入计算（Semantic Embedding Calculation）：使用Cohere嵌入模型计算输入及其邻居的语义嵌入。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3</a:t>
            </a:r>
            <a:r>
              <a:rPr lang="zh-CN" altLang="en-US" sz="1600"/>
              <a:t>）损失计算（Loss Calculation）：计算目标模型对输入及其邻居的损失值。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4</a:t>
            </a:r>
            <a:r>
              <a:rPr lang="zh-CN" altLang="en-US" sz="1600"/>
              <a:t>）成员概率估计（Membership Probability Estimation）：SMIA模型通过神经网络分析语义变化和损失变化，计算输入数据属于成员的概率</a:t>
            </a:r>
            <a:r>
              <a:rPr lang="zh-CN" altLang="en-US" sz="1600">
                <a:sym typeface="+mn-ea"/>
              </a:rPr>
              <a:t>，</a:t>
            </a:r>
            <a:r>
              <a:rPr lang="zh-CN" altLang="en-US" sz="1600"/>
              <a:t>最终估计输入是成员还是非成员。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/>
          </a:p>
          <a:p>
            <a:r>
              <a:rPr lang="en-US" altLang="zh-CN" b="1"/>
              <a:t>3. </a:t>
            </a:r>
            <a:r>
              <a:rPr lang="zh-CN" altLang="en-US" b="1"/>
              <a:t>实验设置</a:t>
            </a:r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论文使用了</a:t>
            </a:r>
            <a:r>
              <a:rPr lang="zh-CN" altLang="en-US" sz="1600">
                <a:solidFill>
                  <a:srgbClr val="FF0000"/>
                </a:solidFill>
              </a:rPr>
              <a:t>多个大规模语言模型</a:t>
            </a:r>
            <a:r>
              <a:rPr lang="zh-CN" altLang="en-US" sz="1600"/>
              <a:t>来评估SMIA的有效性，具体包括：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Pythia模型系列：包括Pythia-12B、Pythia-6.9B、Pythia-2.7B等不同参数规模的模型。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GPT-Neo模型系列：包括GPT-Neo-2.7B和GPT-Neo-1.3B模型。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数据集：实验使用了</a:t>
            </a:r>
            <a:r>
              <a:rPr lang="zh-CN" altLang="en-US" sz="1600">
                <a:solidFill>
                  <a:srgbClr val="FF0000"/>
                </a:solidFill>
              </a:rPr>
              <a:t>Wikipedia数据集</a:t>
            </a:r>
            <a:r>
              <a:rPr lang="zh-CN" altLang="en-US" sz="1600"/>
              <a:t>，训练数据包含了模型已见过的Wikipedia文章（成员数据），而非成员数据则来自模型未见过的部分（如Wikipedia的较新内容，确保没有出现在模型训练中）。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评估指标：主要使用</a:t>
            </a:r>
            <a:r>
              <a:rPr lang="zh-CN" altLang="en-US" sz="1600">
                <a:solidFill>
                  <a:srgbClr val="FF0000"/>
                </a:solidFill>
              </a:rPr>
              <a:t>AUC-ROC</a:t>
            </a:r>
            <a:r>
              <a:rPr lang="zh-CN" altLang="en-US" sz="1600"/>
              <a:t>来衡量攻击的效果，此外还评估了低误报率下的真正例率（TPR），如2%、5%的假阳性率（FPR）下的TPR表现。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254635" y="942975"/>
            <a:ext cx="11125200" cy="1479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1. </a:t>
            </a:r>
            <a:r>
              <a:rPr lang="zh-CN" altLang="en-US" b="1"/>
              <a:t>引言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大语言模型（LLMs）可能泄露其训练数据的</a:t>
            </a:r>
            <a:r>
              <a:rPr lang="zh-CN" altLang="en-US" sz="1600">
                <a:solidFill>
                  <a:srgbClr val="FF0000"/>
                </a:solidFill>
              </a:rPr>
              <a:t>隐私风险</a:t>
            </a:r>
            <a:r>
              <a:rPr lang="zh-CN" altLang="en-US" sz="1600"/>
              <a:t>，特别是通过记忆并重复训练数据的方式。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成员推断攻击（MIA）可以检测某个特定数据是否在目标模型的训练集中。</a:t>
            </a:r>
            <a:r>
              <a:rPr lang="zh-CN" altLang="en-US" sz="1600">
                <a:sym typeface="+mn-ea"/>
              </a:rPr>
              <a:t>现有的MIA方法通常只对逐字匹配有效，忽略了语言的复杂性</a:t>
            </a:r>
            <a:r>
              <a:rPr lang="en-US" altLang="zh-CN" sz="1600">
                <a:sym typeface="+mn-ea"/>
              </a:rPr>
              <a:t>,</a:t>
            </a:r>
            <a:r>
              <a:rPr lang="zh-CN" altLang="en-US" sz="1600">
                <a:sym typeface="+mn-ea"/>
              </a:rPr>
              <a:t>无法处理语言模型中广泛存在的语义记忆问题。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本文提出SMIA</a:t>
            </a:r>
            <a:r>
              <a:rPr lang="en-US" altLang="zh-CN" sz="1600"/>
              <a:t>(Semantic Membership Inference Attack)</a:t>
            </a:r>
            <a:r>
              <a:rPr lang="zh-CN" altLang="en-US" sz="1600"/>
              <a:t>，能够检</a:t>
            </a:r>
            <a:r>
              <a:rPr lang="zh-CN" altLang="en-US" sz="1600">
                <a:solidFill>
                  <a:srgbClr val="FF0000"/>
                </a:solidFill>
              </a:rPr>
              <a:t>测语义层面的记忆，尤其是在输入的语义内容有所扰动时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54635" y="942975"/>
            <a:ext cx="11224260" cy="2663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ym typeface="+mn-ea"/>
              </a:rPr>
              <a:t>4.</a:t>
            </a:r>
            <a:r>
              <a:rPr lang="zh-CN" altLang="en-US" b="1">
                <a:sym typeface="+mn-ea"/>
              </a:rPr>
              <a:t>实验结果</a:t>
            </a:r>
            <a:endParaRPr lang="zh-CN" altLang="en-US" b="1">
              <a:sym typeface="+mn-ea"/>
            </a:endParaRPr>
          </a:p>
          <a:p>
            <a:r>
              <a:rPr lang="en-US" altLang="zh-CN" sz="1600" b="1">
                <a:sym typeface="+mn-ea"/>
              </a:rPr>
              <a:t>1</a:t>
            </a:r>
            <a:r>
              <a:rPr lang="zh-CN" altLang="en-US" sz="1600" b="1">
                <a:sym typeface="+mn-ea"/>
              </a:rPr>
              <a:t>）逐字匹配设置（Evaluation in Verbatim Setting）：</a:t>
            </a:r>
            <a:endParaRPr lang="zh-CN" altLang="en-US" sz="1600" b="1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sym typeface="+mn-ea"/>
              </a:rPr>
              <a:t>在没有数据修改的情况下，SMIA在Pythia-12B模型上的AUC-ROC达到了67.39%，显著高于现有最好的参考攻击方法（Ref）的58.90%。</a:t>
            </a:r>
            <a:endParaRPr lang="zh-CN" altLang="en-US" sz="16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sym typeface="+mn-ea"/>
              </a:rPr>
              <a:t>在2%误报率下，SMIA的TPR（真正例率）为3.8%，远高于参考攻击TPR</a:t>
            </a:r>
            <a:r>
              <a:rPr lang="zh-CN" altLang="en-US" sz="1600">
                <a:sym typeface="+mn-ea"/>
              </a:rPr>
              <a:t>的2.0%。</a:t>
            </a:r>
            <a:endParaRPr lang="zh-CN" altLang="en-US" sz="16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sym typeface="+mn-ea"/>
              </a:rPr>
              <a:t>在5%误报率下，SMIA的TPR为10.4%，显著优于参考攻击的8.2%。</a:t>
            </a:r>
            <a:endParaRPr lang="zh-CN" altLang="en-US" sz="1600">
              <a:sym typeface="+mn-ea"/>
            </a:endParaRPr>
          </a:p>
          <a:p>
            <a:endParaRPr lang="zh-CN" altLang="en-US" sz="1600">
              <a:sym typeface="+mn-ea"/>
            </a:endParaRPr>
          </a:p>
          <a:p>
            <a:r>
              <a:rPr lang="en-US" altLang="zh-CN" sz="1600" b="1">
                <a:sym typeface="+mn-ea"/>
              </a:rPr>
              <a:t>2</a:t>
            </a:r>
            <a:r>
              <a:rPr lang="zh-CN" altLang="en-US" sz="1600" b="1">
                <a:sym typeface="+mn-ea"/>
              </a:rPr>
              <a:t>）轻微修改设置（Evaluation in Modified Settings）：</a:t>
            </a:r>
            <a:endParaRPr lang="zh-CN" altLang="en-US" sz="1600" b="1">
              <a:sym typeface="+mn-ea"/>
            </a:endParaRPr>
          </a:p>
          <a:p>
            <a:r>
              <a:rPr lang="zh-CN" altLang="en-US" sz="1600">
                <a:sym typeface="+mn-ea"/>
              </a:rPr>
              <a:t>在测试成员数据经过小幅修改（如单词的重复、删除或添加）的情况下，SMIA依然表现优异，尤其是在删除单词的情况下，AUC-ROC达到了62.47%，而Ref攻击 AUC-ROC</a:t>
            </a:r>
            <a:r>
              <a:rPr lang="zh-CN" altLang="en-US" sz="1600">
                <a:sym typeface="+mn-ea"/>
              </a:rPr>
              <a:t>为58.25%。</a:t>
            </a:r>
            <a:endParaRPr lang="zh-CN" altLang="en-US" sz="16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4635" y="314325"/>
            <a:ext cx="7698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 dirty="0" smtClean="0">
                <a:solidFill>
                  <a:schemeClr val="tx1"/>
                </a:solidFill>
                <a:sym typeface="+mn-ea"/>
              </a:rPr>
              <a:t>Semantic Membership Inference Attack against Large Language Models</a:t>
            </a:r>
            <a:endParaRPr lang="en-US" altLang="zh-CN" b="1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PRESENTATION_TITLE" val="PowerPoint 演示文稿"/>
  <p:tag name="commondata" val="eyJoZGlkIjoiMTFmMWJmZjM1MTUzOGJhZGQ2YzVjZTI0ZGVkOTAw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2774</Words>
  <Application>WPS 演示</Application>
  <PresentationFormat>宽屏</PresentationFormat>
  <Paragraphs>56</Paragraphs>
  <Slides>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陈茁扬</cp:lastModifiedBy>
  <cp:revision>95</cp:revision>
  <dcterms:created xsi:type="dcterms:W3CDTF">2019-12-26T07:15:00Z</dcterms:created>
  <dcterms:modified xsi:type="dcterms:W3CDTF">2024-09-11T13:47:37Z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F77AF47937C94DE9B155EF2C05507074_13</vt:lpwstr>
  </property>
  <property fmtid="{D5CDD505-2E9C-101B-9397-08002B2CF9AE}" pid="3" name="KSOProductBuildVer">
    <vt:lpwstr>2052-12.1.0.16929</vt:lpwstr>
  </property>
</Properties>
</file>