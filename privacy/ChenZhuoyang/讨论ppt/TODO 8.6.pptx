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0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3500" y="1418590"/>
            <a:ext cx="4940300" cy="2696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endParaRPr lang="en-US" altLang="zh-CN"/>
          </a:p>
          <a:p>
            <a:r>
              <a:rPr lang="zh-CN" altLang="en-US"/>
              <a:t>主题是</a:t>
            </a:r>
            <a:r>
              <a:rPr lang="en-US" altLang="zh-CN">
                <a:sym typeface="+mn-ea"/>
              </a:rPr>
              <a:t>text-to-SQL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训练端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找以下两个模式有关的文章（图示）</a:t>
            </a:r>
            <a:endParaRPr lang="en-US" altLang="zh-CN">
              <a:sym typeface="+mn-ea"/>
            </a:endParaRP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training-testing  </a:t>
            </a:r>
            <a:r>
              <a:rPr lang="zh-CN" altLang="en-US"/>
              <a:t>类似各种神经网络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）大模型（</a:t>
            </a:r>
            <a:r>
              <a:rPr lang="en-US" altLang="zh-CN"/>
              <a:t>llm</a:t>
            </a:r>
            <a:r>
              <a:rPr lang="zh-CN" altLang="en-US"/>
              <a:t>）训练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列出两三篇文章获取模型</a:t>
            </a:r>
            <a:r>
              <a:rPr lang="zh-CN" altLang="en-US"/>
              <a:t>的具体方法和流程，包括输入、训练过程、输出等（找</a:t>
            </a:r>
            <a:r>
              <a:rPr lang="zh-CN" altLang="en-US"/>
              <a:t>靶子）</a:t>
            </a:r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501546" y="203835"/>
            <a:ext cx="8303445" cy="2549619"/>
            <a:chOff x="2492" y="434"/>
            <a:chExt cx="13076" cy="4015"/>
          </a:xfrm>
        </p:grpSpPr>
        <p:sp>
          <p:nvSpPr>
            <p:cNvPr id="5" name="Rounded Rectangle 4"/>
            <p:cNvSpPr/>
            <p:nvPr/>
          </p:nvSpPr>
          <p:spPr>
            <a:xfrm>
              <a:off x="2492" y="1888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Text2SQL Dataset</a:t>
              </a:r>
              <a:endParaRPr lang="en-US" sz="1400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746" y="567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Training Set</a:t>
              </a:r>
              <a:endParaRPr lang="en-US" sz="1400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128" y="3532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Testing Set</a:t>
              </a:r>
              <a:endParaRPr lang="en-US" sz="1400" dirty="0"/>
            </a:p>
          </p:txBody>
        </p:sp>
        <p:cxnSp>
          <p:nvCxnSpPr>
            <p:cNvPr id="9" name="Straight Arrow Connector 8"/>
            <p:cNvCxnSpPr>
              <a:stCxn id="5" idx="3"/>
              <a:endCxn id="6" idx="1"/>
            </p:cNvCxnSpPr>
            <p:nvPr/>
          </p:nvCxnSpPr>
          <p:spPr>
            <a:xfrm flipV="1">
              <a:off x="5143" y="1026"/>
              <a:ext cx="2603" cy="13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9"/>
            <p:cNvCxnSpPr>
              <a:stCxn id="5" idx="3"/>
              <a:endCxn id="7" idx="1"/>
            </p:cNvCxnSpPr>
            <p:nvPr/>
          </p:nvCxnSpPr>
          <p:spPr>
            <a:xfrm>
              <a:off x="5143" y="2347"/>
              <a:ext cx="1985" cy="16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12"/>
            <p:cNvSpPr/>
            <p:nvPr/>
          </p:nvSpPr>
          <p:spPr>
            <a:xfrm>
              <a:off x="11380" y="542"/>
              <a:ext cx="2691" cy="94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Trained Model</a:t>
              </a:r>
              <a:endParaRPr lang="en-US" sz="1400" dirty="0"/>
            </a:p>
          </p:txBody>
        </p:sp>
        <p:cxnSp>
          <p:nvCxnSpPr>
            <p:cNvPr id="19" name="Straight Arrow Connector 13"/>
            <p:cNvCxnSpPr>
              <a:stCxn id="6" idx="3"/>
              <a:endCxn id="4" idx="1"/>
            </p:cNvCxnSpPr>
            <p:nvPr/>
          </p:nvCxnSpPr>
          <p:spPr>
            <a:xfrm flipV="1">
              <a:off x="10397" y="1014"/>
              <a:ext cx="983" cy="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17"/>
            <p:cNvSpPr txBox="1"/>
            <p:nvPr/>
          </p:nvSpPr>
          <p:spPr>
            <a:xfrm>
              <a:off x="14366" y="434"/>
              <a:ext cx="1202" cy="1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dirty="0"/>
                <a:t>工具</a:t>
              </a:r>
              <a:r>
                <a:rPr lang="en-US" altLang="zh-CN" dirty="0"/>
                <a:t>1</a:t>
              </a:r>
              <a:endParaRPr lang="en-US" altLang="zh-CN" dirty="0"/>
            </a:p>
            <a:p>
              <a:r>
                <a:rPr lang="en-US" dirty="0"/>
                <a:t>工具</a:t>
              </a:r>
              <a:r>
                <a:rPr lang="en-US" altLang="zh-CN" dirty="0"/>
                <a:t>2</a:t>
              </a:r>
              <a:endParaRPr lang="en-US" altLang="zh-CN" dirty="0"/>
            </a:p>
            <a:p>
              <a:r>
                <a:rPr lang="en-US" dirty="0"/>
                <a:t>工具</a:t>
              </a:r>
              <a:r>
                <a:rPr lang="en-US" altLang="zh-CN" dirty="0"/>
                <a:t>3</a:t>
              </a:r>
              <a:endParaRPr lang="en-US" dirty="0"/>
            </a:p>
          </p:txBody>
        </p:sp>
        <p:sp>
          <p:nvSpPr>
            <p:cNvPr id="34" name="Rectangle 12"/>
            <p:cNvSpPr/>
            <p:nvPr/>
          </p:nvSpPr>
          <p:spPr>
            <a:xfrm>
              <a:off x="5528" y="1338"/>
              <a:ext cx="1832" cy="6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dirty="0"/>
                <a:t>脱敏</a:t>
              </a:r>
              <a:endParaRPr lang="zh-CN" altLang="en-US" sz="1400" dirty="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449476" y="3875556"/>
            <a:ext cx="10030882" cy="2334941"/>
            <a:chOff x="915" y="545"/>
            <a:chExt cx="15797" cy="3677"/>
          </a:xfrm>
        </p:grpSpPr>
        <p:sp>
          <p:nvSpPr>
            <p:cNvPr id="51" name="Rounded Rectangle 3"/>
            <p:cNvSpPr/>
            <p:nvPr/>
          </p:nvSpPr>
          <p:spPr>
            <a:xfrm>
              <a:off x="915" y="545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Text2SQL Dataset</a:t>
              </a:r>
              <a:endParaRPr lang="en-US" sz="1400" dirty="0"/>
            </a:p>
          </p:txBody>
        </p:sp>
        <p:sp>
          <p:nvSpPr>
            <p:cNvPr id="52" name="Rectangle 4"/>
            <p:cNvSpPr/>
            <p:nvPr/>
          </p:nvSpPr>
          <p:spPr>
            <a:xfrm>
              <a:off x="11929" y="3081"/>
              <a:ext cx="3250" cy="10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LLM</a:t>
              </a:r>
              <a:endParaRPr lang="en-US" sz="1400" dirty="0"/>
            </a:p>
          </p:txBody>
        </p:sp>
        <p:sp>
          <p:nvSpPr>
            <p:cNvPr id="53" name="Rounded Rectangle 5"/>
            <p:cNvSpPr/>
            <p:nvPr/>
          </p:nvSpPr>
          <p:spPr>
            <a:xfrm>
              <a:off x="4075" y="3110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Testing Set</a:t>
              </a:r>
              <a:endParaRPr lang="en-US" sz="1400" dirty="0"/>
            </a:p>
          </p:txBody>
        </p:sp>
        <p:cxnSp>
          <p:nvCxnSpPr>
            <p:cNvPr id="54" name="Straight Arrow Connector 6"/>
            <p:cNvCxnSpPr>
              <a:stCxn id="51" idx="3"/>
              <a:endCxn id="53" idx="1"/>
            </p:cNvCxnSpPr>
            <p:nvPr/>
          </p:nvCxnSpPr>
          <p:spPr>
            <a:xfrm>
              <a:off x="3565" y="1004"/>
              <a:ext cx="510" cy="2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7"/>
            <p:cNvSpPr/>
            <p:nvPr/>
          </p:nvSpPr>
          <p:spPr>
            <a:xfrm>
              <a:off x="7061" y="545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Table Schema + Data</a:t>
              </a:r>
              <a:endParaRPr lang="en-US" sz="1400" dirty="0"/>
            </a:p>
          </p:txBody>
        </p:sp>
        <p:cxnSp>
          <p:nvCxnSpPr>
            <p:cNvPr id="56" name="Straight Arrow Connector 8"/>
            <p:cNvCxnSpPr>
              <a:stCxn id="51" idx="3"/>
              <a:endCxn id="55" idx="1"/>
            </p:cNvCxnSpPr>
            <p:nvPr/>
          </p:nvCxnSpPr>
          <p:spPr>
            <a:xfrm>
              <a:off x="3565" y="1004"/>
              <a:ext cx="34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11"/>
            <p:cNvSpPr/>
            <p:nvPr/>
          </p:nvSpPr>
          <p:spPr>
            <a:xfrm>
              <a:off x="7908" y="3110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RAG</a:t>
              </a:r>
              <a:endParaRPr lang="en-US" sz="1400" dirty="0"/>
            </a:p>
          </p:txBody>
        </p:sp>
        <p:cxnSp>
          <p:nvCxnSpPr>
            <p:cNvPr id="58" name="Straight Arrow Connector 12"/>
            <p:cNvCxnSpPr>
              <a:stCxn id="55" idx="2"/>
              <a:endCxn id="57" idx="0"/>
            </p:cNvCxnSpPr>
            <p:nvPr/>
          </p:nvCxnSpPr>
          <p:spPr>
            <a:xfrm>
              <a:off x="8387" y="1463"/>
              <a:ext cx="847" cy="1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15"/>
            <p:cNvCxnSpPr>
              <a:stCxn id="53" idx="3"/>
              <a:endCxn id="57" idx="1"/>
            </p:cNvCxnSpPr>
            <p:nvPr/>
          </p:nvCxnSpPr>
          <p:spPr>
            <a:xfrm>
              <a:off x="6726" y="3568"/>
              <a:ext cx="11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18"/>
            <p:cNvCxnSpPr>
              <a:stCxn id="57" idx="3"/>
              <a:endCxn id="52" idx="1"/>
            </p:cNvCxnSpPr>
            <p:nvPr/>
          </p:nvCxnSpPr>
          <p:spPr>
            <a:xfrm>
              <a:off x="10559" y="3568"/>
              <a:ext cx="1370" cy="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23"/>
            <p:cNvSpPr/>
            <p:nvPr/>
          </p:nvSpPr>
          <p:spPr>
            <a:xfrm>
              <a:off x="7652" y="1945"/>
              <a:ext cx="2655" cy="6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脱敏</a:t>
              </a:r>
              <a:endParaRPr lang="en-US" sz="1400" dirty="0"/>
            </a:p>
          </p:txBody>
        </p:sp>
        <p:sp>
          <p:nvSpPr>
            <p:cNvPr id="63" name="TextBox 25"/>
            <p:cNvSpPr txBox="1"/>
            <p:nvPr/>
          </p:nvSpPr>
          <p:spPr>
            <a:xfrm>
              <a:off x="15509" y="2768"/>
              <a:ext cx="1202" cy="1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dirty="0"/>
                <a:t>工具</a:t>
              </a:r>
              <a:r>
                <a:rPr lang="en-US" altLang="zh-CN" dirty="0"/>
                <a:t>4</a:t>
              </a:r>
              <a:endParaRPr lang="en-US" altLang="zh-CN" dirty="0"/>
            </a:p>
            <a:p>
              <a:r>
                <a:rPr lang="en-US" dirty="0"/>
                <a:t>工具</a:t>
              </a:r>
              <a:r>
                <a:rPr lang="en-US" altLang="zh-CN" dirty="0"/>
                <a:t>5</a:t>
              </a:r>
              <a:endParaRPr lang="en-US" altLang="zh-CN" dirty="0"/>
            </a:p>
            <a:p>
              <a:r>
                <a:rPr lang="en-US" dirty="0"/>
                <a:t>工具</a:t>
              </a:r>
              <a:r>
                <a:rPr lang="en-US" altLang="zh-CN" dirty="0"/>
                <a:t>6</a:t>
              </a:r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62635" y="652780"/>
            <a:ext cx="5104765" cy="283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</a:t>
            </a:r>
            <a:endParaRPr lang="en-US" altLang="zh-CN"/>
          </a:p>
          <a:p>
            <a:r>
              <a:rPr lang="zh-CN" altLang="en-US"/>
              <a:t>主题是</a:t>
            </a:r>
            <a:r>
              <a:rPr lang="en-US" altLang="zh-CN">
                <a:sym typeface="+mn-ea"/>
              </a:rPr>
              <a:t>text-to-SQL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用户端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调研企业用户输入</a:t>
            </a:r>
            <a:r>
              <a:rPr lang="en-US" altLang="zh-CN">
                <a:sym typeface="+mn-ea"/>
              </a:rPr>
              <a:t>text-to-SQL</a:t>
            </a:r>
            <a:r>
              <a:rPr lang="zh-CN" altLang="en-US">
                <a:sym typeface="+mn-ea"/>
              </a:rPr>
              <a:t>大模型的内容发生隐私泄露的程度</a:t>
            </a:r>
            <a:r>
              <a:rPr lang="zh-CN" altLang="en-US">
                <a:sym typeface="+mn-ea"/>
              </a:rPr>
              <a:t>和必然性。（</a:t>
            </a:r>
            <a:r>
              <a:rPr lang="zh-CN" altLang="en-US">
                <a:sym typeface="+mn-ea"/>
              </a:rPr>
              <a:t>写故事）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例如是否一定要输入表格字段，还是只要输入自然语言都能</a:t>
            </a:r>
            <a:r>
              <a:rPr lang="en-US" altLang="zh-CN">
                <a:sym typeface="+mn-ea"/>
              </a:rPr>
              <a:t>get</a:t>
            </a:r>
            <a:r>
              <a:rPr lang="zh-CN" altLang="en-US">
                <a:sym typeface="+mn-ea"/>
              </a:rPr>
              <a:t>输出？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笑云某次讨论的</a:t>
            </a:r>
            <a:r>
              <a:rPr lang="en-US" altLang="zh-CN">
                <a:sym typeface="+mn-ea"/>
              </a:rPr>
              <a:t>SQL</a:t>
            </a:r>
            <a:r>
              <a:rPr lang="zh-CN" altLang="en-US">
                <a:sym typeface="+mn-ea"/>
              </a:rPr>
              <a:t>大模型网站还可以再</a:t>
            </a:r>
            <a:r>
              <a:rPr lang="zh-CN" altLang="en-US">
                <a:sym typeface="+mn-ea"/>
              </a:rPr>
              <a:t>讨论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WPS 演示</Application>
  <PresentationFormat>宽屏</PresentationFormat>
  <Paragraphs>48</Paragraphs>
  <Slides>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93</cp:revision>
  <dcterms:created xsi:type="dcterms:W3CDTF">2019-12-26T07:15:00Z</dcterms:created>
  <dcterms:modified xsi:type="dcterms:W3CDTF">2024-08-06T13:42:47Z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D78AF8BF773C45F4A6EC10A17250FC68_13</vt:lpwstr>
  </property>
  <property fmtid="{D5CDD505-2E9C-101B-9397-08002B2CF9AE}" pid="3" name="KSOProductBuildVer">
    <vt:lpwstr>2052-12.1.0.16929</vt:lpwstr>
  </property>
</Properties>
</file>