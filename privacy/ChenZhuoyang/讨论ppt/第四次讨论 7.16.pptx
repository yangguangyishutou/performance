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309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5DC90-454D-46DB-AFEB-0ECF9E248F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1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>
            <p:custDataLst>
              <p:tags r:id="rId1"/>
            </p:custDataLst>
          </p:nvPr>
        </p:nvSpPr>
        <p:spPr>
          <a:xfrm>
            <a:off x="8068945" y="1606550"/>
            <a:ext cx="3787775" cy="52514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>
              <a:lnSpc>
                <a:spcPct val="120000"/>
              </a:lnSpc>
              <a:buNone/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代码</a:t>
            </a:r>
            <a:r>
              <a:rPr 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相关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：19.9%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包括代码编写、代码调试等​​。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indent="0" algn="l">
              <a:lnSpc>
                <a:spcPct val="120000"/>
              </a:lnSpc>
              <a:buNone/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创意写作：21.3%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包括文章撰写、故事创作、邮件编辑等​​。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indent="0" algn="l">
              <a:lnSpc>
                <a:spcPct val="120000"/>
              </a:lnSpc>
              <a:buNone/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建议提供：3%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提供个性化建议，如职业建议、法律和财务建议等​​。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indent="0" algn="l">
              <a:lnSpc>
                <a:spcPct val="120000"/>
              </a:lnSpc>
              <a:buNone/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设计：2.5%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设计任务涵盖从问卷到网站等各种复杂对象的设计需求​​。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indent="0" algn="l">
              <a:lnSpc>
                <a:spcPct val="120000"/>
              </a:lnSpc>
              <a:buNone/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规划：2.7%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包括旅行计划、课程计划等宏观规划，而不仅仅是微观行动的规划​​。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indent="0" algn="l">
              <a:lnSpc>
                <a:spcPct val="120000"/>
              </a:lnSpc>
              <a:buNone/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讨论：3.8%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用户进行的互动讨论，包括哲学讨论、历史事件讨论等​​。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indent="0" algn="l">
              <a:lnSpc>
                <a:spcPct val="120000"/>
              </a:lnSpc>
              <a:buNone/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分析：7.3%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涵盖从文学分析到个人事务分析等各种文本分析任务​​。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indent="0" algn="l">
              <a:lnSpc>
                <a:spcPct val="120000"/>
              </a:lnSpc>
              <a:buNone/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评估：4%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评估任务包括简历评估、代码片段评估等，评估对象多样且开放​​。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...	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2181860" y="1144905"/>
            <a:ext cx="378206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1.</a:t>
            </a:r>
            <a:r>
              <a:rPr lang="zh-CN" altLang="en-US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分析用户任务类型的</a:t>
            </a:r>
            <a:r>
              <a:rPr lang="zh-CN" altLang="en-US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方法</a:t>
            </a:r>
            <a:endParaRPr lang="zh-CN" altLang="en-US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553720" y="1606550"/>
            <a:ext cx="3556000" cy="49574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.1 ShareGPT 数据集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ShareGPT 是一个公开的大规模用户-GPT 对话历史集合。用户可以通过 Chrome 扩展上传他们与 GPT 的交互记录。该数据集包含了 94,145 条用户-GPT 对话样本，用于训练大型语言模型（LLMs），如 Vicuna 等​​。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.2 自我示范注释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自我示范注释 的目标是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识别每个用户查询的底层任务类型和相关领域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。该过程包括三个阶段：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连锁思维提示（Chain-of-thought prompting）：使用中间步骤来生成文本，提高 LLM 理解和解释用户查询的能力。LLM 首先识别与用户查询相关的领域或主题，然后生成简洁的一句话摘要，最后生成对应的任务类型​​。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示范抽样（Demonstration sampling）：从连锁思维提示生成的输出中选择样本作为示范，初始示范池包含 20 个不同领域或任务类型的样本​​。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示范池扩展（Demonstration pool expansion）：逐步扩展示范池，避免在示范选择中可能的偏差​​。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0" y="171876"/>
            <a:ext cx="12192000" cy="640924"/>
            <a:chOff x="0" y="171876"/>
            <a:chExt cx="12192000" cy="640924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0" y="8128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5375" y="171876"/>
              <a:ext cx="1631652" cy="543884"/>
            </a:xfrm>
            <a:prstGeom prst="rect">
              <a:avLst/>
            </a:prstGeom>
            <a:effectLst>
              <a:reflection stA="46000" endPos="5000" dist="50800" dir="5400000" sy="-100000" algn="bl" rotWithShape="0"/>
            </a:effectLst>
          </p:spPr>
        </p:pic>
      </p:grpSp>
      <p:grpSp>
        <p:nvGrpSpPr>
          <p:cNvPr id="2" name="组合 1"/>
          <p:cNvGrpSpPr/>
          <p:nvPr/>
        </p:nvGrpSpPr>
        <p:grpSpPr>
          <a:xfrm>
            <a:off x="161405" y="229289"/>
            <a:ext cx="9578975" cy="583565"/>
            <a:chOff x="677375" y="879306"/>
            <a:chExt cx="9578975" cy="583565"/>
          </a:xfrm>
        </p:grpSpPr>
        <p:sp>
          <p:nvSpPr>
            <p:cNvPr id="36" name="文本框 35"/>
            <p:cNvSpPr txBox="1"/>
            <p:nvPr/>
          </p:nvSpPr>
          <p:spPr>
            <a:xfrm>
              <a:off x="5778965" y="879306"/>
              <a:ext cx="447738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sz="1600" b="1" dirty="0" smtClean="0">
                  <a:solidFill>
                    <a:schemeClr val="tx1"/>
                  </a:solidFill>
                  <a:sym typeface="+mn-ea"/>
                </a:rPr>
                <a:t>The Shifted and The Overlooked: A Task-oriented Investigation of User-GPT Interactions</a:t>
              </a:r>
              <a:endParaRPr lang="en-US" altLang="zh-CN" sz="16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77375" y="1028531"/>
              <a:ext cx="575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ea"/>
                </a:rPr>
                <a:t>转移和忽视：以任务为导向的用户-GPT交互调查</a:t>
              </a:r>
              <a:endParaRPr lang="zh-CN" altLang="en-US" b="1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8411845" y="949960"/>
            <a:ext cx="3101975" cy="65659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2.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用户使用GPT执行的任务类型及其比例</a:t>
            </a:r>
            <a:endParaRPr lang="zh-CN" altLang="en-US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4241165" y="1605915"/>
            <a:ext cx="3660775" cy="5182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1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.3 人工评估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为了评估 GPT-4 生成的注释质量，进行了人工评估，重点评估生成的任务类型是否完整和正确。三名有 NLP 和 ML 研究经验的研究生作为评估员，对 100 个随机选取的样本进行评估​​。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1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.4 后处理分析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由于 GPT-4 生成的领域/主题和任务类型是自由形式的词汇和短语，因此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样本的聚类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存在挑战。后处理框架包括三个阶段：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基于启发式规则的统计计算。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与摘要句子嵌入相似性的结合。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手动检查以确保最佳质量​​。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0" y="171876"/>
            <a:ext cx="12192000" cy="640924"/>
            <a:chOff x="0" y="171876"/>
            <a:chExt cx="12192000" cy="640924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0" y="8128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5375" y="171876"/>
              <a:ext cx="1631652" cy="543884"/>
            </a:xfrm>
            <a:prstGeom prst="rect">
              <a:avLst/>
            </a:prstGeom>
            <a:effectLst>
              <a:reflection stA="46000" endPos="5000" dist="50800" dir="5400000" sy="-100000" algn="bl" rotWithShape="0"/>
            </a:effectLst>
          </p:spPr>
        </p:pic>
      </p:grpSp>
      <p:grpSp>
        <p:nvGrpSpPr>
          <p:cNvPr id="2" name="组合 1"/>
          <p:cNvGrpSpPr/>
          <p:nvPr/>
        </p:nvGrpSpPr>
        <p:grpSpPr>
          <a:xfrm>
            <a:off x="161405" y="229289"/>
            <a:ext cx="9578975" cy="583565"/>
            <a:chOff x="677375" y="879306"/>
            <a:chExt cx="9578975" cy="583565"/>
          </a:xfrm>
        </p:grpSpPr>
        <p:sp>
          <p:nvSpPr>
            <p:cNvPr id="36" name="文本框 35"/>
            <p:cNvSpPr txBox="1"/>
            <p:nvPr/>
          </p:nvSpPr>
          <p:spPr>
            <a:xfrm>
              <a:off x="5778965" y="879306"/>
              <a:ext cx="447738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sz="1600" b="1" dirty="0" smtClean="0">
                  <a:solidFill>
                    <a:schemeClr val="tx1"/>
                  </a:solidFill>
                  <a:sym typeface="+mn-ea"/>
                </a:rPr>
                <a:t>The Shifted and The Overlooked: A Task-oriented Investigation of User-GPT Interactions</a:t>
              </a:r>
              <a:endParaRPr lang="en-US" altLang="zh-CN" sz="16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77375" y="1028531"/>
              <a:ext cx="575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ea"/>
                </a:rPr>
                <a:t>转移和忽视：以任务为导向的用户-GPT交互调查</a:t>
              </a:r>
              <a:endParaRPr lang="zh-CN" altLang="en-US" b="1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15" y="953135"/>
            <a:ext cx="9487535" cy="5504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2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3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4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5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6.xml><?xml version="1.0" encoding="utf-8"?>
<p:tagLst xmlns:p="http://schemas.openxmlformats.org/presentationml/2006/main">
  <p:tag name="ISPRING_PRESENTATION_TITLE" val="PowerPoint 演示文稿"/>
  <p:tag name="commondata" val="eyJoZGlkIjoiMTFmMWJmZjM1MTUzOGJhZGQ2YzVjZTI0ZGVkOTAw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</Words>
  <Application>WPS 演示</Application>
  <PresentationFormat>宽屏</PresentationFormat>
  <Paragraphs>48</Paragraphs>
  <Slides>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字魂59号-创粗黑</vt:lpstr>
      <vt:lpstr>黑体</vt:lpstr>
      <vt:lpstr>Hiragino Sans GB W3</vt:lpstr>
      <vt:lpstr>思源黑体 CN Normal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陈茁扬</cp:lastModifiedBy>
  <cp:revision>77</cp:revision>
  <dcterms:created xsi:type="dcterms:W3CDTF">2019-12-26T07:15:00Z</dcterms:created>
  <dcterms:modified xsi:type="dcterms:W3CDTF">2024-07-16T10:43:04Z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D3E1548570BC4F42BCA1433EDD57D63A_13</vt:lpwstr>
  </property>
  <property fmtid="{D5CDD505-2E9C-101B-9397-08002B2CF9AE}" pid="3" name="KSOProductBuildVer">
    <vt:lpwstr>2052-12.1.0.16929</vt:lpwstr>
  </property>
</Properties>
</file>