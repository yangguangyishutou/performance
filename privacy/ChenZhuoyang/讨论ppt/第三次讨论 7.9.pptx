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7" r:id="rId3"/>
    <p:sldId id="308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5DC90-454D-46DB-AFEB-0ECF9E248F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>
            <p:custDataLst>
              <p:tags r:id="rId1"/>
            </p:custDataLst>
          </p:nvPr>
        </p:nvSpPr>
        <p:spPr>
          <a:xfrm>
            <a:off x="306705" y="1395730"/>
            <a:ext cx="3514725" cy="51835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1.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 正则表达式识别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对于具有规范格式和范围的信息，例如身份证号码、卡号、邮政编码、电话号码和出生日期等，可以使用适当的正则表达式库进行识别。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例如，中国的电话号码通常为11位数字，以1开头。正则表达式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为：1[3-9]\d{9}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1.2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 命名实体识别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对于没有格式化组成的信息，如人名、组织名称和地名等，无法通过匹配正则表达式来识别。这时可以使用自然语言处理（NLP）技术来进行命名实体识别。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本文使用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双向长短期记忆网络（Bi-LSTM）+ 条件随机场（CRF）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模型来进行中文命名实体识别。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具体步骤如下：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文本表示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: 使用one-hot编码将文本句子表示为密集的低维向量。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特征提取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: 使用双层LSTM网络提取文本特征。双向LSTM能够有效地获取句子的双向特性。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实体识别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: 最终通过CRF层进行实体识别，使识别结果符合常见规范。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文中提到，该方法在当前的命名实体识别领域中取得了最优结果。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7" name="矩形 26"/>
          <p:cNvSpPr/>
          <p:nvPr>
            <p:custDataLst>
              <p:tags r:id="rId2"/>
            </p:custDataLst>
          </p:nvPr>
        </p:nvSpPr>
        <p:spPr>
          <a:xfrm>
            <a:off x="742950" y="1007745"/>
            <a:ext cx="264287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1.</a:t>
            </a:r>
            <a:r>
              <a:rPr lang="zh-CN" altLang="en-US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敏感属性分类与识别</a:t>
            </a:r>
            <a:endParaRPr lang="zh-CN" altLang="en-US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28" name="矩形 27"/>
          <p:cNvSpPr/>
          <p:nvPr>
            <p:custDataLst>
              <p:tags r:id="rId3"/>
            </p:custDataLst>
          </p:nvPr>
        </p:nvSpPr>
        <p:spPr>
          <a:xfrm>
            <a:off x="4030980" y="1376045"/>
            <a:ext cx="3484245" cy="49574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2.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 双向长短期记忆网络（Bi-LSTM）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1.1 LSTM简介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长短期记忆网络（LSTM）是一种改进的递归神经网络（RNN），能够有效解决标准RNN在长序列学习中的梯度消失和梯度爆炸问题。LSTM通过引入记忆单元和门机制（输入门、遗忘门、输出门）来控制信息的流动。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1.2 双向LSTM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双向LSTM（Bi-LSTM）通过在传统LSTM的基础上添加反向传播层，实现对序列数据的前向和后向处理，从而更好地捕捉上下文信息。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2.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2 条件随机场（CRF）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条件随机场（CRF）是一种用于序列标注的概率图模型，能够通过考虑前后标签之间的关系来提高标注的准确性。CRF特别适用于需要全局特征优化的任务。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2.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3 Bi-LSTM + CRF模型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Bi-LSTM + CRF模型结合了Bi-LSTM的上下文信息捕捉能力和CRF的序列标注优化能力，适用于精确的序列标注任务。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9" name="矩形 28"/>
          <p:cNvSpPr/>
          <p:nvPr>
            <p:custDataLst>
              <p:tags r:id="rId4"/>
            </p:custDataLst>
          </p:nvPr>
        </p:nvSpPr>
        <p:spPr>
          <a:xfrm>
            <a:off x="4617085" y="1022350"/>
            <a:ext cx="2312035" cy="37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2.</a:t>
            </a:r>
            <a:r>
              <a:rPr lang="zh-CN" altLang="en-US" sz="184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命名实体识别</a:t>
            </a:r>
            <a:r>
              <a:rPr lang="zh-CN" altLang="en-US" sz="184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方法</a:t>
            </a:r>
            <a:endParaRPr lang="zh-CN" altLang="en-US" sz="184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0" y="171876"/>
            <a:ext cx="12192000" cy="640924"/>
            <a:chOff x="0" y="171876"/>
            <a:chExt cx="12192000" cy="640924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0" y="8128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5375" y="171876"/>
              <a:ext cx="1631652" cy="543884"/>
            </a:xfrm>
            <a:prstGeom prst="rect">
              <a:avLst/>
            </a:prstGeom>
            <a:effectLst>
              <a:reflection stA="46000" endPos="5000" dist="50800" dir="5400000" sy="-100000" algn="bl" rotWithShape="0"/>
            </a:effectLst>
          </p:spPr>
        </p:pic>
      </p:grpSp>
      <p:grpSp>
        <p:nvGrpSpPr>
          <p:cNvPr id="2" name="组合 1"/>
          <p:cNvGrpSpPr/>
          <p:nvPr/>
        </p:nvGrpSpPr>
        <p:grpSpPr>
          <a:xfrm>
            <a:off x="161405" y="229289"/>
            <a:ext cx="8900795" cy="583565"/>
            <a:chOff x="677375" y="879306"/>
            <a:chExt cx="8900795" cy="583565"/>
          </a:xfrm>
        </p:grpSpPr>
        <p:sp>
          <p:nvSpPr>
            <p:cNvPr id="36" name="文本框 35"/>
            <p:cNvSpPr txBox="1"/>
            <p:nvPr/>
          </p:nvSpPr>
          <p:spPr>
            <a:xfrm>
              <a:off x="5707210" y="879306"/>
              <a:ext cx="387096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sz="1600" b="1" dirty="0" smtClean="0">
                  <a:solidFill>
                    <a:schemeClr val="tx1"/>
                  </a:solidFill>
                  <a:sym typeface="+mn-ea"/>
                </a:rPr>
                <a:t>Differential Attribute Desensitization System for Personal Information Protection</a:t>
              </a:r>
              <a:endParaRPr lang="en-US" altLang="zh-CN" sz="16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77375" y="1028531"/>
              <a:ext cx="57531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ea"/>
                </a:rPr>
                <a:t>用于个人信息保护的差异化属性脱敏系统</a:t>
              </a:r>
              <a:endPara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9062085" y="1022350"/>
            <a:ext cx="1607820" cy="37401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3.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具体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实现</a:t>
            </a:r>
            <a:endParaRPr lang="zh-CN" altLang="en-US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7724775" y="1395730"/>
            <a:ext cx="4298315" cy="5182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3.1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数据准备</a:t>
            </a:r>
            <a:endParaRPr lang="en-US" altLang="zh-CN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文本：我爱北京天安门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标注：O O B-LOC I-LOC I-LOC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"我爱北京天安门"是输入文本，"O O B-LOC I-LOC I-LOC"是对应的标签序列。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3.2 </a:t>
            </a:r>
            <a:r>
              <a:rPr 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文本向量化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# 示例：one-hot编码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def one_hot_encoding(text, vocab_size):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    encoded_text = np.zeros((len(text), vocab_size))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    for i, char in enumerate(text):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        encoded_text[i][char_to_index[char]] = 1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    return encoded_text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3.3 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定义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Bi-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LSTM层来提取文本的上下文特征：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input = Input(shape=(max_len,))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model = Embedding(input_dim=vocab_size, output_dim=embedding_dim, input_length=max_len)(input)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model = Bidirectional(LSTM(units=hidden_units, return_sequences=True))(model)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3.4 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添加CRF层来进行序列标注：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crf = CRF(num_labels)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out = crf(model)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model = Model(input, out)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model.compile(optimizer='adam', loss=crf.loss_function, metrics=[crf.accuracy])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>
            <p:custDataLst>
              <p:tags r:id="rId1"/>
            </p:custDataLst>
          </p:nvPr>
        </p:nvSpPr>
        <p:spPr>
          <a:xfrm>
            <a:off x="441960" y="1396365"/>
            <a:ext cx="3824605" cy="49574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数据匿名化技术是一种通过对数据进行处理，使其无法识别特定个人或个体，从而保护隐私的技术。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以k-匿名性 (k-Anonymity)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为例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通过将数据集中每条记录与至少k-1条其他记录变得不可区分来保护隐私。这意味着任何一个记录的识别风险被降低到1/k。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具体方法：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确定准标识符（Quasi-Identifiers）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准标识符是可以被用来识别个体的信息组合，例如，年龄、性别、邮政编码等。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数据泛化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将准标识符进行泛化处理，使得每个等价类中的记录具有相同的泛化属性值。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泛化是将具体的数值或类别转换为更广泛的范围或更高层级的分类。例如，将具体年龄转为年龄段，将具体住址转为市级单位。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划分等价类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对数据集进行划分，使得每个等价类包含至少k条记录，使每个组中的记录具有相同或相似的准标识符。基于区间划分的方法、基于聚类的方法。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3375025" y="1021715"/>
            <a:ext cx="2312035" cy="37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4.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数据匿名化</a:t>
            </a:r>
            <a:endParaRPr lang="zh-CN" altLang="en-US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0" y="171876"/>
            <a:ext cx="12192000" cy="640924"/>
            <a:chOff x="0" y="171876"/>
            <a:chExt cx="12192000" cy="640924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0" y="8128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5375" y="171876"/>
              <a:ext cx="1631652" cy="543884"/>
            </a:xfrm>
            <a:prstGeom prst="rect">
              <a:avLst/>
            </a:prstGeom>
            <a:effectLst>
              <a:reflection stA="46000" endPos="5000" dist="50800" dir="5400000" sy="-100000" algn="bl" rotWithShape="0"/>
            </a:effectLst>
          </p:spPr>
        </p:pic>
      </p:grpSp>
      <p:grpSp>
        <p:nvGrpSpPr>
          <p:cNvPr id="2" name="组合 1"/>
          <p:cNvGrpSpPr/>
          <p:nvPr/>
        </p:nvGrpSpPr>
        <p:grpSpPr>
          <a:xfrm>
            <a:off x="161405" y="229289"/>
            <a:ext cx="8900795" cy="583565"/>
            <a:chOff x="677375" y="879306"/>
            <a:chExt cx="8900795" cy="583565"/>
          </a:xfrm>
        </p:grpSpPr>
        <p:sp>
          <p:nvSpPr>
            <p:cNvPr id="36" name="文本框 35"/>
            <p:cNvSpPr txBox="1"/>
            <p:nvPr/>
          </p:nvSpPr>
          <p:spPr>
            <a:xfrm>
              <a:off x="5707210" y="879306"/>
              <a:ext cx="387096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sz="1600" b="1" dirty="0" smtClean="0">
                  <a:solidFill>
                    <a:schemeClr val="tx1"/>
                  </a:solidFill>
                  <a:sym typeface="+mn-ea"/>
                </a:rPr>
                <a:t>Differential Attribute Desensitization System for Personal Information Protection</a:t>
              </a:r>
              <a:endParaRPr lang="en-US" altLang="zh-CN" sz="1600" b="1" dirty="0" smtClean="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77375" y="1028531"/>
              <a:ext cx="57531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ea"/>
                </a:rPr>
                <a:t>用于个人信息保护的差异化属性脱敏系统</a:t>
              </a:r>
              <a:endParaRPr lang="zh-CN" altLang="en-US" sz="20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9398000" y="1021715"/>
            <a:ext cx="1607820" cy="37401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5.数据脱敏</a:t>
            </a:r>
            <a:endParaRPr lang="en-US" altLang="zh-CN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8533765" y="1395730"/>
            <a:ext cx="3336290" cy="5182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1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.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基于正则表达式的脱敏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这种方法适用于具有规范格式的敏感信息，通过匹配特定的模式对数据进行替换或掩盖。常见应用包括身份证号码、银行卡号、电话号码等的脱敏。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示例：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身份证号脱敏：将身份证号的中间部分替换为星号。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原始数据：11010519491231002X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脱敏处理：110105********002X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2.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数据泛化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数据泛化是将详细的敏感信息变得不那么具体，从而保护隐私。泛化通过将数据值替换为更宽泛的范围或类别，使数据在不失去太多信息价值的前提下，减少对隐私的威胁。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示例：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地址信息泛化：将详细地址泛化为较大区域。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原始数据：北京市海淀区中关村东路66号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脱敏处理：北京市海淀区****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3. 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区别与联系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数据匿名化主要适用于数据共享和发布场景，如医疗数据共享、金融数据分析等；而数据脱敏主要适用于内部处理和展示场景。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66565" y="1395730"/>
            <a:ext cx="4033520" cy="5117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假设有一个数据集包含姓名、年龄、性别和住址，目标是实现k=3的匿名性。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原始数据：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姓名  年龄  性别  住址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张三  25   男    北京市海淀区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李四  28   女    北京市朝阳区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王五  25   男    北京市海淀区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赵六  30   女    北京市东城区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孙七  27   男    北京市丰台区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周八  24   女    北京市石景山区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泛化处理（将年龄和住址进行泛化）：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姓名  年龄    性别  住址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张*  20-30  男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李*  20-30  女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王*  20-30  男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赵*  20-30  女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孙*  20-30  男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周*  20-30  女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将数据划分为两个等价类，每个等价类包含至少3条记录。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等价类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1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张*  20-30  男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王*  20-30  男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孙*  20-30  男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等价类</a:t>
            </a:r>
            <a:r>
              <a: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2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李*  20-30  女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赵*  20-30  女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周*  20-30  女    北京市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8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2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3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4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5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6.xml><?xml version="1.0" encoding="utf-8"?>
<p:tagLst xmlns:p="http://schemas.openxmlformats.org/presentationml/2006/main">
  <p:tag name="KSO_WM_DIAGRAM_VIRTUALLY_FRAME" val="{&quot;height&quot;:584.0507874015748,&quot;left&quot;:8.75,&quot;top&quot;:77.4,&quot;width&quot;:937.95}"/>
</p:tagLst>
</file>

<file path=ppt/tags/tag7.xml><?xml version="1.0" encoding="utf-8"?>
<p:tagLst xmlns:p="http://schemas.openxmlformats.org/presentationml/2006/main">
  <p:tag name="KSO_WM_DIAGRAM_VIRTUALLY_FRAME" val="{&quot;height&quot;:584.0507874015748,&quot;left&quot;:8.75,&quot;top&quot;:77.4,&quot;width&quot;:927}"/>
</p:tagLst>
</file>

<file path=ppt/tags/tag8.xml><?xml version="1.0" encoding="utf-8"?>
<p:tagLst xmlns:p="http://schemas.openxmlformats.org/presentationml/2006/main">
  <p:tag name="KSO_WM_DIAGRAM_VIRTUALLY_FRAME" val="{&quot;height&quot;:584.0507874015748,&quot;left&quot;:8.75,&quot;top&quot;:77.4,&quot;width&quot;:927}"/>
</p:tagLst>
</file>

<file path=ppt/tags/tag9.xml><?xml version="1.0" encoding="utf-8"?>
<p:tagLst xmlns:p="http://schemas.openxmlformats.org/presentationml/2006/main">
  <p:tag name="KSO_WM_DIAGRAM_VIRTUALLY_FRAME" val="{&quot;height&quot;:584.0507874015748,&quot;left&quot;:8.75,&quot;top&quot;:77.4,&quot;width&quot;:927}"/>
</p:tagLst>
</file>

<file path=ppt/tags/tag10.xml><?xml version="1.0" encoding="utf-8"?>
<p:tagLst xmlns:p="http://schemas.openxmlformats.org/presentationml/2006/main">
  <p:tag name="KSO_WM_DIAGRAM_VIRTUALLY_FRAME" val="{&quot;height&quot;:584.0507874015748,&quot;left&quot;:8.75,&quot;top&quot;:77.4,&quot;width&quot;:927}"/>
</p:tagLst>
</file>

<file path=ppt/tags/tag11.xml><?xml version="1.0" encoding="utf-8"?>
<p:tagLst xmlns:p="http://schemas.openxmlformats.org/presentationml/2006/main">
  <p:tag name="ISPRING_PRESENTATION_TITLE" val="PowerPoint 演示文稿"/>
  <p:tag name="commondata" val="eyJoZGlkIjoiMTFmMWJmZjM1MTUzOGJhZGQ2YzVjZTI0ZGVkOTAw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2874</Words>
  <Application>WPS 演示</Application>
  <PresentationFormat>宽屏</PresentationFormat>
  <Paragraphs>120</Paragraphs>
  <Slides>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字魂59号-创粗黑</vt:lpstr>
      <vt:lpstr>黑体</vt:lpstr>
      <vt:lpstr>Hiragino Sans GB W3</vt:lpstr>
      <vt:lpstr>思源黑体 CN Normal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陈茁扬</cp:lastModifiedBy>
  <cp:revision>71</cp:revision>
  <dcterms:created xsi:type="dcterms:W3CDTF">2019-12-26T07:15:00Z</dcterms:created>
  <dcterms:modified xsi:type="dcterms:W3CDTF">2024-07-09T12:39:48Z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AAA61B24CE3D4D5CB3D593699302E2E0_13</vt:lpwstr>
  </property>
  <property fmtid="{D5CDD505-2E9C-101B-9397-08002B2CF9AE}" pid="3" name="KSOProductBuildVer">
    <vt:lpwstr>2052-12.1.0.16929</vt:lpwstr>
  </property>
</Properties>
</file>