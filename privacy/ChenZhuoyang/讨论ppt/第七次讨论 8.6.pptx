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30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5DC90-454D-46DB-AFEB-0ECF9E248F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254635" y="271145"/>
            <a:ext cx="5628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 dirty="0" smtClean="0">
                <a:solidFill>
                  <a:schemeClr val="tx1"/>
                </a:solidFill>
                <a:sym typeface="+mn-ea"/>
              </a:rPr>
              <a:t>A survey on deep learning approaches for text-to-SQL</a:t>
            </a:r>
            <a:endParaRPr lang="en-US" altLang="zh-CN" b="1" dirty="0" smtClean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54635" y="949884"/>
            <a:ext cx="5958205" cy="1792681"/>
            <a:chOff x="285" y="1037"/>
            <a:chExt cx="13851" cy="4737"/>
          </a:xfrm>
        </p:grpSpPr>
        <p:sp>
          <p:nvSpPr>
            <p:cNvPr id="8" name="Rounded Rectangle 4"/>
            <p:cNvSpPr/>
            <p:nvPr/>
          </p:nvSpPr>
          <p:spPr>
            <a:xfrm>
              <a:off x="285" y="3079"/>
              <a:ext cx="2957" cy="1396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Text2SQL Dataset</a:t>
              </a:r>
              <a:endParaRPr lang="en-US" sz="1400" dirty="0"/>
            </a:p>
          </p:txBody>
        </p:sp>
        <p:sp>
          <p:nvSpPr>
            <p:cNvPr id="10" name="Rounded Rectangle 5"/>
            <p:cNvSpPr/>
            <p:nvPr/>
          </p:nvSpPr>
          <p:spPr>
            <a:xfrm>
              <a:off x="4962" y="2425"/>
              <a:ext cx="2651" cy="918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Training Set</a:t>
              </a:r>
              <a:endParaRPr lang="en-US" sz="1400" dirty="0"/>
            </a:p>
          </p:txBody>
        </p:sp>
        <p:sp>
          <p:nvSpPr>
            <p:cNvPr id="11" name="Rounded Rectangle 6"/>
            <p:cNvSpPr/>
            <p:nvPr/>
          </p:nvSpPr>
          <p:spPr>
            <a:xfrm>
              <a:off x="4960" y="4856"/>
              <a:ext cx="2651" cy="91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Testing Set</a:t>
              </a:r>
              <a:endParaRPr lang="en-US" sz="1400" dirty="0"/>
            </a:p>
          </p:txBody>
        </p:sp>
        <p:cxnSp>
          <p:nvCxnSpPr>
            <p:cNvPr id="12" name="Straight Arrow Connector 8"/>
            <p:cNvCxnSpPr>
              <a:stCxn id="8" idx="3"/>
              <a:endCxn id="10" idx="1"/>
            </p:cNvCxnSpPr>
            <p:nvPr/>
          </p:nvCxnSpPr>
          <p:spPr>
            <a:xfrm flipV="1">
              <a:off x="3242" y="2884"/>
              <a:ext cx="1721" cy="8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9"/>
            <p:cNvCxnSpPr>
              <a:stCxn id="8" idx="3"/>
              <a:endCxn id="11" idx="1"/>
            </p:cNvCxnSpPr>
            <p:nvPr/>
          </p:nvCxnSpPr>
          <p:spPr>
            <a:xfrm>
              <a:off x="3242" y="3777"/>
              <a:ext cx="1718" cy="15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2"/>
            <p:cNvSpPr/>
            <p:nvPr/>
          </p:nvSpPr>
          <p:spPr>
            <a:xfrm>
              <a:off x="8889" y="2353"/>
              <a:ext cx="3250" cy="100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400" dirty="0"/>
                <a:t>Trained Model</a:t>
              </a:r>
              <a:endParaRPr lang="en-US" sz="1400" dirty="0"/>
            </a:p>
          </p:txBody>
        </p:sp>
        <p:cxnSp>
          <p:nvCxnSpPr>
            <p:cNvPr id="15" name="Straight Arrow Connector 13"/>
            <p:cNvCxnSpPr>
              <a:stCxn id="10" idx="3"/>
              <a:endCxn id="14" idx="1"/>
            </p:cNvCxnSpPr>
            <p:nvPr/>
          </p:nvCxnSpPr>
          <p:spPr>
            <a:xfrm flipV="1">
              <a:off x="7613" y="2854"/>
              <a:ext cx="1276" cy="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73" y="1037"/>
              <a:ext cx="3357" cy="13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10000"/>
                </a:lnSpc>
              </a:pPr>
              <a:r>
                <a:rPr lang="zh-CN" altLang="en-US" sz="1400" dirty="0"/>
                <a:t>？ </a:t>
              </a:r>
              <a:r>
                <a:rPr lang="en-US" altLang="zh-CN" sz="1400" dirty="0"/>
                <a:t>Schema Only vs </a:t>
              </a:r>
              <a:r>
                <a:rPr lang="en-US" altLang="zh-CN" sz="1400" dirty="0" err="1"/>
                <a:t>Schema+Data</a:t>
              </a:r>
              <a:endParaRPr lang="en-US" altLang="zh-CN" sz="1400" dirty="0" err="1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419" y="2149"/>
              <a:ext cx="1717" cy="18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sz="1400" dirty="0"/>
                <a:t>工具</a:t>
              </a:r>
              <a:r>
                <a:rPr lang="en-US" altLang="zh-CN" sz="1400" dirty="0"/>
                <a:t>1</a:t>
              </a:r>
              <a:endParaRPr lang="en-US" altLang="zh-CN" sz="1400" dirty="0"/>
            </a:p>
            <a:p>
              <a:r>
                <a:rPr lang="en-US" sz="1400" dirty="0"/>
                <a:t>工具</a:t>
              </a:r>
              <a:r>
                <a:rPr lang="en-US" altLang="zh-CN" sz="1400" dirty="0"/>
                <a:t>2</a:t>
              </a:r>
              <a:endParaRPr lang="en-US" altLang="zh-CN" sz="1400" dirty="0"/>
            </a:p>
            <a:p>
              <a:r>
                <a:rPr lang="en-US" sz="1400" dirty="0"/>
                <a:t>工具</a:t>
              </a:r>
              <a:r>
                <a:rPr lang="en-US" altLang="zh-CN" sz="1400" dirty="0"/>
                <a:t>3</a:t>
              </a:r>
              <a:endParaRPr lang="en-US" altLang="zh-CN" sz="1400" dirty="0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852920" y="1028065"/>
            <a:ext cx="478663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在</a:t>
            </a:r>
            <a:r>
              <a:rPr lang="en-US" altLang="zh-CN" sz="1600"/>
              <a:t>text-to-</a:t>
            </a:r>
            <a:r>
              <a:rPr lang="zh-CN" altLang="en-US" sz="1600"/>
              <a:t>SQL的系统中，输入的数据库通常不包括表格中的具体数据（</a:t>
            </a:r>
            <a:r>
              <a:rPr lang="en-US" altLang="zh-CN" sz="1600"/>
              <a:t>data/value</a:t>
            </a:r>
            <a:r>
              <a:rPr lang="zh-CN" altLang="en-US" sz="1600"/>
              <a:t>），而是主要关注数据库的模式信息（schema information）：</a:t>
            </a:r>
            <a:endParaRPr lang="zh-CN" altLang="en-US" sz="1600"/>
          </a:p>
          <a:p>
            <a:r>
              <a:rPr lang="zh-CN" altLang="en-US" sz="1600"/>
              <a:t>表名（Table Names）</a:t>
            </a:r>
            <a:endParaRPr lang="zh-CN" altLang="en-US" sz="1600"/>
          </a:p>
          <a:p>
            <a:r>
              <a:rPr lang="zh-CN" altLang="en-US" sz="1600"/>
              <a:t>列名（Column Names）</a:t>
            </a:r>
            <a:endParaRPr lang="zh-CN" altLang="en-US" sz="1600"/>
          </a:p>
          <a:p>
            <a:r>
              <a:rPr lang="zh-CN" altLang="en-US" sz="1600"/>
              <a:t>表和列的关系（Relationships between Tables and Columns）</a:t>
            </a:r>
            <a:endParaRPr lang="zh-CN" altLang="en-US" sz="1600"/>
          </a:p>
        </p:txBody>
      </p:sp>
      <p:sp>
        <p:nvSpPr>
          <p:cNvPr id="22" name="文本框 21"/>
          <p:cNvSpPr txBox="1"/>
          <p:nvPr/>
        </p:nvSpPr>
        <p:spPr>
          <a:xfrm>
            <a:off x="6921500" y="2889885"/>
            <a:ext cx="4650105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例如</a:t>
            </a:r>
            <a:endParaRPr lang="zh-CN" altLang="en-US" sz="1600"/>
          </a:p>
          <a:p>
            <a:r>
              <a:rPr lang="zh-CN" altLang="en-US" sz="1600"/>
              <a:t>在训练的输入阶段，会使用</a:t>
            </a:r>
            <a:endParaRPr lang="zh-CN" altLang="en-US" sz="1600"/>
          </a:p>
          <a:p>
            <a:r>
              <a:rPr lang="zh-CN" altLang="en-US" sz="1600"/>
              <a:t>表名：Movies，Directors</a:t>
            </a:r>
            <a:endParaRPr lang="zh-CN" altLang="en-US" sz="1600"/>
          </a:p>
          <a:p>
            <a:r>
              <a:rPr lang="zh-CN" altLang="en-US" sz="1600"/>
              <a:t>列名：Movies.Title，Movies.Director，Movies.ReleaseYear，Directors.Name，Directors.BirthYear</a:t>
            </a:r>
            <a:endParaRPr lang="zh-CN" altLang="en-US" sz="1600"/>
          </a:p>
          <a:p>
            <a:r>
              <a:rPr lang="zh-CN" altLang="en-US" sz="1600"/>
              <a:t>关系：比如，Movies.Director 与 Directors.Name 的关系</a:t>
            </a:r>
            <a:endParaRPr lang="zh-CN" altLang="en-US" sz="1600"/>
          </a:p>
          <a:p>
            <a:r>
              <a:rPr lang="zh-CN" altLang="en-US" sz="1600"/>
              <a:t>具体的数值（如电影名称或导演姓名）在系统需要进行值链接时，可能会被查找和使用，但这些值通常不会在初始输入中被直接传递给模型。</a:t>
            </a:r>
            <a:endParaRPr lang="zh-CN" altLang="en-US" sz="1600"/>
          </a:p>
        </p:txBody>
      </p:sp>
      <p:sp>
        <p:nvSpPr>
          <p:cNvPr id="24" name="文本框 23"/>
          <p:cNvSpPr txBox="1"/>
          <p:nvPr/>
        </p:nvSpPr>
        <p:spPr>
          <a:xfrm>
            <a:off x="500380" y="3840480"/>
            <a:ext cx="5758180" cy="2527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/>
              <a:t>Train</a:t>
            </a:r>
            <a:r>
              <a:rPr lang="zh-CN" altLang="en-US" sz="1600"/>
              <a:t>阶段的隐私泄露风险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数据库模式信息（</a:t>
            </a:r>
            <a:r>
              <a:rPr lang="en-US" altLang="zh-CN" sz="1600"/>
              <a:t>Schema</a:t>
            </a:r>
            <a:r>
              <a:rPr lang="zh-CN" altLang="en-US" sz="1600"/>
              <a:t>）</a:t>
            </a:r>
            <a:endParaRPr lang="zh-CN" altLang="en-US" sz="1600"/>
          </a:p>
          <a:p>
            <a:r>
              <a:rPr lang="zh-CN" altLang="en-US" sz="1600"/>
              <a:t>虽然数据库模式信息通常不包括具体的数据内容，但它可能揭示有关数据库结构的信息，例如公司内部的数据模型。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值链接（Value Linking）</a:t>
            </a:r>
            <a:endParaRPr lang="zh-CN" altLang="en-US" sz="1600"/>
          </a:p>
          <a:p>
            <a:r>
              <a:rPr lang="zh-CN" altLang="en-US" sz="1600"/>
              <a:t>当模型在训练过程中需要查找具体数据值时，这些数据值可能包含敏感信息（例如，用户的名字或地址）</a:t>
            </a:r>
            <a:endParaRPr lang="zh-CN" altLang="en-US" sz="1600"/>
          </a:p>
        </p:txBody>
      </p:sp>
      <p:grpSp>
        <p:nvGrpSpPr>
          <p:cNvPr id="31" name="组合 30"/>
          <p:cNvGrpSpPr/>
          <p:nvPr/>
        </p:nvGrpSpPr>
        <p:grpSpPr>
          <a:xfrm>
            <a:off x="3983355" y="2219325"/>
            <a:ext cx="1669415" cy="1388110"/>
            <a:chOff x="13705" y="1702"/>
            <a:chExt cx="3233" cy="4422"/>
          </a:xfrm>
        </p:grpSpPr>
        <p:sp>
          <p:nvSpPr>
            <p:cNvPr id="25" name="Rectangle 18"/>
            <p:cNvSpPr/>
            <p:nvPr/>
          </p:nvSpPr>
          <p:spPr>
            <a:xfrm rot="5400000">
              <a:off x="13560" y="3227"/>
              <a:ext cx="3250" cy="1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400" dirty="0"/>
            </a:p>
          </p:txBody>
        </p:sp>
        <p:sp>
          <p:nvSpPr>
            <p:cNvPr id="26" name="Rectangle 20"/>
            <p:cNvSpPr/>
            <p:nvPr/>
          </p:nvSpPr>
          <p:spPr>
            <a:xfrm rot="5400000">
              <a:off x="13326" y="4123"/>
              <a:ext cx="1456" cy="1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400" dirty="0"/>
            </a:p>
          </p:txBody>
        </p:sp>
        <p:sp>
          <p:nvSpPr>
            <p:cNvPr id="27" name="TextBox 21"/>
            <p:cNvSpPr txBox="1"/>
            <p:nvPr/>
          </p:nvSpPr>
          <p:spPr>
            <a:xfrm>
              <a:off x="13705" y="5343"/>
              <a:ext cx="697" cy="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 dirty="0"/>
                <a:t>SO</a:t>
              </a:r>
              <a:endParaRPr lang="en-US" altLang="zh-CN" sz="900" dirty="0"/>
            </a:p>
          </p:txBody>
        </p:sp>
        <p:sp>
          <p:nvSpPr>
            <p:cNvPr id="28" name="TextBox 22"/>
            <p:cNvSpPr txBox="1"/>
            <p:nvPr/>
          </p:nvSpPr>
          <p:spPr>
            <a:xfrm>
              <a:off x="14837" y="5343"/>
              <a:ext cx="682" cy="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dirty="0"/>
                <a:t>SD</a:t>
              </a:r>
              <a:endParaRPr lang="en-US" altLang="zh-CN" sz="1000" dirty="0"/>
            </a:p>
          </p:txBody>
        </p:sp>
        <p:sp>
          <p:nvSpPr>
            <p:cNvPr id="29" name="Rectangle 35"/>
            <p:cNvSpPr/>
            <p:nvPr/>
          </p:nvSpPr>
          <p:spPr>
            <a:xfrm rot="5400000">
              <a:off x="14972" y="3508"/>
              <a:ext cx="2688" cy="19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400" dirty="0"/>
            </a:p>
          </p:txBody>
        </p:sp>
        <p:sp>
          <p:nvSpPr>
            <p:cNvPr id="30" name="TextBox 36"/>
            <p:cNvSpPr txBox="1"/>
            <p:nvPr/>
          </p:nvSpPr>
          <p:spPr>
            <a:xfrm>
              <a:off x="15954" y="5343"/>
              <a:ext cx="984" cy="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000" dirty="0"/>
                <a:t>Ours</a:t>
              </a:r>
              <a:endParaRPr lang="en-US" sz="1000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988175" y="5861685"/>
            <a:ext cx="1742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training-</a:t>
            </a:r>
            <a:r>
              <a:rPr lang="en-US" altLang="zh-CN"/>
              <a:t>testing</a:t>
            </a:r>
            <a:endParaRPr lang="en-US" altLang="zh-CN"/>
          </a:p>
          <a:p>
            <a:r>
              <a:rPr lang="en-US" altLang="zh-CN"/>
              <a:t>llm-text-</a:t>
            </a:r>
            <a:r>
              <a:rPr lang="en-US" altLang="zh-CN"/>
              <a:t>to-SQL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54635" y="271145"/>
            <a:ext cx="7099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 dirty="0" smtClean="0">
                <a:solidFill>
                  <a:schemeClr val="tx1"/>
                </a:solidFill>
                <a:sym typeface="+mn-ea"/>
              </a:rPr>
              <a:t>Enhancing Text-to-SQL Translation for Financial System Design -- ACM</a:t>
            </a:r>
            <a:endParaRPr lang="en-US" altLang="zh-CN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4335" y="1762125"/>
            <a:ext cx="4526915" cy="324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文章中提出了两种新颖的评估指标：SQAM（SQL查询分析指标）和TSED（编辑距离的树相似性）。这些指标用来测量生成的SQL查询与基准查询的相似性，无需执行</a:t>
            </a:r>
            <a:r>
              <a:rPr lang="zh-CN" altLang="en-US" sz="1600">
                <a:sym typeface="+mn-ea"/>
              </a:rPr>
              <a:t>SQL查询即可评估其质量</a:t>
            </a:r>
            <a:r>
              <a:rPr lang="zh-CN" altLang="en-US" sz="1600"/>
              <a:t>，从而减少了计算成本。</a:t>
            </a:r>
            <a:r>
              <a:rPr lang="zh-CN" altLang="en-US" sz="1600">
                <a:sym typeface="+mn-ea"/>
              </a:rPr>
              <a:t>尤其在无法访问真实数据库时特别有用。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SQAM通过解析SQL查询的主要组件（如SELECT、FROM、WHERE等）来评估查询的准确性。</a:t>
            </a:r>
            <a:endParaRPr lang="zh-CN" altLang="en-US" sz="1600"/>
          </a:p>
          <a:p>
            <a:r>
              <a:rPr lang="zh-CN" altLang="en-US" sz="1600"/>
              <a:t>TSED通过计算生成查询和基准查询的抽象语法树（AST）之间的编辑距离来评估查询的质量。</a:t>
            </a:r>
            <a:endParaRPr lang="zh-CN" altLang="en-US" sz="1600"/>
          </a:p>
        </p:txBody>
      </p:sp>
      <p:sp>
        <p:nvSpPr>
          <p:cNvPr id="14" name="文本框 13"/>
          <p:cNvSpPr txBox="1"/>
          <p:nvPr/>
        </p:nvSpPr>
        <p:spPr>
          <a:xfrm>
            <a:off x="394335" y="1178560"/>
            <a:ext cx="6160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无法访问数据库时如何有效评估Text-to-SQL模型的性能？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461635" y="1762125"/>
            <a:ext cx="4467860" cy="2274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在实验中，文章通过将TSED和SQAM与执行匹配（Execution Match）进行比较，验证了这两个指标的有效性。结果表明：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高相关性：TSED和SQAM与执行匹配（Execution Match）有很高的皮尔逊相关系数（PCC），平均在0.95左右。</a:t>
            </a:r>
            <a:endParaRPr lang="zh-CN" altLang="en-US" sz="1600"/>
          </a:p>
          <a:p>
            <a:r>
              <a:rPr lang="zh-CN" altLang="en-US" sz="1600"/>
              <a:t>稳定性：TSED在评估SQL查询时展示出更好的性能，尤其是在不能访问数据库的情况下。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PowerPoint 演示文稿"/>
  <p:tag name="commondata" val="eyJoZGlkIjoiMTFmMWJmZjM1MTUzOGJhZGQ2YzVjZTI0ZGVkOTAw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WPS 演示</Application>
  <PresentationFormat>宽屏</PresentationFormat>
  <Paragraphs>60</Paragraphs>
  <Slides>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陈茁扬</cp:lastModifiedBy>
  <cp:revision>86</cp:revision>
  <dcterms:created xsi:type="dcterms:W3CDTF">2019-12-26T07:15:00Z</dcterms:created>
  <dcterms:modified xsi:type="dcterms:W3CDTF">2024-08-06T13:13:28Z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0FBEC3AC8379476CA8BACD27409AD766_13</vt:lpwstr>
  </property>
  <property fmtid="{D5CDD505-2E9C-101B-9397-08002B2CF9AE}" pid="3" name="KSOProductBuildVer">
    <vt:lpwstr>2052-12.1.0.16929</vt:lpwstr>
  </property>
</Properties>
</file>