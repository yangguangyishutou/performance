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3"/>
    <p:sldId id="305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70C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9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7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5DC90-454D-46DB-AFEB-0ECF9E248FB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7DDCB-88F8-4C0C-946E-463F46B0E8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20691-2B12-42BE-9ECB-BA89A0D1C4B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FDAAE-121E-400D-B024-F201987F45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image" Target="../media/image1.png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514985" y="2386330"/>
            <a:ext cx="2459355" cy="3967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数据泄露是指机密信息有意或无意地暴露给未经授权方。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  <a:defRPr/>
            </a:pP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数据信息包括：财务数据、商业机密、供应链信息、内部通信等。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  <a:defRPr/>
            </a:pP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DLPD：数据泄漏预防和检测</a:t>
            </a: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  <a:defRPr/>
            </a:pPr>
            <a:endParaRPr lang="zh-CN" altLang="en-US" sz="14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本文旨在帮助读者了解企业数据泄露的威胁、近期的数据泄露事件、各种最先进的预防和检测技术、新的挑战以及有前途的解决方案和研究机会。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579568" y="1915284"/>
            <a:ext cx="2037176" cy="37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1.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概述</a:t>
            </a:r>
            <a:endParaRPr lang="zh-CN" altLang="en-US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26" name="矩形 25"/>
          <p:cNvSpPr/>
          <p:nvPr>
            <p:custDataLst>
              <p:tags r:id="rId3"/>
            </p:custDataLst>
          </p:nvPr>
        </p:nvSpPr>
        <p:spPr>
          <a:xfrm>
            <a:off x="3044190" y="2425700"/>
            <a:ext cx="2613025" cy="38735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数据泄露可以由内部人员或外部攻击者引起（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原因）：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外部威胁：黑客入侵、恶意软件、病毒、社会工程学攻击等。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内部威胁：员工的故意泄露（如间谍活动、不满情绪等）和无意泄露（如配置错误、员工疏忽等）。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大数据环境中的数据泄露检测面临</a:t>
            </a: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的挑战：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可扩展性：处理大规模数据内容的能力。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隐私保护：确保敏感数据在检测过程中不被泄露。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准确性：实现低误报率和漏报率。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marL="171450" indent="-1714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及时性：能够实时检测和响应数据泄露。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3302263" y="1773679"/>
            <a:ext cx="2037176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2.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企业数据泄露的原因和挑战</a:t>
            </a:r>
            <a:endParaRPr lang="zh-CN" altLang="en-US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5923915" y="2467610"/>
            <a:ext cx="2483485" cy="3851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基本安全措施：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如防火墙、入侵检测系统、加密等。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例如，在数据传输过程中使用安全协议（如SSL/TLS）加密数据，防止数据在传输过程中被窃取。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内容分析技术：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数据指纹识别、词法内容分析（如规则和正则表达式）和统计分析。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例如，数据指纹识别通过提取已知敏感内容的签名与监控内容进行比较，以检测数据泄漏。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上下文分析技术：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即通过分析用户行为模式来检测异常行为，防止内部人员的恶意泄露。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例如，监控数据库系统中用户的正常访问模式，当用户行为偏离正常模式时发出警报。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9" name="矩形 28"/>
          <p:cNvSpPr/>
          <p:nvPr>
            <p:custDataLst>
              <p:tags r:id="rId6"/>
            </p:custDataLst>
          </p:nvPr>
        </p:nvSpPr>
        <p:spPr>
          <a:xfrm>
            <a:off x="6024880" y="1773555"/>
            <a:ext cx="2130425" cy="656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3.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目前</a:t>
            </a: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预防和检测数据泄露的技术</a:t>
            </a:r>
            <a:endParaRPr lang="en-US" altLang="zh-CN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0" y="171876"/>
            <a:ext cx="12192000" cy="640924"/>
            <a:chOff x="0" y="171876"/>
            <a:chExt cx="12192000" cy="640924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0" y="8128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5375" y="171876"/>
              <a:ext cx="1631652" cy="543884"/>
            </a:xfrm>
            <a:prstGeom prst="rect">
              <a:avLst/>
            </a:prstGeom>
            <a:effectLst>
              <a:reflection stA="46000" endPos="5000" dist="50800" dir="5400000" sy="-100000" algn="bl" rotWithShape="0"/>
            </a:effectLst>
          </p:spPr>
        </p:pic>
      </p:grpSp>
      <p:grpSp>
        <p:nvGrpSpPr>
          <p:cNvPr id="2" name="组合 1"/>
          <p:cNvGrpSpPr/>
          <p:nvPr/>
        </p:nvGrpSpPr>
        <p:grpSpPr>
          <a:xfrm>
            <a:off x="161405" y="378514"/>
            <a:ext cx="6206490" cy="1245870"/>
            <a:chOff x="677375" y="1028531"/>
            <a:chExt cx="6206490" cy="1245870"/>
          </a:xfrm>
        </p:grpSpPr>
        <p:sp>
          <p:nvSpPr>
            <p:cNvPr id="36" name="文本框 35"/>
            <p:cNvSpPr txBox="1"/>
            <p:nvPr/>
          </p:nvSpPr>
          <p:spPr>
            <a:xfrm>
              <a:off x="727540" y="1427946"/>
              <a:ext cx="2896870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sz="1400" b="1" dirty="0" smtClean="0">
                  <a:solidFill>
                    <a:schemeClr val="tx1"/>
                  </a:solidFill>
                  <a:sym typeface="+mn-ea"/>
                </a:rPr>
                <a:t>NDSS2017 Obfuscation-Resilient Privacy Leak Detection for Mobile Apps Through Differential Analysis</a:t>
              </a:r>
              <a:endParaRPr lang="en-US" altLang="zh-CN" sz="1400" b="1" i="1" dirty="0" smtClean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77375" y="1028531"/>
              <a:ext cx="57531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ea"/>
                </a:rPr>
                <a:t>通过差异分析进行移动应用程序的易混淆隐私泄露检测</a:t>
              </a:r>
              <a:endParaRPr lang="zh-CN" altLang="en-US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ea"/>
              </a:endParaRPr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678010" y="2198201"/>
              <a:ext cx="6205855" cy="76200"/>
            </a:xfrm>
            <a:prstGeom prst="roundRect">
              <a:avLst>
                <a:gd name="adj" fmla="val 50000"/>
              </a:avLst>
            </a:prstGeom>
            <a:solidFill>
              <a:srgbClr val="7FCF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38000"/>
                </a:lnSpc>
              </a:pPr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3485514" y="1027440"/>
            <a:ext cx="2037176" cy="3492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种子文献，被引</a:t>
            </a:r>
            <a:r>
              <a:rPr lang="en-US" altLang="zh-CN" sz="1400" dirty="0">
                <a:solidFill>
                  <a:schemeClr val="tx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138</a:t>
            </a:r>
            <a:r>
              <a:rPr lang="zh-CN" altLang="en-US" sz="1400" dirty="0">
                <a:solidFill>
                  <a:schemeClr val="tx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次</a:t>
            </a:r>
            <a:endParaRPr lang="zh-CN" altLang="en-US" sz="1400" dirty="0">
              <a:solidFill>
                <a:schemeClr val="tx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6" name="左箭头 5"/>
          <p:cNvSpPr/>
          <p:nvPr/>
        </p:nvSpPr>
        <p:spPr>
          <a:xfrm flipH="1">
            <a:off x="5701030" y="1022350"/>
            <a:ext cx="728345" cy="36068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64325" y="841375"/>
            <a:ext cx="4906645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</a:rPr>
              <a:t>企业数据泄露：原因、挑战、预防和未来方向</a:t>
            </a:r>
            <a:endParaRPr lang="zh-CN" altLang="en-US" sz="1800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</a:endParaRPr>
          </a:p>
          <a:p>
            <a:r>
              <a:rPr lang="en-US" altLang="zh-CN" sz="1400" b="1" dirty="0" smtClean="0"/>
              <a:t>2017 - Enterprise data breach  causes  challenges  prevention  and future directions</a:t>
            </a:r>
            <a:endParaRPr lang="en-US" altLang="zh-CN" sz="1400" b="1" dirty="0" smtClean="0"/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>
            <a:off x="9143365" y="1739265"/>
            <a:ext cx="2224405" cy="37401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4.未来研究方向</a:t>
            </a:r>
            <a:endParaRPr lang="en-US" altLang="zh-CN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840470" y="2106295"/>
            <a:ext cx="283083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深度学习用于内部威胁检测：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深度学习技术，如深度神经网络，已被应用于检测各种应用中的异常行为，可以提高检测准确性和实时性。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（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1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）应用于DLPD中的内容和上下文分析，不仅可以揭示隐蔽的数据泄漏，还可以提高检测的准确性和及时性。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（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2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）高层用户意图和低层机器事件之间存在语义鸿沟。而内部威胁检测的关键在于理解用户行为并识别异常活动，而这需要将低层数据转化为高层的有意义的行为模式，但这些意图通常不能直接测量。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深度学习技术可以训练序列到序列的模型，将机器事件序列映射为用户行为序列，从而弥合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语义鸿沟。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DLPD作为云服务：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DLPD作为云服务提供了在大数据时代有效检测和防止数据泄漏的新方向。尽管存在隐私保护、检测准确性和即时性等挑战，合理利用云计算平台的处理能力和可扩展性，结合隐私保护算法，可以实现高效、准确的数据泄漏检测和预防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4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156845" y="2386330"/>
            <a:ext cx="2459355" cy="3450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zh-CN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大规模语言模型（LLMs）：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能够处理和生成大规模文本的语言模型，具有高度的上下文理解和生成能力。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  <a:defRPr/>
            </a:pP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LLMs 在文本生成、总结和翻译等任务中日益流行，但也面临着重大漏洞，包括越狱攻击、数据投毒和个人可识别信息（PII）泄露。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本文考察了LLM的各种攻击方法，并探讨了潜在的防御机制和未来研究方向。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221428" y="1915284"/>
            <a:ext cx="2037176" cy="37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1.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概述</a:t>
            </a:r>
            <a:endParaRPr lang="zh-CN" altLang="en-US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26" name="矩形 25"/>
          <p:cNvSpPr/>
          <p:nvPr>
            <p:custDataLst>
              <p:tags r:id="rId3"/>
            </p:custDataLst>
          </p:nvPr>
        </p:nvSpPr>
        <p:spPr>
          <a:xfrm>
            <a:off x="2664460" y="2289175"/>
            <a:ext cx="2980055" cy="44545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梯度泄露攻击：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在隐私保护的背景下，攻击者通过获取或推断训练过程中使用的梯度信息，重建私人训练数据，可能包括敏感的个人信息。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TAG（基于Transformer的语言模型的梯度攻击）是一种攻击方法，可以有效重建私有训练数据。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成员推断攻击（Membership Inference Attack, MIA）：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MIA攻击者通过观察模型输出，判断某数据样本是否包含在训练数据中。这种攻击可能导致敏感信息泄露。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个人可识别信息（PII）泄露攻击：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PII包括可以唯一识别个人的信息，如姓名、地址、社会保障号码等。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LLMs在生成文本时可能无意中泄露训练数据中的敏感信息。例如，GPT-2模型在实验中被发现可以记住并泄露个人训练信息。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攻击者通过提供与训练数据相关的上下文，诱使模型泄露存储的PII。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3137163" y="1915284"/>
            <a:ext cx="2037176" cy="37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2.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隐私攻击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类型</a:t>
            </a:r>
            <a:endParaRPr lang="zh-CN" altLang="en-US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5785485" y="1882140"/>
            <a:ext cx="3510915" cy="4841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对梯度泄露攻击的防御：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差分隐私：通过向梯度添加噪声来保护数据隐私，常用方法包括DP-SGD（差分隐私随机梯度下降）。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同态加密：在加密状态下对数据进行计算，从而保护数据隐私。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梯度剪裁：限制梯度的最大值，以减少过大的梯度泄露信息的风险。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对成员推断攻击的防御：</a:t>
            </a:r>
            <a:endParaRPr lang="zh-CN" altLang="en-US" sz="1200" b="1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正则化技术：Dropout和标签平滑，可以减弱模型对训练数据的过拟合，从而规避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MIA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模型堆叠：堆叠多个模型并使用多数投票法减少单个模型的输出信息泄露风险。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差分隐私：通过数据扰动和输出扰动来减少攻击的成功率。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对PII泄露攻击的防御：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数据去重：在预处理阶段，通过去重技术减少PLMs中记忆的文本数量，从而降低存储的个人信息数量 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输出检测：在API访问模型（如GPT-3）中集成检测模块，检查输出文本是否包含敏感信息，如果检测到敏感内容，系统应拒绝提供答案或应用遮蔽措施。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29" name="矩形 28"/>
          <p:cNvSpPr/>
          <p:nvPr>
            <p:custDataLst>
              <p:tags r:id="rId6"/>
            </p:custDataLst>
          </p:nvPr>
        </p:nvSpPr>
        <p:spPr>
          <a:xfrm>
            <a:off x="6429375" y="1508125"/>
            <a:ext cx="2130425" cy="374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3.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防御</a:t>
            </a:r>
            <a:r>
              <a:rPr lang="zh-CN" altLang="en-US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机制</a:t>
            </a:r>
            <a:endParaRPr lang="zh-CN" altLang="en-US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0" y="171876"/>
            <a:ext cx="12192000" cy="640924"/>
            <a:chOff x="0" y="171876"/>
            <a:chExt cx="12192000" cy="640924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0" y="812800"/>
              <a:ext cx="1219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25375" y="171876"/>
              <a:ext cx="1631652" cy="543884"/>
            </a:xfrm>
            <a:prstGeom prst="rect">
              <a:avLst/>
            </a:prstGeom>
            <a:effectLst>
              <a:reflection stA="46000" endPos="5000" dist="50800" dir="5400000" sy="-100000" algn="bl" rotWithShape="0"/>
            </a:effectLst>
          </p:spPr>
        </p:pic>
      </p:grpSp>
      <p:grpSp>
        <p:nvGrpSpPr>
          <p:cNvPr id="2" name="组合 1"/>
          <p:cNvGrpSpPr/>
          <p:nvPr/>
        </p:nvGrpSpPr>
        <p:grpSpPr>
          <a:xfrm>
            <a:off x="161405" y="378514"/>
            <a:ext cx="6206490" cy="1245870"/>
            <a:chOff x="677375" y="1028531"/>
            <a:chExt cx="6206490" cy="1245870"/>
          </a:xfrm>
        </p:grpSpPr>
        <p:sp>
          <p:nvSpPr>
            <p:cNvPr id="36" name="文本框 35"/>
            <p:cNvSpPr txBox="1"/>
            <p:nvPr/>
          </p:nvSpPr>
          <p:spPr>
            <a:xfrm>
              <a:off x="727540" y="1427946"/>
              <a:ext cx="2896870" cy="7372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dist"/>
              <a:r>
                <a:rPr lang="en-US" altLang="zh-CN" sz="1400" b="1" dirty="0" smtClean="0">
                  <a:solidFill>
                    <a:schemeClr val="tx1"/>
                  </a:solidFill>
                  <a:sym typeface="+mn-ea"/>
                </a:rPr>
                <a:t>NDSS2017 Obfuscation-Resilient Privacy Leak Detection for Mobile Apps Through Differential Analysis</a:t>
              </a:r>
              <a:endParaRPr lang="en-US" altLang="zh-CN" sz="1400" b="1" i="1" dirty="0" smtClean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ea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77375" y="1028531"/>
              <a:ext cx="57531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lnSpc>
                  <a:spcPct val="100000"/>
                </a:lnSpc>
              </a:pPr>
              <a:r>
                <a:rPr lang="zh-CN" altLang="en-US" dirty="0">
                  <a:solidFill>
                    <a:schemeClr val="tx1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  <a:cs typeface="+mn-ea"/>
                  <a:sym typeface="+mn-ea"/>
                </a:rPr>
                <a:t>通过差异分析进行移动应用程序的易混淆隐私泄露检测</a:t>
              </a:r>
              <a:endParaRPr lang="zh-CN" altLang="en-US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ea"/>
              </a:endParaRPr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678010" y="2198201"/>
              <a:ext cx="6205855" cy="76200"/>
            </a:xfrm>
            <a:prstGeom prst="roundRect">
              <a:avLst>
                <a:gd name="adj" fmla="val 50000"/>
              </a:avLst>
            </a:prstGeom>
            <a:solidFill>
              <a:srgbClr val="7FCF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38000"/>
                </a:lnSpc>
              </a:pPr>
              <a:endParaRPr lang="zh-CN" altLang="en-US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3485514" y="1027440"/>
            <a:ext cx="2037176" cy="3492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20000"/>
              </a:lnSpc>
              <a:defRPr/>
            </a:pPr>
            <a:r>
              <a:rPr lang="zh-CN" altLang="en-US" sz="1400" dirty="0">
                <a:solidFill>
                  <a:schemeClr val="tx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种子文献，被引</a:t>
            </a:r>
            <a:r>
              <a:rPr lang="en-US" altLang="zh-CN" sz="1400" dirty="0">
                <a:solidFill>
                  <a:schemeClr val="tx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138</a:t>
            </a:r>
            <a:r>
              <a:rPr lang="zh-CN" altLang="en-US" sz="1400" dirty="0">
                <a:solidFill>
                  <a:schemeClr val="tx1"/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  <a:sym typeface="字魂59号-创粗黑" panose="00000500000000000000" pitchFamily="2" charset="-122"/>
              </a:rPr>
              <a:t>次</a:t>
            </a:r>
            <a:endParaRPr lang="zh-CN" altLang="en-US" sz="1400" dirty="0">
              <a:solidFill>
                <a:schemeClr val="tx1"/>
              </a:solidFill>
              <a:latin typeface="字魂59号-创粗黑" panose="00000500000000000000" pitchFamily="2" charset="-122"/>
              <a:ea typeface="字魂59号-创粗黑" panose="00000500000000000000" pitchFamily="2" charset="-122"/>
              <a:sym typeface="字魂59号-创粗黑" panose="00000500000000000000" pitchFamily="2" charset="-122"/>
            </a:endParaRPr>
          </a:p>
        </p:txBody>
      </p:sp>
      <p:sp>
        <p:nvSpPr>
          <p:cNvPr id="6" name="左箭头 5"/>
          <p:cNvSpPr/>
          <p:nvPr/>
        </p:nvSpPr>
        <p:spPr>
          <a:xfrm flipH="1">
            <a:off x="5701030" y="1022350"/>
            <a:ext cx="728345" cy="360680"/>
          </a:xfrm>
          <a:prstGeom prst="lef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64325" y="841375"/>
            <a:ext cx="51015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+mn-ea"/>
              </a:rPr>
              <a:t>关于大语言模型的安全和隐私挑战</a:t>
            </a:r>
            <a:endParaRPr lang="zh-CN" altLang="en-US" dirty="0">
              <a:latin typeface="思源黑体 CN Normal" panose="020B0400000000000000" pitchFamily="34" charset="-122"/>
              <a:ea typeface="思源黑体 CN Normal" panose="020B0400000000000000" pitchFamily="34" charset="-122"/>
              <a:cs typeface="+mn-ea"/>
            </a:endParaRPr>
          </a:p>
          <a:p>
            <a:r>
              <a:rPr lang="en-US" altLang="zh-CN" sz="1400" b="1" dirty="0" smtClean="0">
                <a:sym typeface="+mn-ea"/>
              </a:rPr>
              <a:t>2024 - Security and Privacy Challenges of Large Language Models</a:t>
            </a:r>
            <a:endParaRPr lang="en-US" altLang="zh-CN" sz="1400" b="1" dirty="0" smtClean="0"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>
            <a:off x="9539605" y="1915160"/>
            <a:ext cx="2224405" cy="37401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spcBef>
                <a:spcPts val="790"/>
              </a:spcBef>
            </a:pPr>
            <a:r>
              <a:rPr lang="en-US" altLang="zh-CN" sz="1840" b="1" dirty="0">
                <a:latin typeface="字魂59号-创粗黑" panose="00000500000000000000" pitchFamily="2" charset="-122"/>
                <a:ea typeface="字魂59号-创粗黑" panose="00000500000000000000" pitchFamily="2" charset="-122"/>
                <a:cs typeface="Hiragino Sans GB W3" charset="-122"/>
                <a:sym typeface="字魂59号-创粗黑" panose="00000500000000000000" pitchFamily="2" charset="-122"/>
              </a:rPr>
              <a:t>4.未来研究方向</a:t>
            </a:r>
            <a:endParaRPr lang="en-US" altLang="zh-CN" sz="1840" b="1" dirty="0">
              <a:latin typeface="字魂59号-创粗黑" panose="00000500000000000000" pitchFamily="2" charset="-122"/>
              <a:ea typeface="字魂59号-创粗黑" panose="00000500000000000000" pitchFamily="2" charset="-122"/>
              <a:cs typeface="Hiragino Sans GB W3" charset="-122"/>
              <a:sym typeface="字魂59号-创粗黑" panose="00000500000000000000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340215" y="2289175"/>
            <a:ext cx="273685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文章还提出了未来研究的多个方向，可以基于当前的防御机制和攻击方法，进一步创新和改进隐私保护技术。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安全多方计算：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研究如何利用安全多方计算来保护LLMs免受隐私攻击。这种方法可以在多个参与方之间安全地共享和计算数据，而不泄露各自的数据​​。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多模式攻击和防御机制：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研究如何在同时处理文本和图像数据的情况下保护隐私。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  <a:p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实时隐私监控：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字魂59号-创粗黑" panose="00000500000000000000" pitchFamily="2" charset="-122"/>
                <a:ea typeface="字魂59号-创粗黑" panose="00000500000000000000" pitchFamily="2" charset="-122"/>
              </a:rPr>
              <a:t>开发能够实时检测并防止隐私泄露的监控系统，特别是在API访问模型中集成检测模块，检查输出文本是否包含敏感信息​​。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字魂59号-创粗黑" panose="00000500000000000000" pitchFamily="2" charset="-122"/>
              <a:ea typeface="字魂59号-创粗黑" panose="00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4" grpId="0"/>
      <p:bldP spid="8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2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3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4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5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6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7.xml><?xml version="1.0" encoding="utf-8"?>
<p:tagLst xmlns:p="http://schemas.openxmlformats.org/presentationml/2006/main">
  <p:tag name="KSO_WM_DIAGRAM_VIRTUALLY_FRAME" val="{&quot;height&quot;:279.0837007874016,&quot;left&quot;:8.763464566929134,&quot;top&quot;:190.9823622047244,&quot;width&quot;:914.299527559055}"/>
</p:tagLst>
</file>

<file path=ppt/tags/tag8.xml><?xml version="1.0" encoding="utf-8"?>
<p:tagLst xmlns:p="http://schemas.openxmlformats.org/presentationml/2006/main">
  <p:tag name="KSO_WM_DIAGRAM_VIRTUALLY_FRAME" val="{&quot;height&quot;:517.8024409448819,&quot;left&quot;:8.75,&quot;top&quot;:143.64834645669288,&quot;width&quot;:914.3129921259842}"/>
</p:tagLst>
</file>

<file path=ppt/tags/tag9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10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11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12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13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14.xml><?xml version="1.0" encoding="utf-8"?>
<p:tagLst xmlns:p="http://schemas.openxmlformats.org/presentationml/2006/main">
  <p:tag name="KSO_WM_DIAGRAM_VIRTUALLY_FRAME" val="{&quot;height&quot;:517.8024409448819,&quot;left&quot;:37.75,&quot;top&quot;:139.64834645669288,&quot;width&quot;:914.3129921259842}"/>
</p:tagLst>
</file>

<file path=ppt/tags/tag15.xml><?xml version="1.0" encoding="utf-8"?>
<p:tagLst xmlns:p="http://schemas.openxmlformats.org/presentationml/2006/main">
  <p:tag name="KSO_WM_DIAGRAM_VIRTUALLY_FRAME" val="{&quot;height&quot;:279.0837007874016,&quot;left&quot;:8.763464566929134,&quot;top&quot;:190.9823622047244,&quot;width&quot;:914.299527559055}"/>
</p:tagLst>
</file>

<file path=ppt/tags/tag16.xml><?xml version="1.0" encoding="utf-8"?>
<p:tagLst xmlns:p="http://schemas.openxmlformats.org/presentationml/2006/main">
  <p:tag name="KSO_WM_DIAGRAM_VIRTUALLY_FRAME" val="{&quot;height&quot;:517.8024409448819,&quot;left&quot;:8.75,&quot;top&quot;:143.64834645669288,&quot;width&quot;:914.3129921259842}"/>
</p:tagLst>
</file>

<file path=ppt/tags/tag17.xml><?xml version="1.0" encoding="utf-8"?>
<p:tagLst xmlns:p="http://schemas.openxmlformats.org/presentationml/2006/main">
  <p:tag name="ISPRING_PRESENTATION_TITLE" val="PowerPoint 演示文稿"/>
  <p:tag name="commondata" val="eyJoZGlkIjoiMTFmMWJmZjM1MTUzOGJhZGQ2YzVjZTI0ZGVkOTAwZT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2484</Words>
  <Application>WPS 演示</Application>
  <PresentationFormat>宽屏</PresentationFormat>
  <Paragraphs>101</Paragraphs>
  <Slides>2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字魂59号-创粗黑</vt:lpstr>
      <vt:lpstr>黑体</vt:lpstr>
      <vt:lpstr>Hiragino Sans GB W3</vt:lpstr>
      <vt:lpstr>思源黑体 CN Normal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Hysteria</cp:lastModifiedBy>
  <cp:revision>62</cp:revision>
  <dcterms:created xsi:type="dcterms:W3CDTF">2019-12-26T07:15:00Z</dcterms:created>
  <dcterms:modified xsi:type="dcterms:W3CDTF">2024-05-29T12:16:31Z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81B6AC63698B43F68321E6B382ACEE4C_13</vt:lpwstr>
  </property>
  <property fmtid="{D5CDD505-2E9C-101B-9397-08002B2CF9AE}" pid="3" name="KSOProductBuildVer">
    <vt:lpwstr>2052-12.1.0.16929</vt:lpwstr>
  </property>
</Properties>
</file>