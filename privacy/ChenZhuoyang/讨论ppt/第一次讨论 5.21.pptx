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68" r:id="rId5"/>
    <p:sldId id="274" r:id="rId6"/>
    <p:sldId id="263" r:id="rId7"/>
    <p:sldId id="275" r:id="rId8"/>
    <p:sldId id="276" r:id="rId9"/>
    <p:sldId id="262" r:id="rId10"/>
  </p:sldIdLst>
  <p:sldSz cx="12192000" cy="6858000"/>
  <p:notesSz cx="6858000" cy="9144000"/>
  <p:custDataLst>
    <p:tags r:id="rId1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366" autoAdjust="0"/>
  </p:normalViewPr>
  <p:slideViewPr>
    <p:cSldViewPr snapToGrid="0" showGuides="1">
      <p:cViewPr varScale="1">
        <p:scale>
          <a:sx n="71" d="100"/>
          <a:sy n="71" d="100"/>
        </p:scale>
        <p:origin x="54" y="210"/>
      </p:cViewPr>
      <p:guideLst>
        <p:guide orient="horz" pos="2160"/>
        <p:guide pos="381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gs" Target="tags/tag38.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3647E8-264A-468E-8043-ED4B7F5A5BC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5EA6FB-70FC-4F48-89E9-A4505EE1798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E5EA6FB-70FC-4F48-89E9-A4505EE1798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E5EA6FB-70FC-4F48-89E9-A4505EE17985}"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E5EA6FB-70FC-4F48-89E9-A4505EE17985}"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E5EA6FB-70FC-4F48-89E9-A4505EE17985}"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E5EA6FB-70FC-4F48-89E9-A4505EE17985}"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E5EA6FB-70FC-4F48-89E9-A4505EE17985}"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E5EA6FB-70FC-4F48-89E9-A4505EE1798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500" advTm="3000">
        <p14:reveal/>
      </p:transition>
    </mc:Choice>
    <mc:Fallback>
      <p:transition spd="slow"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500" advTm="3000">
        <p14:reveal/>
      </p:transition>
    </mc:Choice>
    <mc:Fallback>
      <p:transition spd="slow" advTm="3000">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mc:Choice xmlns:p14="http://schemas.microsoft.com/office/powerpoint/2010/main" Requires="p14">
      <p:transition spd="slow" p14:dur="2500" advTm="3000">
        <p14:reveal/>
      </p:transition>
    </mc:Choice>
    <mc:Fallback>
      <p:transition spd="slow" advTm="3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hemeOverride" Target="../theme/themeOverride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5" Type="http://schemas.openxmlformats.org/officeDocument/2006/relationships/notesSlide" Target="../notesSlides/notesSlide3.xml"/><Relationship Id="rId14" Type="http://schemas.openxmlformats.org/officeDocument/2006/relationships/slideLayout" Target="../slideLayouts/slideLayout1.xml"/><Relationship Id="rId13" Type="http://schemas.openxmlformats.org/officeDocument/2006/relationships/image" Target="../media/image1.png"/><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5" Type="http://schemas.openxmlformats.org/officeDocument/2006/relationships/notesSlide" Target="../notesSlides/notesSlide4.xml"/><Relationship Id="rId14" Type="http://schemas.openxmlformats.org/officeDocument/2006/relationships/slideLayout" Target="../slideLayouts/slideLayout1.xml"/><Relationship Id="rId13" Type="http://schemas.openxmlformats.org/officeDocument/2006/relationships/image" Target="../media/image1.png"/><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tags" Target="../tags/tag22.xml"/><Relationship Id="rId1" Type="http://schemas.openxmlformats.org/officeDocument/2006/relationships/tags" Target="../tags/tag13.xml"/></Relationships>
</file>

<file path=ppt/slides/_rels/slide5.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6" Type="http://schemas.openxmlformats.org/officeDocument/2006/relationships/notesSlide" Target="../notesSlides/notesSlide5.xml"/><Relationship Id="rId15" Type="http://schemas.openxmlformats.org/officeDocument/2006/relationships/slideLayout" Target="../slideLayouts/slideLayout1.xml"/><Relationship Id="rId14" Type="http://schemas.openxmlformats.org/officeDocument/2006/relationships/image" Target="../media/image1.png"/><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tags" Target="../tags/tag2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平行四边形 4"/>
          <p:cNvSpPr/>
          <p:nvPr/>
        </p:nvSpPr>
        <p:spPr>
          <a:xfrm>
            <a:off x="462579" y="0"/>
            <a:ext cx="11729421" cy="6858000"/>
          </a:xfrm>
          <a:prstGeom prst="parallelogram">
            <a:avLst>
              <a:gd name="adj" fmla="val 4537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p:nvSpPr>
        <p:spPr>
          <a:xfrm>
            <a:off x="-2509221" y="0"/>
            <a:ext cx="11729421" cy="6858000"/>
          </a:xfrm>
          <a:prstGeom prst="parallelogram">
            <a:avLst>
              <a:gd name="adj" fmla="val 453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14"/>
          <p:cNvSpPr/>
          <p:nvPr/>
        </p:nvSpPr>
        <p:spPr>
          <a:xfrm>
            <a:off x="0" y="0"/>
            <a:ext cx="6327289" cy="6858000"/>
          </a:xfrm>
          <a:custGeom>
            <a:avLst/>
            <a:gdLst>
              <a:gd name="connsiteX0" fmla="*/ 0 w 6327289"/>
              <a:gd name="connsiteY0" fmla="*/ 0 h 6858000"/>
              <a:gd name="connsiteX1" fmla="*/ 6327289 w 6327289"/>
              <a:gd name="connsiteY1" fmla="*/ 0 h 6858000"/>
              <a:gd name="connsiteX2" fmla="*/ 3215814 w 6327289"/>
              <a:gd name="connsiteY2" fmla="*/ 6858000 h 6858000"/>
              <a:gd name="connsiteX3" fmla="*/ 0 w 632728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327289" h="6858000">
                <a:moveTo>
                  <a:pt x="0" y="0"/>
                </a:moveTo>
                <a:lnTo>
                  <a:pt x="6327289" y="0"/>
                </a:lnTo>
                <a:lnTo>
                  <a:pt x="3215814" y="6858000"/>
                </a:lnTo>
                <a:lnTo>
                  <a:pt x="0"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8" name="组合 17"/>
          <p:cNvGrpSpPr/>
          <p:nvPr/>
        </p:nvGrpSpPr>
        <p:grpSpPr>
          <a:xfrm>
            <a:off x="857526" y="2306350"/>
            <a:ext cx="7545672" cy="2244776"/>
            <a:chOff x="1172419" y="2130844"/>
            <a:chExt cx="7545672" cy="2244776"/>
          </a:xfrm>
        </p:grpSpPr>
        <p:grpSp>
          <p:nvGrpSpPr>
            <p:cNvPr id="10" name="组合 9"/>
            <p:cNvGrpSpPr/>
            <p:nvPr/>
          </p:nvGrpSpPr>
          <p:grpSpPr>
            <a:xfrm>
              <a:off x="1585136" y="2130844"/>
              <a:ext cx="7132955" cy="2183130"/>
              <a:chOff x="4381500" y="2471992"/>
              <a:chExt cx="7132955" cy="2183130"/>
            </a:xfrm>
          </p:grpSpPr>
          <p:sp>
            <p:nvSpPr>
              <p:cNvPr id="11" name="文本框 10"/>
              <p:cNvSpPr txBox="1"/>
              <p:nvPr/>
            </p:nvSpPr>
            <p:spPr>
              <a:xfrm>
                <a:off x="4381500" y="2471992"/>
                <a:ext cx="7132955" cy="1445260"/>
              </a:xfrm>
              <a:prstGeom prst="rect">
                <a:avLst/>
              </a:prstGeom>
              <a:noFill/>
            </p:spPr>
            <p:txBody>
              <a:bodyPr wrap="square" rtlCol="0">
                <a:spAutoFit/>
              </a:bodyPr>
              <a:lstStyle/>
              <a:p>
                <a:r>
                  <a:rPr sz="4400" b="1" dirty="0">
                    <a:solidFill>
                      <a:schemeClr val="bg1"/>
                    </a:solidFill>
                    <a:latin typeface="+mj-ea"/>
                    <a:ea typeface="+mj-ea"/>
                  </a:rPr>
                  <a:t>通过</a:t>
                </a:r>
                <a:r>
                  <a:rPr lang="zh-CN" sz="4400" b="1" dirty="0">
                    <a:solidFill>
                      <a:schemeClr val="bg1"/>
                    </a:solidFill>
                    <a:latin typeface="+mj-ea"/>
                    <a:ea typeface="+mj-ea"/>
                  </a:rPr>
                  <a:t>差异</a:t>
                </a:r>
                <a:r>
                  <a:rPr sz="4400" b="1" dirty="0">
                    <a:solidFill>
                      <a:schemeClr val="bg1"/>
                    </a:solidFill>
                    <a:latin typeface="+mj-ea"/>
                    <a:ea typeface="+mj-ea"/>
                  </a:rPr>
                  <a:t>分析进行移动应用程序的</a:t>
                </a:r>
                <a:r>
                  <a:rPr lang="zh-CN" sz="4400" b="1" dirty="0">
                    <a:solidFill>
                      <a:schemeClr val="bg1"/>
                    </a:solidFill>
                    <a:latin typeface="+mj-ea"/>
                    <a:ea typeface="+mj-ea"/>
                  </a:rPr>
                  <a:t>易</a:t>
                </a:r>
                <a:r>
                  <a:rPr sz="4400" b="1" dirty="0">
                    <a:solidFill>
                      <a:schemeClr val="bg1"/>
                    </a:solidFill>
                    <a:latin typeface="+mj-ea"/>
                    <a:ea typeface="+mj-ea"/>
                  </a:rPr>
                  <a:t>混淆隐私泄露检测</a:t>
                </a:r>
                <a:endParaRPr sz="4400" b="1" dirty="0">
                  <a:solidFill>
                    <a:schemeClr val="bg1"/>
                  </a:solidFill>
                  <a:latin typeface="+mj-ea"/>
                  <a:ea typeface="+mj-ea"/>
                </a:endParaRPr>
              </a:p>
            </p:txBody>
          </p:sp>
          <p:sp>
            <p:nvSpPr>
              <p:cNvPr id="12" name="文本框 11"/>
              <p:cNvSpPr txBox="1"/>
              <p:nvPr/>
            </p:nvSpPr>
            <p:spPr>
              <a:xfrm>
                <a:off x="4381500" y="4009962"/>
                <a:ext cx="6673215" cy="645160"/>
              </a:xfrm>
              <a:prstGeom prst="rect">
                <a:avLst/>
              </a:prstGeom>
              <a:noFill/>
            </p:spPr>
            <p:txBody>
              <a:bodyPr wrap="square" rtlCol="0">
                <a:spAutoFit/>
              </a:bodyPr>
              <a:lstStyle/>
              <a:p>
                <a:pPr algn="dist"/>
                <a:r>
                  <a:rPr lang="en-US" altLang="zh-CN" b="1" dirty="0" smtClean="0">
                    <a:solidFill>
                      <a:schemeClr val="bg1"/>
                    </a:solidFill>
                  </a:rPr>
                  <a:t>NDSS2017 Obfuscation-Resilient Privacy Leak Detection for Mobile Apps Through Differential Analysis</a:t>
                </a:r>
                <a:endParaRPr lang="en-US" altLang="zh-CN" b="1" dirty="0" smtClean="0">
                  <a:solidFill>
                    <a:schemeClr val="bg1"/>
                  </a:solidFill>
                </a:endParaRPr>
              </a:p>
            </p:txBody>
          </p:sp>
        </p:grpSp>
        <p:sp>
          <p:nvSpPr>
            <p:cNvPr id="17" name="矩形: 圆角 16"/>
            <p:cNvSpPr/>
            <p:nvPr/>
          </p:nvSpPr>
          <p:spPr>
            <a:xfrm>
              <a:off x="1172419" y="2130860"/>
              <a:ext cx="101600" cy="224476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p:cNvGrpSpPr/>
          <p:nvPr/>
        </p:nvGrpSpPr>
        <p:grpSpPr>
          <a:xfrm>
            <a:off x="8499566" y="355786"/>
            <a:ext cx="3229855" cy="575168"/>
            <a:chOff x="8499566" y="355786"/>
            <a:chExt cx="3229855" cy="575168"/>
          </a:xfrm>
        </p:grpSpPr>
        <p:sp>
          <p:nvSpPr>
            <p:cNvPr id="19" name="文本框 18"/>
            <p:cNvSpPr txBox="1"/>
            <p:nvPr/>
          </p:nvSpPr>
          <p:spPr>
            <a:xfrm>
              <a:off x="8499566" y="355786"/>
              <a:ext cx="3229855" cy="369332"/>
            </a:xfrm>
            <a:prstGeom prst="rect">
              <a:avLst/>
            </a:prstGeom>
            <a:noFill/>
          </p:spPr>
          <p:txBody>
            <a:bodyPr wrap="square" rtlCol="0">
              <a:spAutoFit/>
            </a:bodyPr>
            <a:lstStyle/>
            <a:p>
              <a:pPr algn="dist"/>
              <a:r>
                <a:rPr lang="en-US" altLang="zh-CN" b="1" dirty="0" smtClean="0">
                  <a:solidFill>
                    <a:schemeClr val="bg1"/>
                  </a:solidFill>
                </a:rPr>
                <a:t>TONGJI UNIVERSITY</a:t>
              </a:r>
              <a:endParaRPr lang="zh-CN" altLang="en-US" b="1" dirty="0">
                <a:solidFill>
                  <a:schemeClr val="bg1"/>
                </a:solidFill>
                <a:latin typeface="+mj-ea"/>
                <a:ea typeface="+mj-ea"/>
              </a:endParaRPr>
            </a:p>
          </p:txBody>
        </p:sp>
        <p:sp>
          <p:nvSpPr>
            <p:cNvPr id="21" name="矩形: 圆角 20"/>
            <p:cNvSpPr/>
            <p:nvPr/>
          </p:nvSpPr>
          <p:spPr>
            <a:xfrm rot="5400000">
              <a:off x="11167105" y="466154"/>
              <a:ext cx="101600" cy="828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0352405" y="6132830"/>
            <a:ext cx="1377315" cy="398780"/>
          </a:xfrm>
          <a:prstGeom prst="rect">
            <a:avLst/>
          </a:prstGeom>
          <a:noFill/>
        </p:spPr>
        <p:txBody>
          <a:bodyPr wrap="square" rtlCol="0">
            <a:spAutoFit/>
          </a:bodyPr>
          <a:lstStyle/>
          <a:p>
            <a:r>
              <a:rPr lang="en-US" altLang="zh-CN" sz="2000" b="1" dirty="0" smtClean="0">
                <a:solidFill>
                  <a:schemeClr val="bg1"/>
                </a:solidFill>
                <a:latin typeface="+mj-ea"/>
                <a:ea typeface="+mj-ea"/>
              </a:rPr>
              <a:t>2024.5.22</a:t>
            </a:r>
            <a:endParaRPr lang="en-US" altLang="zh-CN" sz="2000" b="1" dirty="0" smtClean="0">
              <a:solidFill>
                <a:schemeClr val="bg1"/>
              </a:solidFill>
              <a:latin typeface="+mj-ea"/>
              <a:ea typeface="+mj-ea"/>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62280" y="272415"/>
            <a:ext cx="1974215" cy="6584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500" advTm="3000">
        <p14:reveal/>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grpId="0" nodeType="withEffect">
                                  <p:stCondLst>
                                    <p:cond delay="50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750"/>
                                  </p:stCondLst>
                                  <p:childTnLst>
                                    <p:set>
                                      <p:cBhvr>
                                        <p:cTn id="15" dur="1" fill="hold">
                                          <p:stCondLst>
                                            <p:cond delay="0"/>
                                          </p:stCondLst>
                                        </p:cTn>
                                        <p:tgtEl>
                                          <p:spTgt spid="15"/>
                                        </p:tgtEl>
                                        <p:attrNameLst>
                                          <p:attrName>style.visibility</p:attrName>
                                        </p:attrNameLst>
                                      </p:cBhvr>
                                      <p:to>
                                        <p:strVal val="visible"/>
                                      </p:to>
                                    </p:set>
                                    <p:animEffect transition="in" filter="wipe(left)">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additive="base">
                                        <p:cTn id="21" dur="500"/>
                                        <p:tgtEl>
                                          <p:spTgt spid="18"/>
                                        </p:tgtEl>
                                        <p:attrNameLst>
                                          <p:attrName>ppt_y</p:attrName>
                                        </p:attrNameLst>
                                      </p:cBhvr>
                                      <p:tavLst>
                                        <p:tav tm="0">
                                          <p:val>
                                            <p:strVal val="#ppt_y+#ppt_h*1.125000"/>
                                          </p:val>
                                        </p:tav>
                                        <p:tav tm="100000">
                                          <p:val>
                                            <p:strVal val="#ppt_y"/>
                                          </p:val>
                                        </p:tav>
                                      </p:tavLst>
                                    </p:anim>
                                    <p:animEffect transition="in" filter="wipe(up)">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1000"/>
                                        <p:tgtEl>
                                          <p:spTgt spid="28"/>
                                        </p:tgtEl>
                                      </p:cBhvr>
                                    </p:animEffect>
                                    <p:anim calcmode="lin" valueType="num">
                                      <p:cBhvr>
                                        <p:cTn id="28" dur="1000" fill="hold"/>
                                        <p:tgtEl>
                                          <p:spTgt spid="28"/>
                                        </p:tgtEl>
                                        <p:attrNameLst>
                                          <p:attrName>ppt_x</p:attrName>
                                        </p:attrNameLst>
                                      </p:cBhvr>
                                      <p:tavLst>
                                        <p:tav tm="0">
                                          <p:val>
                                            <p:strVal val="#ppt_x"/>
                                          </p:val>
                                        </p:tav>
                                        <p:tav tm="100000">
                                          <p:val>
                                            <p:strVal val="#ppt_x"/>
                                          </p:val>
                                        </p:tav>
                                      </p:tavLst>
                                    </p:anim>
                                    <p:anim calcmode="lin" valueType="num">
                                      <p:cBhvr>
                                        <p:cTn id="2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1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2509221" y="0"/>
            <a:ext cx="14701221" cy="6858000"/>
            <a:chOff x="-2509221" y="0"/>
            <a:chExt cx="14701221" cy="6858000"/>
          </a:xfrm>
        </p:grpSpPr>
        <p:grpSp>
          <p:nvGrpSpPr>
            <p:cNvPr id="10" name="组合 9"/>
            <p:cNvGrpSpPr/>
            <p:nvPr/>
          </p:nvGrpSpPr>
          <p:grpSpPr>
            <a:xfrm>
              <a:off x="-2509221" y="0"/>
              <a:ext cx="14701221" cy="6858000"/>
              <a:chOff x="-2509221" y="0"/>
              <a:chExt cx="14701221" cy="6858000"/>
            </a:xfrm>
          </p:grpSpPr>
          <p:sp>
            <p:nvSpPr>
              <p:cNvPr id="3" name="矩形 2"/>
              <p:cNvSpPr/>
              <p:nvPr/>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平行四边形 4"/>
              <p:cNvSpPr/>
              <p:nvPr/>
            </p:nvSpPr>
            <p:spPr>
              <a:xfrm>
                <a:off x="462579" y="0"/>
                <a:ext cx="11729421" cy="6858000"/>
              </a:xfrm>
              <a:prstGeom prst="parallelogram">
                <a:avLst>
                  <a:gd name="adj" fmla="val 4537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p:nvSpPr>
            <p:spPr>
              <a:xfrm>
                <a:off x="-2509221" y="0"/>
                <a:ext cx="11729421" cy="6858000"/>
              </a:xfrm>
              <a:prstGeom prst="parallelogram">
                <a:avLst>
                  <a:gd name="adj" fmla="val 453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nvSpPr>
            <p:spPr>
              <a:xfrm>
                <a:off x="0" y="0"/>
                <a:ext cx="6327289" cy="6858000"/>
              </a:xfrm>
              <a:custGeom>
                <a:avLst/>
                <a:gdLst>
                  <a:gd name="connsiteX0" fmla="*/ 0 w 6327289"/>
                  <a:gd name="connsiteY0" fmla="*/ 0 h 6858000"/>
                  <a:gd name="connsiteX1" fmla="*/ 6327289 w 6327289"/>
                  <a:gd name="connsiteY1" fmla="*/ 0 h 6858000"/>
                  <a:gd name="connsiteX2" fmla="*/ 3215814 w 6327289"/>
                  <a:gd name="connsiteY2" fmla="*/ 6858000 h 6858000"/>
                  <a:gd name="connsiteX3" fmla="*/ 0 w 632728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327289" h="6858000">
                    <a:moveTo>
                      <a:pt x="0" y="0"/>
                    </a:moveTo>
                    <a:lnTo>
                      <a:pt x="6327289" y="0"/>
                    </a:lnTo>
                    <a:lnTo>
                      <a:pt x="3215814" y="6858000"/>
                    </a:lnTo>
                    <a:lnTo>
                      <a:pt x="0"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11" name="矩形 10"/>
            <p:cNvSpPr/>
            <p:nvPr/>
          </p:nvSpPr>
          <p:spPr>
            <a:xfrm>
              <a:off x="0" y="939800"/>
              <a:ext cx="12192000" cy="5918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4742894" y="177513"/>
              <a:ext cx="2706211" cy="5835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pPr algn="ctr"/>
              <a:r>
                <a:rPr lang="en-US" altLang="zh-CN" sz="3200" dirty="0">
                  <a:solidFill>
                    <a:schemeClr val="bg1"/>
                  </a:solidFill>
                </a:rPr>
                <a:t>01. </a:t>
              </a:r>
              <a:r>
                <a:rPr lang="zh-CN" altLang="en-US" sz="3200" dirty="0">
                  <a:solidFill>
                    <a:schemeClr val="bg1"/>
                  </a:solidFill>
                </a:rPr>
                <a:t>研究</a:t>
              </a:r>
              <a:r>
                <a:rPr lang="zh-CN" altLang="en-US" sz="3200" dirty="0">
                  <a:solidFill>
                    <a:schemeClr val="bg1"/>
                  </a:solidFill>
                </a:rPr>
                <a:t>背景</a:t>
              </a:r>
              <a:endParaRPr lang="zh-CN" altLang="en-US" sz="3200" dirty="0">
                <a:solidFill>
                  <a:schemeClr val="bg1"/>
                </a:solidFill>
              </a:endParaRPr>
            </a:p>
          </p:txBody>
        </p:sp>
      </p:grpSp>
      <p:grpSp>
        <p:nvGrpSpPr>
          <p:cNvPr id="116" name="Group 45"/>
          <p:cNvGrpSpPr/>
          <p:nvPr/>
        </p:nvGrpSpPr>
        <p:grpSpPr>
          <a:xfrm>
            <a:off x="661036" y="1710055"/>
            <a:ext cx="10880065" cy="5773359"/>
            <a:chOff x="746699" y="1758061"/>
            <a:chExt cx="10879980" cy="5847059"/>
          </a:xfrm>
        </p:grpSpPr>
        <p:grpSp>
          <p:nvGrpSpPr>
            <p:cNvPr id="117" name="组合 116"/>
            <p:cNvGrpSpPr/>
            <p:nvPr/>
          </p:nvGrpSpPr>
          <p:grpSpPr>
            <a:xfrm>
              <a:off x="746699" y="1758061"/>
              <a:ext cx="7106678" cy="4957645"/>
              <a:chOff x="746699" y="1750405"/>
              <a:chExt cx="7106678" cy="4957645"/>
            </a:xfrm>
          </p:grpSpPr>
          <p:grpSp>
            <p:nvGrpSpPr>
              <p:cNvPr id="124" name="24931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746727" y="2510962"/>
                <a:ext cx="7106650" cy="2897340"/>
                <a:chOff x="664874" y="2510962"/>
                <a:chExt cx="7106650" cy="2897340"/>
              </a:xfrm>
            </p:grpSpPr>
            <p:grpSp>
              <p:nvGrpSpPr>
                <p:cNvPr id="131" name="iṥḷiďé"/>
                <p:cNvGrpSpPr/>
                <p:nvPr/>
              </p:nvGrpSpPr>
              <p:grpSpPr>
                <a:xfrm>
                  <a:off x="4159110" y="2510962"/>
                  <a:ext cx="3612414" cy="2897340"/>
                  <a:chOff x="3704211" y="2510962"/>
                  <a:chExt cx="3612414" cy="2897340"/>
                </a:xfrm>
              </p:grpSpPr>
              <p:sp>
                <p:nvSpPr>
                  <p:cNvPr id="133" name="îş1íḑè"/>
                  <p:cNvSpPr/>
                  <p:nvPr/>
                </p:nvSpPr>
                <p:spPr>
                  <a:xfrm flipH="1">
                    <a:off x="3704211" y="2510962"/>
                    <a:ext cx="2247773" cy="1735792"/>
                  </a:xfrm>
                  <a:custGeom>
                    <a:avLst/>
                    <a:gdLst>
                      <a:gd name="connsiteX0" fmla="*/ 1500961 w 2402522"/>
                      <a:gd name="connsiteY0" fmla="*/ 379 h 1855293"/>
                      <a:gd name="connsiteX1" fmla="*/ 2258040 w 2402522"/>
                      <a:gd name="connsiteY1" fmla="*/ 430391 h 1855293"/>
                      <a:gd name="connsiteX2" fmla="*/ 2324916 w 2402522"/>
                      <a:gd name="connsiteY2" fmla="*/ 1298497 h 1855293"/>
                      <a:gd name="connsiteX3" fmla="*/ 1972131 w 2402522"/>
                      <a:gd name="connsiteY3" fmla="*/ 1709958 h 1855293"/>
                      <a:gd name="connsiteX4" fmla="*/ 1804289 w 2402522"/>
                      <a:gd name="connsiteY4" fmla="*/ 1794183 h 1855293"/>
                      <a:gd name="connsiteX5" fmla="*/ 1703481 w 2402522"/>
                      <a:gd name="connsiteY5" fmla="*/ 1821496 h 1855293"/>
                      <a:gd name="connsiteX6" fmla="*/ 1705549 w 2402522"/>
                      <a:gd name="connsiteY6" fmla="*/ 1824741 h 1855293"/>
                      <a:gd name="connsiteX7" fmla="*/ 1686949 w 2402522"/>
                      <a:gd name="connsiteY7" fmla="*/ 1825975 h 1855293"/>
                      <a:gd name="connsiteX8" fmla="*/ 1628410 w 2402522"/>
                      <a:gd name="connsiteY8" fmla="*/ 1841834 h 1855293"/>
                      <a:gd name="connsiteX9" fmla="*/ 1539068 w 2402522"/>
                      <a:gd name="connsiteY9" fmla="*/ 1852302 h 1855293"/>
                      <a:gd name="connsiteX10" fmla="*/ 1472337 w 2402522"/>
                      <a:gd name="connsiteY10" fmla="*/ 1853614 h 1855293"/>
                      <a:gd name="connsiteX11" fmla="*/ 1472337 w 2402522"/>
                      <a:gd name="connsiteY11" fmla="*/ 1855293 h 1855293"/>
                      <a:gd name="connsiteX12" fmla="*/ 0 w 2402522"/>
                      <a:gd name="connsiteY12" fmla="*/ 1855293 h 1855293"/>
                      <a:gd name="connsiteX13" fmla="*/ 369083 w 2402522"/>
                      <a:gd name="connsiteY13" fmla="*/ 1074912 h 1855293"/>
                      <a:gd name="connsiteX14" fmla="*/ 444650 w 2402522"/>
                      <a:gd name="connsiteY14" fmla="*/ 931337 h 1855293"/>
                      <a:gd name="connsiteX15" fmla="*/ 644898 w 2402522"/>
                      <a:gd name="connsiteY15" fmla="*/ 514845 h 1855293"/>
                      <a:gd name="connsiteX16" fmla="*/ 645800 w 2402522"/>
                      <a:gd name="connsiteY16" fmla="*/ 515278 h 1855293"/>
                      <a:gd name="connsiteX17" fmla="*/ 665339 w 2402522"/>
                      <a:gd name="connsiteY17" fmla="*/ 475771 h 1855293"/>
                      <a:gd name="connsiteX18" fmla="*/ 712840 w 2402522"/>
                      <a:gd name="connsiteY18" fmla="*/ 399380 h 1855293"/>
                      <a:gd name="connsiteX19" fmla="*/ 750416 w 2402522"/>
                      <a:gd name="connsiteY19" fmla="*/ 350396 h 1855293"/>
                      <a:gd name="connsiteX20" fmla="*/ 757540 w 2402522"/>
                      <a:gd name="connsiteY20" fmla="*/ 336863 h 1855293"/>
                      <a:gd name="connsiteX21" fmla="*/ 759019 w 2402522"/>
                      <a:gd name="connsiteY21" fmla="*/ 339183 h 1855293"/>
                      <a:gd name="connsiteX22" fmla="*/ 768048 w 2402522"/>
                      <a:gd name="connsiteY22" fmla="*/ 327413 h 1855293"/>
                      <a:gd name="connsiteX23" fmla="*/ 978474 w 2402522"/>
                      <a:gd name="connsiteY23" fmla="*/ 144481 h 1855293"/>
                      <a:gd name="connsiteX24" fmla="*/ 1500961 w 2402522"/>
                      <a:gd name="connsiteY24" fmla="*/ 379 h 185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02522" h="1855293">
                        <a:moveTo>
                          <a:pt x="1500961" y="379"/>
                        </a:moveTo>
                        <a:cubicBezTo>
                          <a:pt x="1798454" y="8885"/>
                          <a:pt x="2086546" y="160207"/>
                          <a:pt x="2258040" y="430391"/>
                        </a:cubicBezTo>
                        <a:cubicBezTo>
                          <a:pt x="2429535" y="700575"/>
                          <a:pt x="2443843" y="1025676"/>
                          <a:pt x="2324916" y="1298497"/>
                        </a:cubicBezTo>
                        <a:cubicBezTo>
                          <a:pt x="2253561" y="1462190"/>
                          <a:pt x="2134241" y="1607061"/>
                          <a:pt x="1972131" y="1709958"/>
                        </a:cubicBezTo>
                        <a:cubicBezTo>
                          <a:pt x="1918094" y="1744257"/>
                          <a:pt x="1861861" y="1772268"/>
                          <a:pt x="1804289" y="1794183"/>
                        </a:cubicBezTo>
                        <a:lnTo>
                          <a:pt x="1703481" y="1821496"/>
                        </a:lnTo>
                        <a:lnTo>
                          <a:pt x="1705549" y="1824741"/>
                        </a:lnTo>
                        <a:lnTo>
                          <a:pt x="1686949" y="1825975"/>
                        </a:lnTo>
                        <a:lnTo>
                          <a:pt x="1628410" y="1841834"/>
                        </a:lnTo>
                        <a:cubicBezTo>
                          <a:pt x="1598714" y="1846791"/>
                          <a:pt x="1568897" y="1850273"/>
                          <a:pt x="1539068" y="1852302"/>
                        </a:cubicBezTo>
                        <a:lnTo>
                          <a:pt x="1472337" y="1853614"/>
                        </a:lnTo>
                        <a:lnTo>
                          <a:pt x="1472337" y="1855293"/>
                        </a:lnTo>
                        <a:lnTo>
                          <a:pt x="0" y="1855293"/>
                        </a:lnTo>
                        <a:lnTo>
                          <a:pt x="369083" y="1074912"/>
                        </a:lnTo>
                        <a:lnTo>
                          <a:pt x="444650" y="931337"/>
                        </a:lnTo>
                        <a:lnTo>
                          <a:pt x="644898" y="514845"/>
                        </a:lnTo>
                        <a:lnTo>
                          <a:pt x="645800" y="515278"/>
                        </a:lnTo>
                        <a:lnTo>
                          <a:pt x="665339" y="475771"/>
                        </a:lnTo>
                        <a:cubicBezTo>
                          <a:pt x="679872" y="449642"/>
                          <a:pt x="695714" y="424142"/>
                          <a:pt x="712840" y="399380"/>
                        </a:cubicBezTo>
                        <a:lnTo>
                          <a:pt x="750416" y="350396"/>
                        </a:lnTo>
                        <a:lnTo>
                          <a:pt x="757540" y="336863"/>
                        </a:lnTo>
                        <a:lnTo>
                          <a:pt x="759019" y="339183"/>
                        </a:lnTo>
                        <a:lnTo>
                          <a:pt x="768048" y="327413"/>
                        </a:lnTo>
                        <a:cubicBezTo>
                          <a:pt x="827061" y="257872"/>
                          <a:pt x="897418" y="195929"/>
                          <a:pt x="978474" y="144481"/>
                        </a:cubicBezTo>
                        <a:cubicBezTo>
                          <a:pt x="1140584" y="41585"/>
                          <a:pt x="1322465" y="-4725"/>
                          <a:pt x="1500961" y="379"/>
                        </a:cubicBezTo>
                        <a:close/>
                      </a:path>
                    </a:pathLst>
                  </a:custGeom>
                  <a:solidFill>
                    <a:schemeClr val="accent1"/>
                  </a:solidFill>
                  <a:ln w="5715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dirty="0"/>
                  </a:p>
                </p:txBody>
              </p:sp>
              <p:sp>
                <p:nvSpPr>
                  <p:cNvPr id="134" name="iṩ1ïḓé"/>
                  <p:cNvSpPr/>
                  <p:nvPr/>
                </p:nvSpPr>
                <p:spPr>
                  <a:xfrm flipH="1" flipV="1">
                    <a:off x="4469854" y="4269580"/>
                    <a:ext cx="1474595" cy="1138722"/>
                  </a:xfrm>
                  <a:custGeom>
                    <a:avLst/>
                    <a:gdLst>
                      <a:gd name="connsiteX0" fmla="*/ 1500961 w 2402522"/>
                      <a:gd name="connsiteY0" fmla="*/ 379 h 1855293"/>
                      <a:gd name="connsiteX1" fmla="*/ 2258040 w 2402522"/>
                      <a:gd name="connsiteY1" fmla="*/ 430391 h 1855293"/>
                      <a:gd name="connsiteX2" fmla="*/ 2324916 w 2402522"/>
                      <a:gd name="connsiteY2" fmla="*/ 1298497 h 1855293"/>
                      <a:gd name="connsiteX3" fmla="*/ 1972131 w 2402522"/>
                      <a:gd name="connsiteY3" fmla="*/ 1709958 h 1855293"/>
                      <a:gd name="connsiteX4" fmla="*/ 1804289 w 2402522"/>
                      <a:gd name="connsiteY4" fmla="*/ 1794183 h 1855293"/>
                      <a:gd name="connsiteX5" fmla="*/ 1703481 w 2402522"/>
                      <a:gd name="connsiteY5" fmla="*/ 1821496 h 1855293"/>
                      <a:gd name="connsiteX6" fmla="*/ 1705549 w 2402522"/>
                      <a:gd name="connsiteY6" fmla="*/ 1824741 h 1855293"/>
                      <a:gd name="connsiteX7" fmla="*/ 1686949 w 2402522"/>
                      <a:gd name="connsiteY7" fmla="*/ 1825975 h 1855293"/>
                      <a:gd name="connsiteX8" fmla="*/ 1628410 w 2402522"/>
                      <a:gd name="connsiteY8" fmla="*/ 1841834 h 1855293"/>
                      <a:gd name="connsiteX9" fmla="*/ 1539068 w 2402522"/>
                      <a:gd name="connsiteY9" fmla="*/ 1852302 h 1855293"/>
                      <a:gd name="connsiteX10" fmla="*/ 1472337 w 2402522"/>
                      <a:gd name="connsiteY10" fmla="*/ 1853614 h 1855293"/>
                      <a:gd name="connsiteX11" fmla="*/ 1472337 w 2402522"/>
                      <a:gd name="connsiteY11" fmla="*/ 1855293 h 1855293"/>
                      <a:gd name="connsiteX12" fmla="*/ 0 w 2402522"/>
                      <a:gd name="connsiteY12" fmla="*/ 1855293 h 1855293"/>
                      <a:gd name="connsiteX13" fmla="*/ 369083 w 2402522"/>
                      <a:gd name="connsiteY13" fmla="*/ 1074912 h 1855293"/>
                      <a:gd name="connsiteX14" fmla="*/ 444650 w 2402522"/>
                      <a:gd name="connsiteY14" fmla="*/ 931337 h 1855293"/>
                      <a:gd name="connsiteX15" fmla="*/ 644898 w 2402522"/>
                      <a:gd name="connsiteY15" fmla="*/ 514845 h 1855293"/>
                      <a:gd name="connsiteX16" fmla="*/ 645800 w 2402522"/>
                      <a:gd name="connsiteY16" fmla="*/ 515278 h 1855293"/>
                      <a:gd name="connsiteX17" fmla="*/ 665339 w 2402522"/>
                      <a:gd name="connsiteY17" fmla="*/ 475771 h 1855293"/>
                      <a:gd name="connsiteX18" fmla="*/ 712840 w 2402522"/>
                      <a:gd name="connsiteY18" fmla="*/ 399380 h 1855293"/>
                      <a:gd name="connsiteX19" fmla="*/ 750416 w 2402522"/>
                      <a:gd name="connsiteY19" fmla="*/ 350396 h 1855293"/>
                      <a:gd name="connsiteX20" fmla="*/ 757540 w 2402522"/>
                      <a:gd name="connsiteY20" fmla="*/ 336863 h 1855293"/>
                      <a:gd name="connsiteX21" fmla="*/ 759019 w 2402522"/>
                      <a:gd name="connsiteY21" fmla="*/ 339183 h 1855293"/>
                      <a:gd name="connsiteX22" fmla="*/ 768048 w 2402522"/>
                      <a:gd name="connsiteY22" fmla="*/ 327413 h 1855293"/>
                      <a:gd name="connsiteX23" fmla="*/ 978474 w 2402522"/>
                      <a:gd name="connsiteY23" fmla="*/ 144481 h 1855293"/>
                      <a:gd name="connsiteX24" fmla="*/ 1500961 w 2402522"/>
                      <a:gd name="connsiteY24" fmla="*/ 379 h 185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02522" h="1855293">
                        <a:moveTo>
                          <a:pt x="1500961" y="379"/>
                        </a:moveTo>
                        <a:cubicBezTo>
                          <a:pt x="1798454" y="8885"/>
                          <a:pt x="2086546" y="160207"/>
                          <a:pt x="2258040" y="430391"/>
                        </a:cubicBezTo>
                        <a:cubicBezTo>
                          <a:pt x="2429535" y="700575"/>
                          <a:pt x="2443843" y="1025676"/>
                          <a:pt x="2324916" y="1298497"/>
                        </a:cubicBezTo>
                        <a:cubicBezTo>
                          <a:pt x="2253561" y="1462190"/>
                          <a:pt x="2134241" y="1607061"/>
                          <a:pt x="1972131" y="1709958"/>
                        </a:cubicBezTo>
                        <a:cubicBezTo>
                          <a:pt x="1918094" y="1744257"/>
                          <a:pt x="1861861" y="1772268"/>
                          <a:pt x="1804289" y="1794183"/>
                        </a:cubicBezTo>
                        <a:lnTo>
                          <a:pt x="1703481" y="1821496"/>
                        </a:lnTo>
                        <a:lnTo>
                          <a:pt x="1705549" y="1824741"/>
                        </a:lnTo>
                        <a:lnTo>
                          <a:pt x="1686949" y="1825975"/>
                        </a:lnTo>
                        <a:lnTo>
                          <a:pt x="1628410" y="1841834"/>
                        </a:lnTo>
                        <a:cubicBezTo>
                          <a:pt x="1598714" y="1846791"/>
                          <a:pt x="1568897" y="1850273"/>
                          <a:pt x="1539068" y="1852302"/>
                        </a:cubicBezTo>
                        <a:lnTo>
                          <a:pt x="1472337" y="1853614"/>
                        </a:lnTo>
                        <a:lnTo>
                          <a:pt x="1472337" y="1855293"/>
                        </a:lnTo>
                        <a:lnTo>
                          <a:pt x="0" y="1855293"/>
                        </a:lnTo>
                        <a:lnTo>
                          <a:pt x="369083" y="1074912"/>
                        </a:lnTo>
                        <a:lnTo>
                          <a:pt x="444650" y="931337"/>
                        </a:lnTo>
                        <a:lnTo>
                          <a:pt x="644898" y="514845"/>
                        </a:lnTo>
                        <a:lnTo>
                          <a:pt x="645800" y="515278"/>
                        </a:lnTo>
                        <a:lnTo>
                          <a:pt x="665339" y="475771"/>
                        </a:lnTo>
                        <a:cubicBezTo>
                          <a:pt x="679872" y="449642"/>
                          <a:pt x="695714" y="424142"/>
                          <a:pt x="712840" y="399380"/>
                        </a:cubicBezTo>
                        <a:lnTo>
                          <a:pt x="750416" y="350396"/>
                        </a:lnTo>
                        <a:lnTo>
                          <a:pt x="757540" y="336863"/>
                        </a:lnTo>
                        <a:lnTo>
                          <a:pt x="759019" y="339183"/>
                        </a:lnTo>
                        <a:lnTo>
                          <a:pt x="768048" y="327413"/>
                        </a:lnTo>
                        <a:cubicBezTo>
                          <a:pt x="827061" y="257872"/>
                          <a:pt x="897418" y="195929"/>
                          <a:pt x="978474" y="144481"/>
                        </a:cubicBezTo>
                        <a:cubicBezTo>
                          <a:pt x="1140584" y="41585"/>
                          <a:pt x="1322465" y="-4725"/>
                          <a:pt x="1500961" y="379"/>
                        </a:cubicBezTo>
                        <a:close/>
                      </a:path>
                    </a:pathLst>
                  </a:custGeom>
                  <a:solidFill>
                    <a:schemeClr val="accent4"/>
                  </a:solidFill>
                  <a:ln w="5715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dirty="0"/>
                  </a:p>
                </p:txBody>
              </p:sp>
              <p:sp>
                <p:nvSpPr>
                  <p:cNvPr id="135" name="ïṩľíďê"/>
                  <p:cNvSpPr/>
                  <p:nvPr/>
                </p:nvSpPr>
                <p:spPr>
                  <a:xfrm rot="3940857">
                    <a:off x="5324842" y="2962364"/>
                    <a:ext cx="2247773" cy="1735792"/>
                  </a:xfrm>
                  <a:custGeom>
                    <a:avLst/>
                    <a:gdLst>
                      <a:gd name="connsiteX0" fmla="*/ 1500961 w 2402522"/>
                      <a:gd name="connsiteY0" fmla="*/ 379 h 1855293"/>
                      <a:gd name="connsiteX1" fmla="*/ 2258040 w 2402522"/>
                      <a:gd name="connsiteY1" fmla="*/ 430391 h 1855293"/>
                      <a:gd name="connsiteX2" fmla="*/ 2324916 w 2402522"/>
                      <a:gd name="connsiteY2" fmla="*/ 1298497 h 1855293"/>
                      <a:gd name="connsiteX3" fmla="*/ 1972131 w 2402522"/>
                      <a:gd name="connsiteY3" fmla="*/ 1709958 h 1855293"/>
                      <a:gd name="connsiteX4" fmla="*/ 1804289 w 2402522"/>
                      <a:gd name="connsiteY4" fmla="*/ 1794183 h 1855293"/>
                      <a:gd name="connsiteX5" fmla="*/ 1703481 w 2402522"/>
                      <a:gd name="connsiteY5" fmla="*/ 1821496 h 1855293"/>
                      <a:gd name="connsiteX6" fmla="*/ 1705549 w 2402522"/>
                      <a:gd name="connsiteY6" fmla="*/ 1824741 h 1855293"/>
                      <a:gd name="connsiteX7" fmla="*/ 1686949 w 2402522"/>
                      <a:gd name="connsiteY7" fmla="*/ 1825975 h 1855293"/>
                      <a:gd name="connsiteX8" fmla="*/ 1628410 w 2402522"/>
                      <a:gd name="connsiteY8" fmla="*/ 1841834 h 1855293"/>
                      <a:gd name="connsiteX9" fmla="*/ 1539068 w 2402522"/>
                      <a:gd name="connsiteY9" fmla="*/ 1852302 h 1855293"/>
                      <a:gd name="connsiteX10" fmla="*/ 1472337 w 2402522"/>
                      <a:gd name="connsiteY10" fmla="*/ 1853614 h 1855293"/>
                      <a:gd name="connsiteX11" fmla="*/ 1472337 w 2402522"/>
                      <a:gd name="connsiteY11" fmla="*/ 1855293 h 1855293"/>
                      <a:gd name="connsiteX12" fmla="*/ 0 w 2402522"/>
                      <a:gd name="connsiteY12" fmla="*/ 1855293 h 1855293"/>
                      <a:gd name="connsiteX13" fmla="*/ 369083 w 2402522"/>
                      <a:gd name="connsiteY13" fmla="*/ 1074912 h 1855293"/>
                      <a:gd name="connsiteX14" fmla="*/ 444650 w 2402522"/>
                      <a:gd name="connsiteY14" fmla="*/ 931337 h 1855293"/>
                      <a:gd name="connsiteX15" fmla="*/ 644898 w 2402522"/>
                      <a:gd name="connsiteY15" fmla="*/ 514845 h 1855293"/>
                      <a:gd name="connsiteX16" fmla="*/ 645800 w 2402522"/>
                      <a:gd name="connsiteY16" fmla="*/ 515278 h 1855293"/>
                      <a:gd name="connsiteX17" fmla="*/ 665339 w 2402522"/>
                      <a:gd name="connsiteY17" fmla="*/ 475771 h 1855293"/>
                      <a:gd name="connsiteX18" fmla="*/ 712840 w 2402522"/>
                      <a:gd name="connsiteY18" fmla="*/ 399380 h 1855293"/>
                      <a:gd name="connsiteX19" fmla="*/ 750416 w 2402522"/>
                      <a:gd name="connsiteY19" fmla="*/ 350396 h 1855293"/>
                      <a:gd name="connsiteX20" fmla="*/ 757540 w 2402522"/>
                      <a:gd name="connsiteY20" fmla="*/ 336863 h 1855293"/>
                      <a:gd name="connsiteX21" fmla="*/ 759019 w 2402522"/>
                      <a:gd name="connsiteY21" fmla="*/ 339183 h 1855293"/>
                      <a:gd name="connsiteX22" fmla="*/ 768048 w 2402522"/>
                      <a:gd name="connsiteY22" fmla="*/ 327413 h 1855293"/>
                      <a:gd name="connsiteX23" fmla="*/ 978474 w 2402522"/>
                      <a:gd name="connsiteY23" fmla="*/ 144481 h 1855293"/>
                      <a:gd name="connsiteX24" fmla="*/ 1500961 w 2402522"/>
                      <a:gd name="connsiteY24" fmla="*/ 379 h 185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02522" h="1855293">
                        <a:moveTo>
                          <a:pt x="1500961" y="379"/>
                        </a:moveTo>
                        <a:cubicBezTo>
                          <a:pt x="1798454" y="8885"/>
                          <a:pt x="2086546" y="160207"/>
                          <a:pt x="2258040" y="430391"/>
                        </a:cubicBezTo>
                        <a:cubicBezTo>
                          <a:pt x="2429535" y="700575"/>
                          <a:pt x="2443843" y="1025676"/>
                          <a:pt x="2324916" y="1298497"/>
                        </a:cubicBezTo>
                        <a:cubicBezTo>
                          <a:pt x="2253561" y="1462190"/>
                          <a:pt x="2134241" y="1607061"/>
                          <a:pt x="1972131" y="1709958"/>
                        </a:cubicBezTo>
                        <a:cubicBezTo>
                          <a:pt x="1918094" y="1744257"/>
                          <a:pt x="1861861" y="1772268"/>
                          <a:pt x="1804289" y="1794183"/>
                        </a:cubicBezTo>
                        <a:lnTo>
                          <a:pt x="1703481" y="1821496"/>
                        </a:lnTo>
                        <a:lnTo>
                          <a:pt x="1705549" y="1824741"/>
                        </a:lnTo>
                        <a:lnTo>
                          <a:pt x="1686949" y="1825975"/>
                        </a:lnTo>
                        <a:lnTo>
                          <a:pt x="1628410" y="1841834"/>
                        </a:lnTo>
                        <a:cubicBezTo>
                          <a:pt x="1598714" y="1846791"/>
                          <a:pt x="1568897" y="1850273"/>
                          <a:pt x="1539068" y="1852302"/>
                        </a:cubicBezTo>
                        <a:lnTo>
                          <a:pt x="1472337" y="1853614"/>
                        </a:lnTo>
                        <a:lnTo>
                          <a:pt x="1472337" y="1855293"/>
                        </a:lnTo>
                        <a:lnTo>
                          <a:pt x="0" y="1855293"/>
                        </a:lnTo>
                        <a:lnTo>
                          <a:pt x="369083" y="1074912"/>
                        </a:lnTo>
                        <a:lnTo>
                          <a:pt x="444650" y="931337"/>
                        </a:lnTo>
                        <a:lnTo>
                          <a:pt x="644898" y="514845"/>
                        </a:lnTo>
                        <a:lnTo>
                          <a:pt x="645800" y="515278"/>
                        </a:lnTo>
                        <a:lnTo>
                          <a:pt x="665339" y="475771"/>
                        </a:lnTo>
                        <a:cubicBezTo>
                          <a:pt x="679872" y="449642"/>
                          <a:pt x="695714" y="424142"/>
                          <a:pt x="712840" y="399380"/>
                        </a:cubicBezTo>
                        <a:lnTo>
                          <a:pt x="750416" y="350396"/>
                        </a:lnTo>
                        <a:lnTo>
                          <a:pt x="757540" y="336863"/>
                        </a:lnTo>
                        <a:lnTo>
                          <a:pt x="759019" y="339183"/>
                        </a:lnTo>
                        <a:lnTo>
                          <a:pt x="768048" y="327413"/>
                        </a:lnTo>
                        <a:cubicBezTo>
                          <a:pt x="827061" y="257872"/>
                          <a:pt x="897418" y="195929"/>
                          <a:pt x="978474" y="144481"/>
                        </a:cubicBezTo>
                        <a:cubicBezTo>
                          <a:pt x="1140584" y="41585"/>
                          <a:pt x="1322465" y="-4725"/>
                          <a:pt x="1500961" y="379"/>
                        </a:cubicBezTo>
                        <a:close/>
                      </a:path>
                    </a:pathLst>
                  </a:custGeom>
                  <a:solidFill>
                    <a:schemeClr val="accent5"/>
                  </a:solidFill>
                  <a:ln w="5715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dirty="0"/>
                  </a:p>
                </p:txBody>
              </p:sp>
              <p:sp>
                <p:nvSpPr>
                  <p:cNvPr id="136" name="íśḻïḋé"/>
                  <p:cNvSpPr/>
                  <p:nvPr/>
                </p:nvSpPr>
                <p:spPr bwMode="auto">
                  <a:xfrm>
                    <a:off x="4339664" y="3183177"/>
                    <a:ext cx="539673" cy="517636"/>
                  </a:xfrm>
                  <a:custGeom>
                    <a:avLst/>
                    <a:gdLst>
                      <a:gd name="T0" fmla="*/ 9839 w 12296"/>
                      <a:gd name="T1" fmla="*/ 8850 h 11793"/>
                      <a:gd name="T2" fmla="*/ 9224 w 12296"/>
                      <a:gd name="T3" fmla="*/ 8261 h 11793"/>
                      <a:gd name="T4" fmla="*/ 9224 w 12296"/>
                      <a:gd name="T5" fmla="*/ 3564 h 11793"/>
                      <a:gd name="T6" fmla="*/ 9811 w 12296"/>
                      <a:gd name="T7" fmla="*/ 2950 h 11793"/>
                      <a:gd name="T8" fmla="*/ 10452 w 12296"/>
                      <a:gd name="T9" fmla="*/ 3509 h 11793"/>
                      <a:gd name="T10" fmla="*/ 10452 w 12296"/>
                      <a:gd name="T11" fmla="*/ 8262 h 11793"/>
                      <a:gd name="T12" fmla="*/ 9839 w 12296"/>
                      <a:gd name="T13" fmla="*/ 8850 h 11793"/>
                      <a:gd name="T14" fmla="*/ 11681 w 12296"/>
                      <a:gd name="T15" fmla="*/ 7675 h 11793"/>
                      <a:gd name="T16" fmla="*/ 11067 w 12296"/>
                      <a:gd name="T17" fmla="*/ 7087 h 11793"/>
                      <a:gd name="T18" fmla="*/ 11067 w 12296"/>
                      <a:gd name="T19" fmla="*/ 4742 h 11793"/>
                      <a:gd name="T20" fmla="*/ 11653 w 12296"/>
                      <a:gd name="T21" fmla="*/ 4127 h 11793"/>
                      <a:gd name="T22" fmla="*/ 12296 w 12296"/>
                      <a:gd name="T23" fmla="*/ 4686 h 11793"/>
                      <a:gd name="T24" fmla="*/ 12296 w 12296"/>
                      <a:gd name="T25" fmla="*/ 7090 h 11793"/>
                      <a:gd name="T26" fmla="*/ 11681 w 12296"/>
                      <a:gd name="T27" fmla="*/ 7678 h 11793"/>
                      <a:gd name="T28" fmla="*/ 11681 w 12296"/>
                      <a:gd name="T29" fmla="*/ 7675 h 11793"/>
                      <a:gd name="T30" fmla="*/ 2465 w 12296"/>
                      <a:gd name="T31" fmla="*/ 9437 h 11793"/>
                      <a:gd name="T32" fmla="*/ 1852 w 12296"/>
                      <a:gd name="T33" fmla="*/ 8850 h 11793"/>
                      <a:gd name="T34" fmla="*/ 1852 w 12296"/>
                      <a:gd name="T35" fmla="*/ 2978 h 11793"/>
                      <a:gd name="T36" fmla="*/ 2437 w 12296"/>
                      <a:gd name="T37" fmla="*/ 2363 h 11793"/>
                      <a:gd name="T38" fmla="*/ 3080 w 12296"/>
                      <a:gd name="T39" fmla="*/ 2922 h 11793"/>
                      <a:gd name="T40" fmla="*/ 3080 w 12296"/>
                      <a:gd name="T41" fmla="*/ 2978 h 11793"/>
                      <a:gd name="T42" fmla="*/ 3080 w 12296"/>
                      <a:gd name="T43" fmla="*/ 8850 h 11793"/>
                      <a:gd name="T44" fmla="*/ 2465 w 12296"/>
                      <a:gd name="T45" fmla="*/ 9437 h 11793"/>
                      <a:gd name="T46" fmla="*/ 4309 w 12296"/>
                      <a:gd name="T47" fmla="*/ 11786 h 11793"/>
                      <a:gd name="T48" fmla="*/ 3695 w 12296"/>
                      <a:gd name="T49" fmla="*/ 11199 h 11793"/>
                      <a:gd name="T50" fmla="*/ 3695 w 12296"/>
                      <a:gd name="T51" fmla="*/ 629 h 11793"/>
                      <a:gd name="T52" fmla="*/ 4283 w 12296"/>
                      <a:gd name="T53" fmla="*/ 15 h 11793"/>
                      <a:gd name="T54" fmla="*/ 4924 w 12296"/>
                      <a:gd name="T55" fmla="*/ 574 h 11793"/>
                      <a:gd name="T56" fmla="*/ 4924 w 12296"/>
                      <a:gd name="T57" fmla="*/ 629 h 11793"/>
                      <a:gd name="T58" fmla="*/ 4924 w 12296"/>
                      <a:gd name="T59" fmla="*/ 11198 h 11793"/>
                      <a:gd name="T60" fmla="*/ 4309 w 12296"/>
                      <a:gd name="T61" fmla="*/ 11786 h 11793"/>
                      <a:gd name="T62" fmla="*/ 6153 w 12296"/>
                      <a:gd name="T63" fmla="*/ 9437 h 11793"/>
                      <a:gd name="T64" fmla="*/ 5538 w 12296"/>
                      <a:gd name="T65" fmla="*/ 8850 h 11793"/>
                      <a:gd name="T66" fmla="*/ 5538 w 12296"/>
                      <a:gd name="T67" fmla="*/ 2978 h 11793"/>
                      <a:gd name="T68" fmla="*/ 6123 w 12296"/>
                      <a:gd name="T69" fmla="*/ 2363 h 11793"/>
                      <a:gd name="T70" fmla="*/ 6763 w 12296"/>
                      <a:gd name="T71" fmla="*/ 2922 h 11793"/>
                      <a:gd name="T72" fmla="*/ 6763 w 12296"/>
                      <a:gd name="T73" fmla="*/ 8850 h 11793"/>
                      <a:gd name="T74" fmla="*/ 6148 w 12296"/>
                      <a:gd name="T75" fmla="*/ 9437 h 11793"/>
                      <a:gd name="T76" fmla="*/ 6153 w 12296"/>
                      <a:gd name="T77" fmla="*/ 9437 h 11793"/>
                      <a:gd name="T78" fmla="*/ 7996 w 12296"/>
                      <a:gd name="T79" fmla="*/ 7675 h 11793"/>
                      <a:gd name="T80" fmla="*/ 7385 w 12296"/>
                      <a:gd name="T81" fmla="*/ 7088 h 11793"/>
                      <a:gd name="T82" fmla="*/ 7385 w 12296"/>
                      <a:gd name="T83" fmla="*/ 4742 h 11793"/>
                      <a:gd name="T84" fmla="*/ 7973 w 12296"/>
                      <a:gd name="T85" fmla="*/ 4127 h 11793"/>
                      <a:gd name="T86" fmla="*/ 8614 w 12296"/>
                      <a:gd name="T87" fmla="*/ 4686 h 11793"/>
                      <a:gd name="T88" fmla="*/ 8614 w 12296"/>
                      <a:gd name="T89" fmla="*/ 7090 h 11793"/>
                      <a:gd name="T90" fmla="*/ 8002 w 12296"/>
                      <a:gd name="T91" fmla="*/ 7678 h 11793"/>
                      <a:gd name="T92" fmla="*/ 7996 w 12296"/>
                      <a:gd name="T93" fmla="*/ 7678 h 11793"/>
                      <a:gd name="T94" fmla="*/ 7996 w 12296"/>
                      <a:gd name="T95" fmla="*/ 7675 h 11793"/>
                      <a:gd name="T96" fmla="*/ 624 w 12296"/>
                      <a:gd name="T97" fmla="*/ 7675 h 11793"/>
                      <a:gd name="T98" fmla="*/ 9 w 12296"/>
                      <a:gd name="T99" fmla="*/ 7087 h 11793"/>
                      <a:gd name="T100" fmla="*/ 9 w 12296"/>
                      <a:gd name="T101" fmla="*/ 4742 h 11793"/>
                      <a:gd name="T102" fmla="*/ 595 w 12296"/>
                      <a:gd name="T103" fmla="*/ 4127 h 11793"/>
                      <a:gd name="T104" fmla="*/ 1238 w 12296"/>
                      <a:gd name="T105" fmla="*/ 4686 h 11793"/>
                      <a:gd name="T106" fmla="*/ 1238 w 12296"/>
                      <a:gd name="T107" fmla="*/ 7090 h 11793"/>
                      <a:gd name="T108" fmla="*/ 624 w 12296"/>
                      <a:gd name="T109" fmla="*/ 7675 h 117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296" h="11793">
                        <a:moveTo>
                          <a:pt x="9839" y="8850"/>
                        </a:moveTo>
                        <a:cubicBezTo>
                          <a:pt x="9507" y="8856"/>
                          <a:pt x="9232" y="8593"/>
                          <a:pt x="9224" y="8261"/>
                        </a:cubicBezTo>
                        <a:lnTo>
                          <a:pt x="9224" y="3564"/>
                        </a:lnTo>
                        <a:cubicBezTo>
                          <a:pt x="9224" y="3235"/>
                          <a:pt x="9483" y="2965"/>
                          <a:pt x="9811" y="2950"/>
                        </a:cubicBezTo>
                        <a:cubicBezTo>
                          <a:pt x="10140" y="2935"/>
                          <a:pt x="10422" y="3181"/>
                          <a:pt x="10452" y="3509"/>
                        </a:cubicBezTo>
                        <a:lnTo>
                          <a:pt x="10452" y="8262"/>
                        </a:lnTo>
                        <a:cubicBezTo>
                          <a:pt x="10445" y="8594"/>
                          <a:pt x="10170" y="8857"/>
                          <a:pt x="9839" y="8850"/>
                        </a:cubicBezTo>
                        <a:close/>
                        <a:moveTo>
                          <a:pt x="11681" y="7675"/>
                        </a:moveTo>
                        <a:cubicBezTo>
                          <a:pt x="11349" y="7682"/>
                          <a:pt x="11075" y="7419"/>
                          <a:pt x="11067" y="7087"/>
                        </a:cubicBezTo>
                        <a:lnTo>
                          <a:pt x="11067" y="4742"/>
                        </a:lnTo>
                        <a:cubicBezTo>
                          <a:pt x="11058" y="4410"/>
                          <a:pt x="11321" y="4134"/>
                          <a:pt x="11653" y="4127"/>
                        </a:cubicBezTo>
                        <a:cubicBezTo>
                          <a:pt x="11985" y="4105"/>
                          <a:pt x="12272" y="4355"/>
                          <a:pt x="12296" y="4686"/>
                        </a:cubicBezTo>
                        <a:lnTo>
                          <a:pt x="12296" y="7090"/>
                        </a:lnTo>
                        <a:cubicBezTo>
                          <a:pt x="12288" y="7422"/>
                          <a:pt x="12013" y="7685"/>
                          <a:pt x="11681" y="7678"/>
                        </a:cubicBezTo>
                        <a:lnTo>
                          <a:pt x="11681" y="7675"/>
                        </a:lnTo>
                        <a:close/>
                        <a:moveTo>
                          <a:pt x="2465" y="9437"/>
                        </a:moveTo>
                        <a:cubicBezTo>
                          <a:pt x="2134" y="9443"/>
                          <a:pt x="1860" y="9181"/>
                          <a:pt x="1852" y="8850"/>
                        </a:cubicBezTo>
                        <a:lnTo>
                          <a:pt x="1852" y="2978"/>
                        </a:lnTo>
                        <a:cubicBezTo>
                          <a:pt x="1843" y="2646"/>
                          <a:pt x="2105" y="2370"/>
                          <a:pt x="2437" y="2363"/>
                        </a:cubicBezTo>
                        <a:cubicBezTo>
                          <a:pt x="2769" y="2341"/>
                          <a:pt x="3056" y="2591"/>
                          <a:pt x="3080" y="2922"/>
                        </a:cubicBezTo>
                        <a:cubicBezTo>
                          <a:pt x="3081" y="2941"/>
                          <a:pt x="3081" y="2959"/>
                          <a:pt x="3080" y="2978"/>
                        </a:cubicBezTo>
                        <a:lnTo>
                          <a:pt x="3080" y="8850"/>
                        </a:lnTo>
                        <a:cubicBezTo>
                          <a:pt x="3072" y="9182"/>
                          <a:pt x="2797" y="9445"/>
                          <a:pt x="2465" y="9437"/>
                        </a:cubicBezTo>
                        <a:close/>
                        <a:moveTo>
                          <a:pt x="4309" y="11786"/>
                        </a:moveTo>
                        <a:cubicBezTo>
                          <a:pt x="3978" y="11793"/>
                          <a:pt x="3703" y="11530"/>
                          <a:pt x="3695" y="11199"/>
                        </a:cubicBezTo>
                        <a:lnTo>
                          <a:pt x="3695" y="629"/>
                        </a:lnTo>
                        <a:cubicBezTo>
                          <a:pt x="3695" y="300"/>
                          <a:pt x="3954" y="30"/>
                          <a:pt x="4283" y="15"/>
                        </a:cubicBezTo>
                        <a:cubicBezTo>
                          <a:pt x="4612" y="0"/>
                          <a:pt x="4894" y="246"/>
                          <a:pt x="4924" y="574"/>
                        </a:cubicBezTo>
                        <a:cubicBezTo>
                          <a:pt x="4925" y="592"/>
                          <a:pt x="4925" y="611"/>
                          <a:pt x="4924" y="629"/>
                        </a:cubicBezTo>
                        <a:lnTo>
                          <a:pt x="4924" y="11198"/>
                        </a:lnTo>
                        <a:cubicBezTo>
                          <a:pt x="4917" y="11530"/>
                          <a:pt x="4641" y="11793"/>
                          <a:pt x="4309" y="11786"/>
                        </a:cubicBezTo>
                        <a:close/>
                        <a:moveTo>
                          <a:pt x="6153" y="9437"/>
                        </a:moveTo>
                        <a:cubicBezTo>
                          <a:pt x="5821" y="9445"/>
                          <a:pt x="5545" y="9182"/>
                          <a:pt x="5538" y="8850"/>
                        </a:cubicBezTo>
                        <a:lnTo>
                          <a:pt x="5538" y="2978"/>
                        </a:lnTo>
                        <a:cubicBezTo>
                          <a:pt x="5529" y="2646"/>
                          <a:pt x="5792" y="2370"/>
                          <a:pt x="6123" y="2363"/>
                        </a:cubicBezTo>
                        <a:cubicBezTo>
                          <a:pt x="6454" y="2343"/>
                          <a:pt x="6739" y="2592"/>
                          <a:pt x="6763" y="2922"/>
                        </a:cubicBezTo>
                        <a:lnTo>
                          <a:pt x="6763" y="8850"/>
                        </a:lnTo>
                        <a:cubicBezTo>
                          <a:pt x="6755" y="9181"/>
                          <a:pt x="6480" y="9444"/>
                          <a:pt x="6148" y="9437"/>
                        </a:cubicBezTo>
                        <a:lnTo>
                          <a:pt x="6153" y="9437"/>
                        </a:lnTo>
                        <a:close/>
                        <a:moveTo>
                          <a:pt x="7996" y="7675"/>
                        </a:moveTo>
                        <a:cubicBezTo>
                          <a:pt x="7666" y="7680"/>
                          <a:pt x="7394" y="7418"/>
                          <a:pt x="7385" y="7088"/>
                        </a:cubicBezTo>
                        <a:lnTo>
                          <a:pt x="7385" y="4742"/>
                        </a:lnTo>
                        <a:cubicBezTo>
                          <a:pt x="7386" y="4413"/>
                          <a:pt x="7645" y="4142"/>
                          <a:pt x="7973" y="4127"/>
                        </a:cubicBezTo>
                        <a:cubicBezTo>
                          <a:pt x="8302" y="4112"/>
                          <a:pt x="8584" y="4359"/>
                          <a:pt x="8614" y="4686"/>
                        </a:cubicBezTo>
                        <a:lnTo>
                          <a:pt x="8614" y="7090"/>
                        </a:lnTo>
                        <a:cubicBezTo>
                          <a:pt x="8607" y="7422"/>
                          <a:pt x="8333" y="7685"/>
                          <a:pt x="8002" y="7678"/>
                        </a:cubicBezTo>
                        <a:lnTo>
                          <a:pt x="7996" y="7678"/>
                        </a:lnTo>
                        <a:lnTo>
                          <a:pt x="7996" y="7675"/>
                        </a:lnTo>
                        <a:close/>
                        <a:moveTo>
                          <a:pt x="624" y="7675"/>
                        </a:moveTo>
                        <a:cubicBezTo>
                          <a:pt x="292" y="7682"/>
                          <a:pt x="17" y="7419"/>
                          <a:pt x="9" y="7087"/>
                        </a:cubicBezTo>
                        <a:lnTo>
                          <a:pt x="9" y="4742"/>
                        </a:lnTo>
                        <a:cubicBezTo>
                          <a:pt x="0" y="4410"/>
                          <a:pt x="263" y="4134"/>
                          <a:pt x="595" y="4127"/>
                        </a:cubicBezTo>
                        <a:cubicBezTo>
                          <a:pt x="927" y="4105"/>
                          <a:pt x="1214" y="4355"/>
                          <a:pt x="1238" y="4686"/>
                        </a:cubicBezTo>
                        <a:lnTo>
                          <a:pt x="1238" y="7090"/>
                        </a:lnTo>
                        <a:cubicBezTo>
                          <a:pt x="1229" y="7421"/>
                          <a:pt x="955" y="7682"/>
                          <a:pt x="624" y="7675"/>
                        </a:cubicBezTo>
                        <a:close/>
                      </a:path>
                    </a:pathLst>
                  </a:custGeom>
                  <a:solidFill>
                    <a:schemeClr val="bg1"/>
                  </a:solid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p>
                </p:txBody>
              </p:sp>
              <p:sp>
                <p:nvSpPr>
                  <p:cNvPr id="137" name="í$ľïde"/>
                  <p:cNvSpPr/>
                  <p:nvPr/>
                </p:nvSpPr>
                <p:spPr bwMode="auto">
                  <a:xfrm>
                    <a:off x="4879713" y="4619128"/>
                    <a:ext cx="372652" cy="439614"/>
                  </a:xfrm>
                  <a:custGeom>
                    <a:avLst/>
                    <a:gdLst>
                      <a:gd name="T0" fmla="*/ 6013 w 10400"/>
                      <a:gd name="T1" fmla="*/ 11590 h 12266"/>
                      <a:gd name="T2" fmla="*/ 5125 w 10400"/>
                      <a:gd name="T3" fmla="*/ 10815 h 12266"/>
                      <a:gd name="T4" fmla="*/ 4669 w 10400"/>
                      <a:gd name="T5" fmla="*/ 10418 h 12266"/>
                      <a:gd name="T6" fmla="*/ 4645 w 10400"/>
                      <a:gd name="T7" fmla="*/ 10396 h 12266"/>
                      <a:gd name="T8" fmla="*/ 1069 w 10400"/>
                      <a:gd name="T9" fmla="*/ 5190 h 12266"/>
                      <a:gd name="T10" fmla="*/ 5200 w 10400"/>
                      <a:gd name="T11" fmla="*/ 1066 h 12266"/>
                      <a:gd name="T12" fmla="*/ 9332 w 10400"/>
                      <a:gd name="T13" fmla="*/ 5190 h 12266"/>
                      <a:gd name="T14" fmla="*/ 6492 w 10400"/>
                      <a:gd name="T15" fmla="*/ 9714 h 12266"/>
                      <a:gd name="T16" fmla="*/ 7299 w 10400"/>
                      <a:gd name="T17" fmla="*/ 10418 h 12266"/>
                      <a:gd name="T18" fmla="*/ 10400 w 10400"/>
                      <a:gd name="T19" fmla="*/ 5190 h 12266"/>
                      <a:gd name="T20" fmla="*/ 5200 w 10400"/>
                      <a:gd name="T21" fmla="*/ 0 h 12266"/>
                      <a:gd name="T22" fmla="*/ 0 w 10400"/>
                      <a:gd name="T23" fmla="*/ 5190 h 12266"/>
                      <a:gd name="T24" fmla="*/ 5200 w 10400"/>
                      <a:gd name="T25" fmla="*/ 12266 h 12266"/>
                      <a:gd name="T26" fmla="*/ 6013 w 10400"/>
                      <a:gd name="T27" fmla="*/ 11590 h 12266"/>
                      <a:gd name="T28" fmla="*/ 5200 w 10400"/>
                      <a:gd name="T29" fmla="*/ 6400 h 12266"/>
                      <a:gd name="T30" fmla="*/ 6400 w 10400"/>
                      <a:gd name="T31" fmla="*/ 5200 h 12266"/>
                      <a:gd name="T32" fmla="*/ 5200 w 10400"/>
                      <a:gd name="T33" fmla="*/ 4000 h 12266"/>
                      <a:gd name="T34" fmla="*/ 4000 w 10400"/>
                      <a:gd name="T35" fmla="*/ 5200 h 12266"/>
                      <a:gd name="T36" fmla="*/ 5200 w 10400"/>
                      <a:gd name="T37" fmla="*/ 6400 h 12266"/>
                      <a:gd name="T38" fmla="*/ 5200 w 10400"/>
                      <a:gd name="T39" fmla="*/ 7466 h 12266"/>
                      <a:gd name="T40" fmla="*/ 2934 w 10400"/>
                      <a:gd name="T41" fmla="*/ 5200 h 12266"/>
                      <a:gd name="T42" fmla="*/ 5200 w 10400"/>
                      <a:gd name="T43" fmla="*/ 2933 h 12266"/>
                      <a:gd name="T44" fmla="*/ 7467 w 10400"/>
                      <a:gd name="T45" fmla="*/ 5200 h 12266"/>
                      <a:gd name="T46" fmla="*/ 5200 w 10400"/>
                      <a:gd name="T47" fmla="*/ 7466 h 12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400" h="12266">
                        <a:moveTo>
                          <a:pt x="6013" y="11590"/>
                        </a:moveTo>
                        <a:lnTo>
                          <a:pt x="5125" y="10815"/>
                        </a:lnTo>
                        <a:cubicBezTo>
                          <a:pt x="4972" y="10684"/>
                          <a:pt x="4820" y="10552"/>
                          <a:pt x="4669" y="10418"/>
                        </a:cubicBezTo>
                        <a:lnTo>
                          <a:pt x="4645" y="10396"/>
                        </a:lnTo>
                        <a:cubicBezTo>
                          <a:pt x="1725" y="7792"/>
                          <a:pt x="1069" y="6144"/>
                          <a:pt x="1069" y="5190"/>
                        </a:cubicBezTo>
                        <a:cubicBezTo>
                          <a:pt x="1069" y="2916"/>
                          <a:pt x="2922" y="1066"/>
                          <a:pt x="5200" y="1066"/>
                        </a:cubicBezTo>
                        <a:cubicBezTo>
                          <a:pt x="7478" y="1066"/>
                          <a:pt x="9332" y="2916"/>
                          <a:pt x="9332" y="5190"/>
                        </a:cubicBezTo>
                        <a:cubicBezTo>
                          <a:pt x="9332" y="6058"/>
                          <a:pt x="8789" y="7500"/>
                          <a:pt x="6492" y="9714"/>
                        </a:cubicBezTo>
                        <a:lnTo>
                          <a:pt x="7299" y="10418"/>
                        </a:lnTo>
                        <a:cubicBezTo>
                          <a:pt x="9367" y="8408"/>
                          <a:pt x="10400" y="6665"/>
                          <a:pt x="10400" y="5190"/>
                        </a:cubicBezTo>
                        <a:cubicBezTo>
                          <a:pt x="10400" y="2323"/>
                          <a:pt x="8072" y="0"/>
                          <a:pt x="5200" y="0"/>
                        </a:cubicBezTo>
                        <a:cubicBezTo>
                          <a:pt x="2328" y="0"/>
                          <a:pt x="0" y="2323"/>
                          <a:pt x="0" y="5190"/>
                        </a:cubicBezTo>
                        <a:cubicBezTo>
                          <a:pt x="0" y="7100"/>
                          <a:pt x="1734" y="9459"/>
                          <a:pt x="5200" y="12266"/>
                        </a:cubicBezTo>
                        <a:cubicBezTo>
                          <a:pt x="5474" y="12045"/>
                          <a:pt x="5745" y="11819"/>
                          <a:pt x="6013" y="11590"/>
                        </a:cubicBezTo>
                        <a:close/>
                        <a:moveTo>
                          <a:pt x="5200" y="6400"/>
                        </a:moveTo>
                        <a:cubicBezTo>
                          <a:pt x="5863" y="6400"/>
                          <a:pt x="6400" y="5862"/>
                          <a:pt x="6400" y="5200"/>
                        </a:cubicBezTo>
                        <a:cubicBezTo>
                          <a:pt x="6400" y="4537"/>
                          <a:pt x="5863" y="4000"/>
                          <a:pt x="5200" y="4000"/>
                        </a:cubicBezTo>
                        <a:cubicBezTo>
                          <a:pt x="4538" y="4000"/>
                          <a:pt x="4000" y="4537"/>
                          <a:pt x="4000" y="5200"/>
                        </a:cubicBezTo>
                        <a:cubicBezTo>
                          <a:pt x="4000" y="5862"/>
                          <a:pt x="4538" y="6400"/>
                          <a:pt x="5200" y="6400"/>
                        </a:cubicBezTo>
                        <a:close/>
                        <a:moveTo>
                          <a:pt x="5200" y="7466"/>
                        </a:moveTo>
                        <a:cubicBezTo>
                          <a:pt x="3948" y="7466"/>
                          <a:pt x="2934" y="6452"/>
                          <a:pt x="2934" y="5200"/>
                        </a:cubicBezTo>
                        <a:cubicBezTo>
                          <a:pt x="2934" y="3948"/>
                          <a:pt x="3948" y="2933"/>
                          <a:pt x="5200" y="2933"/>
                        </a:cubicBezTo>
                        <a:cubicBezTo>
                          <a:pt x="6452" y="2933"/>
                          <a:pt x="7467" y="3948"/>
                          <a:pt x="7467" y="5200"/>
                        </a:cubicBezTo>
                        <a:cubicBezTo>
                          <a:pt x="7467" y="6452"/>
                          <a:pt x="6452" y="7466"/>
                          <a:pt x="5200" y="7466"/>
                        </a:cubicBezTo>
                        <a:close/>
                      </a:path>
                    </a:pathLst>
                  </a:custGeom>
                  <a:solidFill>
                    <a:schemeClr val="bg1"/>
                  </a:solid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p>
                </p:txBody>
              </p:sp>
              <p:sp>
                <p:nvSpPr>
                  <p:cNvPr id="138" name="íṥḷîdè"/>
                  <p:cNvSpPr/>
                  <p:nvPr/>
                </p:nvSpPr>
                <p:spPr bwMode="auto">
                  <a:xfrm>
                    <a:off x="6268145" y="3776376"/>
                    <a:ext cx="539566" cy="539673"/>
                  </a:xfrm>
                  <a:custGeom>
                    <a:avLst/>
                    <a:gdLst>
                      <a:gd name="T0" fmla="*/ 8489 w 10666"/>
                      <a:gd name="T1" fmla="*/ 4800 h 10666"/>
                      <a:gd name="T2" fmla="*/ 5866 w 10666"/>
                      <a:gd name="T3" fmla="*/ 2177 h 10666"/>
                      <a:gd name="T4" fmla="*/ 5866 w 10666"/>
                      <a:gd name="T5" fmla="*/ 2666 h 10666"/>
                      <a:gd name="T6" fmla="*/ 5333 w 10666"/>
                      <a:gd name="T7" fmla="*/ 3200 h 10666"/>
                      <a:gd name="T8" fmla="*/ 4800 w 10666"/>
                      <a:gd name="T9" fmla="*/ 2666 h 10666"/>
                      <a:gd name="T10" fmla="*/ 4800 w 10666"/>
                      <a:gd name="T11" fmla="*/ 2177 h 10666"/>
                      <a:gd name="T12" fmla="*/ 2177 w 10666"/>
                      <a:gd name="T13" fmla="*/ 4800 h 10666"/>
                      <a:gd name="T14" fmla="*/ 2666 w 10666"/>
                      <a:gd name="T15" fmla="*/ 4800 h 10666"/>
                      <a:gd name="T16" fmla="*/ 3200 w 10666"/>
                      <a:gd name="T17" fmla="*/ 5333 h 10666"/>
                      <a:gd name="T18" fmla="*/ 2666 w 10666"/>
                      <a:gd name="T19" fmla="*/ 5866 h 10666"/>
                      <a:gd name="T20" fmla="*/ 2177 w 10666"/>
                      <a:gd name="T21" fmla="*/ 5866 h 10666"/>
                      <a:gd name="T22" fmla="*/ 4800 w 10666"/>
                      <a:gd name="T23" fmla="*/ 8489 h 10666"/>
                      <a:gd name="T24" fmla="*/ 4800 w 10666"/>
                      <a:gd name="T25" fmla="*/ 8000 h 10666"/>
                      <a:gd name="T26" fmla="*/ 5333 w 10666"/>
                      <a:gd name="T27" fmla="*/ 7466 h 10666"/>
                      <a:gd name="T28" fmla="*/ 5866 w 10666"/>
                      <a:gd name="T29" fmla="*/ 8000 h 10666"/>
                      <a:gd name="T30" fmla="*/ 5866 w 10666"/>
                      <a:gd name="T31" fmla="*/ 10133 h 10666"/>
                      <a:gd name="T32" fmla="*/ 5333 w 10666"/>
                      <a:gd name="T33" fmla="*/ 10666 h 10666"/>
                      <a:gd name="T34" fmla="*/ 4800 w 10666"/>
                      <a:gd name="T35" fmla="*/ 10133 h 10666"/>
                      <a:gd name="T36" fmla="*/ 4800 w 10666"/>
                      <a:gd name="T37" fmla="*/ 9567 h 10666"/>
                      <a:gd name="T38" fmla="*/ 1099 w 10666"/>
                      <a:gd name="T39" fmla="*/ 5866 h 10666"/>
                      <a:gd name="T40" fmla="*/ 533 w 10666"/>
                      <a:gd name="T41" fmla="*/ 5866 h 10666"/>
                      <a:gd name="T42" fmla="*/ 0 w 10666"/>
                      <a:gd name="T43" fmla="*/ 5333 h 10666"/>
                      <a:gd name="T44" fmla="*/ 533 w 10666"/>
                      <a:gd name="T45" fmla="*/ 4800 h 10666"/>
                      <a:gd name="T46" fmla="*/ 1099 w 10666"/>
                      <a:gd name="T47" fmla="*/ 4800 h 10666"/>
                      <a:gd name="T48" fmla="*/ 4800 w 10666"/>
                      <a:gd name="T49" fmla="*/ 1099 h 10666"/>
                      <a:gd name="T50" fmla="*/ 4800 w 10666"/>
                      <a:gd name="T51" fmla="*/ 533 h 10666"/>
                      <a:gd name="T52" fmla="*/ 5333 w 10666"/>
                      <a:gd name="T53" fmla="*/ 0 h 10666"/>
                      <a:gd name="T54" fmla="*/ 5866 w 10666"/>
                      <a:gd name="T55" fmla="*/ 533 h 10666"/>
                      <a:gd name="T56" fmla="*/ 5866 w 10666"/>
                      <a:gd name="T57" fmla="*/ 1099 h 10666"/>
                      <a:gd name="T58" fmla="*/ 9567 w 10666"/>
                      <a:gd name="T59" fmla="*/ 4800 h 10666"/>
                      <a:gd name="T60" fmla="*/ 10133 w 10666"/>
                      <a:gd name="T61" fmla="*/ 4800 h 10666"/>
                      <a:gd name="T62" fmla="*/ 10666 w 10666"/>
                      <a:gd name="T63" fmla="*/ 5333 h 10666"/>
                      <a:gd name="T64" fmla="*/ 10133 w 10666"/>
                      <a:gd name="T65" fmla="*/ 5866 h 10666"/>
                      <a:gd name="T66" fmla="*/ 9567 w 10666"/>
                      <a:gd name="T67" fmla="*/ 5866 h 10666"/>
                      <a:gd name="T68" fmla="*/ 7480 w 10666"/>
                      <a:gd name="T69" fmla="*/ 9021 h 10666"/>
                      <a:gd name="T70" fmla="*/ 6750 w 10666"/>
                      <a:gd name="T71" fmla="*/ 8829 h 10666"/>
                      <a:gd name="T72" fmla="*/ 6943 w 10666"/>
                      <a:gd name="T73" fmla="*/ 8099 h 10666"/>
                      <a:gd name="T74" fmla="*/ 8489 w 10666"/>
                      <a:gd name="T75" fmla="*/ 5866 h 10666"/>
                      <a:gd name="T76" fmla="*/ 8000 w 10666"/>
                      <a:gd name="T77" fmla="*/ 5866 h 10666"/>
                      <a:gd name="T78" fmla="*/ 7466 w 10666"/>
                      <a:gd name="T79" fmla="*/ 5333 h 10666"/>
                      <a:gd name="T80" fmla="*/ 8000 w 10666"/>
                      <a:gd name="T81" fmla="*/ 4800 h 10666"/>
                      <a:gd name="T82" fmla="*/ 8489 w 10666"/>
                      <a:gd name="T83" fmla="*/ 4800 h 10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666" h="10666">
                        <a:moveTo>
                          <a:pt x="8489" y="4800"/>
                        </a:moveTo>
                        <a:cubicBezTo>
                          <a:pt x="8261" y="3457"/>
                          <a:pt x="7209" y="2405"/>
                          <a:pt x="5866" y="2177"/>
                        </a:cubicBezTo>
                        <a:lnTo>
                          <a:pt x="5866" y="2666"/>
                        </a:lnTo>
                        <a:cubicBezTo>
                          <a:pt x="5866" y="2961"/>
                          <a:pt x="5628" y="3200"/>
                          <a:pt x="5333" y="3200"/>
                        </a:cubicBezTo>
                        <a:cubicBezTo>
                          <a:pt x="5038" y="3200"/>
                          <a:pt x="4800" y="2961"/>
                          <a:pt x="4800" y="2666"/>
                        </a:cubicBezTo>
                        <a:lnTo>
                          <a:pt x="4800" y="2177"/>
                        </a:lnTo>
                        <a:cubicBezTo>
                          <a:pt x="3457" y="2405"/>
                          <a:pt x="2405" y="3457"/>
                          <a:pt x="2177" y="4800"/>
                        </a:cubicBezTo>
                        <a:lnTo>
                          <a:pt x="2666" y="4800"/>
                        </a:lnTo>
                        <a:cubicBezTo>
                          <a:pt x="2961" y="4800"/>
                          <a:pt x="3200" y="5038"/>
                          <a:pt x="3200" y="5333"/>
                        </a:cubicBezTo>
                        <a:cubicBezTo>
                          <a:pt x="3200" y="5628"/>
                          <a:pt x="2961" y="5866"/>
                          <a:pt x="2666" y="5866"/>
                        </a:cubicBezTo>
                        <a:lnTo>
                          <a:pt x="2177" y="5866"/>
                        </a:lnTo>
                        <a:cubicBezTo>
                          <a:pt x="2405" y="7209"/>
                          <a:pt x="3457" y="8261"/>
                          <a:pt x="4800" y="8489"/>
                        </a:cubicBezTo>
                        <a:lnTo>
                          <a:pt x="4800" y="8000"/>
                        </a:lnTo>
                        <a:cubicBezTo>
                          <a:pt x="4800" y="7705"/>
                          <a:pt x="5038" y="7466"/>
                          <a:pt x="5333" y="7466"/>
                        </a:cubicBezTo>
                        <a:cubicBezTo>
                          <a:pt x="5628" y="7466"/>
                          <a:pt x="5866" y="7705"/>
                          <a:pt x="5866" y="8000"/>
                        </a:cubicBezTo>
                        <a:lnTo>
                          <a:pt x="5866" y="10133"/>
                        </a:lnTo>
                        <a:cubicBezTo>
                          <a:pt x="5866" y="10428"/>
                          <a:pt x="5628" y="10666"/>
                          <a:pt x="5333" y="10666"/>
                        </a:cubicBezTo>
                        <a:cubicBezTo>
                          <a:pt x="5038" y="10666"/>
                          <a:pt x="4800" y="10428"/>
                          <a:pt x="4800" y="10133"/>
                        </a:cubicBezTo>
                        <a:lnTo>
                          <a:pt x="4800" y="9567"/>
                        </a:lnTo>
                        <a:cubicBezTo>
                          <a:pt x="2866" y="9322"/>
                          <a:pt x="1344" y="7800"/>
                          <a:pt x="1099" y="5866"/>
                        </a:cubicBezTo>
                        <a:lnTo>
                          <a:pt x="533" y="5866"/>
                        </a:lnTo>
                        <a:cubicBezTo>
                          <a:pt x="238" y="5866"/>
                          <a:pt x="0" y="5628"/>
                          <a:pt x="0" y="5333"/>
                        </a:cubicBezTo>
                        <a:cubicBezTo>
                          <a:pt x="0" y="5038"/>
                          <a:pt x="238" y="4800"/>
                          <a:pt x="533" y="4800"/>
                        </a:cubicBezTo>
                        <a:lnTo>
                          <a:pt x="1099" y="4800"/>
                        </a:lnTo>
                        <a:cubicBezTo>
                          <a:pt x="1344" y="2866"/>
                          <a:pt x="2866" y="1344"/>
                          <a:pt x="4800" y="1099"/>
                        </a:cubicBezTo>
                        <a:lnTo>
                          <a:pt x="4800" y="533"/>
                        </a:lnTo>
                        <a:cubicBezTo>
                          <a:pt x="4800" y="238"/>
                          <a:pt x="5038" y="0"/>
                          <a:pt x="5333" y="0"/>
                        </a:cubicBezTo>
                        <a:cubicBezTo>
                          <a:pt x="5628" y="0"/>
                          <a:pt x="5866" y="238"/>
                          <a:pt x="5866" y="533"/>
                        </a:cubicBezTo>
                        <a:lnTo>
                          <a:pt x="5866" y="1099"/>
                        </a:lnTo>
                        <a:cubicBezTo>
                          <a:pt x="7800" y="1344"/>
                          <a:pt x="9322" y="2866"/>
                          <a:pt x="9567" y="4800"/>
                        </a:cubicBezTo>
                        <a:lnTo>
                          <a:pt x="10133" y="4800"/>
                        </a:lnTo>
                        <a:cubicBezTo>
                          <a:pt x="10428" y="4800"/>
                          <a:pt x="10666" y="5038"/>
                          <a:pt x="10666" y="5333"/>
                        </a:cubicBezTo>
                        <a:cubicBezTo>
                          <a:pt x="10666" y="5628"/>
                          <a:pt x="10428" y="5866"/>
                          <a:pt x="10133" y="5866"/>
                        </a:cubicBezTo>
                        <a:lnTo>
                          <a:pt x="9567" y="5866"/>
                        </a:lnTo>
                        <a:cubicBezTo>
                          <a:pt x="9401" y="7186"/>
                          <a:pt x="8629" y="8352"/>
                          <a:pt x="7480" y="9021"/>
                        </a:cubicBezTo>
                        <a:cubicBezTo>
                          <a:pt x="7225" y="9169"/>
                          <a:pt x="6899" y="9083"/>
                          <a:pt x="6750" y="8829"/>
                        </a:cubicBezTo>
                        <a:cubicBezTo>
                          <a:pt x="6602" y="8574"/>
                          <a:pt x="6688" y="8248"/>
                          <a:pt x="6943" y="8099"/>
                        </a:cubicBezTo>
                        <a:cubicBezTo>
                          <a:pt x="7764" y="7622"/>
                          <a:pt x="8331" y="6803"/>
                          <a:pt x="8489" y="5866"/>
                        </a:cubicBezTo>
                        <a:lnTo>
                          <a:pt x="8000" y="5866"/>
                        </a:lnTo>
                        <a:cubicBezTo>
                          <a:pt x="7705" y="5866"/>
                          <a:pt x="7466" y="5628"/>
                          <a:pt x="7466" y="5333"/>
                        </a:cubicBezTo>
                        <a:cubicBezTo>
                          <a:pt x="7466" y="5038"/>
                          <a:pt x="7705" y="4800"/>
                          <a:pt x="8000" y="4800"/>
                        </a:cubicBezTo>
                        <a:lnTo>
                          <a:pt x="8489" y="4800"/>
                        </a:lnTo>
                        <a:close/>
                      </a:path>
                    </a:pathLst>
                  </a:custGeom>
                  <a:solidFill>
                    <a:schemeClr val="bg1"/>
                  </a:solid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p>
                </p:txBody>
              </p:sp>
            </p:grpSp>
            <p:cxnSp>
              <p:nvCxnSpPr>
                <p:cNvPr id="132" name="直接连接符 131"/>
                <p:cNvCxnSpPr/>
                <p:nvPr/>
              </p:nvCxnSpPr>
              <p:spPr>
                <a:xfrm flipH="1">
                  <a:off x="664874" y="3577497"/>
                  <a:ext cx="3335629" cy="5788"/>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nvGrpSpPr>
              <p:cNvPr id="125" name="组合 124"/>
              <p:cNvGrpSpPr/>
              <p:nvPr/>
            </p:nvGrpSpPr>
            <p:grpSpPr>
              <a:xfrm>
                <a:off x="746699" y="1750405"/>
                <a:ext cx="3123503" cy="1711266"/>
                <a:chOff x="1808370" y="1302433"/>
                <a:chExt cx="3123503" cy="1711266"/>
              </a:xfrm>
            </p:grpSpPr>
            <p:sp>
              <p:nvSpPr>
                <p:cNvPr id="129" name="文本框 46"/>
                <p:cNvSpPr txBox="1"/>
                <p:nvPr/>
              </p:nvSpPr>
              <p:spPr>
                <a:xfrm>
                  <a:off x="1808371" y="1674752"/>
                  <a:ext cx="3123502" cy="133894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rPr>
                    <a:t>移动应用程序中存在私人信息泄漏的主要关注点是第三方广告库广泛收集私人信息并跟踪用户，为了实现应用程序的货币化和提供定向广告。</a:t>
                  </a:r>
                  <a:endPar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endParaRPr>
                </a:p>
              </p:txBody>
            </p:sp>
            <p:sp>
              <p:nvSpPr>
                <p:cNvPr id="130" name="文本框 34"/>
                <p:cNvSpPr txBox="1"/>
                <p:nvPr/>
              </p:nvSpPr>
              <p:spPr>
                <a:xfrm>
                  <a:off x="1808370" y="1302433"/>
                  <a:ext cx="1574800" cy="3720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chemeClr val="tx2">
                          <a:lumMod val="50000"/>
                        </a:schemeClr>
                      </a:solidFill>
                      <a:latin typeface="思源黑体 CN Bold" panose="020B0800000000000000" pitchFamily="34" charset="-122"/>
                      <a:ea typeface="思源黑体 CN Bold" panose="020B0800000000000000" pitchFamily="34" charset="-122"/>
                    </a:rPr>
                    <a:t>社会背景</a:t>
                  </a:r>
                  <a:endParaRPr lang="zh-CN" altLang="en-US" b="1"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126" name="组合 125"/>
              <p:cNvGrpSpPr/>
              <p:nvPr/>
            </p:nvGrpSpPr>
            <p:grpSpPr>
              <a:xfrm>
                <a:off x="746730" y="3699599"/>
                <a:ext cx="3122906" cy="3008451"/>
                <a:chOff x="1812815" y="1467478"/>
                <a:chExt cx="3122906" cy="3008451"/>
              </a:xfrm>
            </p:grpSpPr>
            <p:sp>
              <p:nvSpPr>
                <p:cNvPr id="127" name="文本框 46"/>
                <p:cNvSpPr txBox="1"/>
                <p:nvPr/>
              </p:nvSpPr>
              <p:spPr>
                <a:xfrm>
                  <a:off x="1812815" y="1840480"/>
                  <a:ext cx="3122906" cy="2635449"/>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sym typeface="+mn-ea"/>
                    </a:rPr>
                    <a:t>过去的解决方案包括</a:t>
                  </a:r>
                  <a:r>
                    <a:rPr lang="zh-CN" altLang="en-US" sz="1600" dirty="0" smtClean="0">
                      <a:solidFill>
                        <a:srgbClr val="FF0000"/>
                      </a:solidFill>
                      <a:latin typeface="字魂58号-创中黑" panose="00000500000000000000" pitchFamily="2" charset="-122"/>
                      <a:ea typeface="字魂58号-创中黑" panose="00000500000000000000" pitchFamily="2" charset="-122"/>
                      <a:sym typeface="+mn-ea"/>
                    </a:rPr>
                    <a:t>数据流跟踪和网络流量分析</a:t>
                  </a:r>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sym typeface="+mn-ea"/>
                    </a:rPr>
                    <a:t>，但它们都存在一些限制，尤其是在面对试图隐藏信息泄漏事实的应用程序时会产生误报和漏报，以及无法处理混淆技术。</a:t>
                  </a:r>
                  <a:endPar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sym typeface="+mn-ea"/>
                  </a:endParaRPr>
                </a:p>
                <a:p>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sym typeface="+mn-ea"/>
                    </a:rPr>
                    <a:t>因为它们执行简单的字符串匹配，基本上是对私人信息的硬编码值和一些众所周知的编码进行“grep”。</a:t>
                  </a:r>
                  <a:endPar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endParaRPr>
                </a:p>
              </p:txBody>
            </p:sp>
            <p:sp>
              <p:nvSpPr>
                <p:cNvPr id="128" name="文本框 34"/>
                <p:cNvSpPr txBox="1"/>
                <p:nvPr/>
              </p:nvSpPr>
              <p:spPr>
                <a:xfrm>
                  <a:off x="1812815" y="1467478"/>
                  <a:ext cx="2152650" cy="37300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chemeClr val="tx2">
                          <a:lumMod val="50000"/>
                        </a:schemeClr>
                      </a:solidFill>
                      <a:latin typeface="思源黑体 CN Bold" panose="020B0800000000000000" pitchFamily="34" charset="-122"/>
                      <a:ea typeface="思源黑体 CN Bold" panose="020B0800000000000000" pitchFamily="34" charset="-122"/>
                    </a:rPr>
                    <a:t>现有方法的局限</a:t>
                  </a:r>
                  <a:endParaRPr lang="zh-CN" altLang="en-US" b="1"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grpSp>
          <p:nvGrpSpPr>
            <p:cNvPr id="119" name="组合 118"/>
            <p:cNvGrpSpPr/>
            <p:nvPr/>
          </p:nvGrpSpPr>
          <p:grpSpPr>
            <a:xfrm rot="0">
              <a:off x="8369789" y="2410752"/>
              <a:ext cx="3256890" cy="5194368"/>
              <a:chOff x="1680101" y="2222642"/>
              <a:chExt cx="3256890" cy="5194368"/>
            </a:xfrm>
          </p:grpSpPr>
          <p:sp>
            <p:nvSpPr>
              <p:cNvPr id="122" name="文本框 46"/>
              <p:cNvSpPr txBox="1"/>
              <p:nvPr/>
            </p:nvSpPr>
            <p:spPr>
              <a:xfrm>
                <a:off x="1680736" y="2654166"/>
                <a:ext cx="3256255" cy="4762844"/>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rPr>
                  <a:t>应用程序泄露私人信息的</a:t>
                </a:r>
                <a:r>
                  <a:rPr lang="zh-CN" altLang="en-US" sz="1600" dirty="0" smtClean="0">
                    <a:solidFill>
                      <a:srgbClr val="FF0000"/>
                    </a:solidFill>
                    <a:latin typeface="字魂58号-创中黑" panose="00000500000000000000" pitchFamily="2" charset="-122"/>
                    <a:ea typeface="字魂58号-创中黑" panose="00000500000000000000" pitchFamily="2" charset="-122"/>
                  </a:rPr>
                  <a:t>混淆机制</a:t>
                </a:r>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rPr>
                  <a:t>。具体来说，应用程序可能通过修改Android ID、联系人、ICCID、IMEI、IMSI、位置、MAC地址和电话号码等私人信息源来改变返回值，或者通过Xposed模块来干扰Android API的返回值。</a:t>
                </a:r>
                <a:endPar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endParaRPr>
              </a:p>
              <a:p>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rPr>
                  <a:t>此外，应用程序还可能利用模拟位置、通过adb生成意图来修改联系人列表，以及使用自定义编码和加密技术来混淆私人信息。</a:t>
                </a:r>
                <a:endPar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endParaRPr>
              </a:p>
            </p:txBody>
          </p:sp>
          <p:sp>
            <p:nvSpPr>
              <p:cNvPr id="123" name="文本框 34"/>
              <p:cNvSpPr txBox="1"/>
              <p:nvPr/>
            </p:nvSpPr>
            <p:spPr>
              <a:xfrm>
                <a:off x="1680101" y="2222642"/>
                <a:ext cx="2324717" cy="37300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chemeClr val="tx2">
                        <a:lumMod val="50000"/>
                      </a:schemeClr>
                    </a:solidFill>
                    <a:latin typeface="思源黑体 CN Bold" panose="020B0800000000000000" pitchFamily="34" charset="-122"/>
                    <a:ea typeface="思源黑体 CN Bold" panose="020B0800000000000000" pitchFamily="34" charset="-122"/>
                  </a:rPr>
                  <a:t>混淆</a:t>
                </a:r>
                <a:r>
                  <a:rPr lang="zh-CN" altLang="en-US" b="1" dirty="0">
                    <a:solidFill>
                      <a:schemeClr val="tx2">
                        <a:lumMod val="50000"/>
                      </a:schemeClr>
                    </a:solidFill>
                    <a:latin typeface="思源黑体 CN Bold" panose="020B0800000000000000" pitchFamily="34" charset="-122"/>
                    <a:ea typeface="思源黑体 CN Bold" panose="020B0800000000000000" pitchFamily="34" charset="-122"/>
                  </a:rPr>
                  <a:t>技术的挑战</a:t>
                </a:r>
                <a:endParaRPr lang="zh-CN" altLang="en-US" b="1"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pic>
        <p:nvPicPr>
          <p:cNvPr id="33" name="图片 3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352277" y="117494"/>
            <a:ext cx="2143500" cy="714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500" advTm="3000">
        <p14:reveal/>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16"/>
                                        </p:tgtEl>
                                        <p:attrNameLst>
                                          <p:attrName>style.visibility</p:attrName>
                                        </p:attrNameLst>
                                      </p:cBhvr>
                                      <p:to>
                                        <p:strVal val="visible"/>
                                      </p:to>
                                    </p:set>
                                    <p:anim calcmode="lin" valueType="num">
                                      <p:cBhvr>
                                        <p:cTn id="7" dur="1000" fill="hold"/>
                                        <p:tgtEl>
                                          <p:spTgt spid="116"/>
                                        </p:tgtEl>
                                        <p:attrNameLst>
                                          <p:attrName>ppt_w</p:attrName>
                                        </p:attrNameLst>
                                      </p:cBhvr>
                                      <p:tavLst>
                                        <p:tav tm="0">
                                          <p:val>
                                            <p:strVal val="#ppt_w*0.70"/>
                                          </p:val>
                                        </p:tav>
                                        <p:tav tm="100000">
                                          <p:val>
                                            <p:strVal val="#ppt_w"/>
                                          </p:val>
                                        </p:tav>
                                      </p:tavLst>
                                    </p:anim>
                                    <p:anim calcmode="lin" valueType="num">
                                      <p:cBhvr>
                                        <p:cTn id="8" dur="1000" fill="hold"/>
                                        <p:tgtEl>
                                          <p:spTgt spid="116"/>
                                        </p:tgtEl>
                                        <p:attrNameLst>
                                          <p:attrName>ppt_h</p:attrName>
                                        </p:attrNameLst>
                                      </p:cBhvr>
                                      <p:tavLst>
                                        <p:tav tm="0">
                                          <p:val>
                                            <p:strVal val="#ppt_h"/>
                                          </p:val>
                                        </p:tav>
                                        <p:tav tm="100000">
                                          <p:val>
                                            <p:strVal val="#ppt_h"/>
                                          </p:val>
                                        </p:tav>
                                      </p:tavLst>
                                    </p:anim>
                                    <p:animEffect transition="in" filter="fade">
                                      <p:cBhvr>
                                        <p:cTn id="9" dur="10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2509221" y="0"/>
            <a:ext cx="14701221" cy="6858000"/>
            <a:chOff x="-2509221" y="0"/>
            <a:chExt cx="14701221" cy="6858000"/>
          </a:xfrm>
        </p:grpSpPr>
        <p:grpSp>
          <p:nvGrpSpPr>
            <p:cNvPr id="10" name="组合 9"/>
            <p:cNvGrpSpPr/>
            <p:nvPr/>
          </p:nvGrpSpPr>
          <p:grpSpPr>
            <a:xfrm>
              <a:off x="-2509221" y="0"/>
              <a:ext cx="14701221" cy="6858000"/>
              <a:chOff x="-2509221" y="0"/>
              <a:chExt cx="14701221" cy="6858000"/>
            </a:xfrm>
          </p:grpSpPr>
          <p:sp>
            <p:nvSpPr>
              <p:cNvPr id="3" name="矩形 2"/>
              <p:cNvSpPr/>
              <p:nvPr/>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平行四边形 4"/>
              <p:cNvSpPr/>
              <p:nvPr/>
            </p:nvSpPr>
            <p:spPr>
              <a:xfrm>
                <a:off x="462579" y="0"/>
                <a:ext cx="11729421" cy="6858000"/>
              </a:xfrm>
              <a:prstGeom prst="parallelogram">
                <a:avLst>
                  <a:gd name="adj" fmla="val 4537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p:nvSpPr>
            <p:spPr>
              <a:xfrm>
                <a:off x="-2509221" y="0"/>
                <a:ext cx="11729421" cy="6858000"/>
              </a:xfrm>
              <a:prstGeom prst="parallelogram">
                <a:avLst>
                  <a:gd name="adj" fmla="val 453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nvSpPr>
            <p:spPr>
              <a:xfrm>
                <a:off x="0" y="0"/>
                <a:ext cx="6327289" cy="6858000"/>
              </a:xfrm>
              <a:custGeom>
                <a:avLst/>
                <a:gdLst>
                  <a:gd name="connsiteX0" fmla="*/ 0 w 6327289"/>
                  <a:gd name="connsiteY0" fmla="*/ 0 h 6858000"/>
                  <a:gd name="connsiteX1" fmla="*/ 6327289 w 6327289"/>
                  <a:gd name="connsiteY1" fmla="*/ 0 h 6858000"/>
                  <a:gd name="connsiteX2" fmla="*/ 3215814 w 6327289"/>
                  <a:gd name="connsiteY2" fmla="*/ 6858000 h 6858000"/>
                  <a:gd name="connsiteX3" fmla="*/ 0 w 632728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327289" h="6858000">
                    <a:moveTo>
                      <a:pt x="0" y="0"/>
                    </a:moveTo>
                    <a:lnTo>
                      <a:pt x="6327289" y="0"/>
                    </a:lnTo>
                    <a:lnTo>
                      <a:pt x="3215814" y="6858000"/>
                    </a:lnTo>
                    <a:lnTo>
                      <a:pt x="0"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11" name="矩形 10"/>
            <p:cNvSpPr/>
            <p:nvPr/>
          </p:nvSpPr>
          <p:spPr>
            <a:xfrm>
              <a:off x="0" y="939800"/>
              <a:ext cx="12192000" cy="5918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4742894" y="177513"/>
              <a:ext cx="2706211" cy="5835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pPr algn="ctr"/>
              <a:r>
                <a:rPr lang="en-US" altLang="zh-CN" sz="3200" dirty="0">
                  <a:solidFill>
                    <a:schemeClr val="bg1"/>
                  </a:solidFill>
                </a:rPr>
                <a:t>02. </a:t>
              </a:r>
              <a:r>
                <a:rPr lang="zh-CN" altLang="en-US" sz="3200" dirty="0">
                  <a:solidFill>
                    <a:schemeClr val="bg1"/>
                  </a:solidFill>
                </a:rPr>
                <a:t>技术</a:t>
              </a:r>
              <a:r>
                <a:rPr lang="zh-CN" altLang="en-US" sz="3200" dirty="0">
                  <a:solidFill>
                    <a:schemeClr val="bg1"/>
                  </a:solidFill>
                </a:rPr>
                <a:t>路线</a:t>
              </a:r>
              <a:endParaRPr lang="zh-CN" altLang="en-US" sz="3200" dirty="0">
                <a:solidFill>
                  <a:schemeClr val="bg1"/>
                </a:solidFill>
              </a:endParaRPr>
            </a:p>
          </p:txBody>
        </p:sp>
      </p:grpSp>
      <p:grpSp>
        <p:nvGrpSpPr>
          <p:cNvPr id="82" name="组合 81"/>
          <p:cNvGrpSpPr/>
          <p:nvPr>
            <p:custDataLst>
              <p:tags r:id="rId1"/>
            </p:custDataLst>
          </p:nvPr>
        </p:nvGrpSpPr>
        <p:grpSpPr>
          <a:xfrm>
            <a:off x="869950" y="1450975"/>
            <a:ext cx="10510520" cy="4182745"/>
            <a:chOff x="870154" y="1450912"/>
            <a:chExt cx="10510807" cy="4382461"/>
          </a:xfrm>
        </p:grpSpPr>
        <p:sp>
          <p:nvSpPr>
            <p:cNvPr id="42" name="文本框 41"/>
            <p:cNvSpPr txBox="1"/>
            <p:nvPr/>
          </p:nvSpPr>
          <p:spPr>
            <a:xfrm>
              <a:off x="2002994" y="1450912"/>
              <a:ext cx="8186420" cy="1264285"/>
            </a:xfrm>
            <a:prstGeom prst="rect">
              <a:avLst/>
            </a:prstGeom>
            <a:noFill/>
          </p:spPr>
          <p:txBody>
            <a:bodyPr wrap="square" rtlCol="0">
              <a:noAutofit/>
            </a:bodyPr>
            <a:lstStyle>
              <a:defPPr>
                <a:defRPr lang="zh-CN"/>
              </a:defPPr>
              <a:lvl1pPr algn="ctr">
                <a:defRPr sz="1600">
                  <a:solidFill>
                    <a:schemeClr val="tx2"/>
                  </a:solidFill>
                  <a:latin typeface="字魂58号-创中黑" panose="00000500000000000000" pitchFamily="2" charset="-122"/>
                  <a:ea typeface="字魂58号-创中黑" panose="00000500000000000000" pitchFamily="2" charset="-122"/>
                </a:defRPr>
              </a:lvl1pPr>
            </a:lstStyle>
            <a:p>
              <a:r>
                <a:rPr lang="zh-CN" altLang="en-US" sz="1800" dirty="0" smtClean="0">
                  <a:solidFill>
                    <a:schemeClr val="tx2">
                      <a:lumMod val="50000"/>
                    </a:schemeClr>
                  </a:solidFill>
                  <a:latin typeface="+mn-ea"/>
                  <a:ea typeface="+mn-ea"/>
                  <a:sym typeface="+mn-ea"/>
                </a:rPr>
                <a:t>本文提出了一种</a:t>
              </a:r>
              <a:r>
                <a:rPr lang="zh-CN" altLang="en-US" sz="1800" dirty="0" smtClean="0">
                  <a:solidFill>
                    <a:srgbClr val="FF0000"/>
                  </a:solidFill>
                  <a:latin typeface="+mn-ea"/>
                  <a:ea typeface="+mn-ea"/>
                  <a:sym typeface="+mn-ea"/>
                </a:rPr>
                <a:t>基于差异分析的隐私泄露检测方法</a:t>
              </a:r>
              <a:r>
                <a:rPr lang="zh-CN" altLang="en-US" sz="1800" dirty="0" smtClean="0">
                  <a:solidFill>
                    <a:schemeClr val="tx2">
                      <a:lumMod val="50000"/>
                    </a:schemeClr>
                  </a:solidFill>
                  <a:latin typeface="+mn-ea"/>
                  <a:ea typeface="+mn-ea"/>
                  <a:sym typeface="+mn-ea"/>
                </a:rPr>
                <a:t>。</a:t>
              </a:r>
              <a:endParaRPr lang="zh-CN" altLang="en-US" sz="1800" dirty="0" smtClean="0">
                <a:solidFill>
                  <a:schemeClr val="tx2">
                    <a:lumMod val="50000"/>
                  </a:schemeClr>
                </a:solidFill>
                <a:latin typeface="+mn-ea"/>
                <a:ea typeface="+mn-ea"/>
              </a:endParaRPr>
            </a:p>
            <a:p>
              <a:r>
                <a:rPr lang="zh-CN" altLang="en-US" sz="1800" dirty="0" smtClean="0">
                  <a:solidFill>
                    <a:schemeClr val="tx2">
                      <a:lumMod val="50000"/>
                    </a:schemeClr>
                  </a:solidFill>
                  <a:latin typeface="+mn-ea"/>
                  <a:ea typeface="+mn-ea"/>
                  <a:sym typeface="+mn-ea"/>
                </a:rPr>
                <a:t>该方法包括两个步骤：网络行为摘要提取和和通过观察修改私人信息源后的网络流量偏差来检测泄露。</a:t>
              </a:r>
              <a:endParaRPr lang="zh-CN" altLang="en-US" sz="1800" dirty="0" smtClean="0">
                <a:solidFill>
                  <a:schemeClr val="tx2">
                    <a:lumMod val="50000"/>
                  </a:schemeClr>
                </a:solidFill>
                <a:latin typeface="+mn-ea"/>
                <a:ea typeface="+mn-ea"/>
                <a:sym typeface="+mn-ea"/>
              </a:endParaRPr>
            </a:p>
          </p:txBody>
        </p:sp>
        <p:grpSp>
          <p:nvGrpSpPr>
            <p:cNvPr id="81" name="组合 80"/>
            <p:cNvGrpSpPr/>
            <p:nvPr/>
          </p:nvGrpSpPr>
          <p:grpSpPr>
            <a:xfrm>
              <a:off x="870154" y="3081258"/>
              <a:ext cx="10510807" cy="2752115"/>
              <a:chOff x="870154" y="3081258"/>
              <a:chExt cx="10510807" cy="2752115"/>
            </a:xfrm>
          </p:grpSpPr>
          <p:grpSp>
            <p:nvGrpSpPr>
              <p:cNvPr id="40" name="组合 39"/>
              <p:cNvGrpSpPr/>
              <p:nvPr/>
            </p:nvGrpSpPr>
            <p:grpSpPr>
              <a:xfrm>
                <a:off x="870154" y="3081258"/>
                <a:ext cx="10510807" cy="2752115"/>
                <a:chOff x="839768" y="2052942"/>
                <a:chExt cx="10510807" cy="2752115"/>
              </a:xfrm>
            </p:grpSpPr>
            <p:grpSp>
              <p:nvGrpSpPr>
                <p:cNvPr id="12" name="49077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
                  </p:custDataLst>
                </p:nvPr>
              </p:nvGrpSpPr>
              <p:grpSpPr>
                <a:xfrm>
                  <a:off x="3502205" y="2052942"/>
                  <a:ext cx="5187589" cy="2752115"/>
                  <a:chOff x="4899054" y="2787732"/>
                  <a:chExt cx="2417512" cy="1282536"/>
                </a:xfrm>
              </p:grpSpPr>
              <p:cxnSp>
                <p:nvCxnSpPr>
                  <p:cNvPr id="15" name="直接连接符 14"/>
                  <p:cNvCxnSpPr/>
                  <p:nvPr>
                    <p:custDataLst>
                      <p:tags r:id="rId3"/>
                    </p:custDataLst>
                  </p:nvPr>
                </p:nvCxnSpPr>
                <p:spPr>
                  <a:xfrm>
                    <a:off x="6796646" y="3429000"/>
                    <a:ext cx="519920" cy="0"/>
                  </a:xfrm>
                  <a:prstGeom prst="line">
                    <a:avLst/>
                  </a:prstGeom>
                  <a:ln w="3175" cap="rnd">
                    <a:solidFill>
                      <a:schemeClr val="tx2"/>
                    </a:solidFill>
                    <a:round/>
                    <a:tailEnd type="oval" w="med" len="me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4"/>
                    </p:custDataLst>
                  </p:nvPr>
                </p:nvCxnSpPr>
                <p:spPr>
                  <a:xfrm flipH="1">
                    <a:off x="4899054" y="3429000"/>
                    <a:ext cx="511147" cy="0"/>
                  </a:xfrm>
                  <a:prstGeom prst="line">
                    <a:avLst/>
                  </a:prstGeom>
                  <a:ln w="3175" cap="rnd">
                    <a:solidFill>
                      <a:schemeClr val="accent1"/>
                    </a:solidFill>
                    <a:round/>
                    <a:tailEnd type="oval" w="med" len="med"/>
                  </a:ln>
                </p:spPr>
                <p:style>
                  <a:lnRef idx="1">
                    <a:schemeClr val="accent1"/>
                  </a:lnRef>
                  <a:fillRef idx="0">
                    <a:schemeClr val="accent1"/>
                  </a:fillRef>
                  <a:effectRef idx="0">
                    <a:schemeClr val="accent1"/>
                  </a:effectRef>
                  <a:fontRef idx="minor">
                    <a:schemeClr val="tx1"/>
                  </a:fontRef>
                </p:style>
              </p:cxnSp>
              <p:sp>
                <p:nvSpPr>
                  <p:cNvPr id="17" name="íşlíḍe"/>
                  <p:cNvSpPr/>
                  <p:nvPr>
                    <p:custDataLst>
                      <p:tags r:id="rId5"/>
                    </p:custDataLst>
                  </p:nvPr>
                </p:nvSpPr>
                <p:spPr>
                  <a:xfrm rot="12256011" flipH="1">
                    <a:off x="5454732" y="2787732"/>
                    <a:ext cx="1282536" cy="1282536"/>
                  </a:xfrm>
                  <a:prstGeom prst="arc">
                    <a:avLst>
                      <a:gd name="adj1" fmla="val 13308074"/>
                      <a:gd name="adj2" fmla="val 6234045"/>
                    </a:avLst>
                  </a:prstGeom>
                  <a:ln w="127000" cap="rnd">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isḻíḓê"/>
                  <p:cNvSpPr/>
                  <p:nvPr>
                    <p:custDataLst>
                      <p:tags r:id="rId6"/>
                    </p:custDataLst>
                  </p:nvPr>
                </p:nvSpPr>
                <p:spPr>
                  <a:xfrm flipH="1">
                    <a:off x="5454732" y="2787732"/>
                    <a:ext cx="1282536" cy="1282536"/>
                  </a:xfrm>
                  <a:prstGeom prst="arc">
                    <a:avLst>
                      <a:gd name="adj1" fmla="val 16763610"/>
                      <a:gd name="adj2" fmla="val 21550813"/>
                    </a:avLst>
                  </a:prstGeom>
                  <a:ln w="130175"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í$1îḍè"/>
                  <p:cNvSpPr/>
                  <p:nvPr>
                    <p:custDataLst>
                      <p:tags r:id="rId7"/>
                    </p:custDataLst>
                  </p:nvPr>
                </p:nvSpPr>
                <p:spPr>
                  <a:xfrm>
                    <a:off x="5764672" y="3097672"/>
                    <a:ext cx="662656" cy="662656"/>
                  </a:xfrm>
                  <a:prstGeom prst="ellipse">
                    <a:avLst/>
                  </a:prstGeom>
                  <a:solidFill>
                    <a:schemeClr val="accent1"/>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grpSp>
              <p:nvGrpSpPr>
                <p:cNvPr id="36" name="组合 35"/>
                <p:cNvGrpSpPr/>
                <p:nvPr/>
              </p:nvGrpSpPr>
              <p:grpSpPr>
                <a:xfrm>
                  <a:off x="839768" y="2454672"/>
                  <a:ext cx="2255520" cy="2068830"/>
                  <a:chOff x="815508" y="2534589"/>
                  <a:chExt cx="2255520" cy="2068830"/>
                </a:xfrm>
              </p:grpSpPr>
              <p:sp>
                <p:nvSpPr>
                  <p:cNvPr id="33" name="文本框 46"/>
                  <p:cNvSpPr txBox="1"/>
                  <p:nvPr>
                    <p:custDataLst>
                      <p:tags r:id="rId8"/>
                    </p:custDataLst>
                  </p:nvPr>
                </p:nvSpPr>
                <p:spPr>
                  <a:xfrm>
                    <a:off x="815508" y="2963849"/>
                    <a:ext cx="2255520" cy="1639570"/>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rPr>
                      <a:t>在网络行为摘要提取阶段，通过在仪器化环境中多次执行应用程序，收集原始网络跟踪和上下文信息，以创建应用程序的网络行为摘要。</a:t>
                    </a:r>
                    <a:endPar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endParaRPr>
                  </a:p>
                </p:txBody>
              </p:sp>
              <p:sp>
                <p:nvSpPr>
                  <p:cNvPr id="35" name="文本框 34"/>
                  <p:cNvSpPr txBox="1"/>
                  <p:nvPr>
                    <p:custDataLst>
                      <p:tags r:id="rId9"/>
                    </p:custDataLst>
                  </p:nvPr>
                </p:nvSpPr>
                <p:spPr>
                  <a:xfrm>
                    <a:off x="1021883" y="2534589"/>
                    <a:ext cx="1840865" cy="3858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smtClean="0">
                        <a:solidFill>
                          <a:schemeClr val="tx2">
                            <a:lumMod val="50000"/>
                          </a:schemeClr>
                        </a:solidFill>
                        <a:latin typeface="字魂58号-创中黑" panose="00000500000000000000" pitchFamily="2" charset="-122"/>
                        <a:ea typeface="字魂58号-创中黑" panose="00000500000000000000" pitchFamily="2" charset="-122"/>
                        <a:sym typeface="+mn-ea"/>
                      </a:rPr>
                      <a:t>网络行为摘要</a:t>
                    </a:r>
                    <a:endParaRPr lang="zh-CN" altLang="en-US" b="1"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nvGrpSpPr>
                <p:cNvPr id="37" name="组合 36"/>
                <p:cNvGrpSpPr/>
                <p:nvPr/>
              </p:nvGrpSpPr>
              <p:grpSpPr>
                <a:xfrm>
                  <a:off x="9029650" y="2454898"/>
                  <a:ext cx="2320925" cy="2072600"/>
                  <a:chOff x="1366053" y="2534815"/>
                  <a:chExt cx="2320925" cy="2072600"/>
                </a:xfrm>
              </p:grpSpPr>
              <p:sp>
                <p:nvSpPr>
                  <p:cNvPr id="38" name="文本框 46"/>
                  <p:cNvSpPr txBox="1"/>
                  <p:nvPr>
                    <p:custDataLst>
                      <p:tags r:id="rId10"/>
                    </p:custDataLst>
                  </p:nvPr>
                </p:nvSpPr>
                <p:spPr>
                  <a:xfrm>
                    <a:off x="1366053" y="2964075"/>
                    <a:ext cx="2320925" cy="164334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rPr>
                      <a:t>差异分析阶段中，通过改变私人信息源的值，与之前运行的网络行为摘要进行比较，以识别任何差异，并评分确定潜在的隐私泄漏。</a:t>
                    </a:r>
                    <a:endPar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endParaRPr>
                  </a:p>
                </p:txBody>
              </p:sp>
              <p:sp>
                <p:nvSpPr>
                  <p:cNvPr id="39" name="文本框 38"/>
                  <p:cNvSpPr txBox="1"/>
                  <p:nvPr>
                    <p:custDataLst>
                      <p:tags r:id="rId11"/>
                    </p:custDataLst>
                  </p:nvPr>
                </p:nvSpPr>
                <p:spPr>
                  <a:xfrm>
                    <a:off x="1739084" y="2534815"/>
                    <a:ext cx="1574800" cy="40035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smtClean="0">
                        <a:solidFill>
                          <a:schemeClr val="tx2">
                            <a:lumMod val="50000"/>
                          </a:schemeClr>
                        </a:solidFill>
                        <a:latin typeface="字魂58号-创中黑" panose="00000500000000000000" pitchFamily="2" charset="-122"/>
                        <a:ea typeface="字魂58号-创中黑" panose="00000500000000000000" pitchFamily="2" charset="-122"/>
                      </a:rPr>
                      <a:t>差异分析</a:t>
                    </a:r>
                    <a:endParaRPr lang="zh-CN" altLang="en-US" b="1" dirty="0">
                      <a:solidFill>
                        <a:schemeClr val="tx2">
                          <a:lumMod val="50000"/>
                        </a:schemeClr>
                      </a:solidFill>
                      <a:latin typeface="思源黑体 CN Bold" panose="020B0800000000000000" pitchFamily="34" charset="-122"/>
                      <a:ea typeface="思源黑体 CN Bold" panose="020B0800000000000000" pitchFamily="34" charset="-122"/>
                    </a:endParaRPr>
                  </a:p>
                </p:txBody>
              </p:sp>
            </p:grpSp>
          </p:grpSp>
          <p:sp>
            <p:nvSpPr>
              <p:cNvPr id="80" name="iconfont-11092-5226644"/>
              <p:cNvSpPr>
                <a:spLocks noChangeAspect="1"/>
              </p:cNvSpPr>
              <p:nvPr>
                <p:custDataLst>
                  <p:tags r:id="rId12"/>
                </p:custDataLst>
              </p:nvPr>
            </p:nvSpPr>
            <p:spPr bwMode="auto">
              <a:xfrm>
                <a:off x="5862134" y="4152472"/>
                <a:ext cx="487772" cy="609685"/>
              </a:xfrm>
              <a:custGeom>
                <a:avLst/>
                <a:gdLst>
                  <a:gd name="T0" fmla="*/ 1067 w 8534"/>
                  <a:gd name="T1" fmla="*/ 1066 h 10666"/>
                  <a:gd name="T2" fmla="*/ 1067 w 8534"/>
                  <a:gd name="T3" fmla="*/ 10133 h 10666"/>
                  <a:gd name="T4" fmla="*/ 534 w 8534"/>
                  <a:gd name="T5" fmla="*/ 10666 h 10666"/>
                  <a:gd name="T6" fmla="*/ 0 w 8534"/>
                  <a:gd name="T7" fmla="*/ 10133 h 10666"/>
                  <a:gd name="T8" fmla="*/ 0 w 8534"/>
                  <a:gd name="T9" fmla="*/ 533 h 10666"/>
                  <a:gd name="T10" fmla="*/ 534 w 8534"/>
                  <a:gd name="T11" fmla="*/ 0 h 10666"/>
                  <a:gd name="T12" fmla="*/ 5867 w 8534"/>
                  <a:gd name="T13" fmla="*/ 0 h 10666"/>
                  <a:gd name="T14" fmla="*/ 6244 w 8534"/>
                  <a:gd name="T15" fmla="*/ 156 h 10666"/>
                  <a:gd name="T16" fmla="*/ 8377 w 8534"/>
                  <a:gd name="T17" fmla="*/ 2289 h 10666"/>
                  <a:gd name="T18" fmla="*/ 8534 w 8534"/>
                  <a:gd name="T19" fmla="*/ 2666 h 10666"/>
                  <a:gd name="T20" fmla="*/ 8534 w 8534"/>
                  <a:gd name="T21" fmla="*/ 10133 h 10666"/>
                  <a:gd name="T22" fmla="*/ 8000 w 8534"/>
                  <a:gd name="T23" fmla="*/ 10666 h 10666"/>
                  <a:gd name="T24" fmla="*/ 2667 w 8534"/>
                  <a:gd name="T25" fmla="*/ 10666 h 10666"/>
                  <a:gd name="T26" fmla="*/ 2134 w 8534"/>
                  <a:gd name="T27" fmla="*/ 10133 h 10666"/>
                  <a:gd name="T28" fmla="*/ 2667 w 8534"/>
                  <a:gd name="T29" fmla="*/ 9600 h 10666"/>
                  <a:gd name="T30" fmla="*/ 7467 w 8534"/>
                  <a:gd name="T31" fmla="*/ 9600 h 10666"/>
                  <a:gd name="T32" fmla="*/ 7467 w 8534"/>
                  <a:gd name="T33" fmla="*/ 2887 h 10666"/>
                  <a:gd name="T34" fmla="*/ 5646 w 8534"/>
                  <a:gd name="T35" fmla="*/ 1066 h 10666"/>
                  <a:gd name="T36" fmla="*/ 1067 w 8534"/>
                  <a:gd name="T37" fmla="*/ 1066 h 10666"/>
                  <a:gd name="T38" fmla="*/ 2667 w 8534"/>
                  <a:gd name="T39" fmla="*/ 5866 h 10666"/>
                  <a:gd name="T40" fmla="*/ 2134 w 8534"/>
                  <a:gd name="T41" fmla="*/ 5333 h 10666"/>
                  <a:gd name="T42" fmla="*/ 2667 w 8534"/>
                  <a:gd name="T43" fmla="*/ 4800 h 10666"/>
                  <a:gd name="T44" fmla="*/ 5867 w 8534"/>
                  <a:gd name="T45" fmla="*/ 4800 h 10666"/>
                  <a:gd name="T46" fmla="*/ 6400 w 8534"/>
                  <a:gd name="T47" fmla="*/ 5333 h 10666"/>
                  <a:gd name="T48" fmla="*/ 5867 w 8534"/>
                  <a:gd name="T49" fmla="*/ 5866 h 10666"/>
                  <a:gd name="T50" fmla="*/ 2667 w 8534"/>
                  <a:gd name="T51" fmla="*/ 5866 h 10666"/>
                  <a:gd name="T52" fmla="*/ 2667 w 8534"/>
                  <a:gd name="T53" fmla="*/ 3733 h 10666"/>
                  <a:gd name="T54" fmla="*/ 2134 w 8534"/>
                  <a:gd name="T55" fmla="*/ 3200 h 10666"/>
                  <a:gd name="T56" fmla="*/ 2667 w 8534"/>
                  <a:gd name="T57" fmla="*/ 2666 h 10666"/>
                  <a:gd name="T58" fmla="*/ 3734 w 8534"/>
                  <a:gd name="T59" fmla="*/ 2666 h 10666"/>
                  <a:gd name="T60" fmla="*/ 4267 w 8534"/>
                  <a:gd name="T61" fmla="*/ 3200 h 10666"/>
                  <a:gd name="T62" fmla="*/ 3734 w 8534"/>
                  <a:gd name="T63" fmla="*/ 3733 h 10666"/>
                  <a:gd name="T64" fmla="*/ 2667 w 8534"/>
                  <a:gd name="T65" fmla="*/ 3733 h 10666"/>
                  <a:gd name="T66" fmla="*/ 2667 w 8534"/>
                  <a:gd name="T67" fmla="*/ 8000 h 10666"/>
                  <a:gd name="T68" fmla="*/ 2134 w 8534"/>
                  <a:gd name="T69" fmla="*/ 7466 h 10666"/>
                  <a:gd name="T70" fmla="*/ 2667 w 8534"/>
                  <a:gd name="T71" fmla="*/ 6933 h 10666"/>
                  <a:gd name="T72" fmla="*/ 4800 w 8534"/>
                  <a:gd name="T73" fmla="*/ 6933 h 10666"/>
                  <a:gd name="T74" fmla="*/ 5334 w 8534"/>
                  <a:gd name="T75" fmla="*/ 7466 h 10666"/>
                  <a:gd name="T76" fmla="*/ 4800 w 8534"/>
                  <a:gd name="T77" fmla="*/ 8000 h 10666"/>
                  <a:gd name="T78" fmla="*/ 2667 w 8534"/>
                  <a:gd name="T79" fmla="*/ 8000 h 10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534" h="10666">
                    <a:moveTo>
                      <a:pt x="1067" y="1066"/>
                    </a:moveTo>
                    <a:lnTo>
                      <a:pt x="1067" y="10133"/>
                    </a:lnTo>
                    <a:cubicBezTo>
                      <a:pt x="1067" y="10428"/>
                      <a:pt x="828" y="10666"/>
                      <a:pt x="534" y="10666"/>
                    </a:cubicBezTo>
                    <a:cubicBezTo>
                      <a:pt x="239" y="10666"/>
                      <a:pt x="0" y="10428"/>
                      <a:pt x="0" y="10133"/>
                    </a:cubicBezTo>
                    <a:lnTo>
                      <a:pt x="0" y="533"/>
                    </a:lnTo>
                    <a:cubicBezTo>
                      <a:pt x="0" y="238"/>
                      <a:pt x="239" y="0"/>
                      <a:pt x="534" y="0"/>
                    </a:cubicBezTo>
                    <a:lnTo>
                      <a:pt x="5867" y="0"/>
                    </a:lnTo>
                    <a:cubicBezTo>
                      <a:pt x="6008" y="0"/>
                      <a:pt x="6144" y="56"/>
                      <a:pt x="6244" y="156"/>
                    </a:cubicBezTo>
                    <a:lnTo>
                      <a:pt x="8377" y="2289"/>
                    </a:lnTo>
                    <a:cubicBezTo>
                      <a:pt x="8477" y="2389"/>
                      <a:pt x="8534" y="2525"/>
                      <a:pt x="8534" y="2666"/>
                    </a:cubicBezTo>
                    <a:lnTo>
                      <a:pt x="8534" y="10133"/>
                    </a:lnTo>
                    <a:cubicBezTo>
                      <a:pt x="8534" y="10428"/>
                      <a:pt x="8295" y="10666"/>
                      <a:pt x="8000" y="10666"/>
                    </a:cubicBezTo>
                    <a:lnTo>
                      <a:pt x="2667" y="10666"/>
                    </a:lnTo>
                    <a:cubicBezTo>
                      <a:pt x="2372" y="10666"/>
                      <a:pt x="2134" y="10428"/>
                      <a:pt x="2134" y="10133"/>
                    </a:cubicBezTo>
                    <a:cubicBezTo>
                      <a:pt x="2134" y="9838"/>
                      <a:pt x="2372" y="9600"/>
                      <a:pt x="2667" y="9600"/>
                    </a:cubicBezTo>
                    <a:lnTo>
                      <a:pt x="7467" y="9600"/>
                    </a:lnTo>
                    <a:lnTo>
                      <a:pt x="7467" y="2887"/>
                    </a:lnTo>
                    <a:lnTo>
                      <a:pt x="5646" y="1066"/>
                    </a:lnTo>
                    <a:lnTo>
                      <a:pt x="1067" y="1066"/>
                    </a:lnTo>
                    <a:close/>
                    <a:moveTo>
                      <a:pt x="2667" y="5866"/>
                    </a:moveTo>
                    <a:cubicBezTo>
                      <a:pt x="2372" y="5866"/>
                      <a:pt x="2134" y="5628"/>
                      <a:pt x="2134" y="5333"/>
                    </a:cubicBezTo>
                    <a:cubicBezTo>
                      <a:pt x="2134" y="5038"/>
                      <a:pt x="2372" y="4800"/>
                      <a:pt x="2667" y="4800"/>
                    </a:cubicBezTo>
                    <a:lnTo>
                      <a:pt x="5867" y="4800"/>
                    </a:lnTo>
                    <a:cubicBezTo>
                      <a:pt x="6162" y="4800"/>
                      <a:pt x="6400" y="5038"/>
                      <a:pt x="6400" y="5333"/>
                    </a:cubicBezTo>
                    <a:cubicBezTo>
                      <a:pt x="6400" y="5628"/>
                      <a:pt x="6162" y="5866"/>
                      <a:pt x="5867" y="5866"/>
                    </a:cubicBezTo>
                    <a:lnTo>
                      <a:pt x="2667" y="5866"/>
                    </a:lnTo>
                    <a:close/>
                    <a:moveTo>
                      <a:pt x="2667" y="3733"/>
                    </a:moveTo>
                    <a:cubicBezTo>
                      <a:pt x="2372" y="3733"/>
                      <a:pt x="2134" y="3494"/>
                      <a:pt x="2134" y="3200"/>
                    </a:cubicBezTo>
                    <a:cubicBezTo>
                      <a:pt x="2134" y="2905"/>
                      <a:pt x="2372" y="2666"/>
                      <a:pt x="2667" y="2666"/>
                    </a:cubicBezTo>
                    <a:lnTo>
                      <a:pt x="3734" y="2666"/>
                    </a:lnTo>
                    <a:cubicBezTo>
                      <a:pt x="4028" y="2666"/>
                      <a:pt x="4267" y="2905"/>
                      <a:pt x="4267" y="3200"/>
                    </a:cubicBezTo>
                    <a:cubicBezTo>
                      <a:pt x="4267" y="3494"/>
                      <a:pt x="4028" y="3733"/>
                      <a:pt x="3734" y="3733"/>
                    </a:cubicBezTo>
                    <a:lnTo>
                      <a:pt x="2667" y="3733"/>
                    </a:lnTo>
                    <a:close/>
                    <a:moveTo>
                      <a:pt x="2667" y="8000"/>
                    </a:moveTo>
                    <a:cubicBezTo>
                      <a:pt x="2372" y="8000"/>
                      <a:pt x="2134" y="7761"/>
                      <a:pt x="2134" y="7466"/>
                    </a:cubicBezTo>
                    <a:cubicBezTo>
                      <a:pt x="2134" y="7172"/>
                      <a:pt x="2372" y="6933"/>
                      <a:pt x="2667" y="6933"/>
                    </a:cubicBezTo>
                    <a:lnTo>
                      <a:pt x="4800" y="6933"/>
                    </a:lnTo>
                    <a:cubicBezTo>
                      <a:pt x="5095" y="6933"/>
                      <a:pt x="5334" y="7172"/>
                      <a:pt x="5334" y="7466"/>
                    </a:cubicBezTo>
                    <a:cubicBezTo>
                      <a:pt x="5334" y="7761"/>
                      <a:pt x="5095" y="8000"/>
                      <a:pt x="4800" y="8000"/>
                    </a:cubicBezTo>
                    <a:lnTo>
                      <a:pt x="2667" y="8000"/>
                    </a:lnTo>
                    <a:close/>
                  </a:path>
                </a:pathLst>
              </a:custGeom>
              <a:solidFill>
                <a:schemeClr val="bg1"/>
              </a:solidFill>
              <a:ln>
                <a:noFill/>
              </a:ln>
            </p:spPr>
          </p:sp>
        </p:grpSp>
      </p:grpSp>
      <p:pic>
        <p:nvPicPr>
          <p:cNvPr id="32" name="图片 31"/>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352277" y="117494"/>
            <a:ext cx="2143500" cy="714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500" advTm="3000">
        <p14:reveal/>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barn(outVertical)">
                                      <p:cBhvr>
                                        <p:cTn id="7"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2509221" y="0"/>
            <a:ext cx="14701221" cy="6858000"/>
            <a:chOff x="-2509221" y="0"/>
            <a:chExt cx="14701221" cy="6858000"/>
          </a:xfrm>
        </p:grpSpPr>
        <p:grpSp>
          <p:nvGrpSpPr>
            <p:cNvPr id="10" name="组合 9"/>
            <p:cNvGrpSpPr/>
            <p:nvPr/>
          </p:nvGrpSpPr>
          <p:grpSpPr>
            <a:xfrm>
              <a:off x="-2509221" y="0"/>
              <a:ext cx="14701221" cy="6858000"/>
              <a:chOff x="-2509221" y="0"/>
              <a:chExt cx="14701221" cy="6858000"/>
            </a:xfrm>
          </p:grpSpPr>
          <p:sp>
            <p:nvSpPr>
              <p:cNvPr id="3" name="矩形 2"/>
              <p:cNvSpPr/>
              <p:nvPr/>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平行四边形 4"/>
              <p:cNvSpPr/>
              <p:nvPr/>
            </p:nvSpPr>
            <p:spPr>
              <a:xfrm>
                <a:off x="462579" y="0"/>
                <a:ext cx="11729421" cy="6858000"/>
              </a:xfrm>
              <a:prstGeom prst="parallelogram">
                <a:avLst>
                  <a:gd name="adj" fmla="val 4537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p:nvSpPr>
            <p:spPr>
              <a:xfrm>
                <a:off x="-2509221" y="0"/>
                <a:ext cx="11729421" cy="6858000"/>
              </a:xfrm>
              <a:prstGeom prst="parallelogram">
                <a:avLst>
                  <a:gd name="adj" fmla="val 453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nvSpPr>
            <p:spPr>
              <a:xfrm>
                <a:off x="0" y="0"/>
                <a:ext cx="6327289" cy="6858000"/>
              </a:xfrm>
              <a:custGeom>
                <a:avLst/>
                <a:gdLst>
                  <a:gd name="connsiteX0" fmla="*/ 0 w 6327289"/>
                  <a:gd name="connsiteY0" fmla="*/ 0 h 6858000"/>
                  <a:gd name="connsiteX1" fmla="*/ 6327289 w 6327289"/>
                  <a:gd name="connsiteY1" fmla="*/ 0 h 6858000"/>
                  <a:gd name="connsiteX2" fmla="*/ 3215814 w 6327289"/>
                  <a:gd name="connsiteY2" fmla="*/ 6858000 h 6858000"/>
                  <a:gd name="connsiteX3" fmla="*/ 0 w 632728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327289" h="6858000">
                    <a:moveTo>
                      <a:pt x="0" y="0"/>
                    </a:moveTo>
                    <a:lnTo>
                      <a:pt x="6327289" y="0"/>
                    </a:lnTo>
                    <a:lnTo>
                      <a:pt x="3215814" y="6858000"/>
                    </a:lnTo>
                    <a:lnTo>
                      <a:pt x="0"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11" name="矩形 10"/>
            <p:cNvSpPr/>
            <p:nvPr/>
          </p:nvSpPr>
          <p:spPr>
            <a:xfrm>
              <a:off x="0" y="939800"/>
              <a:ext cx="12192000" cy="5918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4742894" y="177513"/>
              <a:ext cx="2706211" cy="5835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pPr algn="ctr"/>
              <a:r>
                <a:rPr lang="en-US" altLang="zh-CN" sz="3200" dirty="0">
                  <a:solidFill>
                    <a:schemeClr val="bg1"/>
                  </a:solidFill>
                </a:rPr>
                <a:t>03. </a:t>
              </a:r>
              <a:r>
                <a:rPr lang="zh-CN" altLang="en-US" sz="3200" dirty="0">
                  <a:solidFill>
                    <a:schemeClr val="bg1"/>
                  </a:solidFill>
                </a:rPr>
                <a:t>实验</a:t>
              </a:r>
              <a:r>
                <a:rPr lang="zh-CN" altLang="en-US" sz="3200" dirty="0">
                  <a:solidFill>
                    <a:schemeClr val="bg1"/>
                  </a:solidFill>
                </a:rPr>
                <a:t>过程</a:t>
              </a:r>
              <a:endParaRPr lang="zh-CN" altLang="en-US" sz="3200" dirty="0">
                <a:solidFill>
                  <a:schemeClr val="bg1"/>
                </a:solidFill>
              </a:endParaRPr>
            </a:p>
          </p:txBody>
        </p:sp>
      </p:grpSp>
      <p:grpSp>
        <p:nvGrpSpPr>
          <p:cNvPr id="58" name="组合 57"/>
          <p:cNvGrpSpPr/>
          <p:nvPr>
            <p:custDataLst>
              <p:tags r:id="rId1"/>
            </p:custDataLst>
          </p:nvPr>
        </p:nvGrpSpPr>
        <p:grpSpPr>
          <a:xfrm>
            <a:off x="590106" y="1417997"/>
            <a:ext cx="11042650" cy="4438778"/>
            <a:chOff x="590106" y="2243497"/>
            <a:chExt cx="11042650" cy="4438778"/>
          </a:xfrm>
        </p:grpSpPr>
        <p:grpSp>
          <p:nvGrpSpPr>
            <p:cNvPr id="15" name="组合 14"/>
            <p:cNvGrpSpPr/>
            <p:nvPr/>
          </p:nvGrpSpPr>
          <p:grpSpPr>
            <a:xfrm>
              <a:off x="1299553" y="2243497"/>
              <a:ext cx="9592893" cy="2399427"/>
              <a:chOff x="1152454" y="2227999"/>
              <a:chExt cx="9887091" cy="2473013"/>
            </a:xfrm>
          </p:grpSpPr>
          <p:sp>
            <p:nvSpPr>
              <p:cNvPr id="16" name="文本框 15"/>
              <p:cNvSpPr txBox="1"/>
              <p:nvPr/>
            </p:nvSpPr>
            <p:spPr>
              <a:xfrm>
                <a:off x="1877142" y="2227999"/>
                <a:ext cx="8437714" cy="347526"/>
              </a:xfrm>
              <a:prstGeom prst="rect">
                <a:avLst/>
              </a:prstGeom>
              <a:noFill/>
            </p:spPr>
            <p:txBody>
              <a:bodyPr wrap="square" rtlCol="0">
                <a:spAutoFit/>
              </a:bodyPr>
              <a:lstStyle>
                <a:defPPr>
                  <a:defRPr lang="zh-CN"/>
                </a:defPPr>
                <a:lvl1pPr algn="ctr">
                  <a:defRPr sz="1600">
                    <a:solidFill>
                      <a:schemeClr val="tx2"/>
                    </a:solidFill>
                    <a:latin typeface="字魂58号-创中黑" panose="00000500000000000000" pitchFamily="2" charset="-122"/>
                    <a:ea typeface="字魂58号-创中黑" panose="00000500000000000000" pitchFamily="2" charset="-122"/>
                  </a:defRPr>
                </a:lvl1pPr>
              </a:lstStyle>
              <a:p>
                <a:endParaRPr lang="zh-CN" altLang="en-US" b="1" dirty="0" smtClean="0">
                  <a:solidFill>
                    <a:schemeClr val="tx2">
                      <a:lumMod val="50000"/>
                    </a:schemeClr>
                  </a:solidFill>
                  <a:latin typeface="+mn-ea"/>
                  <a:ea typeface="+mn-ea"/>
                </a:endParaRPr>
              </a:p>
            </p:txBody>
          </p:sp>
          <p:grpSp>
            <p:nvGrpSpPr>
              <p:cNvPr id="18" name="组合 17"/>
              <p:cNvGrpSpPr/>
              <p:nvPr/>
            </p:nvGrpSpPr>
            <p:grpSpPr>
              <a:xfrm>
                <a:off x="1152454" y="3899837"/>
                <a:ext cx="9887091" cy="801175"/>
                <a:chOff x="1152454" y="3899837"/>
                <a:chExt cx="9887091" cy="801175"/>
              </a:xfrm>
            </p:grpSpPr>
            <p:grpSp>
              <p:nvGrpSpPr>
                <p:cNvPr id="19" name="组合 18"/>
                <p:cNvGrpSpPr/>
                <p:nvPr/>
              </p:nvGrpSpPr>
              <p:grpSpPr>
                <a:xfrm>
                  <a:off x="1152454" y="3899837"/>
                  <a:ext cx="9887091" cy="801175"/>
                  <a:chOff x="1165154" y="3887137"/>
                  <a:chExt cx="9887091" cy="801175"/>
                </a:xfrm>
              </p:grpSpPr>
              <p:sp>
                <p:nvSpPr>
                  <p:cNvPr id="39" name="椭圆 38"/>
                  <p:cNvSpPr/>
                  <p:nvPr>
                    <p:custDataLst>
                      <p:tags r:id="rId2"/>
                    </p:custDataLst>
                  </p:nvPr>
                </p:nvSpPr>
                <p:spPr>
                  <a:xfrm>
                    <a:off x="1165154" y="3887943"/>
                    <a:ext cx="800100" cy="8001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latin typeface="+mj-ea"/>
                        <a:ea typeface="+mj-ea"/>
                      </a:rPr>
                      <a:t>01</a:t>
                    </a:r>
                    <a:endParaRPr lang="zh-CN" altLang="en-US" sz="2400" b="1" dirty="0">
                      <a:solidFill>
                        <a:schemeClr val="bg1"/>
                      </a:solidFill>
                      <a:latin typeface="+mj-ea"/>
                      <a:ea typeface="+mj-ea"/>
                    </a:endParaRPr>
                  </a:p>
                </p:txBody>
              </p:sp>
              <p:sp>
                <p:nvSpPr>
                  <p:cNvPr id="35" name="椭圆 34"/>
                  <p:cNvSpPr/>
                  <p:nvPr>
                    <p:custDataLst>
                      <p:tags r:id="rId3"/>
                    </p:custDataLst>
                  </p:nvPr>
                </p:nvSpPr>
                <p:spPr>
                  <a:xfrm>
                    <a:off x="4193497" y="3887849"/>
                    <a:ext cx="800100" cy="8001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latin typeface="+mj-ea"/>
                        <a:ea typeface="+mj-ea"/>
                      </a:rPr>
                      <a:t>02</a:t>
                    </a:r>
                    <a:endParaRPr lang="zh-CN" altLang="en-US" sz="2400" b="1" dirty="0">
                      <a:solidFill>
                        <a:schemeClr val="bg1"/>
                      </a:solidFill>
                      <a:latin typeface="+mj-ea"/>
                      <a:ea typeface="+mj-ea"/>
                    </a:endParaRPr>
                  </a:p>
                </p:txBody>
              </p:sp>
              <p:sp>
                <p:nvSpPr>
                  <p:cNvPr id="31" name="椭圆 30"/>
                  <p:cNvSpPr/>
                  <p:nvPr>
                    <p:custDataLst>
                      <p:tags r:id="rId4"/>
                    </p:custDataLst>
                  </p:nvPr>
                </p:nvSpPr>
                <p:spPr>
                  <a:xfrm>
                    <a:off x="7189114" y="3887137"/>
                    <a:ext cx="800100" cy="800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latin typeface="+mj-ea"/>
                        <a:ea typeface="+mj-ea"/>
                      </a:rPr>
                      <a:t>03</a:t>
                    </a:r>
                    <a:endParaRPr lang="zh-CN" altLang="en-US" sz="2400" b="1" dirty="0">
                      <a:solidFill>
                        <a:schemeClr val="bg1"/>
                      </a:solidFill>
                      <a:latin typeface="+mj-ea"/>
                      <a:ea typeface="+mj-ea"/>
                    </a:endParaRPr>
                  </a:p>
                </p:txBody>
              </p:sp>
              <p:sp>
                <p:nvSpPr>
                  <p:cNvPr id="27" name="椭圆 26"/>
                  <p:cNvSpPr/>
                  <p:nvPr>
                    <p:custDataLst>
                      <p:tags r:id="rId5"/>
                    </p:custDataLst>
                  </p:nvPr>
                </p:nvSpPr>
                <p:spPr>
                  <a:xfrm>
                    <a:off x="10252145" y="3888212"/>
                    <a:ext cx="800100" cy="8001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latin typeface="+mj-ea"/>
                        <a:ea typeface="+mj-ea"/>
                      </a:rPr>
                      <a:t>04</a:t>
                    </a:r>
                    <a:endParaRPr lang="zh-CN" altLang="en-US" sz="2400" b="1" dirty="0">
                      <a:solidFill>
                        <a:schemeClr val="bg1"/>
                      </a:solidFill>
                      <a:latin typeface="+mj-ea"/>
                      <a:ea typeface="+mj-ea"/>
                    </a:endParaRPr>
                  </a:p>
                </p:txBody>
              </p:sp>
            </p:grpSp>
            <p:sp>
              <p:nvSpPr>
                <p:cNvPr id="20" name="straight-right-arrow_57116"/>
                <p:cNvSpPr>
                  <a:spLocks noChangeAspect="1"/>
                </p:cNvSpPr>
                <p:nvPr>
                  <p:custDataLst>
                    <p:tags r:id="rId6"/>
                  </p:custDataLst>
                </p:nvPr>
              </p:nvSpPr>
              <p:spPr bwMode="auto">
                <a:xfrm>
                  <a:off x="2762160" y="4163108"/>
                  <a:ext cx="609685" cy="372807"/>
                </a:xfrm>
                <a:custGeom>
                  <a:avLst/>
                  <a:gdLst>
                    <a:gd name="T0" fmla="*/ 1623 w 1664"/>
                    <a:gd name="T1" fmla="*/ 452 h 1019"/>
                    <a:gd name="T2" fmla="*/ 1107 w 1664"/>
                    <a:gd name="T3" fmla="*/ 41 h 1019"/>
                    <a:gd name="T4" fmla="*/ 973 w 1664"/>
                    <a:gd name="T5" fmla="*/ 105 h 1019"/>
                    <a:gd name="T6" fmla="*/ 973 w 1664"/>
                    <a:gd name="T7" fmla="*/ 243 h 1019"/>
                    <a:gd name="T8" fmla="*/ 900 w 1664"/>
                    <a:gd name="T9" fmla="*/ 325 h 1019"/>
                    <a:gd name="T10" fmla="*/ 80 w 1664"/>
                    <a:gd name="T11" fmla="*/ 325 h 1019"/>
                    <a:gd name="T12" fmla="*/ 0 w 1664"/>
                    <a:gd name="T13" fmla="*/ 403 h 1019"/>
                    <a:gd name="T14" fmla="*/ 0 w 1664"/>
                    <a:gd name="T15" fmla="*/ 619 h 1019"/>
                    <a:gd name="T16" fmla="*/ 80 w 1664"/>
                    <a:gd name="T17" fmla="*/ 699 h 1019"/>
                    <a:gd name="T18" fmla="*/ 900 w 1664"/>
                    <a:gd name="T19" fmla="*/ 699 h 1019"/>
                    <a:gd name="T20" fmla="*/ 973 w 1664"/>
                    <a:gd name="T21" fmla="*/ 777 h 1019"/>
                    <a:gd name="T22" fmla="*/ 973 w 1664"/>
                    <a:gd name="T23" fmla="*/ 915 h 1019"/>
                    <a:gd name="T24" fmla="*/ 1105 w 1664"/>
                    <a:gd name="T25" fmla="*/ 977 h 1019"/>
                    <a:gd name="T26" fmla="*/ 1620 w 1664"/>
                    <a:gd name="T27" fmla="*/ 577 h 1019"/>
                    <a:gd name="T28" fmla="*/ 1623 w 1664"/>
                    <a:gd name="T29" fmla="*/ 452 h 10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64" h="1019">
                      <a:moveTo>
                        <a:pt x="1623" y="452"/>
                      </a:moveTo>
                      <a:lnTo>
                        <a:pt x="1107" y="41"/>
                      </a:lnTo>
                      <a:cubicBezTo>
                        <a:pt x="1053" y="0"/>
                        <a:pt x="973" y="37"/>
                        <a:pt x="973" y="105"/>
                      </a:cubicBezTo>
                      <a:lnTo>
                        <a:pt x="973" y="243"/>
                      </a:lnTo>
                      <a:cubicBezTo>
                        <a:pt x="973" y="287"/>
                        <a:pt x="944" y="325"/>
                        <a:pt x="900" y="325"/>
                      </a:cubicBezTo>
                      <a:lnTo>
                        <a:pt x="80" y="325"/>
                      </a:lnTo>
                      <a:cubicBezTo>
                        <a:pt x="36" y="325"/>
                        <a:pt x="0" y="357"/>
                        <a:pt x="0" y="403"/>
                      </a:cubicBezTo>
                      <a:lnTo>
                        <a:pt x="0" y="619"/>
                      </a:lnTo>
                      <a:cubicBezTo>
                        <a:pt x="0" y="661"/>
                        <a:pt x="36" y="699"/>
                        <a:pt x="80" y="699"/>
                      </a:cubicBezTo>
                      <a:lnTo>
                        <a:pt x="900" y="699"/>
                      </a:lnTo>
                      <a:cubicBezTo>
                        <a:pt x="944" y="699"/>
                        <a:pt x="973" y="733"/>
                        <a:pt x="973" y="777"/>
                      </a:cubicBezTo>
                      <a:lnTo>
                        <a:pt x="973" y="915"/>
                      </a:lnTo>
                      <a:cubicBezTo>
                        <a:pt x="973" y="981"/>
                        <a:pt x="1053" y="1019"/>
                        <a:pt x="1105" y="977"/>
                      </a:cubicBezTo>
                      <a:lnTo>
                        <a:pt x="1620" y="577"/>
                      </a:lnTo>
                      <a:cubicBezTo>
                        <a:pt x="1663" y="547"/>
                        <a:pt x="1664" y="484"/>
                        <a:pt x="1623" y="452"/>
                      </a:cubicBezTo>
                      <a:close/>
                    </a:path>
                  </a:pathLst>
                </a:custGeom>
                <a:solidFill>
                  <a:schemeClr val="tx2"/>
                </a:solidFill>
                <a:ln>
                  <a:noFill/>
                </a:ln>
              </p:spPr>
            </p:sp>
            <p:sp>
              <p:nvSpPr>
                <p:cNvPr id="21" name="straight-right-arrow_57116"/>
                <p:cNvSpPr>
                  <a:spLocks noChangeAspect="1"/>
                </p:cNvSpPr>
                <p:nvPr>
                  <p:custDataLst>
                    <p:tags r:id="rId7"/>
                  </p:custDataLst>
                </p:nvPr>
              </p:nvSpPr>
              <p:spPr bwMode="auto">
                <a:xfrm>
                  <a:off x="5789848" y="4162970"/>
                  <a:ext cx="609685" cy="372807"/>
                </a:xfrm>
                <a:custGeom>
                  <a:avLst/>
                  <a:gdLst>
                    <a:gd name="T0" fmla="*/ 1623 w 1664"/>
                    <a:gd name="T1" fmla="*/ 452 h 1019"/>
                    <a:gd name="T2" fmla="*/ 1107 w 1664"/>
                    <a:gd name="T3" fmla="*/ 41 h 1019"/>
                    <a:gd name="T4" fmla="*/ 973 w 1664"/>
                    <a:gd name="T5" fmla="*/ 105 h 1019"/>
                    <a:gd name="T6" fmla="*/ 973 w 1664"/>
                    <a:gd name="T7" fmla="*/ 243 h 1019"/>
                    <a:gd name="T8" fmla="*/ 900 w 1664"/>
                    <a:gd name="T9" fmla="*/ 325 h 1019"/>
                    <a:gd name="T10" fmla="*/ 80 w 1664"/>
                    <a:gd name="T11" fmla="*/ 325 h 1019"/>
                    <a:gd name="T12" fmla="*/ 0 w 1664"/>
                    <a:gd name="T13" fmla="*/ 403 h 1019"/>
                    <a:gd name="T14" fmla="*/ 0 w 1664"/>
                    <a:gd name="T15" fmla="*/ 619 h 1019"/>
                    <a:gd name="T16" fmla="*/ 80 w 1664"/>
                    <a:gd name="T17" fmla="*/ 699 h 1019"/>
                    <a:gd name="T18" fmla="*/ 900 w 1664"/>
                    <a:gd name="T19" fmla="*/ 699 h 1019"/>
                    <a:gd name="T20" fmla="*/ 973 w 1664"/>
                    <a:gd name="T21" fmla="*/ 777 h 1019"/>
                    <a:gd name="T22" fmla="*/ 973 w 1664"/>
                    <a:gd name="T23" fmla="*/ 915 h 1019"/>
                    <a:gd name="T24" fmla="*/ 1105 w 1664"/>
                    <a:gd name="T25" fmla="*/ 977 h 1019"/>
                    <a:gd name="T26" fmla="*/ 1620 w 1664"/>
                    <a:gd name="T27" fmla="*/ 577 h 1019"/>
                    <a:gd name="T28" fmla="*/ 1623 w 1664"/>
                    <a:gd name="T29" fmla="*/ 452 h 10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64" h="1019">
                      <a:moveTo>
                        <a:pt x="1623" y="452"/>
                      </a:moveTo>
                      <a:lnTo>
                        <a:pt x="1107" y="41"/>
                      </a:lnTo>
                      <a:cubicBezTo>
                        <a:pt x="1053" y="0"/>
                        <a:pt x="973" y="37"/>
                        <a:pt x="973" y="105"/>
                      </a:cubicBezTo>
                      <a:lnTo>
                        <a:pt x="973" y="243"/>
                      </a:lnTo>
                      <a:cubicBezTo>
                        <a:pt x="973" y="287"/>
                        <a:pt x="944" y="325"/>
                        <a:pt x="900" y="325"/>
                      </a:cubicBezTo>
                      <a:lnTo>
                        <a:pt x="80" y="325"/>
                      </a:lnTo>
                      <a:cubicBezTo>
                        <a:pt x="36" y="325"/>
                        <a:pt x="0" y="357"/>
                        <a:pt x="0" y="403"/>
                      </a:cubicBezTo>
                      <a:lnTo>
                        <a:pt x="0" y="619"/>
                      </a:lnTo>
                      <a:cubicBezTo>
                        <a:pt x="0" y="661"/>
                        <a:pt x="36" y="699"/>
                        <a:pt x="80" y="699"/>
                      </a:cubicBezTo>
                      <a:lnTo>
                        <a:pt x="900" y="699"/>
                      </a:lnTo>
                      <a:cubicBezTo>
                        <a:pt x="944" y="699"/>
                        <a:pt x="973" y="733"/>
                        <a:pt x="973" y="777"/>
                      </a:cubicBezTo>
                      <a:lnTo>
                        <a:pt x="973" y="915"/>
                      </a:lnTo>
                      <a:cubicBezTo>
                        <a:pt x="973" y="981"/>
                        <a:pt x="1053" y="1019"/>
                        <a:pt x="1105" y="977"/>
                      </a:cubicBezTo>
                      <a:lnTo>
                        <a:pt x="1620" y="577"/>
                      </a:lnTo>
                      <a:cubicBezTo>
                        <a:pt x="1663" y="547"/>
                        <a:pt x="1664" y="484"/>
                        <a:pt x="1623" y="452"/>
                      </a:cubicBezTo>
                      <a:close/>
                    </a:path>
                  </a:pathLst>
                </a:custGeom>
                <a:solidFill>
                  <a:schemeClr val="tx2"/>
                </a:solidFill>
                <a:ln>
                  <a:noFill/>
                </a:ln>
              </p:spPr>
            </p:sp>
            <p:sp>
              <p:nvSpPr>
                <p:cNvPr id="22" name="straight-right-arrow_57116"/>
                <p:cNvSpPr>
                  <a:spLocks noChangeAspect="1"/>
                </p:cNvSpPr>
                <p:nvPr>
                  <p:custDataLst>
                    <p:tags r:id="rId8"/>
                  </p:custDataLst>
                </p:nvPr>
              </p:nvSpPr>
              <p:spPr bwMode="auto">
                <a:xfrm>
                  <a:off x="8803138" y="4113400"/>
                  <a:ext cx="609685" cy="372807"/>
                </a:xfrm>
                <a:custGeom>
                  <a:avLst/>
                  <a:gdLst>
                    <a:gd name="T0" fmla="*/ 1623 w 1664"/>
                    <a:gd name="T1" fmla="*/ 452 h 1019"/>
                    <a:gd name="T2" fmla="*/ 1107 w 1664"/>
                    <a:gd name="T3" fmla="*/ 41 h 1019"/>
                    <a:gd name="T4" fmla="*/ 973 w 1664"/>
                    <a:gd name="T5" fmla="*/ 105 h 1019"/>
                    <a:gd name="T6" fmla="*/ 973 w 1664"/>
                    <a:gd name="T7" fmla="*/ 243 h 1019"/>
                    <a:gd name="T8" fmla="*/ 900 w 1664"/>
                    <a:gd name="T9" fmla="*/ 325 h 1019"/>
                    <a:gd name="T10" fmla="*/ 80 w 1664"/>
                    <a:gd name="T11" fmla="*/ 325 h 1019"/>
                    <a:gd name="T12" fmla="*/ 0 w 1664"/>
                    <a:gd name="T13" fmla="*/ 403 h 1019"/>
                    <a:gd name="T14" fmla="*/ 0 w 1664"/>
                    <a:gd name="T15" fmla="*/ 619 h 1019"/>
                    <a:gd name="T16" fmla="*/ 80 w 1664"/>
                    <a:gd name="T17" fmla="*/ 699 h 1019"/>
                    <a:gd name="T18" fmla="*/ 900 w 1664"/>
                    <a:gd name="T19" fmla="*/ 699 h 1019"/>
                    <a:gd name="T20" fmla="*/ 973 w 1664"/>
                    <a:gd name="T21" fmla="*/ 777 h 1019"/>
                    <a:gd name="T22" fmla="*/ 973 w 1664"/>
                    <a:gd name="T23" fmla="*/ 915 h 1019"/>
                    <a:gd name="T24" fmla="*/ 1105 w 1664"/>
                    <a:gd name="T25" fmla="*/ 977 h 1019"/>
                    <a:gd name="T26" fmla="*/ 1620 w 1664"/>
                    <a:gd name="T27" fmla="*/ 577 h 1019"/>
                    <a:gd name="T28" fmla="*/ 1623 w 1664"/>
                    <a:gd name="T29" fmla="*/ 452 h 10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64" h="1019">
                      <a:moveTo>
                        <a:pt x="1623" y="452"/>
                      </a:moveTo>
                      <a:lnTo>
                        <a:pt x="1107" y="41"/>
                      </a:lnTo>
                      <a:cubicBezTo>
                        <a:pt x="1053" y="0"/>
                        <a:pt x="973" y="37"/>
                        <a:pt x="973" y="105"/>
                      </a:cubicBezTo>
                      <a:lnTo>
                        <a:pt x="973" y="243"/>
                      </a:lnTo>
                      <a:cubicBezTo>
                        <a:pt x="973" y="287"/>
                        <a:pt x="944" y="325"/>
                        <a:pt x="900" y="325"/>
                      </a:cubicBezTo>
                      <a:lnTo>
                        <a:pt x="80" y="325"/>
                      </a:lnTo>
                      <a:cubicBezTo>
                        <a:pt x="36" y="325"/>
                        <a:pt x="0" y="357"/>
                        <a:pt x="0" y="403"/>
                      </a:cubicBezTo>
                      <a:lnTo>
                        <a:pt x="0" y="619"/>
                      </a:lnTo>
                      <a:cubicBezTo>
                        <a:pt x="0" y="661"/>
                        <a:pt x="36" y="699"/>
                        <a:pt x="80" y="699"/>
                      </a:cubicBezTo>
                      <a:lnTo>
                        <a:pt x="900" y="699"/>
                      </a:lnTo>
                      <a:cubicBezTo>
                        <a:pt x="944" y="699"/>
                        <a:pt x="973" y="733"/>
                        <a:pt x="973" y="777"/>
                      </a:cubicBezTo>
                      <a:lnTo>
                        <a:pt x="973" y="915"/>
                      </a:lnTo>
                      <a:cubicBezTo>
                        <a:pt x="973" y="981"/>
                        <a:pt x="1053" y="1019"/>
                        <a:pt x="1105" y="977"/>
                      </a:cubicBezTo>
                      <a:lnTo>
                        <a:pt x="1620" y="577"/>
                      </a:lnTo>
                      <a:cubicBezTo>
                        <a:pt x="1663" y="547"/>
                        <a:pt x="1664" y="484"/>
                        <a:pt x="1623" y="452"/>
                      </a:cubicBezTo>
                      <a:close/>
                    </a:path>
                  </a:pathLst>
                </a:custGeom>
                <a:solidFill>
                  <a:schemeClr val="tx2"/>
                </a:solidFill>
                <a:ln>
                  <a:noFill/>
                </a:ln>
              </p:spPr>
            </p:sp>
          </p:grpSp>
        </p:grpSp>
        <p:grpSp>
          <p:nvGrpSpPr>
            <p:cNvPr id="57" name="组合 56"/>
            <p:cNvGrpSpPr/>
            <p:nvPr/>
          </p:nvGrpSpPr>
          <p:grpSpPr>
            <a:xfrm>
              <a:off x="590106" y="4975395"/>
              <a:ext cx="11042650" cy="1706880"/>
              <a:chOff x="590106" y="4975395"/>
              <a:chExt cx="11042650" cy="1706880"/>
            </a:xfrm>
          </p:grpSpPr>
          <p:sp>
            <p:nvSpPr>
              <p:cNvPr id="46" name="矩形 45"/>
              <p:cNvSpPr/>
              <p:nvPr>
                <p:custDataLst>
                  <p:tags r:id="rId9"/>
                </p:custDataLst>
              </p:nvPr>
            </p:nvSpPr>
            <p:spPr>
              <a:xfrm>
                <a:off x="590106" y="4975395"/>
                <a:ext cx="2271395" cy="1270635"/>
              </a:xfrm>
              <a:prstGeom prst="rect">
                <a:avLst/>
              </a:prstGeom>
            </p:spPr>
            <p:txBody>
              <a:bodyPr wrap="square">
                <a:noAutofit/>
              </a:bodyPr>
              <a:lstStyle/>
              <a:p>
                <a:pPr algn="ctr">
                  <a:lnSpc>
                    <a:spcPts val="1800"/>
                  </a:lnSpc>
                </a:pPr>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rPr>
                  <a:t>本文在运行Android 4.4.4的六部Nexus 5手机和一台运行Ubuntu 16.04的机器上进行了实验。</a:t>
                </a:r>
                <a:endPar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endParaRPr>
              </a:p>
            </p:txBody>
          </p:sp>
          <p:sp>
            <p:nvSpPr>
              <p:cNvPr id="50" name="矩形 49"/>
              <p:cNvSpPr/>
              <p:nvPr>
                <p:custDataLst>
                  <p:tags r:id="rId10"/>
                </p:custDataLst>
              </p:nvPr>
            </p:nvSpPr>
            <p:spPr>
              <a:xfrm>
                <a:off x="3625406" y="4975395"/>
                <a:ext cx="2039620" cy="1087755"/>
              </a:xfrm>
              <a:prstGeom prst="rect">
                <a:avLst/>
              </a:prstGeom>
            </p:spPr>
            <p:txBody>
              <a:bodyPr wrap="square">
                <a:noAutofit/>
              </a:bodyPr>
              <a:lstStyle/>
              <a:p>
                <a:pPr algn="ctr">
                  <a:lnSpc>
                    <a:spcPts val="1800"/>
                  </a:lnSpc>
                </a:pPr>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rPr>
                  <a:t>AGRIGENTO部署在机器上，并与手机连接到同一子网以捕获网络流量。</a:t>
                </a:r>
                <a:endPar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endParaRPr>
              </a:p>
            </p:txBody>
          </p:sp>
          <p:sp>
            <p:nvSpPr>
              <p:cNvPr id="53" name="矩形 52"/>
              <p:cNvSpPr/>
              <p:nvPr>
                <p:custDataLst>
                  <p:tags r:id="rId11"/>
                </p:custDataLst>
              </p:nvPr>
            </p:nvSpPr>
            <p:spPr>
              <a:xfrm>
                <a:off x="6499416" y="4975395"/>
                <a:ext cx="2140585" cy="1706880"/>
              </a:xfrm>
              <a:prstGeom prst="rect">
                <a:avLst/>
              </a:prstGeom>
            </p:spPr>
            <p:txBody>
              <a:bodyPr wrap="square">
                <a:spAutoFit/>
              </a:bodyPr>
              <a:lstStyle/>
              <a:p>
                <a:pPr algn="ctr">
                  <a:lnSpc>
                    <a:spcPts val="1800"/>
                  </a:lnSpc>
                </a:pPr>
                <a:r>
                  <a:rPr lang="zh-CN" altLang="en-US" sz="1400" dirty="0" smtClean="0">
                    <a:solidFill>
                      <a:schemeClr val="tx2">
                        <a:lumMod val="50000"/>
                      </a:schemeClr>
                    </a:solidFill>
                    <a:latin typeface="字魂58号-创中黑" panose="00000500000000000000" pitchFamily="2" charset="-122"/>
                    <a:ea typeface="字魂58号-创中黑" panose="00000500000000000000" pitchFamily="2" charset="-122"/>
                  </a:rPr>
                  <a:t>为了</a:t>
                </a:r>
                <a:r>
                  <a:rPr lang="zh-CN" altLang="en-US" sz="1400" dirty="0" smtClean="0">
                    <a:solidFill>
                      <a:schemeClr val="tx2">
                        <a:lumMod val="50000"/>
                      </a:schemeClr>
                    </a:solidFill>
                    <a:latin typeface="字魂58号-创中黑" panose="00000500000000000000" pitchFamily="2" charset="-122"/>
                    <a:ea typeface="字魂58号-创中黑" panose="00000500000000000000" pitchFamily="2" charset="-122"/>
                    <a:sym typeface="+mn-ea"/>
                  </a:rPr>
                  <a:t>避免应用程序和广告库的检测，</a:t>
                </a:r>
                <a:r>
                  <a:rPr lang="zh-CN" altLang="en-US" sz="1400" dirty="0" smtClean="0">
                    <a:solidFill>
                      <a:schemeClr val="tx2">
                        <a:lumMod val="50000"/>
                      </a:schemeClr>
                    </a:solidFill>
                    <a:latin typeface="字魂58号-创中黑" panose="00000500000000000000" pitchFamily="2" charset="-122"/>
                    <a:ea typeface="字魂58号-创中黑" panose="00000500000000000000" pitchFamily="2" charset="-122"/>
                  </a:rPr>
                  <a:t>使用真实设备而不是模拟器。</a:t>
                </a:r>
                <a:endParaRPr lang="zh-CN" altLang="en-US" sz="1400" dirty="0" smtClean="0">
                  <a:solidFill>
                    <a:schemeClr val="tx2">
                      <a:lumMod val="50000"/>
                    </a:schemeClr>
                  </a:solidFill>
                  <a:latin typeface="字魂58号-创中黑" panose="00000500000000000000" pitchFamily="2" charset="-122"/>
                  <a:ea typeface="字魂58号-创中黑" panose="00000500000000000000" pitchFamily="2" charset="-122"/>
                </a:endParaRPr>
              </a:p>
              <a:p>
                <a:pPr algn="ctr">
                  <a:lnSpc>
                    <a:spcPts val="1800"/>
                  </a:lnSpc>
                </a:pPr>
                <a:r>
                  <a:rPr lang="zh-CN" altLang="en-US" sz="1400" dirty="0" smtClean="0">
                    <a:solidFill>
                      <a:schemeClr val="tx2">
                        <a:lumMod val="50000"/>
                      </a:schemeClr>
                    </a:solidFill>
                    <a:latin typeface="字魂58号-创中黑" panose="00000500000000000000" pitchFamily="2" charset="-122"/>
                    <a:ea typeface="字魂58号-创中黑" panose="00000500000000000000" pitchFamily="2" charset="-122"/>
                  </a:rPr>
                  <a:t>每个应用程序使用Monkey进行10分钟的UI刺激运行，使用固定种子以消除大部分随机性。</a:t>
                </a:r>
                <a:endParaRPr lang="zh-CN" altLang="en-US" sz="1400" dirty="0" smtClean="0">
                  <a:solidFill>
                    <a:schemeClr val="tx2">
                      <a:lumMod val="50000"/>
                    </a:schemeClr>
                  </a:solidFill>
                  <a:latin typeface="字魂58号-创中黑" panose="00000500000000000000" pitchFamily="2" charset="-122"/>
                  <a:ea typeface="字魂58号-创中黑" panose="00000500000000000000" pitchFamily="2" charset="-122"/>
                </a:endParaRPr>
              </a:p>
            </p:txBody>
          </p:sp>
          <p:sp>
            <p:nvSpPr>
              <p:cNvPr id="56" name="矩形 55"/>
              <p:cNvSpPr/>
              <p:nvPr>
                <p:custDataLst>
                  <p:tags r:id="rId12"/>
                </p:custDataLst>
              </p:nvPr>
            </p:nvSpPr>
            <p:spPr>
              <a:xfrm>
                <a:off x="9473121" y="4975395"/>
                <a:ext cx="2159635" cy="1270635"/>
              </a:xfrm>
              <a:prstGeom prst="rect">
                <a:avLst/>
              </a:prstGeom>
            </p:spPr>
            <p:txBody>
              <a:bodyPr wrap="square">
                <a:noAutofit/>
              </a:bodyPr>
              <a:lstStyle/>
              <a:p>
                <a:pPr algn="ctr">
                  <a:lnSpc>
                    <a:spcPts val="1800"/>
                  </a:lnSpc>
                </a:pPr>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rPr>
                  <a:t>通过在每个手机上设置一个Google帐户来访问Google Play商店和其他Google服务。</a:t>
                </a:r>
                <a:endPar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endParaRPr>
              </a:p>
            </p:txBody>
          </p:sp>
        </p:grpSp>
      </p:grpSp>
      <p:pic>
        <p:nvPicPr>
          <p:cNvPr id="36" name="图片 35"/>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352277" y="117494"/>
            <a:ext cx="2143500" cy="714500"/>
          </a:xfrm>
          <a:prstGeom prst="rect">
            <a:avLst/>
          </a:prstGeom>
        </p:spPr>
      </p:pic>
      <p:sp>
        <p:nvSpPr>
          <p:cNvPr id="43" name="文本框 42"/>
          <p:cNvSpPr txBox="1"/>
          <p:nvPr/>
        </p:nvSpPr>
        <p:spPr>
          <a:xfrm>
            <a:off x="686435" y="1189990"/>
            <a:ext cx="4115435" cy="1198880"/>
          </a:xfrm>
          <a:prstGeom prst="rect">
            <a:avLst/>
          </a:prstGeom>
          <a:noFill/>
        </p:spPr>
        <p:txBody>
          <a:bodyPr wrap="square" rtlCol="0">
            <a:spAutoFit/>
          </a:bodyPr>
          <a:lstStyle>
            <a:defPPr>
              <a:defRPr lang="zh-CN"/>
            </a:defPPr>
            <a:lvl1pPr algn="ctr">
              <a:defRPr sz="1600">
                <a:solidFill>
                  <a:schemeClr val="tx2"/>
                </a:solidFill>
                <a:latin typeface="字魂58号-创中黑" panose="00000500000000000000" pitchFamily="2" charset="-122"/>
                <a:ea typeface="字魂58号-创中黑" panose="00000500000000000000" pitchFamily="2" charset="-122"/>
              </a:defRPr>
            </a:lvl1pPr>
          </a:lstStyle>
          <a:p>
            <a:pPr algn="l"/>
            <a:r>
              <a:rPr lang="zh-CN" altLang="en-US" sz="1800" b="1" dirty="0" smtClean="0">
                <a:solidFill>
                  <a:schemeClr val="tx2">
                    <a:lumMod val="50000"/>
                  </a:schemeClr>
                </a:solidFill>
                <a:latin typeface="+mn-ea"/>
                <a:ea typeface="+mn-ea"/>
              </a:rPr>
              <a:t>AGRIGENTO是一种用于检测移动应用程序中隐私泄漏的差异分析工具，通过修改私人信息源并比较网络行为摘要来识别由输入操作引起的网络流量变化。</a:t>
            </a:r>
            <a:endParaRPr lang="zh-CN" altLang="en-US" sz="1800" b="1" dirty="0" smtClean="0">
              <a:solidFill>
                <a:schemeClr val="tx2">
                  <a:lumMod val="50000"/>
                </a:schemeClr>
              </a:solidFill>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spd="slow" p14:dur="2500" advTm="3000">
        <p14:reveal/>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1000"/>
                                        <p:tgtEl>
                                          <p:spTgt spid="58"/>
                                        </p:tgtEl>
                                      </p:cBhvr>
                                    </p:animEffect>
                                    <p:anim calcmode="lin" valueType="num">
                                      <p:cBhvr>
                                        <p:cTn id="8" dur="1000" fill="hold"/>
                                        <p:tgtEl>
                                          <p:spTgt spid="58"/>
                                        </p:tgtEl>
                                        <p:attrNameLst>
                                          <p:attrName>ppt_x</p:attrName>
                                        </p:attrNameLst>
                                      </p:cBhvr>
                                      <p:tavLst>
                                        <p:tav tm="0">
                                          <p:val>
                                            <p:strVal val="#ppt_x"/>
                                          </p:val>
                                        </p:tav>
                                        <p:tav tm="100000">
                                          <p:val>
                                            <p:strVal val="#ppt_x"/>
                                          </p:val>
                                        </p:tav>
                                      </p:tavLst>
                                    </p:anim>
                                    <p:anim calcmode="lin" valueType="num">
                                      <p:cBhvr>
                                        <p:cTn id="9"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2509221" y="0"/>
            <a:ext cx="14701221" cy="6858000"/>
            <a:chOff x="-2509221" y="0"/>
            <a:chExt cx="14701221" cy="6858000"/>
          </a:xfrm>
        </p:grpSpPr>
        <p:grpSp>
          <p:nvGrpSpPr>
            <p:cNvPr id="10" name="组合 9"/>
            <p:cNvGrpSpPr/>
            <p:nvPr/>
          </p:nvGrpSpPr>
          <p:grpSpPr>
            <a:xfrm>
              <a:off x="-2509221" y="0"/>
              <a:ext cx="14701221" cy="6858000"/>
              <a:chOff x="-2509221" y="0"/>
              <a:chExt cx="14701221" cy="6858000"/>
            </a:xfrm>
          </p:grpSpPr>
          <p:sp>
            <p:nvSpPr>
              <p:cNvPr id="3" name="矩形 2"/>
              <p:cNvSpPr/>
              <p:nvPr/>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平行四边形 4"/>
              <p:cNvSpPr/>
              <p:nvPr/>
            </p:nvSpPr>
            <p:spPr>
              <a:xfrm>
                <a:off x="462579" y="0"/>
                <a:ext cx="11729421" cy="6858000"/>
              </a:xfrm>
              <a:prstGeom prst="parallelogram">
                <a:avLst>
                  <a:gd name="adj" fmla="val 4537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p:nvSpPr>
            <p:spPr>
              <a:xfrm>
                <a:off x="-2509221" y="0"/>
                <a:ext cx="11729421" cy="6858000"/>
              </a:xfrm>
              <a:prstGeom prst="parallelogram">
                <a:avLst>
                  <a:gd name="adj" fmla="val 453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nvSpPr>
            <p:spPr>
              <a:xfrm>
                <a:off x="0" y="0"/>
                <a:ext cx="6327289" cy="6858000"/>
              </a:xfrm>
              <a:custGeom>
                <a:avLst/>
                <a:gdLst>
                  <a:gd name="connsiteX0" fmla="*/ 0 w 6327289"/>
                  <a:gd name="connsiteY0" fmla="*/ 0 h 6858000"/>
                  <a:gd name="connsiteX1" fmla="*/ 6327289 w 6327289"/>
                  <a:gd name="connsiteY1" fmla="*/ 0 h 6858000"/>
                  <a:gd name="connsiteX2" fmla="*/ 3215814 w 6327289"/>
                  <a:gd name="connsiteY2" fmla="*/ 6858000 h 6858000"/>
                  <a:gd name="connsiteX3" fmla="*/ 0 w 632728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327289" h="6858000">
                    <a:moveTo>
                      <a:pt x="0" y="0"/>
                    </a:moveTo>
                    <a:lnTo>
                      <a:pt x="6327289" y="0"/>
                    </a:lnTo>
                    <a:lnTo>
                      <a:pt x="3215814" y="6858000"/>
                    </a:lnTo>
                    <a:lnTo>
                      <a:pt x="0"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11" name="矩形 10"/>
            <p:cNvSpPr/>
            <p:nvPr/>
          </p:nvSpPr>
          <p:spPr>
            <a:xfrm>
              <a:off x="0" y="939800"/>
              <a:ext cx="12192000" cy="5918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4742894" y="177513"/>
              <a:ext cx="2706211" cy="58477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pPr algn="ctr"/>
              <a:r>
                <a:rPr lang="en-US" altLang="zh-CN" sz="3200" dirty="0">
                  <a:solidFill>
                    <a:schemeClr val="bg1"/>
                  </a:solidFill>
                </a:rPr>
                <a:t>04. </a:t>
              </a:r>
              <a:r>
                <a:rPr lang="zh-CN" altLang="en-US" sz="3200" dirty="0">
                  <a:solidFill>
                    <a:schemeClr val="bg1"/>
                  </a:solidFill>
                </a:rPr>
                <a:t>研究总结</a:t>
              </a:r>
              <a:endParaRPr lang="zh-CN" altLang="en-US" sz="3200" dirty="0">
                <a:solidFill>
                  <a:schemeClr val="bg1"/>
                </a:solidFill>
              </a:endParaRPr>
            </a:p>
          </p:txBody>
        </p:sp>
      </p:grpSp>
      <p:grpSp>
        <p:nvGrpSpPr>
          <p:cNvPr id="101" name="Group 7"/>
          <p:cNvGrpSpPr/>
          <p:nvPr>
            <p:custDataLst>
              <p:tags r:id="rId1"/>
            </p:custDataLst>
          </p:nvPr>
        </p:nvGrpSpPr>
        <p:grpSpPr>
          <a:xfrm>
            <a:off x="501949" y="2039701"/>
            <a:ext cx="11106785" cy="3849373"/>
            <a:chOff x="515456" y="1851359"/>
            <a:chExt cx="11106785" cy="3849373"/>
          </a:xfrm>
        </p:grpSpPr>
        <p:grpSp>
          <p:nvGrpSpPr>
            <p:cNvPr id="102" name="组合 101"/>
            <p:cNvGrpSpPr/>
            <p:nvPr/>
          </p:nvGrpSpPr>
          <p:grpSpPr>
            <a:xfrm>
              <a:off x="3836449" y="1851359"/>
              <a:ext cx="4494046" cy="3849373"/>
              <a:chOff x="3836449" y="1851359"/>
              <a:chExt cx="4494046" cy="3849373"/>
            </a:xfrm>
            <a:effectLst/>
          </p:grpSpPr>
          <p:sp>
            <p:nvSpPr>
              <p:cNvPr id="112" name="椭圆 111"/>
              <p:cNvSpPr/>
              <p:nvPr>
                <p:custDataLst>
                  <p:tags r:id="rId2"/>
                </p:custDataLst>
              </p:nvPr>
            </p:nvSpPr>
            <p:spPr>
              <a:xfrm>
                <a:off x="3836449" y="2084629"/>
                <a:ext cx="1633057" cy="1633057"/>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3" name="椭圆 112"/>
              <p:cNvSpPr/>
              <p:nvPr>
                <p:custDataLst>
                  <p:tags r:id="rId3"/>
                </p:custDataLst>
              </p:nvPr>
            </p:nvSpPr>
            <p:spPr>
              <a:xfrm>
                <a:off x="5683189" y="4067675"/>
                <a:ext cx="1633057" cy="1633057"/>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4" name="椭圆 113"/>
              <p:cNvSpPr/>
              <p:nvPr>
                <p:custDataLst>
                  <p:tags r:id="rId4"/>
                </p:custDataLst>
              </p:nvPr>
            </p:nvSpPr>
            <p:spPr>
              <a:xfrm>
                <a:off x="6697438" y="1851359"/>
                <a:ext cx="1633057" cy="1633057"/>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cxnSp>
            <p:nvCxnSpPr>
              <p:cNvPr id="115" name="直接连接符 114"/>
              <p:cNvCxnSpPr>
                <a:stCxn id="112" idx="5"/>
                <a:endCxn id="113" idx="1"/>
              </p:cNvCxnSpPr>
              <p:nvPr>
                <p:custDataLst>
                  <p:tags r:id="rId5"/>
                </p:custDataLst>
              </p:nvPr>
            </p:nvCxnSpPr>
            <p:spPr>
              <a:xfrm>
                <a:off x="5230350" y="3478530"/>
                <a:ext cx="691995" cy="828301"/>
              </a:xfrm>
              <a:prstGeom prst="line">
                <a:avLst/>
              </a:prstGeom>
              <a:ln w="19050" cap="rnd">
                <a:solidFill>
                  <a:schemeClr val="accent2"/>
                </a:solidFill>
                <a:round/>
              </a:ln>
            </p:spPr>
            <p:style>
              <a:lnRef idx="1">
                <a:schemeClr val="accent1"/>
              </a:lnRef>
              <a:fillRef idx="0">
                <a:schemeClr val="accent1"/>
              </a:fillRef>
              <a:effectRef idx="0">
                <a:schemeClr val="accent1"/>
              </a:effectRef>
              <a:fontRef idx="minor">
                <a:schemeClr val="tx1"/>
              </a:fontRef>
            </p:style>
          </p:cxnSp>
          <p:cxnSp>
            <p:nvCxnSpPr>
              <p:cNvPr id="116" name="直接连接符 115"/>
              <p:cNvCxnSpPr>
                <a:stCxn id="112" idx="6"/>
                <a:endCxn id="114" idx="2"/>
              </p:cNvCxnSpPr>
              <p:nvPr>
                <p:custDataLst>
                  <p:tags r:id="rId6"/>
                </p:custDataLst>
              </p:nvPr>
            </p:nvCxnSpPr>
            <p:spPr>
              <a:xfrm flipV="1">
                <a:off x="5469506" y="2667888"/>
                <a:ext cx="1227932" cy="233270"/>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17" name="直接连接符 116"/>
              <p:cNvCxnSpPr>
                <a:stCxn id="114" idx="3"/>
                <a:endCxn id="113" idx="0"/>
              </p:cNvCxnSpPr>
              <p:nvPr>
                <p:custDataLst>
                  <p:tags r:id="rId7"/>
                </p:custDataLst>
              </p:nvPr>
            </p:nvCxnSpPr>
            <p:spPr>
              <a:xfrm flipH="1">
                <a:off x="6499718" y="3245260"/>
                <a:ext cx="436876" cy="822415"/>
              </a:xfrm>
              <a:prstGeom prst="line">
                <a:avLst/>
              </a:prstGeom>
              <a:ln w="19050" cap="rnd">
                <a:solidFill>
                  <a:schemeClr val="accent5"/>
                </a:solidFill>
                <a:round/>
              </a:ln>
            </p:spPr>
            <p:style>
              <a:lnRef idx="1">
                <a:schemeClr val="accent1"/>
              </a:lnRef>
              <a:fillRef idx="0">
                <a:schemeClr val="accent1"/>
              </a:fillRef>
              <a:effectRef idx="0">
                <a:schemeClr val="accent1"/>
              </a:effectRef>
              <a:fontRef idx="minor">
                <a:schemeClr val="tx1"/>
              </a:fontRef>
            </p:style>
          </p:cxnSp>
          <p:sp>
            <p:nvSpPr>
              <p:cNvPr id="118" name="bitcoin-sign-in-a-circle-with-two-spots-connect-symbol_37335"/>
              <p:cNvSpPr>
                <a:spLocks noChangeAspect="1"/>
              </p:cNvSpPr>
              <p:nvPr>
                <p:custDataLst>
                  <p:tags r:id="rId8"/>
                </p:custDataLst>
              </p:nvPr>
            </p:nvSpPr>
            <p:spPr bwMode="auto">
              <a:xfrm>
                <a:off x="7081966" y="2322403"/>
                <a:ext cx="863998" cy="683527"/>
              </a:xfrm>
              <a:custGeom>
                <a:avLst/>
                <a:gdLst>
                  <a:gd name="T0" fmla="*/ 10147 w 12437"/>
                  <a:gd name="T1" fmla="*/ 4177 h 9838"/>
                  <a:gd name="T2" fmla="*/ 8099 w 12437"/>
                  <a:gd name="T3" fmla="*/ 5748 h 9838"/>
                  <a:gd name="T4" fmla="*/ 7433 w 12437"/>
                  <a:gd name="T5" fmla="*/ 5684 h 9838"/>
                  <a:gd name="T6" fmla="*/ 5132 w 12437"/>
                  <a:gd name="T7" fmla="*/ 3581 h 9838"/>
                  <a:gd name="T8" fmla="*/ 4794 w 12437"/>
                  <a:gd name="T9" fmla="*/ 3606 h 9838"/>
                  <a:gd name="T10" fmla="*/ 4602 w 12437"/>
                  <a:gd name="T11" fmla="*/ 3074 h 9838"/>
                  <a:gd name="T12" fmla="*/ 5282 w 12437"/>
                  <a:gd name="T13" fmla="*/ 1124 h 9838"/>
                  <a:gd name="T14" fmla="*/ 3435 w 12437"/>
                  <a:gd name="T15" fmla="*/ 200 h 9838"/>
                  <a:gd name="T16" fmla="*/ 2282 w 12437"/>
                  <a:gd name="T17" fmla="*/ 1914 h 9838"/>
                  <a:gd name="T18" fmla="*/ 3834 w 12437"/>
                  <a:gd name="T19" fmla="*/ 3276 h 9838"/>
                  <a:gd name="T20" fmla="*/ 4090 w 12437"/>
                  <a:gd name="T21" fmla="*/ 3261 h 9838"/>
                  <a:gd name="T22" fmla="*/ 4267 w 12437"/>
                  <a:gd name="T23" fmla="*/ 3755 h 9838"/>
                  <a:gd name="T24" fmla="*/ 3051 w 12437"/>
                  <a:gd name="T25" fmla="*/ 6958 h 9838"/>
                  <a:gd name="T26" fmla="*/ 2693 w 12437"/>
                  <a:gd name="T27" fmla="*/ 7165 h 9838"/>
                  <a:gd name="T28" fmla="*/ 1554 w 12437"/>
                  <a:gd name="T29" fmla="*/ 6666 h 9838"/>
                  <a:gd name="T30" fmla="*/ 0 w 12437"/>
                  <a:gd name="T31" fmla="*/ 8252 h 9838"/>
                  <a:gd name="T32" fmla="*/ 1554 w 12437"/>
                  <a:gd name="T33" fmla="*/ 9838 h 9838"/>
                  <a:gd name="T34" fmla="*/ 3118 w 12437"/>
                  <a:gd name="T35" fmla="*/ 8253 h 9838"/>
                  <a:gd name="T36" fmla="*/ 2990 w 12437"/>
                  <a:gd name="T37" fmla="*/ 7628 h 9838"/>
                  <a:gd name="T38" fmla="*/ 3346 w 12437"/>
                  <a:gd name="T39" fmla="*/ 7421 h 9838"/>
                  <a:gd name="T40" fmla="*/ 5130 w 12437"/>
                  <a:gd name="T41" fmla="*/ 8268 h 9838"/>
                  <a:gd name="T42" fmla="*/ 7425 w 12437"/>
                  <a:gd name="T43" fmla="*/ 6236 h 9838"/>
                  <a:gd name="T44" fmla="*/ 8021 w 12437"/>
                  <a:gd name="T45" fmla="*/ 6295 h 9838"/>
                  <a:gd name="T46" fmla="*/ 8021 w 12437"/>
                  <a:gd name="T47" fmla="*/ 6327 h 9838"/>
                  <a:gd name="T48" fmla="*/ 9350 w 12437"/>
                  <a:gd name="T49" fmla="*/ 8273 h 9838"/>
                  <a:gd name="T50" fmla="*/ 11657 w 12437"/>
                  <a:gd name="T51" fmla="*/ 7797 h 9838"/>
                  <a:gd name="T52" fmla="*/ 12107 w 12437"/>
                  <a:gd name="T53" fmla="*/ 5484 h 9838"/>
                  <a:gd name="T54" fmla="*/ 10146 w 12437"/>
                  <a:gd name="T55" fmla="*/ 4178 h 9838"/>
                  <a:gd name="T56" fmla="*/ 10147 w 12437"/>
                  <a:gd name="T57" fmla="*/ 4177 h 9838"/>
                  <a:gd name="T58" fmla="*/ 3070 w 12437"/>
                  <a:gd name="T59" fmla="*/ 1681 h 9838"/>
                  <a:gd name="T60" fmla="*/ 3549 w 12437"/>
                  <a:gd name="T61" fmla="*/ 977 h 9838"/>
                  <a:gd name="T62" fmla="*/ 4383 w 12437"/>
                  <a:gd name="T63" fmla="*/ 1148 h 9838"/>
                  <a:gd name="T64" fmla="*/ 4546 w 12437"/>
                  <a:gd name="T65" fmla="*/ 1984 h 9838"/>
                  <a:gd name="T66" fmla="*/ 3838 w 12437"/>
                  <a:gd name="T67" fmla="*/ 2457 h 9838"/>
                  <a:gd name="T68" fmla="*/ 3070 w 12437"/>
                  <a:gd name="T69" fmla="*/ 1681 h 9838"/>
                  <a:gd name="T70" fmla="*/ 1534 w 12437"/>
                  <a:gd name="T71" fmla="*/ 9058 h 9838"/>
                  <a:gd name="T72" fmla="*/ 779 w 12437"/>
                  <a:gd name="T73" fmla="*/ 8282 h 9838"/>
                  <a:gd name="T74" fmla="*/ 1534 w 12437"/>
                  <a:gd name="T75" fmla="*/ 7506 h 9838"/>
                  <a:gd name="T76" fmla="*/ 2288 w 12437"/>
                  <a:gd name="T77" fmla="*/ 8282 h 9838"/>
                  <a:gd name="T78" fmla="*/ 1534 w 12437"/>
                  <a:gd name="T79" fmla="*/ 9058 h 9838"/>
                  <a:gd name="T80" fmla="*/ 5182 w 12437"/>
                  <a:gd name="T81" fmla="*/ 7314 h 9838"/>
                  <a:gd name="T82" fmla="*/ 3914 w 12437"/>
                  <a:gd name="T83" fmla="*/ 6486 h 9838"/>
                  <a:gd name="T84" fmla="*/ 4198 w 12437"/>
                  <a:gd name="T85" fmla="*/ 4998 h 9838"/>
                  <a:gd name="T86" fmla="*/ 5682 w 12437"/>
                  <a:gd name="T87" fmla="*/ 4696 h 9838"/>
                  <a:gd name="T88" fmla="*/ 6526 w 12437"/>
                  <a:gd name="T89" fmla="*/ 5954 h 9838"/>
                  <a:gd name="T90" fmla="*/ 5185 w 12437"/>
                  <a:gd name="T91" fmla="*/ 7315 h 9838"/>
                  <a:gd name="T92" fmla="*/ 5182 w 12437"/>
                  <a:gd name="T93" fmla="*/ 7314 h 9838"/>
                  <a:gd name="T94" fmla="*/ 10174 w 12437"/>
                  <a:gd name="T95" fmla="*/ 7506 h 9838"/>
                  <a:gd name="T96" fmla="*/ 9086 w 12437"/>
                  <a:gd name="T97" fmla="*/ 6796 h 9838"/>
                  <a:gd name="T98" fmla="*/ 9330 w 12437"/>
                  <a:gd name="T99" fmla="*/ 5521 h 9838"/>
                  <a:gd name="T100" fmla="*/ 10602 w 12437"/>
                  <a:gd name="T101" fmla="*/ 5261 h 9838"/>
                  <a:gd name="T102" fmla="*/ 11326 w 12437"/>
                  <a:gd name="T103" fmla="*/ 6340 h 9838"/>
                  <a:gd name="T104" fmla="*/ 10177 w 12437"/>
                  <a:gd name="T105" fmla="*/ 7507 h 9838"/>
                  <a:gd name="T106" fmla="*/ 10174 w 12437"/>
                  <a:gd name="T107" fmla="*/ 7506 h 9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437" h="9838">
                    <a:moveTo>
                      <a:pt x="10147" y="4177"/>
                    </a:moveTo>
                    <a:cubicBezTo>
                      <a:pt x="9189" y="4181"/>
                      <a:pt x="8352" y="4824"/>
                      <a:pt x="8099" y="5748"/>
                    </a:cubicBezTo>
                    <a:lnTo>
                      <a:pt x="7433" y="5684"/>
                    </a:lnTo>
                    <a:cubicBezTo>
                      <a:pt x="7321" y="4496"/>
                      <a:pt x="6326" y="3586"/>
                      <a:pt x="5132" y="3581"/>
                    </a:cubicBezTo>
                    <a:cubicBezTo>
                      <a:pt x="5019" y="3581"/>
                      <a:pt x="4906" y="3589"/>
                      <a:pt x="4794" y="3606"/>
                    </a:cubicBezTo>
                    <a:lnTo>
                      <a:pt x="4602" y="3074"/>
                    </a:lnTo>
                    <a:cubicBezTo>
                      <a:pt x="5287" y="2687"/>
                      <a:pt x="5578" y="1852"/>
                      <a:pt x="5282" y="1124"/>
                    </a:cubicBezTo>
                    <a:cubicBezTo>
                      <a:pt x="4986" y="395"/>
                      <a:pt x="4195" y="0"/>
                      <a:pt x="3435" y="200"/>
                    </a:cubicBezTo>
                    <a:cubicBezTo>
                      <a:pt x="2674" y="401"/>
                      <a:pt x="2181" y="1134"/>
                      <a:pt x="2282" y="1914"/>
                    </a:cubicBezTo>
                    <a:cubicBezTo>
                      <a:pt x="2383" y="2694"/>
                      <a:pt x="3048" y="3277"/>
                      <a:pt x="3834" y="3276"/>
                    </a:cubicBezTo>
                    <a:cubicBezTo>
                      <a:pt x="3920" y="3278"/>
                      <a:pt x="4006" y="3273"/>
                      <a:pt x="4090" y="3261"/>
                    </a:cubicBezTo>
                    <a:lnTo>
                      <a:pt x="4267" y="3755"/>
                    </a:lnTo>
                    <a:cubicBezTo>
                      <a:pt x="3018" y="4277"/>
                      <a:pt x="2463" y="5739"/>
                      <a:pt x="3051" y="6958"/>
                    </a:cubicBezTo>
                    <a:lnTo>
                      <a:pt x="2693" y="7165"/>
                    </a:lnTo>
                    <a:cubicBezTo>
                      <a:pt x="2399" y="6848"/>
                      <a:pt x="1986" y="6668"/>
                      <a:pt x="1554" y="6666"/>
                    </a:cubicBezTo>
                    <a:cubicBezTo>
                      <a:pt x="691" y="6684"/>
                      <a:pt x="0" y="7389"/>
                      <a:pt x="0" y="8252"/>
                    </a:cubicBezTo>
                    <a:cubicBezTo>
                      <a:pt x="0" y="9116"/>
                      <a:pt x="691" y="9820"/>
                      <a:pt x="1554" y="9838"/>
                    </a:cubicBezTo>
                    <a:cubicBezTo>
                      <a:pt x="2423" y="9831"/>
                      <a:pt x="3123" y="9122"/>
                      <a:pt x="3118" y="8253"/>
                    </a:cubicBezTo>
                    <a:cubicBezTo>
                      <a:pt x="3118" y="8038"/>
                      <a:pt x="3074" y="7826"/>
                      <a:pt x="2990" y="7628"/>
                    </a:cubicBezTo>
                    <a:lnTo>
                      <a:pt x="3346" y="7421"/>
                    </a:lnTo>
                    <a:cubicBezTo>
                      <a:pt x="3783" y="7957"/>
                      <a:pt x="4438" y="8269"/>
                      <a:pt x="5130" y="8268"/>
                    </a:cubicBezTo>
                    <a:cubicBezTo>
                      <a:pt x="6296" y="8259"/>
                      <a:pt x="7275" y="7391"/>
                      <a:pt x="7425" y="6236"/>
                    </a:cubicBezTo>
                    <a:lnTo>
                      <a:pt x="8021" y="6295"/>
                    </a:lnTo>
                    <a:lnTo>
                      <a:pt x="8021" y="6327"/>
                    </a:lnTo>
                    <a:cubicBezTo>
                      <a:pt x="8031" y="7184"/>
                      <a:pt x="8555" y="7952"/>
                      <a:pt x="9350" y="8273"/>
                    </a:cubicBezTo>
                    <a:cubicBezTo>
                      <a:pt x="10144" y="8594"/>
                      <a:pt x="11054" y="8406"/>
                      <a:pt x="11657" y="7797"/>
                    </a:cubicBezTo>
                    <a:cubicBezTo>
                      <a:pt x="12259" y="7187"/>
                      <a:pt x="12437" y="6275"/>
                      <a:pt x="12107" y="5484"/>
                    </a:cubicBezTo>
                    <a:cubicBezTo>
                      <a:pt x="11776" y="4693"/>
                      <a:pt x="11003" y="4178"/>
                      <a:pt x="10146" y="4178"/>
                    </a:cubicBezTo>
                    <a:lnTo>
                      <a:pt x="10147" y="4177"/>
                    </a:lnTo>
                    <a:close/>
                    <a:moveTo>
                      <a:pt x="3070" y="1681"/>
                    </a:moveTo>
                    <a:cubicBezTo>
                      <a:pt x="3073" y="1371"/>
                      <a:pt x="3262" y="1093"/>
                      <a:pt x="3549" y="977"/>
                    </a:cubicBezTo>
                    <a:cubicBezTo>
                      <a:pt x="3836" y="860"/>
                      <a:pt x="4165" y="928"/>
                      <a:pt x="4383" y="1148"/>
                    </a:cubicBezTo>
                    <a:cubicBezTo>
                      <a:pt x="4601" y="1368"/>
                      <a:pt x="4666" y="1698"/>
                      <a:pt x="4546" y="1984"/>
                    </a:cubicBezTo>
                    <a:cubicBezTo>
                      <a:pt x="4427" y="2270"/>
                      <a:pt x="4147" y="2457"/>
                      <a:pt x="3838" y="2457"/>
                    </a:cubicBezTo>
                    <a:cubicBezTo>
                      <a:pt x="3413" y="2451"/>
                      <a:pt x="3072" y="2106"/>
                      <a:pt x="3070" y="1681"/>
                    </a:cubicBezTo>
                    <a:close/>
                    <a:moveTo>
                      <a:pt x="1534" y="9058"/>
                    </a:moveTo>
                    <a:cubicBezTo>
                      <a:pt x="1114" y="9046"/>
                      <a:pt x="779" y="8702"/>
                      <a:pt x="779" y="8282"/>
                    </a:cubicBezTo>
                    <a:cubicBezTo>
                      <a:pt x="779" y="7862"/>
                      <a:pt x="1114" y="7518"/>
                      <a:pt x="1534" y="7506"/>
                    </a:cubicBezTo>
                    <a:cubicBezTo>
                      <a:pt x="1953" y="7518"/>
                      <a:pt x="2288" y="7862"/>
                      <a:pt x="2288" y="8282"/>
                    </a:cubicBezTo>
                    <a:cubicBezTo>
                      <a:pt x="2288" y="8702"/>
                      <a:pt x="1953" y="9046"/>
                      <a:pt x="1534" y="9058"/>
                    </a:cubicBezTo>
                    <a:close/>
                    <a:moveTo>
                      <a:pt x="5182" y="7314"/>
                    </a:moveTo>
                    <a:cubicBezTo>
                      <a:pt x="4630" y="7321"/>
                      <a:pt x="4129" y="6993"/>
                      <a:pt x="3914" y="6486"/>
                    </a:cubicBezTo>
                    <a:cubicBezTo>
                      <a:pt x="3698" y="5978"/>
                      <a:pt x="3811" y="5391"/>
                      <a:pt x="4198" y="4998"/>
                    </a:cubicBezTo>
                    <a:cubicBezTo>
                      <a:pt x="4586" y="4606"/>
                      <a:pt x="5172" y="4487"/>
                      <a:pt x="5682" y="4696"/>
                    </a:cubicBezTo>
                    <a:cubicBezTo>
                      <a:pt x="6192" y="4906"/>
                      <a:pt x="6525" y="5403"/>
                      <a:pt x="6526" y="5954"/>
                    </a:cubicBezTo>
                    <a:cubicBezTo>
                      <a:pt x="6532" y="6700"/>
                      <a:pt x="5931" y="7310"/>
                      <a:pt x="5185" y="7315"/>
                    </a:cubicBezTo>
                    <a:lnTo>
                      <a:pt x="5182" y="7314"/>
                    </a:lnTo>
                    <a:close/>
                    <a:moveTo>
                      <a:pt x="10174" y="7506"/>
                    </a:moveTo>
                    <a:cubicBezTo>
                      <a:pt x="9701" y="7512"/>
                      <a:pt x="9271" y="7231"/>
                      <a:pt x="9086" y="6796"/>
                    </a:cubicBezTo>
                    <a:cubicBezTo>
                      <a:pt x="8901" y="6361"/>
                      <a:pt x="8998" y="5857"/>
                      <a:pt x="9330" y="5521"/>
                    </a:cubicBezTo>
                    <a:cubicBezTo>
                      <a:pt x="9662" y="5184"/>
                      <a:pt x="10165" y="5082"/>
                      <a:pt x="10602" y="5261"/>
                    </a:cubicBezTo>
                    <a:cubicBezTo>
                      <a:pt x="11040" y="5441"/>
                      <a:pt x="11325" y="5867"/>
                      <a:pt x="11326" y="6340"/>
                    </a:cubicBezTo>
                    <a:cubicBezTo>
                      <a:pt x="11330" y="6979"/>
                      <a:pt x="10816" y="7501"/>
                      <a:pt x="10177" y="7507"/>
                    </a:cubicBezTo>
                    <a:lnTo>
                      <a:pt x="10174" y="7506"/>
                    </a:ln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9" name="battery-uncharged_68750"/>
              <p:cNvSpPr>
                <a:spLocks noChangeAspect="1"/>
              </p:cNvSpPr>
              <p:nvPr>
                <p:custDataLst>
                  <p:tags r:id="rId9"/>
                </p:custDataLst>
              </p:nvPr>
            </p:nvSpPr>
            <p:spPr bwMode="auto">
              <a:xfrm>
                <a:off x="4363644" y="2532736"/>
                <a:ext cx="578664" cy="736842"/>
              </a:xfrm>
              <a:custGeom>
                <a:avLst/>
                <a:gdLst>
                  <a:gd name="T0" fmla="*/ 4271 w 8542"/>
                  <a:gd name="T1" fmla="*/ 10878 h 10878"/>
                  <a:gd name="T2" fmla="*/ 0 w 8542"/>
                  <a:gd name="T3" fmla="*/ 9261 h 10878"/>
                  <a:gd name="T4" fmla="*/ 2114 w 8542"/>
                  <a:gd name="T5" fmla="*/ 7882 h 10878"/>
                  <a:gd name="T6" fmla="*/ 2404 w 8542"/>
                  <a:gd name="T7" fmla="*/ 8388 h 10878"/>
                  <a:gd name="T8" fmla="*/ 685 w 8542"/>
                  <a:gd name="T9" fmla="*/ 9261 h 10878"/>
                  <a:gd name="T10" fmla="*/ 4271 w 8542"/>
                  <a:gd name="T11" fmla="*/ 10195 h 10878"/>
                  <a:gd name="T12" fmla="*/ 7857 w 8542"/>
                  <a:gd name="T13" fmla="*/ 9261 h 10878"/>
                  <a:gd name="T14" fmla="*/ 6138 w 8542"/>
                  <a:gd name="T15" fmla="*/ 8388 h 10878"/>
                  <a:gd name="T16" fmla="*/ 6428 w 8542"/>
                  <a:gd name="T17" fmla="*/ 7882 h 10878"/>
                  <a:gd name="T18" fmla="*/ 8542 w 8542"/>
                  <a:gd name="T19" fmla="*/ 9261 h 10878"/>
                  <a:gd name="T20" fmla="*/ 4271 w 8542"/>
                  <a:gd name="T21" fmla="*/ 10878 h 10878"/>
                  <a:gd name="T22" fmla="*/ 7111 w 8542"/>
                  <a:gd name="T23" fmla="*/ 5935 h 10878"/>
                  <a:gd name="T24" fmla="*/ 4653 w 8542"/>
                  <a:gd name="T25" fmla="*/ 8788 h 10878"/>
                  <a:gd name="T26" fmla="*/ 4329 w 8542"/>
                  <a:gd name="T27" fmla="*/ 8992 h 10878"/>
                  <a:gd name="T28" fmla="*/ 4033 w 8542"/>
                  <a:gd name="T29" fmla="*/ 8788 h 10878"/>
                  <a:gd name="T30" fmla="*/ 1328 w 8542"/>
                  <a:gd name="T31" fmla="*/ 5817 h 10878"/>
                  <a:gd name="T32" fmla="*/ 1172 w 8542"/>
                  <a:gd name="T33" fmla="*/ 5591 h 10878"/>
                  <a:gd name="T34" fmla="*/ 589 w 8542"/>
                  <a:gd name="T35" fmla="*/ 3675 h 10878"/>
                  <a:gd name="T36" fmla="*/ 4271 w 8542"/>
                  <a:gd name="T37" fmla="*/ 0 h 10878"/>
                  <a:gd name="T38" fmla="*/ 7953 w 8542"/>
                  <a:gd name="T39" fmla="*/ 3675 h 10878"/>
                  <a:gd name="T40" fmla="*/ 7364 w 8542"/>
                  <a:gd name="T41" fmla="*/ 5662 h 10878"/>
                  <a:gd name="T42" fmla="*/ 7111 w 8542"/>
                  <a:gd name="T43" fmla="*/ 5935 h 10878"/>
                  <a:gd name="T44" fmla="*/ 4271 w 8542"/>
                  <a:gd name="T45" fmla="*/ 682 h 10878"/>
                  <a:gd name="T46" fmla="*/ 1255 w 8542"/>
                  <a:gd name="T47" fmla="*/ 3693 h 10878"/>
                  <a:gd name="T48" fmla="*/ 1710 w 8542"/>
                  <a:gd name="T49" fmla="*/ 5135 h 10878"/>
                  <a:gd name="T50" fmla="*/ 2085 w 8542"/>
                  <a:gd name="T51" fmla="*/ 5614 h 10878"/>
                  <a:gd name="T52" fmla="*/ 4355 w 8542"/>
                  <a:gd name="T53" fmla="*/ 8139 h 10878"/>
                  <a:gd name="T54" fmla="*/ 6423 w 8542"/>
                  <a:gd name="T55" fmla="*/ 5684 h 10878"/>
                  <a:gd name="T56" fmla="*/ 6663 w 8542"/>
                  <a:gd name="T57" fmla="*/ 5366 h 10878"/>
                  <a:gd name="T58" fmla="*/ 7287 w 8542"/>
                  <a:gd name="T59" fmla="*/ 3693 h 10878"/>
                  <a:gd name="T60" fmla="*/ 4271 w 8542"/>
                  <a:gd name="T61" fmla="*/ 682 h 10878"/>
                  <a:gd name="T62" fmla="*/ 4271 w 8542"/>
                  <a:gd name="T63" fmla="*/ 5093 h 10878"/>
                  <a:gd name="T64" fmla="*/ 2850 w 8542"/>
                  <a:gd name="T65" fmla="*/ 3675 h 10878"/>
                  <a:gd name="T66" fmla="*/ 4271 w 8542"/>
                  <a:gd name="T67" fmla="*/ 2257 h 10878"/>
                  <a:gd name="T68" fmla="*/ 5692 w 8542"/>
                  <a:gd name="T69" fmla="*/ 3675 h 10878"/>
                  <a:gd name="T70" fmla="*/ 4271 w 8542"/>
                  <a:gd name="T71" fmla="*/ 5093 h 10878"/>
                  <a:gd name="T72" fmla="*/ 4271 w 8542"/>
                  <a:gd name="T73" fmla="*/ 2940 h 10878"/>
                  <a:gd name="T74" fmla="*/ 3535 w 8542"/>
                  <a:gd name="T75" fmla="*/ 3675 h 10878"/>
                  <a:gd name="T76" fmla="*/ 4271 w 8542"/>
                  <a:gd name="T77" fmla="*/ 4410 h 10878"/>
                  <a:gd name="T78" fmla="*/ 5007 w 8542"/>
                  <a:gd name="T79" fmla="*/ 3675 h 10878"/>
                  <a:gd name="T80" fmla="*/ 4271 w 8542"/>
                  <a:gd name="T81" fmla="*/ 2940 h 10878"/>
                  <a:gd name="T82" fmla="*/ 4271 w 8542"/>
                  <a:gd name="T83" fmla="*/ 2940 h 10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42" h="10878">
                    <a:moveTo>
                      <a:pt x="4271" y="10878"/>
                    </a:moveTo>
                    <a:cubicBezTo>
                      <a:pt x="1530" y="10878"/>
                      <a:pt x="0" y="10274"/>
                      <a:pt x="0" y="9261"/>
                    </a:cubicBezTo>
                    <a:cubicBezTo>
                      <a:pt x="0" y="8677"/>
                      <a:pt x="887" y="8166"/>
                      <a:pt x="2114" y="7882"/>
                    </a:cubicBezTo>
                    <a:lnTo>
                      <a:pt x="2404" y="8388"/>
                    </a:lnTo>
                    <a:cubicBezTo>
                      <a:pt x="1359" y="8570"/>
                      <a:pt x="685" y="8893"/>
                      <a:pt x="685" y="9261"/>
                    </a:cubicBezTo>
                    <a:cubicBezTo>
                      <a:pt x="685" y="9829"/>
                      <a:pt x="2415" y="10195"/>
                      <a:pt x="4271" y="10195"/>
                    </a:cubicBezTo>
                    <a:cubicBezTo>
                      <a:pt x="6128" y="10195"/>
                      <a:pt x="7857" y="9829"/>
                      <a:pt x="7857" y="9261"/>
                    </a:cubicBezTo>
                    <a:cubicBezTo>
                      <a:pt x="7857" y="8893"/>
                      <a:pt x="7184" y="8570"/>
                      <a:pt x="6138" y="8388"/>
                    </a:cubicBezTo>
                    <a:lnTo>
                      <a:pt x="6428" y="7882"/>
                    </a:lnTo>
                    <a:cubicBezTo>
                      <a:pt x="7655" y="8166"/>
                      <a:pt x="8542" y="8677"/>
                      <a:pt x="8542" y="9261"/>
                    </a:cubicBezTo>
                    <a:cubicBezTo>
                      <a:pt x="8542" y="10250"/>
                      <a:pt x="6925" y="10878"/>
                      <a:pt x="4271" y="10878"/>
                    </a:cubicBezTo>
                    <a:close/>
                    <a:moveTo>
                      <a:pt x="7111" y="5935"/>
                    </a:moveTo>
                    <a:cubicBezTo>
                      <a:pt x="7012" y="6044"/>
                      <a:pt x="4653" y="8788"/>
                      <a:pt x="4653" y="8788"/>
                    </a:cubicBezTo>
                    <a:cubicBezTo>
                      <a:pt x="4554" y="8908"/>
                      <a:pt x="4446" y="8992"/>
                      <a:pt x="4329" y="8992"/>
                    </a:cubicBezTo>
                    <a:cubicBezTo>
                      <a:pt x="4211" y="8992"/>
                      <a:pt x="4123" y="8898"/>
                      <a:pt x="4033" y="8788"/>
                    </a:cubicBezTo>
                    <a:cubicBezTo>
                      <a:pt x="4033" y="8788"/>
                      <a:pt x="1373" y="5880"/>
                      <a:pt x="1328" y="5817"/>
                    </a:cubicBezTo>
                    <a:cubicBezTo>
                      <a:pt x="1283" y="5754"/>
                      <a:pt x="1222" y="5674"/>
                      <a:pt x="1172" y="5591"/>
                    </a:cubicBezTo>
                    <a:cubicBezTo>
                      <a:pt x="822" y="5029"/>
                      <a:pt x="589" y="4386"/>
                      <a:pt x="589" y="3675"/>
                    </a:cubicBezTo>
                    <a:cubicBezTo>
                      <a:pt x="589" y="1645"/>
                      <a:pt x="2238" y="0"/>
                      <a:pt x="4271" y="0"/>
                    </a:cubicBezTo>
                    <a:cubicBezTo>
                      <a:pt x="6304" y="0"/>
                      <a:pt x="7953" y="1645"/>
                      <a:pt x="7953" y="3675"/>
                    </a:cubicBezTo>
                    <a:cubicBezTo>
                      <a:pt x="7953" y="4408"/>
                      <a:pt x="7735" y="5089"/>
                      <a:pt x="7364" y="5662"/>
                    </a:cubicBezTo>
                    <a:cubicBezTo>
                      <a:pt x="7262" y="5795"/>
                      <a:pt x="7166" y="5881"/>
                      <a:pt x="7111" y="5935"/>
                    </a:cubicBezTo>
                    <a:close/>
                    <a:moveTo>
                      <a:pt x="4271" y="682"/>
                    </a:moveTo>
                    <a:cubicBezTo>
                      <a:pt x="2605" y="682"/>
                      <a:pt x="1255" y="2030"/>
                      <a:pt x="1255" y="3693"/>
                    </a:cubicBezTo>
                    <a:cubicBezTo>
                      <a:pt x="1255" y="4242"/>
                      <a:pt x="1435" y="4735"/>
                      <a:pt x="1710" y="5135"/>
                    </a:cubicBezTo>
                    <a:cubicBezTo>
                      <a:pt x="1801" y="5279"/>
                      <a:pt x="2085" y="5614"/>
                      <a:pt x="2085" y="5614"/>
                    </a:cubicBezTo>
                    <a:lnTo>
                      <a:pt x="4355" y="8139"/>
                    </a:lnTo>
                    <a:lnTo>
                      <a:pt x="6423" y="5684"/>
                    </a:lnTo>
                    <a:cubicBezTo>
                      <a:pt x="6423" y="5684"/>
                      <a:pt x="6532" y="5555"/>
                      <a:pt x="6663" y="5366"/>
                    </a:cubicBezTo>
                    <a:cubicBezTo>
                      <a:pt x="6996" y="4884"/>
                      <a:pt x="7287" y="4356"/>
                      <a:pt x="7287" y="3693"/>
                    </a:cubicBezTo>
                    <a:cubicBezTo>
                      <a:pt x="7287" y="2030"/>
                      <a:pt x="5937" y="682"/>
                      <a:pt x="4271" y="682"/>
                    </a:cubicBezTo>
                    <a:close/>
                    <a:moveTo>
                      <a:pt x="4271" y="5093"/>
                    </a:moveTo>
                    <a:cubicBezTo>
                      <a:pt x="3486" y="5093"/>
                      <a:pt x="2850" y="4458"/>
                      <a:pt x="2850" y="3675"/>
                    </a:cubicBezTo>
                    <a:cubicBezTo>
                      <a:pt x="2850" y="2892"/>
                      <a:pt x="3486" y="2257"/>
                      <a:pt x="4271" y="2257"/>
                    </a:cubicBezTo>
                    <a:cubicBezTo>
                      <a:pt x="5056" y="2257"/>
                      <a:pt x="5692" y="2892"/>
                      <a:pt x="5692" y="3675"/>
                    </a:cubicBezTo>
                    <a:cubicBezTo>
                      <a:pt x="5692" y="4458"/>
                      <a:pt x="5056" y="5093"/>
                      <a:pt x="4271" y="5093"/>
                    </a:cubicBezTo>
                    <a:close/>
                    <a:moveTo>
                      <a:pt x="4271" y="2940"/>
                    </a:moveTo>
                    <a:cubicBezTo>
                      <a:pt x="3864" y="2940"/>
                      <a:pt x="3535" y="3269"/>
                      <a:pt x="3535" y="3675"/>
                    </a:cubicBezTo>
                    <a:cubicBezTo>
                      <a:pt x="3535" y="4081"/>
                      <a:pt x="3864" y="4410"/>
                      <a:pt x="4271" y="4410"/>
                    </a:cubicBezTo>
                    <a:cubicBezTo>
                      <a:pt x="4678" y="4410"/>
                      <a:pt x="5007" y="4081"/>
                      <a:pt x="5007" y="3675"/>
                    </a:cubicBezTo>
                    <a:cubicBezTo>
                      <a:pt x="5007" y="3269"/>
                      <a:pt x="4678" y="2940"/>
                      <a:pt x="4271" y="2940"/>
                    </a:cubicBezTo>
                    <a:close/>
                    <a:moveTo>
                      <a:pt x="4271" y="2940"/>
                    </a:move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0" name="id-card_149785"/>
              <p:cNvSpPr>
                <a:spLocks noChangeAspect="1"/>
              </p:cNvSpPr>
              <p:nvPr>
                <p:custDataLst>
                  <p:tags r:id="rId10"/>
                </p:custDataLst>
              </p:nvPr>
            </p:nvSpPr>
            <p:spPr bwMode="auto">
              <a:xfrm>
                <a:off x="6150452" y="4505453"/>
                <a:ext cx="698530" cy="769273"/>
              </a:xfrm>
              <a:custGeom>
                <a:avLst/>
                <a:gdLst>
                  <a:gd name="T0" fmla="*/ 5818 w 11622"/>
                  <a:gd name="T1" fmla="*/ 3032 h 12799"/>
                  <a:gd name="T2" fmla="*/ 8635 w 11622"/>
                  <a:gd name="T3" fmla="*/ 5849 h 12799"/>
                  <a:gd name="T4" fmla="*/ 5818 w 11622"/>
                  <a:gd name="T5" fmla="*/ 8666 h 12799"/>
                  <a:gd name="T6" fmla="*/ 3001 w 11622"/>
                  <a:gd name="T7" fmla="*/ 5849 h 12799"/>
                  <a:gd name="T8" fmla="*/ 5818 w 11622"/>
                  <a:gd name="T9" fmla="*/ 3032 h 12799"/>
                  <a:gd name="T10" fmla="*/ 5818 w 11622"/>
                  <a:gd name="T11" fmla="*/ 2327 h 12799"/>
                  <a:gd name="T12" fmla="*/ 2297 w 11622"/>
                  <a:gd name="T13" fmla="*/ 5849 h 12799"/>
                  <a:gd name="T14" fmla="*/ 5819 w 11622"/>
                  <a:gd name="T15" fmla="*/ 9371 h 12799"/>
                  <a:gd name="T16" fmla="*/ 9341 w 11622"/>
                  <a:gd name="T17" fmla="*/ 5849 h 12799"/>
                  <a:gd name="T18" fmla="*/ 5818 w 11622"/>
                  <a:gd name="T19" fmla="*/ 2327 h 12799"/>
                  <a:gd name="T20" fmla="*/ 3406 w 11622"/>
                  <a:gd name="T21" fmla="*/ 10432 h 12799"/>
                  <a:gd name="T22" fmla="*/ 8230 w 11622"/>
                  <a:gd name="T23" fmla="*/ 10432 h 12799"/>
                  <a:gd name="T24" fmla="*/ 8230 w 11622"/>
                  <a:gd name="T25" fmla="*/ 11137 h 12799"/>
                  <a:gd name="T26" fmla="*/ 3406 w 11622"/>
                  <a:gd name="T27" fmla="*/ 11137 h 12799"/>
                  <a:gd name="T28" fmla="*/ 3406 w 11622"/>
                  <a:gd name="T29" fmla="*/ 10432 h 12799"/>
                  <a:gd name="T30" fmla="*/ 4128 w 11622"/>
                  <a:gd name="T31" fmla="*/ 12094 h 12799"/>
                  <a:gd name="T32" fmla="*/ 7509 w 11622"/>
                  <a:gd name="T33" fmla="*/ 12094 h 12799"/>
                  <a:gd name="T34" fmla="*/ 7509 w 11622"/>
                  <a:gd name="T35" fmla="*/ 12799 h 12799"/>
                  <a:gd name="T36" fmla="*/ 4128 w 11622"/>
                  <a:gd name="T37" fmla="*/ 12799 h 12799"/>
                  <a:gd name="T38" fmla="*/ 4128 w 11622"/>
                  <a:gd name="T39" fmla="*/ 12094 h 12799"/>
                  <a:gd name="T40" fmla="*/ 5447 w 11622"/>
                  <a:gd name="T41" fmla="*/ 0 h 12799"/>
                  <a:gd name="T42" fmla="*/ 6151 w 11622"/>
                  <a:gd name="T43" fmla="*/ 0 h 12799"/>
                  <a:gd name="T44" fmla="*/ 6151 w 11622"/>
                  <a:gd name="T45" fmla="*/ 1407 h 12799"/>
                  <a:gd name="T46" fmla="*/ 5447 w 11622"/>
                  <a:gd name="T47" fmla="*/ 1407 h 12799"/>
                  <a:gd name="T48" fmla="*/ 5447 w 11622"/>
                  <a:gd name="T49" fmla="*/ 0 h 12799"/>
                  <a:gd name="T50" fmla="*/ 1444 w 11622"/>
                  <a:gd name="T51" fmla="*/ 1959 h 12799"/>
                  <a:gd name="T52" fmla="*/ 1943 w 11622"/>
                  <a:gd name="T53" fmla="*/ 1461 h 12799"/>
                  <a:gd name="T54" fmla="*/ 2938 w 11622"/>
                  <a:gd name="T55" fmla="*/ 2456 h 12799"/>
                  <a:gd name="T56" fmla="*/ 2439 w 11622"/>
                  <a:gd name="T57" fmla="*/ 2954 h 12799"/>
                  <a:gd name="T58" fmla="*/ 1444 w 11622"/>
                  <a:gd name="T59" fmla="*/ 1959 h 12799"/>
                  <a:gd name="T60" fmla="*/ 0 w 11622"/>
                  <a:gd name="T61" fmla="*/ 5470 h 12799"/>
                  <a:gd name="T62" fmla="*/ 1407 w 11622"/>
                  <a:gd name="T63" fmla="*/ 5470 h 12799"/>
                  <a:gd name="T64" fmla="*/ 1407 w 11622"/>
                  <a:gd name="T65" fmla="*/ 6175 h 12799"/>
                  <a:gd name="T66" fmla="*/ 0 w 11622"/>
                  <a:gd name="T67" fmla="*/ 6175 h 12799"/>
                  <a:gd name="T68" fmla="*/ 0 w 11622"/>
                  <a:gd name="T69" fmla="*/ 5470 h 12799"/>
                  <a:gd name="T70" fmla="*/ 10214 w 11622"/>
                  <a:gd name="T71" fmla="*/ 5448 h 12799"/>
                  <a:gd name="T72" fmla="*/ 11622 w 11622"/>
                  <a:gd name="T73" fmla="*/ 5448 h 12799"/>
                  <a:gd name="T74" fmla="*/ 11622 w 11622"/>
                  <a:gd name="T75" fmla="*/ 6153 h 12799"/>
                  <a:gd name="T76" fmla="*/ 10214 w 11622"/>
                  <a:gd name="T77" fmla="*/ 6153 h 12799"/>
                  <a:gd name="T78" fmla="*/ 10214 w 11622"/>
                  <a:gd name="T79" fmla="*/ 5448 h 12799"/>
                  <a:gd name="T80" fmla="*/ 8668 w 11622"/>
                  <a:gd name="T81" fmla="*/ 2440 h 12799"/>
                  <a:gd name="T82" fmla="*/ 9663 w 11622"/>
                  <a:gd name="T83" fmla="*/ 1445 h 12799"/>
                  <a:gd name="T84" fmla="*/ 10161 w 11622"/>
                  <a:gd name="T85" fmla="*/ 1944 h 12799"/>
                  <a:gd name="T86" fmla="*/ 9166 w 11622"/>
                  <a:gd name="T87" fmla="*/ 2939 h 12799"/>
                  <a:gd name="T88" fmla="*/ 8668 w 11622"/>
                  <a:gd name="T89" fmla="*/ 2440 h 12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622" h="12799">
                    <a:moveTo>
                      <a:pt x="5818" y="3032"/>
                    </a:moveTo>
                    <a:cubicBezTo>
                      <a:pt x="7371" y="3032"/>
                      <a:pt x="8635" y="4296"/>
                      <a:pt x="8635" y="5849"/>
                    </a:cubicBezTo>
                    <a:cubicBezTo>
                      <a:pt x="8635" y="7403"/>
                      <a:pt x="7371" y="8666"/>
                      <a:pt x="5818" y="8666"/>
                    </a:cubicBezTo>
                    <a:cubicBezTo>
                      <a:pt x="4264" y="8666"/>
                      <a:pt x="3001" y="7403"/>
                      <a:pt x="3001" y="5849"/>
                    </a:cubicBezTo>
                    <a:cubicBezTo>
                      <a:pt x="3001" y="4296"/>
                      <a:pt x="4264" y="3032"/>
                      <a:pt x="5818" y="3032"/>
                    </a:cubicBezTo>
                    <a:moveTo>
                      <a:pt x="5818" y="2327"/>
                    </a:moveTo>
                    <a:cubicBezTo>
                      <a:pt x="3873" y="2327"/>
                      <a:pt x="2297" y="3904"/>
                      <a:pt x="2297" y="5849"/>
                    </a:cubicBezTo>
                    <a:cubicBezTo>
                      <a:pt x="2297" y="7794"/>
                      <a:pt x="3874" y="9371"/>
                      <a:pt x="5819" y="9371"/>
                    </a:cubicBezTo>
                    <a:cubicBezTo>
                      <a:pt x="7764" y="9371"/>
                      <a:pt x="9341" y="7794"/>
                      <a:pt x="9341" y="5849"/>
                    </a:cubicBezTo>
                    <a:cubicBezTo>
                      <a:pt x="9340" y="3904"/>
                      <a:pt x="7764" y="2327"/>
                      <a:pt x="5818" y="2327"/>
                    </a:cubicBezTo>
                    <a:close/>
                    <a:moveTo>
                      <a:pt x="3406" y="10432"/>
                    </a:moveTo>
                    <a:lnTo>
                      <a:pt x="8230" y="10432"/>
                    </a:lnTo>
                    <a:lnTo>
                      <a:pt x="8230" y="11137"/>
                    </a:lnTo>
                    <a:lnTo>
                      <a:pt x="3406" y="11137"/>
                    </a:lnTo>
                    <a:lnTo>
                      <a:pt x="3406" y="10432"/>
                    </a:lnTo>
                    <a:close/>
                    <a:moveTo>
                      <a:pt x="4128" y="12094"/>
                    </a:moveTo>
                    <a:lnTo>
                      <a:pt x="7509" y="12094"/>
                    </a:lnTo>
                    <a:lnTo>
                      <a:pt x="7509" y="12799"/>
                    </a:lnTo>
                    <a:lnTo>
                      <a:pt x="4128" y="12799"/>
                    </a:lnTo>
                    <a:lnTo>
                      <a:pt x="4128" y="12094"/>
                    </a:lnTo>
                    <a:close/>
                    <a:moveTo>
                      <a:pt x="5447" y="0"/>
                    </a:moveTo>
                    <a:lnTo>
                      <a:pt x="6151" y="0"/>
                    </a:lnTo>
                    <a:lnTo>
                      <a:pt x="6151" y="1407"/>
                    </a:lnTo>
                    <a:lnTo>
                      <a:pt x="5447" y="1407"/>
                    </a:lnTo>
                    <a:lnTo>
                      <a:pt x="5447" y="0"/>
                    </a:lnTo>
                    <a:close/>
                    <a:moveTo>
                      <a:pt x="1444" y="1959"/>
                    </a:moveTo>
                    <a:lnTo>
                      <a:pt x="1943" y="1461"/>
                    </a:lnTo>
                    <a:lnTo>
                      <a:pt x="2938" y="2456"/>
                    </a:lnTo>
                    <a:lnTo>
                      <a:pt x="2439" y="2954"/>
                    </a:lnTo>
                    <a:lnTo>
                      <a:pt x="1444" y="1959"/>
                    </a:lnTo>
                    <a:close/>
                    <a:moveTo>
                      <a:pt x="0" y="5470"/>
                    </a:moveTo>
                    <a:lnTo>
                      <a:pt x="1407" y="5470"/>
                    </a:lnTo>
                    <a:lnTo>
                      <a:pt x="1407" y="6175"/>
                    </a:lnTo>
                    <a:lnTo>
                      <a:pt x="0" y="6175"/>
                    </a:lnTo>
                    <a:lnTo>
                      <a:pt x="0" y="5470"/>
                    </a:lnTo>
                    <a:close/>
                    <a:moveTo>
                      <a:pt x="10214" y="5448"/>
                    </a:moveTo>
                    <a:lnTo>
                      <a:pt x="11622" y="5448"/>
                    </a:lnTo>
                    <a:lnTo>
                      <a:pt x="11622" y="6153"/>
                    </a:lnTo>
                    <a:lnTo>
                      <a:pt x="10214" y="6153"/>
                    </a:lnTo>
                    <a:lnTo>
                      <a:pt x="10214" y="5448"/>
                    </a:lnTo>
                    <a:close/>
                    <a:moveTo>
                      <a:pt x="8668" y="2440"/>
                    </a:moveTo>
                    <a:lnTo>
                      <a:pt x="9663" y="1445"/>
                    </a:lnTo>
                    <a:lnTo>
                      <a:pt x="10161" y="1944"/>
                    </a:lnTo>
                    <a:lnTo>
                      <a:pt x="9166" y="2939"/>
                    </a:lnTo>
                    <a:lnTo>
                      <a:pt x="8668" y="2440"/>
                    </a:ln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10" name="文本框 46"/>
            <p:cNvSpPr txBox="1"/>
            <p:nvPr>
              <p:custDataLst>
                <p:tags r:id="rId11"/>
              </p:custDataLst>
            </p:nvPr>
          </p:nvSpPr>
          <p:spPr>
            <a:xfrm>
              <a:off x="515456" y="2149174"/>
              <a:ext cx="3123565" cy="1270000"/>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rPr>
                <a:t>作者首先对网络流量中的非确定性进行了表征实验，展示了在应用差异分析到移动应用程序的网络流量时，</a:t>
              </a:r>
              <a:r>
                <a:rPr lang="zh-CN" altLang="en-US" sz="1600" dirty="0" smtClean="0">
                  <a:solidFill>
                    <a:srgbClr val="FF0000"/>
                  </a:solidFill>
                  <a:latin typeface="字魂58号-创中黑" panose="00000500000000000000" pitchFamily="2" charset="-122"/>
                  <a:ea typeface="字魂58号-创中黑" panose="00000500000000000000" pitchFamily="2" charset="-122"/>
                </a:rPr>
                <a:t>利用上下文信息</a:t>
              </a:r>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rPr>
                <a:t>的重要性。</a:t>
              </a:r>
              <a:endPar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endParaRPr>
            </a:p>
            <a:p>
              <a:pPr algn="l"/>
              <a:endPar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endParaRPr>
            </a:p>
          </p:txBody>
        </p:sp>
        <p:sp>
          <p:nvSpPr>
            <p:cNvPr id="108" name="文本框 46"/>
            <p:cNvSpPr txBox="1"/>
            <p:nvPr>
              <p:custDataLst>
                <p:tags r:id="rId12"/>
              </p:custDataLst>
            </p:nvPr>
          </p:nvSpPr>
          <p:spPr>
            <a:xfrm>
              <a:off x="2192491" y="4592019"/>
              <a:ext cx="3089910" cy="5835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sym typeface="+mn-ea"/>
                </a:rPr>
                <a:t>AGRIGENTO</a:t>
              </a:r>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sym typeface="+mn-ea"/>
                </a:rPr>
                <a:t>技术还存在一些问题和</a:t>
              </a:r>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sym typeface="+mn-ea"/>
                </a:rPr>
                <a:t>限制。</a:t>
              </a:r>
              <a:endPar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sym typeface="+mn-ea"/>
              </a:endParaRPr>
            </a:p>
          </p:txBody>
        </p:sp>
        <p:sp>
          <p:nvSpPr>
            <p:cNvPr id="106" name="文本框 46"/>
            <p:cNvSpPr txBox="1"/>
            <p:nvPr>
              <p:custDataLst>
                <p:tags r:id="rId13"/>
              </p:custDataLst>
            </p:nvPr>
          </p:nvSpPr>
          <p:spPr>
            <a:xfrm>
              <a:off x="8528521" y="1851359"/>
              <a:ext cx="3093720" cy="1633855"/>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rPr>
                <a:t>通过对1004个Android应用程序的评估，作者展示了AGRIGENTO能够检测到其他先进方法无法检测到的隐私泄漏，</a:t>
              </a:r>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sym typeface="+mn-ea"/>
                </a:rPr>
                <a:t>在特定信息源方面的误报率较高，但</a:t>
              </a:r>
              <a:r>
                <a:rPr lang="zh-CN" altLang="en-US" sz="1600" dirty="0" smtClean="0">
                  <a:solidFill>
                    <a:srgbClr val="FF0000"/>
                  </a:solidFill>
                  <a:latin typeface="字魂58号-创中黑" panose="00000500000000000000" pitchFamily="2" charset="-122"/>
                  <a:ea typeface="字魂58号-创中黑" panose="00000500000000000000" pitchFamily="2" charset="-122"/>
                  <a:sym typeface="+mn-ea"/>
                </a:rPr>
                <a:t>在总体隐私泄露检测方面几乎没有误报</a:t>
              </a:r>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sym typeface="+mn-ea"/>
                </a:rPr>
                <a:t>。</a:t>
              </a:r>
              <a:endPar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endParaRPr>
            </a:p>
          </p:txBody>
        </p:sp>
      </p:grpSp>
      <p:pic>
        <p:nvPicPr>
          <p:cNvPr id="30" name="图片 29"/>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9352277" y="117494"/>
            <a:ext cx="2143500" cy="714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500" advTm="3000">
        <p14:reveal/>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checkerboard(across)">
                                      <p:cBhvr>
                                        <p:cTn id="7"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2509221" y="0"/>
            <a:ext cx="14701221" cy="6858000"/>
            <a:chOff x="-2509221" y="0"/>
            <a:chExt cx="14701221" cy="6858000"/>
          </a:xfrm>
        </p:grpSpPr>
        <p:grpSp>
          <p:nvGrpSpPr>
            <p:cNvPr id="10" name="组合 9"/>
            <p:cNvGrpSpPr/>
            <p:nvPr/>
          </p:nvGrpSpPr>
          <p:grpSpPr>
            <a:xfrm>
              <a:off x="-2509221" y="0"/>
              <a:ext cx="14701221" cy="6858000"/>
              <a:chOff x="-2509221" y="0"/>
              <a:chExt cx="14701221" cy="6858000"/>
            </a:xfrm>
          </p:grpSpPr>
          <p:sp>
            <p:nvSpPr>
              <p:cNvPr id="3" name="矩形 2"/>
              <p:cNvSpPr/>
              <p:nvPr/>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平行四边形 4"/>
              <p:cNvSpPr/>
              <p:nvPr/>
            </p:nvSpPr>
            <p:spPr>
              <a:xfrm>
                <a:off x="462579" y="0"/>
                <a:ext cx="11729421" cy="6858000"/>
              </a:xfrm>
              <a:prstGeom prst="parallelogram">
                <a:avLst>
                  <a:gd name="adj" fmla="val 4537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p:nvSpPr>
            <p:spPr>
              <a:xfrm>
                <a:off x="-2509221" y="0"/>
                <a:ext cx="11729421" cy="6858000"/>
              </a:xfrm>
              <a:prstGeom prst="parallelogram">
                <a:avLst>
                  <a:gd name="adj" fmla="val 453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nvSpPr>
            <p:spPr>
              <a:xfrm>
                <a:off x="0" y="0"/>
                <a:ext cx="6327289" cy="6858000"/>
              </a:xfrm>
              <a:custGeom>
                <a:avLst/>
                <a:gdLst>
                  <a:gd name="connsiteX0" fmla="*/ 0 w 6327289"/>
                  <a:gd name="connsiteY0" fmla="*/ 0 h 6858000"/>
                  <a:gd name="connsiteX1" fmla="*/ 6327289 w 6327289"/>
                  <a:gd name="connsiteY1" fmla="*/ 0 h 6858000"/>
                  <a:gd name="connsiteX2" fmla="*/ 3215814 w 6327289"/>
                  <a:gd name="connsiteY2" fmla="*/ 6858000 h 6858000"/>
                  <a:gd name="connsiteX3" fmla="*/ 0 w 632728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327289" h="6858000">
                    <a:moveTo>
                      <a:pt x="0" y="0"/>
                    </a:moveTo>
                    <a:lnTo>
                      <a:pt x="6327289" y="0"/>
                    </a:lnTo>
                    <a:lnTo>
                      <a:pt x="3215814" y="6858000"/>
                    </a:lnTo>
                    <a:lnTo>
                      <a:pt x="0"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11" name="矩形 10"/>
            <p:cNvSpPr/>
            <p:nvPr/>
          </p:nvSpPr>
          <p:spPr>
            <a:xfrm>
              <a:off x="0" y="939800"/>
              <a:ext cx="12192000" cy="5918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4742894" y="177513"/>
              <a:ext cx="2706211" cy="583565"/>
            </a:xfrm>
            <a:prstGeom prst="rect">
              <a:avLst/>
            </a:prstGeom>
            <a:noFill/>
          </p:spPr>
          <p:txBody>
            <a:bodyPr wrap="square" rtlCol="0">
              <a:spAutoFit/>
            </a:bodyPr>
            <a:lstStyle>
              <a:defPPr>
                <a:defRPr lang="zh-CN"/>
              </a:defPPr>
              <a:lvl1pPr>
                <a:defRPr sz="5400">
                  <a:solidFill>
                    <a:schemeClr val="tx2">
                      <a:lumMod val="50000"/>
                    </a:schemeClr>
                  </a:solidFill>
                  <a:latin typeface="+mj-ea"/>
                  <a:ea typeface="+mj-ea"/>
                </a:defRPr>
              </a:lvl1pPr>
            </a:lstStyle>
            <a:p>
              <a:pPr algn="ctr"/>
              <a:r>
                <a:rPr lang="en-US" altLang="zh-CN" sz="3200" dirty="0">
                  <a:solidFill>
                    <a:schemeClr val="bg1"/>
                  </a:solidFill>
                </a:rPr>
                <a:t>05. </a:t>
              </a:r>
              <a:r>
                <a:rPr lang="zh-CN" altLang="en-US" sz="3200" dirty="0">
                  <a:solidFill>
                    <a:schemeClr val="bg1"/>
                  </a:solidFill>
                </a:rPr>
                <a:t>局限性</a:t>
              </a:r>
              <a:endParaRPr lang="zh-CN" altLang="en-US" sz="3200" dirty="0">
                <a:solidFill>
                  <a:schemeClr val="bg1"/>
                </a:solidFill>
              </a:endParaRPr>
            </a:p>
          </p:txBody>
        </p:sp>
      </p:grpSp>
      <p:grpSp>
        <p:nvGrpSpPr>
          <p:cNvPr id="63" name="组合 62"/>
          <p:cNvGrpSpPr/>
          <p:nvPr/>
        </p:nvGrpSpPr>
        <p:grpSpPr>
          <a:xfrm>
            <a:off x="661417" y="1280640"/>
            <a:ext cx="10869166" cy="4355456"/>
            <a:chOff x="661419" y="1098057"/>
            <a:chExt cx="10869166" cy="4355456"/>
          </a:xfrm>
        </p:grpSpPr>
        <p:grpSp>
          <p:nvGrpSpPr>
            <p:cNvPr id="46" name="27197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661419" y="1098057"/>
              <a:ext cx="10869166" cy="2845586"/>
              <a:chOff x="661417" y="1130301"/>
              <a:chExt cx="10869166" cy="2845586"/>
            </a:xfrm>
          </p:grpSpPr>
          <p:cxnSp>
            <p:nvCxnSpPr>
              <p:cNvPr id="47" name="直接连接符 46"/>
              <p:cNvCxnSpPr/>
              <p:nvPr/>
            </p:nvCxnSpPr>
            <p:spPr>
              <a:xfrm>
                <a:off x="1963538" y="3300003"/>
                <a:ext cx="2" cy="214258"/>
              </a:xfrm>
              <a:prstGeom prst="line">
                <a:avLst/>
              </a:prstGeom>
              <a:ln w="9525">
                <a:solidFill>
                  <a:schemeClr val="accent4"/>
                </a:solidFill>
                <a:prstDash val="dash"/>
              </a:ln>
            </p:spPr>
            <p:style>
              <a:lnRef idx="1">
                <a:schemeClr val="dk1"/>
              </a:lnRef>
              <a:fillRef idx="0">
                <a:schemeClr val="dk1"/>
              </a:fillRef>
              <a:effectRef idx="0">
                <a:schemeClr val="dk1"/>
              </a:effectRef>
              <a:fontRef idx="minor">
                <a:schemeClr val="tx1"/>
              </a:fontRef>
            </p:style>
          </p:cxnSp>
          <p:sp>
            <p:nvSpPr>
              <p:cNvPr id="48" name="îṧḷíďe"/>
              <p:cNvSpPr/>
              <p:nvPr/>
            </p:nvSpPr>
            <p:spPr>
              <a:xfrm rot="2700000" flipV="1">
                <a:off x="1597447" y="2395494"/>
                <a:ext cx="732184" cy="732186"/>
              </a:xfrm>
              <a:prstGeom prst="teardrop">
                <a:avLst>
                  <a:gd name="adj" fmla="val 103995"/>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dirty="0"/>
              </a:p>
            </p:txBody>
          </p:sp>
          <p:sp>
            <p:nvSpPr>
              <p:cNvPr id="49" name="ïşḻîḋê"/>
              <p:cNvSpPr/>
              <p:nvPr/>
            </p:nvSpPr>
            <p:spPr>
              <a:xfrm>
                <a:off x="661417" y="3514261"/>
                <a:ext cx="2604245" cy="461622"/>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dirty="0">
                  <a:solidFill>
                    <a:schemeClr val="bg1"/>
                  </a:solidFill>
                  <a:latin typeface="+mj-ea"/>
                  <a:ea typeface="+mj-ea"/>
                </a:endParaRPr>
              </a:p>
            </p:txBody>
          </p:sp>
          <p:cxnSp>
            <p:nvCxnSpPr>
              <p:cNvPr id="50" name="直接连接符 49"/>
              <p:cNvCxnSpPr/>
              <p:nvPr/>
            </p:nvCxnSpPr>
            <p:spPr>
              <a:xfrm>
                <a:off x="4718517" y="2952015"/>
                <a:ext cx="1" cy="562246"/>
              </a:xfrm>
              <a:prstGeom prst="line">
                <a:avLst/>
              </a:prstGeom>
              <a:ln w="9525">
                <a:solidFill>
                  <a:schemeClr val="accent5"/>
                </a:solidFill>
                <a:prstDash val="dash"/>
              </a:ln>
            </p:spPr>
            <p:style>
              <a:lnRef idx="1">
                <a:schemeClr val="dk1"/>
              </a:lnRef>
              <a:fillRef idx="0">
                <a:schemeClr val="dk1"/>
              </a:fillRef>
              <a:effectRef idx="0">
                <a:schemeClr val="dk1"/>
              </a:effectRef>
              <a:fontRef idx="minor">
                <a:schemeClr val="tx1"/>
              </a:fontRef>
            </p:style>
          </p:cxnSp>
          <p:sp>
            <p:nvSpPr>
              <p:cNvPr id="51" name="îṥļîḋé"/>
              <p:cNvSpPr/>
              <p:nvPr/>
            </p:nvSpPr>
            <p:spPr>
              <a:xfrm rot="2700000" flipV="1">
                <a:off x="4352425" y="2047507"/>
                <a:ext cx="732184" cy="732185"/>
              </a:xfrm>
              <a:prstGeom prst="teardrop">
                <a:avLst>
                  <a:gd name="adj" fmla="val 103995"/>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dirty="0"/>
              </a:p>
            </p:txBody>
          </p:sp>
          <p:sp>
            <p:nvSpPr>
              <p:cNvPr id="52" name="îṣlïdê"/>
              <p:cNvSpPr/>
              <p:nvPr/>
            </p:nvSpPr>
            <p:spPr>
              <a:xfrm>
                <a:off x="3416395" y="3514261"/>
                <a:ext cx="2604245" cy="461622"/>
              </a:xfrm>
              <a:prstGeom prst="rect">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dirty="0">
                  <a:solidFill>
                    <a:schemeClr val="bg1"/>
                  </a:solidFill>
                  <a:latin typeface="+mj-ea"/>
                  <a:ea typeface="+mj-ea"/>
                </a:endParaRPr>
              </a:p>
            </p:txBody>
          </p:sp>
          <p:cxnSp>
            <p:nvCxnSpPr>
              <p:cNvPr id="53" name="直接连接符 52"/>
              <p:cNvCxnSpPr/>
              <p:nvPr/>
            </p:nvCxnSpPr>
            <p:spPr>
              <a:xfrm>
                <a:off x="7473484" y="2565506"/>
                <a:ext cx="2" cy="948755"/>
              </a:xfrm>
              <a:prstGeom prst="line">
                <a:avLst/>
              </a:prstGeom>
              <a:ln w="9525">
                <a:solidFill>
                  <a:schemeClr val="accent3"/>
                </a:solidFill>
                <a:prstDash val="dash"/>
              </a:ln>
            </p:spPr>
            <p:style>
              <a:lnRef idx="1">
                <a:schemeClr val="dk1"/>
              </a:lnRef>
              <a:fillRef idx="0">
                <a:schemeClr val="dk1"/>
              </a:fillRef>
              <a:effectRef idx="0">
                <a:schemeClr val="dk1"/>
              </a:effectRef>
              <a:fontRef idx="minor">
                <a:schemeClr val="tx1"/>
              </a:fontRef>
            </p:style>
          </p:cxnSp>
          <p:sp>
            <p:nvSpPr>
              <p:cNvPr id="54" name="ïSlïḍe"/>
              <p:cNvSpPr/>
              <p:nvPr/>
            </p:nvSpPr>
            <p:spPr>
              <a:xfrm rot="2700000" flipV="1">
                <a:off x="7107393" y="1660997"/>
                <a:ext cx="732184" cy="732186"/>
              </a:xfrm>
              <a:prstGeom prst="teardrop">
                <a:avLst>
                  <a:gd name="adj" fmla="val 103995"/>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dirty="0"/>
              </a:p>
            </p:txBody>
          </p:sp>
          <p:sp>
            <p:nvSpPr>
              <p:cNvPr id="55" name="ïş1îḋe"/>
              <p:cNvSpPr/>
              <p:nvPr/>
            </p:nvSpPr>
            <p:spPr>
              <a:xfrm>
                <a:off x="6171363" y="3514261"/>
                <a:ext cx="2604245" cy="461622"/>
              </a:xfrm>
              <a:prstGeom prst="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dirty="0">
                  <a:solidFill>
                    <a:schemeClr val="bg1"/>
                  </a:solidFill>
                  <a:latin typeface="+mj-ea"/>
                  <a:ea typeface="+mj-ea"/>
                </a:endParaRPr>
              </a:p>
            </p:txBody>
          </p:sp>
          <p:cxnSp>
            <p:nvCxnSpPr>
              <p:cNvPr id="56" name="直接连接符 55"/>
              <p:cNvCxnSpPr/>
              <p:nvPr/>
            </p:nvCxnSpPr>
            <p:spPr>
              <a:xfrm>
                <a:off x="10228459" y="2034809"/>
                <a:ext cx="2" cy="1479456"/>
              </a:xfrm>
              <a:prstGeom prst="line">
                <a:avLst/>
              </a:prstGeom>
              <a:ln w="9525">
                <a:solidFill>
                  <a:schemeClr val="accent1"/>
                </a:solidFill>
                <a:prstDash val="dash"/>
              </a:ln>
            </p:spPr>
            <p:style>
              <a:lnRef idx="1">
                <a:schemeClr val="dk1"/>
              </a:lnRef>
              <a:fillRef idx="0">
                <a:schemeClr val="dk1"/>
              </a:fillRef>
              <a:effectRef idx="0">
                <a:schemeClr val="dk1"/>
              </a:effectRef>
              <a:fontRef idx="minor">
                <a:schemeClr val="tx1"/>
              </a:fontRef>
            </p:style>
          </p:cxnSp>
          <p:sp>
            <p:nvSpPr>
              <p:cNvPr id="57" name="íṧļîḍê"/>
              <p:cNvSpPr/>
              <p:nvPr/>
            </p:nvSpPr>
            <p:spPr>
              <a:xfrm rot="2700000" flipV="1">
                <a:off x="9862368" y="1130300"/>
                <a:ext cx="732184" cy="732186"/>
              </a:xfrm>
              <a:prstGeom prst="teardrop">
                <a:avLst>
                  <a:gd name="adj" fmla="val 103995"/>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dirty="0"/>
              </a:p>
            </p:txBody>
          </p:sp>
          <p:sp>
            <p:nvSpPr>
              <p:cNvPr id="58" name="îṡļídé"/>
              <p:cNvSpPr/>
              <p:nvPr/>
            </p:nvSpPr>
            <p:spPr>
              <a:xfrm>
                <a:off x="8926338" y="3514265"/>
                <a:ext cx="2604245" cy="461622"/>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dirty="0">
                  <a:solidFill>
                    <a:schemeClr val="bg1"/>
                  </a:solidFill>
                  <a:latin typeface="+mj-ea"/>
                  <a:ea typeface="+mj-ea"/>
                </a:endParaRPr>
              </a:p>
            </p:txBody>
          </p:sp>
          <p:sp>
            <p:nvSpPr>
              <p:cNvPr id="59" name="ïš1ïḑè"/>
              <p:cNvSpPr/>
              <p:nvPr/>
            </p:nvSpPr>
            <p:spPr bwMode="auto">
              <a:xfrm>
                <a:off x="1805668" y="2610163"/>
                <a:ext cx="315740" cy="302847"/>
              </a:xfrm>
              <a:custGeom>
                <a:avLst/>
                <a:gdLst>
                  <a:gd name="T0" fmla="*/ 9839 w 12296"/>
                  <a:gd name="T1" fmla="*/ 8850 h 11793"/>
                  <a:gd name="T2" fmla="*/ 9224 w 12296"/>
                  <a:gd name="T3" fmla="*/ 8261 h 11793"/>
                  <a:gd name="T4" fmla="*/ 9224 w 12296"/>
                  <a:gd name="T5" fmla="*/ 3564 h 11793"/>
                  <a:gd name="T6" fmla="*/ 9811 w 12296"/>
                  <a:gd name="T7" fmla="*/ 2950 h 11793"/>
                  <a:gd name="T8" fmla="*/ 10452 w 12296"/>
                  <a:gd name="T9" fmla="*/ 3509 h 11793"/>
                  <a:gd name="T10" fmla="*/ 10452 w 12296"/>
                  <a:gd name="T11" fmla="*/ 8262 h 11793"/>
                  <a:gd name="T12" fmla="*/ 9839 w 12296"/>
                  <a:gd name="T13" fmla="*/ 8850 h 11793"/>
                  <a:gd name="T14" fmla="*/ 11681 w 12296"/>
                  <a:gd name="T15" fmla="*/ 7675 h 11793"/>
                  <a:gd name="T16" fmla="*/ 11067 w 12296"/>
                  <a:gd name="T17" fmla="*/ 7087 h 11793"/>
                  <a:gd name="T18" fmla="*/ 11067 w 12296"/>
                  <a:gd name="T19" fmla="*/ 4742 h 11793"/>
                  <a:gd name="T20" fmla="*/ 11653 w 12296"/>
                  <a:gd name="T21" fmla="*/ 4127 h 11793"/>
                  <a:gd name="T22" fmla="*/ 12296 w 12296"/>
                  <a:gd name="T23" fmla="*/ 4686 h 11793"/>
                  <a:gd name="T24" fmla="*/ 12296 w 12296"/>
                  <a:gd name="T25" fmla="*/ 7090 h 11793"/>
                  <a:gd name="T26" fmla="*/ 11681 w 12296"/>
                  <a:gd name="T27" fmla="*/ 7678 h 11793"/>
                  <a:gd name="T28" fmla="*/ 11681 w 12296"/>
                  <a:gd name="T29" fmla="*/ 7675 h 11793"/>
                  <a:gd name="T30" fmla="*/ 2465 w 12296"/>
                  <a:gd name="T31" fmla="*/ 9437 h 11793"/>
                  <a:gd name="T32" fmla="*/ 1852 w 12296"/>
                  <a:gd name="T33" fmla="*/ 8850 h 11793"/>
                  <a:gd name="T34" fmla="*/ 1852 w 12296"/>
                  <a:gd name="T35" fmla="*/ 2978 h 11793"/>
                  <a:gd name="T36" fmla="*/ 2437 w 12296"/>
                  <a:gd name="T37" fmla="*/ 2363 h 11793"/>
                  <a:gd name="T38" fmla="*/ 3080 w 12296"/>
                  <a:gd name="T39" fmla="*/ 2922 h 11793"/>
                  <a:gd name="T40" fmla="*/ 3080 w 12296"/>
                  <a:gd name="T41" fmla="*/ 2978 h 11793"/>
                  <a:gd name="T42" fmla="*/ 3080 w 12296"/>
                  <a:gd name="T43" fmla="*/ 8850 h 11793"/>
                  <a:gd name="T44" fmla="*/ 2465 w 12296"/>
                  <a:gd name="T45" fmla="*/ 9437 h 11793"/>
                  <a:gd name="T46" fmla="*/ 4309 w 12296"/>
                  <a:gd name="T47" fmla="*/ 11786 h 11793"/>
                  <a:gd name="T48" fmla="*/ 3695 w 12296"/>
                  <a:gd name="T49" fmla="*/ 11199 h 11793"/>
                  <a:gd name="T50" fmla="*/ 3695 w 12296"/>
                  <a:gd name="T51" fmla="*/ 629 h 11793"/>
                  <a:gd name="T52" fmla="*/ 4283 w 12296"/>
                  <a:gd name="T53" fmla="*/ 15 h 11793"/>
                  <a:gd name="T54" fmla="*/ 4924 w 12296"/>
                  <a:gd name="T55" fmla="*/ 574 h 11793"/>
                  <a:gd name="T56" fmla="*/ 4924 w 12296"/>
                  <a:gd name="T57" fmla="*/ 629 h 11793"/>
                  <a:gd name="T58" fmla="*/ 4924 w 12296"/>
                  <a:gd name="T59" fmla="*/ 11198 h 11793"/>
                  <a:gd name="T60" fmla="*/ 4309 w 12296"/>
                  <a:gd name="T61" fmla="*/ 11786 h 11793"/>
                  <a:gd name="T62" fmla="*/ 6153 w 12296"/>
                  <a:gd name="T63" fmla="*/ 9437 h 11793"/>
                  <a:gd name="T64" fmla="*/ 5538 w 12296"/>
                  <a:gd name="T65" fmla="*/ 8850 h 11793"/>
                  <a:gd name="T66" fmla="*/ 5538 w 12296"/>
                  <a:gd name="T67" fmla="*/ 2978 h 11793"/>
                  <a:gd name="T68" fmla="*/ 6123 w 12296"/>
                  <a:gd name="T69" fmla="*/ 2363 h 11793"/>
                  <a:gd name="T70" fmla="*/ 6763 w 12296"/>
                  <a:gd name="T71" fmla="*/ 2922 h 11793"/>
                  <a:gd name="T72" fmla="*/ 6763 w 12296"/>
                  <a:gd name="T73" fmla="*/ 8850 h 11793"/>
                  <a:gd name="T74" fmla="*/ 6148 w 12296"/>
                  <a:gd name="T75" fmla="*/ 9437 h 11793"/>
                  <a:gd name="T76" fmla="*/ 6153 w 12296"/>
                  <a:gd name="T77" fmla="*/ 9437 h 11793"/>
                  <a:gd name="T78" fmla="*/ 7996 w 12296"/>
                  <a:gd name="T79" fmla="*/ 7675 h 11793"/>
                  <a:gd name="T80" fmla="*/ 7385 w 12296"/>
                  <a:gd name="T81" fmla="*/ 7088 h 11793"/>
                  <a:gd name="T82" fmla="*/ 7385 w 12296"/>
                  <a:gd name="T83" fmla="*/ 4742 h 11793"/>
                  <a:gd name="T84" fmla="*/ 7973 w 12296"/>
                  <a:gd name="T85" fmla="*/ 4127 h 11793"/>
                  <a:gd name="T86" fmla="*/ 8614 w 12296"/>
                  <a:gd name="T87" fmla="*/ 4686 h 11793"/>
                  <a:gd name="T88" fmla="*/ 8614 w 12296"/>
                  <a:gd name="T89" fmla="*/ 7090 h 11793"/>
                  <a:gd name="T90" fmla="*/ 8002 w 12296"/>
                  <a:gd name="T91" fmla="*/ 7678 h 11793"/>
                  <a:gd name="T92" fmla="*/ 7996 w 12296"/>
                  <a:gd name="T93" fmla="*/ 7678 h 11793"/>
                  <a:gd name="T94" fmla="*/ 7996 w 12296"/>
                  <a:gd name="T95" fmla="*/ 7675 h 11793"/>
                  <a:gd name="T96" fmla="*/ 624 w 12296"/>
                  <a:gd name="T97" fmla="*/ 7675 h 11793"/>
                  <a:gd name="T98" fmla="*/ 9 w 12296"/>
                  <a:gd name="T99" fmla="*/ 7087 h 11793"/>
                  <a:gd name="T100" fmla="*/ 9 w 12296"/>
                  <a:gd name="T101" fmla="*/ 4742 h 11793"/>
                  <a:gd name="T102" fmla="*/ 595 w 12296"/>
                  <a:gd name="T103" fmla="*/ 4127 h 11793"/>
                  <a:gd name="T104" fmla="*/ 1238 w 12296"/>
                  <a:gd name="T105" fmla="*/ 4686 h 11793"/>
                  <a:gd name="T106" fmla="*/ 1238 w 12296"/>
                  <a:gd name="T107" fmla="*/ 7090 h 11793"/>
                  <a:gd name="T108" fmla="*/ 624 w 12296"/>
                  <a:gd name="T109" fmla="*/ 7675 h 117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296" h="11793">
                    <a:moveTo>
                      <a:pt x="9839" y="8850"/>
                    </a:moveTo>
                    <a:cubicBezTo>
                      <a:pt x="9507" y="8856"/>
                      <a:pt x="9232" y="8593"/>
                      <a:pt x="9224" y="8261"/>
                    </a:cubicBezTo>
                    <a:lnTo>
                      <a:pt x="9224" y="3564"/>
                    </a:lnTo>
                    <a:cubicBezTo>
                      <a:pt x="9224" y="3235"/>
                      <a:pt x="9483" y="2965"/>
                      <a:pt x="9811" y="2950"/>
                    </a:cubicBezTo>
                    <a:cubicBezTo>
                      <a:pt x="10140" y="2935"/>
                      <a:pt x="10422" y="3181"/>
                      <a:pt x="10452" y="3509"/>
                    </a:cubicBezTo>
                    <a:lnTo>
                      <a:pt x="10452" y="8262"/>
                    </a:lnTo>
                    <a:cubicBezTo>
                      <a:pt x="10445" y="8594"/>
                      <a:pt x="10170" y="8857"/>
                      <a:pt x="9839" y="8850"/>
                    </a:cubicBezTo>
                    <a:close/>
                    <a:moveTo>
                      <a:pt x="11681" y="7675"/>
                    </a:moveTo>
                    <a:cubicBezTo>
                      <a:pt x="11349" y="7682"/>
                      <a:pt x="11075" y="7419"/>
                      <a:pt x="11067" y="7087"/>
                    </a:cubicBezTo>
                    <a:lnTo>
                      <a:pt x="11067" y="4742"/>
                    </a:lnTo>
                    <a:cubicBezTo>
                      <a:pt x="11058" y="4410"/>
                      <a:pt x="11321" y="4134"/>
                      <a:pt x="11653" y="4127"/>
                    </a:cubicBezTo>
                    <a:cubicBezTo>
                      <a:pt x="11985" y="4105"/>
                      <a:pt x="12272" y="4355"/>
                      <a:pt x="12296" y="4686"/>
                    </a:cubicBezTo>
                    <a:lnTo>
                      <a:pt x="12296" y="7090"/>
                    </a:lnTo>
                    <a:cubicBezTo>
                      <a:pt x="12288" y="7422"/>
                      <a:pt x="12013" y="7685"/>
                      <a:pt x="11681" y="7678"/>
                    </a:cubicBezTo>
                    <a:lnTo>
                      <a:pt x="11681" y="7675"/>
                    </a:lnTo>
                    <a:close/>
                    <a:moveTo>
                      <a:pt x="2465" y="9437"/>
                    </a:moveTo>
                    <a:cubicBezTo>
                      <a:pt x="2134" y="9443"/>
                      <a:pt x="1860" y="9181"/>
                      <a:pt x="1852" y="8850"/>
                    </a:cubicBezTo>
                    <a:lnTo>
                      <a:pt x="1852" y="2978"/>
                    </a:lnTo>
                    <a:cubicBezTo>
                      <a:pt x="1843" y="2646"/>
                      <a:pt x="2105" y="2370"/>
                      <a:pt x="2437" y="2363"/>
                    </a:cubicBezTo>
                    <a:cubicBezTo>
                      <a:pt x="2769" y="2341"/>
                      <a:pt x="3056" y="2591"/>
                      <a:pt x="3080" y="2922"/>
                    </a:cubicBezTo>
                    <a:cubicBezTo>
                      <a:pt x="3081" y="2941"/>
                      <a:pt x="3081" y="2959"/>
                      <a:pt x="3080" y="2978"/>
                    </a:cubicBezTo>
                    <a:lnTo>
                      <a:pt x="3080" y="8850"/>
                    </a:lnTo>
                    <a:cubicBezTo>
                      <a:pt x="3072" y="9182"/>
                      <a:pt x="2797" y="9445"/>
                      <a:pt x="2465" y="9437"/>
                    </a:cubicBezTo>
                    <a:close/>
                    <a:moveTo>
                      <a:pt x="4309" y="11786"/>
                    </a:moveTo>
                    <a:cubicBezTo>
                      <a:pt x="3978" y="11793"/>
                      <a:pt x="3703" y="11530"/>
                      <a:pt x="3695" y="11199"/>
                    </a:cubicBezTo>
                    <a:lnTo>
                      <a:pt x="3695" y="629"/>
                    </a:lnTo>
                    <a:cubicBezTo>
                      <a:pt x="3695" y="300"/>
                      <a:pt x="3954" y="30"/>
                      <a:pt x="4283" y="15"/>
                    </a:cubicBezTo>
                    <a:cubicBezTo>
                      <a:pt x="4612" y="0"/>
                      <a:pt x="4894" y="246"/>
                      <a:pt x="4924" y="574"/>
                    </a:cubicBezTo>
                    <a:cubicBezTo>
                      <a:pt x="4925" y="592"/>
                      <a:pt x="4925" y="611"/>
                      <a:pt x="4924" y="629"/>
                    </a:cubicBezTo>
                    <a:lnTo>
                      <a:pt x="4924" y="11198"/>
                    </a:lnTo>
                    <a:cubicBezTo>
                      <a:pt x="4917" y="11530"/>
                      <a:pt x="4641" y="11793"/>
                      <a:pt x="4309" y="11786"/>
                    </a:cubicBezTo>
                    <a:close/>
                    <a:moveTo>
                      <a:pt x="6153" y="9437"/>
                    </a:moveTo>
                    <a:cubicBezTo>
                      <a:pt x="5821" y="9445"/>
                      <a:pt x="5545" y="9182"/>
                      <a:pt x="5538" y="8850"/>
                    </a:cubicBezTo>
                    <a:lnTo>
                      <a:pt x="5538" y="2978"/>
                    </a:lnTo>
                    <a:cubicBezTo>
                      <a:pt x="5529" y="2646"/>
                      <a:pt x="5792" y="2370"/>
                      <a:pt x="6123" y="2363"/>
                    </a:cubicBezTo>
                    <a:cubicBezTo>
                      <a:pt x="6454" y="2343"/>
                      <a:pt x="6739" y="2592"/>
                      <a:pt x="6763" y="2922"/>
                    </a:cubicBezTo>
                    <a:lnTo>
                      <a:pt x="6763" y="8850"/>
                    </a:lnTo>
                    <a:cubicBezTo>
                      <a:pt x="6755" y="9181"/>
                      <a:pt x="6480" y="9444"/>
                      <a:pt x="6148" y="9437"/>
                    </a:cubicBezTo>
                    <a:lnTo>
                      <a:pt x="6153" y="9437"/>
                    </a:lnTo>
                    <a:close/>
                    <a:moveTo>
                      <a:pt x="7996" y="7675"/>
                    </a:moveTo>
                    <a:cubicBezTo>
                      <a:pt x="7666" y="7680"/>
                      <a:pt x="7394" y="7418"/>
                      <a:pt x="7385" y="7088"/>
                    </a:cubicBezTo>
                    <a:lnTo>
                      <a:pt x="7385" y="4742"/>
                    </a:lnTo>
                    <a:cubicBezTo>
                      <a:pt x="7386" y="4413"/>
                      <a:pt x="7645" y="4142"/>
                      <a:pt x="7973" y="4127"/>
                    </a:cubicBezTo>
                    <a:cubicBezTo>
                      <a:pt x="8302" y="4112"/>
                      <a:pt x="8584" y="4359"/>
                      <a:pt x="8614" y="4686"/>
                    </a:cubicBezTo>
                    <a:lnTo>
                      <a:pt x="8614" y="7090"/>
                    </a:lnTo>
                    <a:cubicBezTo>
                      <a:pt x="8607" y="7422"/>
                      <a:pt x="8333" y="7685"/>
                      <a:pt x="8002" y="7678"/>
                    </a:cubicBezTo>
                    <a:lnTo>
                      <a:pt x="7996" y="7678"/>
                    </a:lnTo>
                    <a:lnTo>
                      <a:pt x="7996" y="7675"/>
                    </a:lnTo>
                    <a:close/>
                    <a:moveTo>
                      <a:pt x="624" y="7675"/>
                    </a:moveTo>
                    <a:cubicBezTo>
                      <a:pt x="292" y="7682"/>
                      <a:pt x="17" y="7419"/>
                      <a:pt x="9" y="7087"/>
                    </a:cubicBezTo>
                    <a:lnTo>
                      <a:pt x="9" y="4742"/>
                    </a:lnTo>
                    <a:cubicBezTo>
                      <a:pt x="0" y="4410"/>
                      <a:pt x="263" y="4134"/>
                      <a:pt x="595" y="4127"/>
                    </a:cubicBezTo>
                    <a:cubicBezTo>
                      <a:pt x="927" y="4105"/>
                      <a:pt x="1214" y="4355"/>
                      <a:pt x="1238" y="4686"/>
                    </a:cubicBezTo>
                    <a:lnTo>
                      <a:pt x="1238" y="7090"/>
                    </a:lnTo>
                    <a:cubicBezTo>
                      <a:pt x="1229" y="7421"/>
                      <a:pt x="955" y="7682"/>
                      <a:pt x="624" y="7675"/>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0" name="îšḷïḍê"/>
              <p:cNvSpPr/>
              <p:nvPr/>
            </p:nvSpPr>
            <p:spPr bwMode="auto">
              <a:xfrm>
                <a:off x="4560636" y="2264512"/>
                <a:ext cx="315740" cy="302847"/>
              </a:xfrm>
              <a:custGeom>
                <a:avLst/>
                <a:gdLst>
                  <a:gd name="T0" fmla="*/ 9839 w 12296"/>
                  <a:gd name="T1" fmla="*/ 8850 h 11793"/>
                  <a:gd name="T2" fmla="*/ 9224 w 12296"/>
                  <a:gd name="T3" fmla="*/ 8261 h 11793"/>
                  <a:gd name="T4" fmla="*/ 9224 w 12296"/>
                  <a:gd name="T5" fmla="*/ 3564 h 11793"/>
                  <a:gd name="T6" fmla="*/ 9811 w 12296"/>
                  <a:gd name="T7" fmla="*/ 2950 h 11793"/>
                  <a:gd name="T8" fmla="*/ 10452 w 12296"/>
                  <a:gd name="T9" fmla="*/ 3509 h 11793"/>
                  <a:gd name="T10" fmla="*/ 10452 w 12296"/>
                  <a:gd name="T11" fmla="*/ 8262 h 11793"/>
                  <a:gd name="T12" fmla="*/ 9839 w 12296"/>
                  <a:gd name="T13" fmla="*/ 8850 h 11793"/>
                  <a:gd name="T14" fmla="*/ 11681 w 12296"/>
                  <a:gd name="T15" fmla="*/ 7675 h 11793"/>
                  <a:gd name="T16" fmla="*/ 11067 w 12296"/>
                  <a:gd name="T17" fmla="*/ 7087 h 11793"/>
                  <a:gd name="T18" fmla="*/ 11067 w 12296"/>
                  <a:gd name="T19" fmla="*/ 4742 h 11793"/>
                  <a:gd name="T20" fmla="*/ 11653 w 12296"/>
                  <a:gd name="T21" fmla="*/ 4127 h 11793"/>
                  <a:gd name="T22" fmla="*/ 12296 w 12296"/>
                  <a:gd name="T23" fmla="*/ 4686 h 11793"/>
                  <a:gd name="T24" fmla="*/ 12296 w 12296"/>
                  <a:gd name="T25" fmla="*/ 7090 h 11793"/>
                  <a:gd name="T26" fmla="*/ 11681 w 12296"/>
                  <a:gd name="T27" fmla="*/ 7678 h 11793"/>
                  <a:gd name="T28" fmla="*/ 11681 w 12296"/>
                  <a:gd name="T29" fmla="*/ 7675 h 11793"/>
                  <a:gd name="T30" fmla="*/ 2465 w 12296"/>
                  <a:gd name="T31" fmla="*/ 9437 h 11793"/>
                  <a:gd name="T32" fmla="*/ 1852 w 12296"/>
                  <a:gd name="T33" fmla="*/ 8850 h 11793"/>
                  <a:gd name="T34" fmla="*/ 1852 w 12296"/>
                  <a:gd name="T35" fmla="*/ 2978 h 11793"/>
                  <a:gd name="T36" fmla="*/ 2437 w 12296"/>
                  <a:gd name="T37" fmla="*/ 2363 h 11793"/>
                  <a:gd name="T38" fmla="*/ 3080 w 12296"/>
                  <a:gd name="T39" fmla="*/ 2922 h 11793"/>
                  <a:gd name="T40" fmla="*/ 3080 w 12296"/>
                  <a:gd name="T41" fmla="*/ 2978 h 11793"/>
                  <a:gd name="T42" fmla="*/ 3080 w 12296"/>
                  <a:gd name="T43" fmla="*/ 8850 h 11793"/>
                  <a:gd name="T44" fmla="*/ 2465 w 12296"/>
                  <a:gd name="T45" fmla="*/ 9437 h 11793"/>
                  <a:gd name="T46" fmla="*/ 4309 w 12296"/>
                  <a:gd name="T47" fmla="*/ 11786 h 11793"/>
                  <a:gd name="T48" fmla="*/ 3695 w 12296"/>
                  <a:gd name="T49" fmla="*/ 11199 h 11793"/>
                  <a:gd name="T50" fmla="*/ 3695 w 12296"/>
                  <a:gd name="T51" fmla="*/ 629 h 11793"/>
                  <a:gd name="T52" fmla="*/ 4283 w 12296"/>
                  <a:gd name="T53" fmla="*/ 15 h 11793"/>
                  <a:gd name="T54" fmla="*/ 4924 w 12296"/>
                  <a:gd name="T55" fmla="*/ 574 h 11793"/>
                  <a:gd name="T56" fmla="*/ 4924 w 12296"/>
                  <a:gd name="T57" fmla="*/ 629 h 11793"/>
                  <a:gd name="T58" fmla="*/ 4924 w 12296"/>
                  <a:gd name="T59" fmla="*/ 11198 h 11793"/>
                  <a:gd name="T60" fmla="*/ 4309 w 12296"/>
                  <a:gd name="T61" fmla="*/ 11786 h 11793"/>
                  <a:gd name="T62" fmla="*/ 6153 w 12296"/>
                  <a:gd name="T63" fmla="*/ 9437 h 11793"/>
                  <a:gd name="T64" fmla="*/ 5538 w 12296"/>
                  <a:gd name="T65" fmla="*/ 8850 h 11793"/>
                  <a:gd name="T66" fmla="*/ 5538 w 12296"/>
                  <a:gd name="T67" fmla="*/ 2978 h 11793"/>
                  <a:gd name="T68" fmla="*/ 6123 w 12296"/>
                  <a:gd name="T69" fmla="*/ 2363 h 11793"/>
                  <a:gd name="T70" fmla="*/ 6763 w 12296"/>
                  <a:gd name="T71" fmla="*/ 2922 h 11793"/>
                  <a:gd name="T72" fmla="*/ 6763 w 12296"/>
                  <a:gd name="T73" fmla="*/ 8850 h 11793"/>
                  <a:gd name="T74" fmla="*/ 6148 w 12296"/>
                  <a:gd name="T75" fmla="*/ 9437 h 11793"/>
                  <a:gd name="T76" fmla="*/ 6153 w 12296"/>
                  <a:gd name="T77" fmla="*/ 9437 h 11793"/>
                  <a:gd name="T78" fmla="*/ 7996 w 12296"/>
                  <a:gd name="T79" fmla="*/ 7675 h 11793"/>
                  <a:gd name="T80" fmla="*/ 7385 w 12296"/>
                  <a:gd name="T81" fmla="*/ 7088 h 11793"/>
                  <a:gd name="T82" fmla="*/ 7385 w 12296"/>
                  <a:gd name="T83" fmla="*/ 4742 h 11793"/>
                  <a:gd name="T84" fmla="*/ 7973 w 12296"/>
                  <a:gd name="T85" fmla="*/ 4127 h 11793"/>
                  <a:gd name="T86" fmla="*/ 8614 w 12296"/>
                  <a:gd name="T87" fmla="*/ 4686 h 11793"/>
                  <a:gd name="T88" fmla="*/ 8614 w 12296"/>
                  <a:gd name="T89" fmla="*/ 7090 h 11793"/>
                  <a:gd name="T90" fmla="*/ 8002 w 12296"/>
                  <a:gd name="T91" fmla="*/ 7678 h 11793"/>
                  <a:gd name="T92" fmla="*/ 7996 w 12296"/>
                  <a:gd name="T93" fmla="*/ 7678 h 11793"/>
                  <a:gd name="T94" fmla="*/ 7996 w 12296"/>
                  <a:gd name="T95" fmla="*/ 7675 h 11793"/>
                  <a:gd name="T96" fmla="*/ 624 w 12296"/>
                  <a:gd name="T97" fmla="*/ 7675 h 11793"/>
                  <a:gd name="T98" fmla="*/ 9 w 12296"/>
                  <a:gd name="T99" fmla="*/ 7087 h 11793"/>
                  <a:gd name="T100" fmla="*/ 9 w 12296"/>
                  <a:gd name="T101" fmla="*/ 4742 h 11793"/>
                  <a:gd name="T102" fmla="*/ 595 w 12296"/>
                  <a:gd name="T103" fmla="*/ 4127 h 11793"/>
                  <a:gd name="T104" fmla="*/ 1238 w 12296"/>
                  <a:gd name="T105" fmla="*/ 4686 h 11793"/>
                  <a:gd name="T106" fmla="*/ 1238 w 12296"/>
                  <a:gd name="T107" fmla="*/ 7090 h 11793"/>
                  <a:gd name="T108" fmla="*/ 624 w 12296"/>
                  <a:gd name="T109" fmla="*/ 7675 h 117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296" h="11793">
                    <a:moveTo>
                      <a:pt x="9839" y="8850"/>
                    </a:moveTo>
                    <a:cubicBezTo>
                      <a:pt x="9507" y="8856"/>
                      <a:pt x="9232" y="8593"/>
                      <a:pt x="9224" y="8261"/>
                    </a:cubicBezTo>
                    <a:lnTo>
                      <a:pt x="9224" y="3564"/>
                    </a:lnTo>
                    <a:cubicBezTo>
                      <a:pt x="9224" y="3235"/>
                      <a:pt x="9483" y="2965"/>
                      <a:pt x="9811" y="2950"/>
                    </a:cubicBezTo>
                    <a:cubicBezTo>
                      <a:pt x="10140" y="2935"/>
                      <a:pt x="10422" y="3181"/>
                      <a:pt x="10452" y="3509"/>
                    </a:cubicBezTo>
                    <a:lnTo>
                      <a:pt x="10452" y="8262"/>
                    </a:lnTo>
                    <a:cubicBezTo>
                      <a:pt x="10445" y="8594"/>
                      <a:pt x="10170" y="8857"/>
                      <a:pt x="9839" y="8850"/>
                    </a:cubicBezTo>
                    <a:close/>
                    <a:moveTo>
                      <a:pt x="11681" y="7675"/>
                    </a:moveTo>
                    <a:cubicBezTo>
                      <a:pt x="11349" y="7682"/>
                      <a:pt x="11075" y="7419"/>
                      <a:pt x="11067" y="7087"/>
                    </a:cubicBezTo>
                    <a:lnTo>
                      <a:pt x="11067" y="4742"/>
                    </a:lnTo>
                    <a:cubicBezTo>
                      <a:pt x="11058" y="4410"/>
                      <a:pt x="11321" y="4134"/>
                      <a:pt x="11653" y="4127"/>
                    </a:cubicBezTo>
                    <a:cubicBezTo>
                      <a:pt x="11985" y="4105"/>
                      <a:pt x="12272" y="4355"/>
                      <a:pt x="12296" y="4686"/>
                    </a:cubicBezTo>
                    <a:lnTo>
                      <a:pt x="12296" y="7090"/>
                    </a:lnTo>
                    <a:cubicBezTo>
                      <a:pt x="12288" y="7422"/>
                      <a:pt x="12013" y="7685"/>
                      <a:pt x="11681" y="7678"/>
                    </a:cubicBezTo>
                    <a:lnTo>
                      <a:pt x="11681" y="7675"/>
                    </a:lnTo>
                    <a:close/>
                    <a:moveTo>
                      <a:pt x="2465" y="9437"/>
                    </a:moveTo>
                    <a:cubicBezTo>
                      <a:pt x="2134" y="9443"/>
                      <a:pt x="1860" y="9181"/>
                      <a:pt x="1852" y="8850"/>
                    </a:cubicBezTo>
                    <a:lnTo>
                      <a:pt x="1852" y="2978"/>
                    </a:lnTo>
                    <a:cubicBezTo>
                      <a:pt x="1843" y="2646"/>
                      <a:pt x="2105" y="2370"/>
                      <a:pt x="2437" y="2363"/>
                    </a:cubicBezTo>
                    <a:cubicBezTo>
                      <a:pt x="2769" y="2341"/>
                      <a:pt x="3056" y="2591"/>
                      <a:pt x="3080" y="2922"/>
                    </a:cubicBezTo>
                    <a:cubicBezTo>
                      <a:pt x="3081" y="2941"/>
                      <a:pt x="3081" y="2959"/>
                      <a:pt x="3080" y="2978"/>
                    </a:cubicBezTo>
                    <a:lnTo>
                      <a:pt x="3080" y="8850"/>
                    </a:lnTo>
                    <a:cubicBezTo>
                      <a:pt x="3072" y="9182"/>
                      <a:pt x="2797" y="9445"/>
                      <a:pt x="2465" y="9437"/>
                    </a:cubicBezTo>
                    <a:close/>
                    <a:moveTo>
                      <a:pt x="4309" y="11786"/>
                    </a:moveTo>
                    <a:cubicBezTo>
                      <a:pt x="3978" y="11793"/>
                      <a:pt x="3703" y="11530"/>
                      <a:pt x="3695" y="11199"/>
                    </a:cubicBezTo>
                    <a:lnTo>
                      <a:pt x="3695" y="629"/>
                    </a:lnTo>
                    <a:cubicBezTo>
                      <a:pt x="3695" y="300"/>
                      <a:pt x="3954" y="30"/>
                      <a:pt x="4283" y="15"/>
                    </a:cubicBezTo>
                    <a:cubicBezTo>
                      <a:pt x="4612" y="0"/>
                      <a:pt x="4894" y="246"/>
                      <a:pt x="4924" y="574"/>
                    </a:cubicBezTo>
                    <a:cubicBezTo>
                      <a:pt x="4925" y="592"/>
                      <a:pt x="4925" y="611"/>
                      <a:pt x="4924" y="629"/>
                    </a:cubicBezTo>
                    <a:lnTo>
                      <a:pt x="4924" y="11198"/>
                    </a:lnTo>
                    <a:cubicBezTo>
                      <a:pt x="4917" y="11530"/>
                      <a:pt x="4641" y="11793"/>
                      <a:pt x="4309" y="11786"/>
                    </a:cubicBezTo>
                    <a:close/>
                    <a:moveTo>
                      <a:pt x="6153" y="9437"/>
                    </a:moveTo>
                    <a:cubicBezTo>
                      <a:pt x="5821" y="9445"/>
                      <a:pt x="5545" y="9182"/>
                      <a:pt x="5538" y="8850"/>
                    </a:cubicBezTo>
                    <a:lnTo>
                      <a:pt x="5538" y="2978"/>
                    </a:lnTo>
                    <a:cubicBezTo>
                      <a:pt x="5529" y="2646"/>
                      <a:pt x="5792" y="2370"/>
                      <a:pt x="6123" y="2363"/>
                    </a:cubicBezTo>
                    <a:cubicBezTo>
                      <a:pt x="6454" y="2343"/>
                      <a:pt x="6739" y="2592"/>
                      <a:pt x="6763" y="2922"/>
                    </a:cubicBezTo>
                    <a:lnTo>
                      <a:pt x="6763" y="8850"/>
                    </a:lnTo>
                    <a:cubicBezTo>
                      <a:pt x="6755" y="9181"/>
                      <a:pt x="6480" y="9444"/>
                      <a:pt x="6148" y="9437"/>
                    </a:cubicBezTo>
                    <a:lnTo>
                      <a:pt x="6153" y="9437"/>
                    </a:lnTo>
                    <a:close/>
                    <a:moveTo>
                      <a:pt x="7996" y="7675"/>
                    </a:moveTo>
                    <a:cubicBezTo>
                      <a:pt x="7666" y="7680"/>
                      <a:pt x="7394" y="7418"/>
                      <a:pt x="7385" y="7088"/>
                    </a:cubicBezTo>
                    <a:lnTo>
                      <a:pt x="7385" y="4742"/>
                    </a:lnTo>
                    <a:cubicBezTo>
                      <a:pt x="7386" y="4413"/>
                      <a:pt x="7645" y="4142"/>
                      <a:pt x="7973" y="4127"/>
                    </a:cubicBezTo>
                    <a:cubicBezTo>
                      <a:pt x="8302" y="4112"/>
                      <a:pt x="8584" y="4359"/>
                      <a:pt x="8614" y="4686"/>
                    </a:cubicBezTo>
                    <a:lnTo>
                      <a:pt x="8614" y="7090"/>
                    </a:lnTo>
                    <a:cubicBezTo>
                      <a:pt x="8607" y="7422"/>
                      <a:pt x="8333" y="7685"/>
                      <a:pt x="8002" y="7678"/>
                    </a:cubicBezTo>
                    <a:lnTo>
                      <a:pt x="7996" y="7678"/>
                    </a:lnTo>
                    <a:lnTo>
                      <a:pt x="7996" y="7675"/>
                    </a:lnTo>
                    <a:close/>
                    <a:moveTo>
                      <a:pt x="624" y="7675"/>
                    </a:moveTo>
                    <a:cubicBezTo>
                      <a:pt x="292" y="7682"/>
                      <a:pt x="17" y="7419"/>
                      <a:pt x="9" y="7087"/>
                    </a:cubicBezTo>
                    <a:lnTo>
                      <a:pt x="9" y="4742"/>
                    </a:lnTo>
                    <a:cubicBezTo>
                      <a:pt x="0" y="4410"/>
                      <a:pt x="263" y="4134"/>
                      <a:pt x="595" y="4127"/>
                    </a:cubicBezTo>
                    <a:cubicBezTo>
                      <a:pt x="927" y="4105"/>
                      <a:pt x="1214" y="4355"/>
                      <a:pt x="1238" y="4686"/>
                    </a:cubicBezTo>
                    <a:lnTo>
                      <a:pt x="1238" y="7090"/>
                    </a:lnTo>
                    <a:cubicBezTo>
                      <a:pt x="1229" y="7421"/>
                      <a:pt x="955" y="7682"/>
                      <a:pt x="624" y="7675"/>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1" name="ïṧļîḓè"/>
              <p:cNvSpPr/>
              <p:nvPr/>
            </p:nvSpPr>
            <p:spPr bwMode="auto">
              <a:xfrm>
                <a:off x="7315611" y="1890134"/>
                <a:ext cx="315740" cy="302847"/>
              </a:xfrm>
              <a:custGeom>
                <a:avLst/>
                <a:gdLst>
                  <a:gd name="T0" fmla="*/ 9839 w 12296"/>
                  <a:gd name="T1" fmla="*/ 8850 h 11793"/>
                  <a:gd name="T2" fmla="*/ 9224 w 12296"/>
                  <a:gd name="T3" fmla="*/ 8261 h 11793"/>
                  <a:gd name="T4" fmla="*/ 9224 w 12296"/>
                  <a:gd name="T5" fmla="*/ 3564 h 11793"/>
                  <a:gd name="T6" fmla="*/ 9811 w 12296"/>
                  <a:gd name="T7" fmla="*/ 2950 h 11793"/>
                  <a:gd name="T8" fmla="*/ 10452 w 12296"/>
                  <a:gd name="T9" fmla="*/ 3509 h 11793"/>
                  <a:gd name="T10" fmla="*/ 10452 w 12296"/>
                  <a:gd name="T11" fmla="*/ 8262 h 11793"/>
                  <a:gd name="T12" fmla="*/ 9839 w 12296"/>
                  <a:gd name="T13" fmla="*/ 8850 h 11793"/>
                  <a:gd name="T14" fmla="*/ 11681 w 12296"/>
                  <a:gd name="T15" fmla="*/ 7675 h 11793"/>
                  <a:gd name="T16" fmla="*/ 11067 w 12296"/>
                  <a:gd name="T17" fmla="*/ 7087 h 11793"/>
                  <a:gd name="T18" fmla="*/ 11067 w 12296"/>
                  <a:gd name="T19" fmla="*/ 4742 h 11793"/>
                  <a:gd name="T20" fmla="*/ 11653 w 12296"/>
                  <a:gd name="T21" fmla="*/ 4127 h 11793"/>
                  <a:gd name="T22" fmla="*/ 12296 w 12296"/>
                  <a:gd name="T23" fmla="*/ 4686 h 11793"/>
                  <a:gd name="T24" fmla="*/ 12296 w 12296"/>
                  <a:gd name="T25" fmla="*/ 7090 h 11793"/>
                  <a:gd name="T26" fmla="*/ 11681 w 12296"/>
                  <a:gd name="T27" fmla="*/ 7678 h 11793"/>
                  <a:gd name="T28" fmla="*/ 11681 w 12296"/>
                  <a:gd name="T29" fmla="*/ 7675 h 11793"/>
                  <a:gd name="T30" fmla="*/ 2465 w 12296"/>
                  <a:gd name="T31" fmla="*/ 9437 h 11793"/>
                  <a:gd name="T32" fmla="*/ 1852 w 12296"/>
                  <a:gd name="T33" fmla="*/ 8850 h 11793"/>
                  <a:gd name="T34" fmla="*/ 1852 w 12296"/>
                  <a:gd name="T35" fmla="*/ 2978 h 11793"/>
                  <a:gd name="T36" fmla="*/ 2437 w 12296"/>
                  <a:gd name="T37" fmla="*/ 2363 h 11793"/>
                  <a:gd name="T38" fmla="*/ 3080 w 12296"/>
                  <a:gd name="T39" fmla="*/ 2922 h 11793"/>
                  <a:gd name="T40" fmla="*/ 3080 w 12296"/>
                  <a:gd name="T41" fmla="*/ 2978 h 11793"/>
                  <a:gd name="T42" fmla="*/ 3080 w 12296"/>
                  <a:gd name="T43" fmla="*/ 8850 h 11793"/>
                  <a:gd name="T44" fmla="*/ 2465 w 12296"/>
                  <a:gd name="T45" fmla="*/ 9437 h 11793"/>
                  <a:gd name="T46" fmla="*/ 4309 w 12296"/>
                  <a:gd name="T47" fmla="*/ 11786 h 11793"/>
                  <a:gd name="T48" fmla="*/ 3695 w 12296"/>
                  <a:gd name="T49" fmla="*/ 11199 h 11793"/>
                  <a:gd name="T50" fmla="*/ 3695 w 12296"/>
                  <a:gd name="T51" fmla="*/ 629 h 11793"/>
                  <a:gd name="T52" fmla="*/ 4283 w 12296"/>
                  <a:gd name="T53" fmla="*/ 15 h 11793"/>
                  <a:gd name="T54" fmla="*/ 4924 w 12296"/>
                  <a:gd name="T55" fmla="*/ 574 h 11793"/>
                  <a:gd name="T56" fmla="*/ 4924 w 12296"/>
                  <a:gd name="T57" fmla="*/ 629 h 11793"/>
                  <a:gd name="T58" fmla="*/ 4924 w 12296"/>
                  <a:gd name="T59" fmla="*/ 11198 h 11793"/>
                  <a:gd name="T60" fmla="*/ 4309 w 12296"/>
                  <a:gd name="T61" fmla="*/ 11786 h 11793"/>
                  <a:gd name="T62" fmla="*/ 6153 w 12296"/>
                  <a:gd name="T63" fmla="*/ 9437 h 11793"/>
                  <a:gd name="T64" fmla="*/ 5538 w 12296"/>
                  <a:gd name="T65" fmla="*/ 8850 h 11793"/>
                  <a:gd name="T66" fmla="*/ 5538 w 12296"/>
                  <a:gd name="T67" fmla="*/ 2978 h 11793"/>
                  <a:gd name="T68" fmla="*/ 6123 w 12296"/>
                  <a:gd name="T69" fmla="*/ 2363 h 11793"/>
                  <a:gd name="T70" fmla="*/ 6763 w 12296"/>
                  <a:gd name="T71" fmla="*/ 2922 h 11793"/>
                  <a:gd name="T72" fmla="*/ 6763 w 12296"/>
                  <a:gd name="T73" fmla="*/ 8850 h 11793"/>
                  <a:gd name="T74" fmla="*/ 6148 w 12296"/>
                  <a:gd name="T75" fmla="*/ 9437 h 11793"/>
                  <a:gd name="T76" fmla="*/ 6153 w 12296"/>
                  <a:gd name="T77" fmla="*/ 9437 h 11793"/>
                  <a:gd name="T78" fmla="*/ 7996 w 12296"/>
                  <a:gd name="T79" fmla="*/ 7675 h 11793"/>
                  <a:gd name="T80" fmla="*/ 7385 w 12296"/>
                  <a:gd name="T81" fmla="*/ 7088 h 11793"/>
                  <a:gd name="T82" fmla="*/ 7385 w 12296"/>
                  <a:gd name="T83" fmla="*/ 4742 h 11793"/>
                  <a:gd name="T84" fmla="*/ 7973 w 12296"/>
                  <a:gd name="T85" fmla="*/ 4127 h 11793"/>
                  <a:gd name="T86" fmla="*/ 8614 w 12296"/>
                  <a:gd name="T87" fmla="*/ 4686 h 11793"/>
                  <a:gd name="T88" fmla="*/ 8614 w 12296"/>
                  <a:gd name="T89" fmla="*/ 7090 h 11793"/>
                  <a:gd name="T90" fmla="*/ 8002 w 12296"/>
                  <a:gd name="T91" fmla="*/ 7678 h 11793"/>
                  <a:gd name="T92" fmla="*/ 7996 w 12296"/>
                  <a:gd name="T93" fmla="*/ 7678 h 11793"/>
                  <a:gd name="T94" fmla="*/ 7996 w 12296"/>
                  <a:gd name="T95" fmla="*/ 7675 h 11793"/>
                  <a:gd name="T96" fmla="*/ 624 w 12296"/>
                  <a:gd name="T97" fmla="*/ 7675 h 11793"/>
                  <a:gd name="T98" fmla="*/ 9 w 12296"/>
                  <a:gd name="T99" fmla="*/ 7087 h 11793"/>
                  <a:gd name="T100" fmla="*/ 9 w 12296"/>
                  <a:gd name="T101" fmla="*/ 4742 h 11793"/>
                  <a:gd name="T102" fmla="*/ 595 w 12296"/>
                  <a:gd name="T103" fmla="*/ 4127 h 11793"/>
                  <a:gd name="T104" fmla="*/ 1238 w 12296"/>
                  <a:gd name="T105" fmla="*/ 4686 h 11793"/>
                  <a:gd name="T106" fmla="*/ 1238 w 12296"/>
                  <a:gd name="T107" fmla="*/ 7090 h 11793"/>
                  <a:gd name="T108" fmla="*/ 624 w 12296"/>
                  <a:gd name="T109" fmla="*/ 7675 h 117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296" h="11793">
                    <a:moveTo>
                      <a:pt x="9839" y="8850"/>
                    </a:moveTo>
                    <a:cubicBezTo>
                      <a:pt x="9507" y="8856"/>
                      <a:pt x="9232" y="8593"/>
                      <a:pt x="9224" y="8261"/>
                    </a:cubicBezTo>
                    <a:lnTo>
                      <a:pt x="9224" y="3564"/>
                    </a:lnTo>
                    <a:cubicBezTo>
                      <a:pt x="9224" y="3235"/>
                      <a:pt x="9483" y="2965"/>
                      <a:pt x="9811" y="2950"/>
                    </a:cubicBezTo>
                    <a:cubicBezTo>
                      <a:pt x="10140" y="2935"/>
                      <a:pt x="10422" y="3181"/>
                      <a:pt x="10452" y="3509"/>
                    </a:cubicBezTo>
                    <a:lnTo>
                      <a:pt x="10452" y="8262"/>
                    </a:lnTo>
                    <a:cubicBezTo>
                      <a:pt x="10445" y="8594"/>
                      <a:pt x="10170" y="8857"/>
                      <a:pt x="9839" y="8850"/>
                    </a:cubicBezTo>
                    <a:close/>
                    <a:moveTo>
                      <a:pt x="11681" y="7675"/>
                    </a:moveTo>
                    <a:cubicBezTo>
                      <a:pt x="11349" y="7682"/>
                      <a:pt x="11075" y="7419"/>
                      <a:pt x="11067" y="7087"/>
                    </a:cubicBezTo>
                    <a:lnTo>
                      <a:pt x="11067" y="4742"/>
                    </a:lnTo>
                    <a:cubicBezTo>
                      <a:pt x="11058" y="4410"/>
                      <a:pt x="11321" y="4134"/>
                      <a:pt x="11653" y="4127"/>
                    </a:cubicBezTo>
                    <a:cubicBezTo>
                      <a:pt x="11985" y="4105"/>
                      <a:pt x="12272" y="4355"/>
                      <a:pt x="12296" y="4686"/>
                    </a:cubicBezTo>
                    <a:lnTo>
                      <a:pt x="12296" y="7090"/>
                    </a:lnTo>
                    <a:cubicBezTo>
                      <a:pt x="12288" y="7422"/>
                      <a:pt x="12013" y="7685"/>
                      <a:pt x="11681" y="7678"/>
                    </a:cubicBezTo>
                    <a:lnTo>
                      <a:pt x="11681" y="7675"/>
                    </a:lnTo>
                    <a:close/>
                    <a:moveTo>
                      <a:pt x="2465" y="9437"/>
                    </a:moveTo>
                    <a:cubicBezTo>
                      <a:pt x="2134" y="9443"/>
                      <a:pt x="1860" y="9181"/>
                      <a:pt x="1852" y="8850"/>
                    </a:cubicBezTo>
                    <a:lnTo>
                      <a:pt x="1852" y="2978"/>
                    </a:lnTo>
                    <a:cubicBezTo>
                      <a:pt x="1843" y="2646"/>
                      <a:pt x="2105" y="2370"/>
                      <a:pt x="2437" y="2363"/>
                    </a:cubicBezTo>
                    <a:cubicBezTo>
                      <a:pt x="2769" y="2341"/>
                      <a:pt x="3056" y="2591"/>
                      <a:pt x="3080" y="2922"/>
                    </a:cubicBezTo>
                    <a:cubicBezTo>
                      <a:pt x="3081" y="2941"/>
                      <a:pt x="3081" y="2959"/>
                      <a:pt x="3080" y="2978"/>
                    </a:cubicBezTo>
                    <a:lnTo>
                      <a:pt x="3080" y="8850"/>
                    </a:lnTo>
                    <a:cubicBezTo>
                      <a:pt x="3072" y="9182"/>
                      <a:pt x="2797" y="9445"/>
                      <a:pt x="2465" y="9437"/>
                    </a:cubicBezTo>
                    <a:close/>
                    <a:moveTo>
                      <a:pt x="4309" y="11786"/>
                    </a:moveTo>
                    <a:cubicBezTo>
                      <a:pt x="3978" y="11793"/>
                      <a:pt x="3703" y="11530"/>
                      <a:pt x="3695" y="11199"/>
                    </a:cubicBezTo>
                    <a:lnTo>
                      <a:pt x="3695" y="629"/>
                    </a:lnTo>
                    <a:cubicBezTo>
                      <a:pt x="3695" y="300"/>
                      <a:pt x="3954" y="30"/>
                      <a:pt x="4283" y="15"/>
                    </a:cubicBezTo>
                    <a:cubicBezTo>
                      <a:pt x="4612" y="0"/>
                      <a:pt x="4894" y="246"/>
                      <a:pt x="4924" y="574"/>
                    </a:cubicBezTo>
                    <a:cubicBezTo>
                      <a:pt x="4925" y="592"/>
                      <a:pt x="4925" y="611"/>
                      <a:pt x="4924" y="629"/>
                    </a:cubicBezTo>
                    <a:lnTo>
                      <a:pt x="4924" y="11198"/>
                    </a:lnTo>
                    <a:cubicBezTo>
                      <a:pt x="4917" y="11530"/>
                      <a:pt x="4641" y="11793"/>
                      <a:pt x="4309" y="11786"/>
                    </a:cubicBezTo>
                    <a:close/>
                    <a:moveTo>
                      <a:pt x="6153" y="9437"/>
                    </a:moveTo>
                    <a:cubicBezTo>
                      <a:pt x="5821" y="9445"/>
                      <a:pt x="5545" y="9182"/>
                      <a:pt x="5538" y="8850"/>
                    </a:cubicBezTo>
                    <a:lnTo>
                      <a:pt x="5538" y="2978"/>
                    </a:lnTo>
                    <a:cubicBezTo>
                      <a:pt x="5529" y="2646"/>
                      <a:pt x="5792" y="2370"/>
                      <a:pt x="6123" y="2363"/>
                    </a:cubicBezTo>
                    <a:cubicBezTo>
                      <a:pt x="6454" y="2343"/>
                      <a:pt x="6739" y="2592"/>
                      <a:pt x="6763" y="2922"/>
                    </a:cubicBezTo>
                    <a:lnTo>
                      <a:pt x="6763" y="8850"/>
                    </a:lnTo>
                    <a:cubicBezTo>
                      <a:pt x="6755" y="9181"/>
                      <a:pt x="6480" y="9444"/>
                      <a:pt x="6148" y="9437"/>
                    </a:cubicBezTo>
                    <a:lnTo>
                      <a:pt x="6153" y="9437"/>
                    </a:lnTo>
                    <a:close/>
                    <a:moveTo>
                      <a:pt x="7996" y="7675"/>
                    </a:moveTo>
                    <a:cubicBezTo>
                      <a:pt x="7666" y="7680"/>
                      <a:pt x="7394" y="7418"/>
                      <a:pt x="7385" y="7088"/>
                    </a:cubicBezTo>
                    <a:lnTo>
                      <a:pt x="7385" y="4742"/>
                    </a:lnTo>
                    <a:cubicBezTo>
                      <a:pt x="7386" y="4413"/>
                      <a:pt x="7645" y="4142"/>
                      <a:pt x="7973" y="4127"/>
                    </a:cubicBezTo>
                    <a:cubicBezTo>
                      <a:pt x="8302" y="4112"/>
                      <a:pt x="8584" y="4359"/>
                      <a:pt x="8614" y="4686"/>
                    </a:cubicBezTo>
                    <a:lnTo>
                      <a:pt x="8614" y="7090"/>
                    </a:lnTo>
                    <a:cubicBezTo>
                      <a:pt x="8607" y="7422"/>
                      <a:pt x="8333" y="7685"/>
                      <a:pt x="8002" y="7678"/>
                    </a:cubicBezTo>
                    <a:lnTo>
                      <a:pt x="7996" y="7678"/>
                    </a:lnTo>
                    <a:lnTo>
                      <a:pt x="7996" y="7675"/>
                    </a:lnTo>
                    <a:close/>
                    <a:moveTo>
                      <a:pt x="624" y="7675"/>
                    </a:moveTo>
                    <a:cubicBezTo>
                      <a:pt x="292" y="7682"/>
                      <a:pt x="17" y="7419"/>
                      <a:pt x="9" y="7087"/>
                    </a:cubicBezTo>
                    <a:lnTo>
                      <a:pt x="9" y="4742"/>
                    </a:lnTo>
                    <a:cubicBezTo>
                      <a:pt x="0" y="4410"/>
                      <a:pt x="263" y="4134"/>
                      <a:pt x="595" y="4127"/>
                    </a:cubicBezTo>
                    <a:cubicBezTo>
                      <a:pt x="927" y="4105"/>
                      <a:pt x="1214" y="4355"/>
                      <a:pt x="1238" y="4686"/>
                    </a:cubicBezTo>
                    <a:lnTo>
                      <a:pt x="1238" y="7090"/>
                    </a:lnTo>
                    <a:cubicBezTo>
                      <a:pt x="1229" y="7421"/>
                      <a:pt x="955" y="7682"/>
                      <a:pt x="624" y="7675"/>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2" name="îsľíḍè"/>
              <p:cNvSpPr/>
              <p:nvPr/>
            </p:nvSpPr>
            <p:spPr bwMode="auto">
              <a:xfrm>
                <a:off x="10070590" y="1344969"/>
                <a:ext cx="315740" cy="302847"/>
              </a:xfrm>
              <a:custGeom>
                <a:avLst/>
                <a:gdLst>
                  <a:gd name="T0" fmla="*/ 9839 w 12296"/>
                  <a:gd name="T1" fmla="*/ 8850 h 11793"/>
                  <a:gd name="T2" fmla="*/ 9224 w 12296"/>
                  <a:gd name="T3" fmla="*/ 8261 h 11793"/>
                  <a:gd name="T4" fmla="*/ 9224 w 12296"/>
                  <a:gd name="T5" fmla="*/ 3564 h 11793"/>
                  <a:gd name="T6" fmla="*/ 9811 w 12296"/>
                  <a:gd name="T7" fmla="*/ 2950 h 11793"/>
                  <a:gd name="T8" fmla="*/ 10452 w 12296"/>
                  <a:gd name="T9" fmla="*/ 3509 h 11793"/>
                  <a:gd name="T10" fmla="*/ 10452 w 12296"/>
                  <a:gd name="T11" fmla="*/ 8262 h 11793"/>
                  <a:gd name="T12" fmla="*/ 9839 w 12296"/>
                  <a:gd name="T13" fmla="*/ 8850 h 11793"/>
                  <a:gd name="T14" fmla="*/ 11681 w 12296"/>
                  <a:gd name="T15" fmla="*/ 7675 h 11793"/>
                  <a:gd name="T16" fmla="*/ 11067 w 12296"/>
                  <a:gd name="T17" fmla="*/ 7087 h 11793"/>
                  <a:gd name="T18" fmla="*/ 11067 w 12296"/>
                  <a:gd name="T19" fmla="*/ 4742 h 11793"/>
                  <a:gd name="T20" fmla="*/ 11653 w 12296"/>
                  <a:gd name="T21" fmla="*/ 4127 h 11793"/>
                  <a:gd name="T22" fmla="*/ 12296 w 12296"/>
                  <a:gd name="T23" fmla="*/ 4686 h 11793"/>
                  <a:gd name="T24" fmla="*/ 12296 w 12296"/>
                  <a:gd name="T25" fmla="*/ 7090 h 11793"/>
                  <a:gd name="T26" fmla="*/ 11681 w 12296"/>
                  <a:gd name="T27" fmla="*/ 7678 h 11793"/>
                  <a:gd name="T28" fmla="*/ 11681 w 12296"/>
                  <a:gd name="T29" fmla="*/ 7675 h 11793"/>
                  <a:gd name="T30" fmla="*/ 2465 w 12296"/>
                  <a:gd name="T31" fmla="*/ 9437 h 11793"/>
                  <a:gd name="T32" fmla="*/ 1852 w 12296"/>
                  <a:gd name="T33" fmla="*/ 8850 h 11793"/>
                  <a:gd name="T34" fmla="*/ 1852 w 12296"/>
                  <a:gd name="T35" fmla="*/ 2978 h 11793"/>
                  <a:gd name="T36" fmla="*/ 2437 w 12296"/>
                  <a:gd name="T37" fmla="*/ 2363 h 11793"/>
                  <a:gd name="T38" fmla="*/ 3080 w 12296"/>
                  <a:gd name="T39" fmla="*/ 2922 h 11793"/>
                  <a:gd name="T40" fmla="*/ 3080 w 12296"/>
                  <a:gd name="T41" fmla="*/ 2978 h 11793"/>
                  <a:gd name="T42" fmla="*/ 3080 w 12296"/>
                  <a:gd name="T43" fmla="*/ 8850 h 11793"/>
                  <a:gd name="T44" fmla="*/ 2465 w 12296"/>
                  <a:gd name="T45" fmla="*/ 9437 h 11793"/>
                  <a:gd name="T46" fmla="*/ 4309 w 12296"/>
                  <a:gd name="T47" fmla="*/ 11786 h 11793"/>
                  <a:gd name="T48" fmla="*/ 3695 w 12296"/>
                  <a:gd name="T49" fmla="*/ 11199 h 11793"/>
                  <a:gd name="T50" fmla="*/ 3695 w 12296"/>
                  <a:gd name="T51" fmla="*/ 629 h 11793"/>
                  <a:gd name="T52" fmla="*/ 4283 w 12296"/>
                  <a:gd name="T53" fmla="*/ 15 h 11793"/>
                  <a:gd name="T54" fmla="*/ 4924 w 12296"/>
                  <a:gd name="T55" fmla="*/ 574 h 11793"/>
                  <a:gd name="T56" fmla="*/ 4924 w 12296"/>
                  <a:gd name="T57" fmla="*/ 629 h 11793"/>
                  <a:gd name="T58" fmla="*/ 4924 w 12296"/>
                  <a:gd name="T59" fmla="*/ 11198 h 11793"/>
                  <a:gd name="T60" fmla="*/ 4309 w 12296"/>
                  <a:gd name="T61" fmla="*/ 11786 h 11793"/>
                  <a:gd name="T62" fmla="*/ 6153 w 12296"/>
                  <a:gd name="T63" fmla="*/ 9437 h 11793"/>
                  <a:gd name="T64" fmla="*/ 5538 w 12296"/>
                  <a:gd name="T65" fmla="*/ 8850 h 11793"/>
                  <a:gd name="T66" fmla="*/ 5538 w 12296"/>
                  <a:gd name="T67" fmla="*/ 2978 h 11793"/>
                  <a:gd name="T68" fmla="*/ 6123 w 12296"/>
                  <a:gd name="T69" fmla="*/ 2363 h 11793"/>
                  <a:gd name="T70" fmla="*/ 6763 w 12296"/>
                  <a:gd name="T71" fmla="*/ 2922 h 11793"/>
                  <a:gd name="T72" fmla="*/ 6763 w 12296"/>
                  <a:gd name="T73" fmla="*/ 8850 h 11793"/>
                  <a:gd name="T74" fmla="*/ 6148 w 12296"/>
                  <a:gd name="T75" fmla="*/ 9437 h 11793"/>
                  <a:gd name="T76" fmla="*/ 6153 w 12296"/>
                  <a:gd name="T77" fmla="*/ 9437 h 11793"/>
                  <a:gd name="T78" fmla="*/ 7996 w 12296"/>
                  <a:gd name="T79" fmla="*/ 7675 h 11793"/>
                  <a:gd name="T80" fmla="*/ 7385 w 12296"/>
                  <a:gd name="T81" fmla="*/ 7088 h 11793"/>
                  <a:gd name="T82" fmla="*/ 7385 w 12296"/>
                  <a:gd name="T83" fmla="*/ 4742 h 11793"/>
                  <a:gd name="T84" fmla="*/ 7973 w 12296"/>
                  <a:gd name="T85" fmla="*/ 4127 h 11793"/>
                  <a:gd name="T86" fmla="*/ 8614 w 12296"/>
                  <a:gd name="T87" fmla="*/ 4686 h 11793"/>
                  <a:gd name="T88" fmla="*/ 8614 w 12296"/>
                  <a:gd name="T89" fmla="*/ 7090 h 11793"/>
                  <a:gd name="T90" fmla="*/ 8002 w 12296"/>
                  <a:gd name="T91" fmla="*/ 7678 h 11793"/>
                  <a:gd name="T92" fmla="*/ 7996 w 12296"/>
                  <a:gd name="T93" fmla="*/ 7678 h 11793"/>
                  <a:gd name="T94" fmla="*/ 7996 w 12296"/>
                  <a:gd name="T95" fmla="*/ 7675 h 11793"/>
                  <a:gd name="T96" fmla="*/ 624 w 12296"/>
                  <a:gd name="T97" fmla="*/ 7675 h 11793"/>
                  <a:gd name="T98" fmla="*/ 9 w 12296"/>
                  <a:gd name="T99" fmla="*/ 7087 h 11793"/>
                  <a:gd name="T100" fmla="*/ 9 w 12296"/>
                  <a:gd name="T101" fmla="*/ 4742 h 11793"/>
                  <a:gd name="T102" fmla="*/ 595 w 12296"/>
                  <a:gd name="T103" fmla="*/ 4127 h 11793"/>
                  <a:gd name="T104" fmla="*/ 1238 w 12296"/>
                  <a:gd name="T105" fmla="*/ 4686 h 11793"/>
                  <a:gd name="T106" fmla="*/ 1238 w 12296"/>
                  <a:gd name="T107" fmla="*/ 7090 h 11793"/>
                  <a:gd name="T108" fmla="*/ 624 w 12296"/>
                  <a:gd name="T109" fmla="*/ 7675 h 117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296" h="11793">
                    <a:moveTo>
                      <a:pt x="9839" y="8850"/>
                    </a:moveTo>
                    <a:cubicBezTo>
                      <a:pt x="9507" y="8856"/>
                      <a:pt x="9232" y="8593"/>
                      <a:pt x="9224" y="8261"/>
                    </a:cubicBezTo>
                    <a:lnTo>
                      <a:pt x="9224" y="3564"/>
                    </a:lnTo>
                    <a:cubicBezTo>
                      <a:pt x="9224" y="3235"/>
                      <a:pt x="9483" y="2965"/>
                      <a:pt x="9811" y="2950"/>
                    </a:cubicBezTo>
                    <a:cubicBezTo>
                      <a:pt x="10140" y="2935"/>
                      <a:pt x="10422" y="3181"/>
                      <a:pt x="10452" y="3509"/>
                    </a:cubicBezTo>
                    <a:lnTo>
                      <a:pt x="10452" y="8262"/>
                    </a:lnTo>
                    <a:cubicBezTo>
                      <a:pt x="10445" y="8594"/>
                      <a:pt x="10170" y="8857"/>
                      <a:pt x="9839" y="8850"/>
                    </a:cubicBezTo>
                    <a:close/>
                    <a:moveTo>
                      <a:pt x="11681" y="7675"/>
                    </a:moveTo>
                    <a:cubicBezTo>
                      <a:pt x="11349" y="7682"/>
                      <a:pt x="11075" y="7419"/>
                      <a:pt x="11067" y="7087"/>
                    </a:cubicBezTo>
                    <a:lnTo>
                      <a:pt x="11067" y="4742"/>
                    </a:lnTo>
                    <a:cubicBezTo>
                      <a:pt x="11058" y="4410"/>
                      <a:pt x="11321" y="4134"/>
                      <a:pt x="11653" y="4127"/>
                    </a:cubicBezTo>
                    <a:cubicBezTo>
                      <a:pt x="11985" y="4105"/>
                      <a:pt x="12272" y="4355"/>
                      <a:pt x="12296" y="4686"/>
                    </a:cubicBezTo>
                    <a:lnTo>
                      <a:pt x="12296" y="7090"/>
                    </a:lnTo>
                    <a:cubicBezTo>
                      <a:pt x="12288" y="7422"/>
                      <a:pt x="12013" y="7685"/>
                      <a:pt x="11681" y="7678"/>
                    </a:cubicBezTo>
                    <a:lnTo>
                      <a:pt x="11681" y="7675"/>
                    </a:lnTo>
                    <a:close/>
                    <a:moveTo>
                      <a:pt x="2465" y="9437"/>
                    </a:moveTo>
                    <a:cubicBezTo>
                      <a:pt x="2134" y="9443"/>
                      <a:pt x="1860" y="9181"/>
                      <a:pt x="1852" y="8850"/>
                    </a:cubicBezTo>
                    <a:lnTo>
                      <a:pt x="1852" y="2978"/>
                    </a:lnTo>
                    <a:cubicBezTo>
                      <a:pt x="1843" y="2646"/>
                      <a:pt x="2105" y="2370"/>
                      <a:pt x="2437" y="2363"/>
                    </a:cubicBezTo>
                    <a:cubicBezTo>
                      <a:pt x="2769" y="2341"/>
                      <a:pt x="3056" y="2591"/>
                      <a:pt x="3080" y="2922"/>
                    </a:cubicBezTo>
                    <a:cubicBezTo>
                      <a:pt x="3081" y="2941"/>
                      <a:pt x="3081" y="2959"/>
                      <a:pt x="3080" y="2978"/>
                    </a:cubicBezTo>
                    <a:lnTo>
                      <a:pt x="3080" y="8850"/>
                    </a:lnTo>
                    <a:cubicBezTo>
                      <a:pt x="3072" y="9182"/>
                      <a:pt x="2797" y="9445"/>
                      <a:pt x="2465" y="9437"/>
                    </a:cubicBezTo>
                    <a:close/>
                    <a:moveTo>
                      <a:pt x="4309" y="11786"/>
                    </a:moveTo>
                    <a:cubicBezTo>
                      <a:pt x="3978" y="11793"/>
                      <a:pt x="3703" y="11530"/>
                      <a:pt x="3695" y="11199"/>
                    </a:cubicBezTo>
                    <a:lnTo>
                      <a:pt x="3695" y="629"/>
                    </a:lnTo>
                    <a:cubicBezTo>
                      <a:pt x="3695" y="300"/>
                      <a:pt x="3954" y="30"/>
                      <a:pt x="4283" y="15"/>
                    </a:cubicBezTo>
                    <a:cubicBezTo>
                      <a:pt x="4612" y="0"/>
                      <a:pt x="4894" y="246"/>
                      <a:pt x="4924" y="574"/>
                    </a:cubicBezTo>
                    <a:cubicBezTo>
                      <a:pt x="4925" y="592"/>
                      <a:pt x="4925" y="611"/>
                      <a:pt x="4924" y="629"/>
                    </a:cubicBezTo>
                    <a:lnTo>
                      <a:pt x="4924" y="11198"/>
                    </a:lnTo>
                    <a:cubicBezTo>
                      <a:pt x="4917" y="11530"/>
                      <a:pt x="4641" y="11793"/>
                      <a:pt x="4309" y="11786"/>
                    </a:cubicBezTo>
                    <a:close/>
                    <a:moveTo>
                      <a:pt x="6153" y="9437"/>
                    </a:moveTo>
                    <a:cubicBezTo>
                      <a:pt x="5821" y="9445"/>
                      <a:pt x="5545" y="9182"/>
                      <a:pt x="5538" y="8850"/>
                    </a:cubicBezTo>
                    <a:lnTo>
                      <a:pt x="5538" y="2978"/>
                    </a:lnTo>
                    <a:cubicBezTo>
                      <a:pt x="5529" y="2646"/>
                      <a:pt x="5792" y="2370"/>
                      <a:pt x="6123" y="2363"/>
                    </a:cubicBezTo>
                    <a:cubicBezTo>
                      <a:pt x="6454" y="2343"/>
                      <a:pt x="6739" y="2592"/>
                      <a:pt x="6763" y="2922"/>
                    </a:cubicBezTo>
                    <a:lnTo>
                      <a:pt x="6763" y="8850"/>
                    </a:lnTo>
                    <a:cubicBezTo>
                      <a:pt x="6755" y="9181"/>
                      <a:pt x="6480" y="9444"/>
                      <a:pt x="6148" y="9437"/>
                    </a:cubicBezTo>
                    <a:lnTo>
                      <a:pt x="6153" y="9437"/>
                    </a:lnTo>
                    <a:close/>
                    <a:moveTo>
                      <a:pt x="7996" y="7675"/>
                    </a:moveTo>
                    <a:cubicBezTo>
                      <a:pt x="7666" y="7680"/>
                      <a:pt x="7394" y="7418"/>
                      <a:pt x="7385" y="7088"/>
                    </a:cubicBezTo>
                    <a:lnTo>
                      <a:pt x="7385" y="4742"/>
                    </a:lnTo>
                    <a:cubicBezTo>
                      <a:pt x="7386" y="4413"/>
                      <a:pt x="7645" y="4142"/>
                      <a:pt x="7973" y="4127"/>
                    </a:cubicBezTo>
                    <a:cubicBezTo>
                      <a:pt x="8302" y="4112"/>
                      <a:pt x="8584" y="4359"/>
                      <a:pt x="8614" y="4686"/>
                    </a:cubicBezTo>
                    <a:lnTo>
                      <a:pt x="8614" y="7090"/>
                    </a:lnTo>
                    <a:cubicBezTo>
                      <a:pt x="8607" y="7422"/>
                      <a:pt x="8333" y="7685"/>
                      <a:pt x="8002" y="7678"/>
                    </a:cubicBezTo>
                    <a:lnTo>
                      <a:pt x="7996" y="7678"/>
                    </a:lnTo>
                    <a:lnTo>
                      <a:pt x="7996" y="7675"/>
                    </a:lnTo>
                    <a:close/>
                    <a:moveTo>
                      <a:pt x="624" y="7675"/>
                    </a:moveTo>
                    <a:cubicBezTo>
                      <a:pt x="292" y="7682"/>
                      <a:pt x="17" y="7419"/>
                      <a:pt x="9" y="7087"/>
                    </a:cubicBezTo>
                    <a:lnTo>
                      <a:pt x="9" y="4742"/>
                    </a:lnTo>
                    <a:cubicBezTo>
                      <a:pt x="0" y="4410"/>
                      <a:pt x="263" y="4134"/>
                      <a:pt x="595" y="4127"/>
                    </a:cubicBezTo>
                    <a:cubicBezTo>
                      <a:pt x="927" y="4105"/>
                      <a:pt x="1214" y="4355"/>
                      <a:pt x="1238" y="4686"/>
                    </a:cubicBezTo>
                    <a:lnTo>
                      <a:pt x="1238" y="7090"/>
                    </a:lnTo>
                    <a:cubicBezTo>
                      <a:pt x="1229" y="7421"/>
                      <a:pt x="955" y="7682"/>
                      <a:pt x="624" y="7675"/>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2" name="文本框 46"/>
            <p:cNvSpPr txBox="1"/>
            <p:nvPr/>
          </p:nvSpPr>
          <p:spPr>
            <a:xfrm>
              <a:off x="778320" y="4131443"/>
              <a:ext cx="2370440" cy="829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rPr>
                <a:t>AGRIGENTO仍然存在潜在的</a:t>
              </a:r>
              <a:r>
                <a:rPr lang="zh-CN" altLang="en-US" sz="1600" dirty="0" smtClean="0">
                  <a:solidFill>
                    <a:srgbClr val="FF0000"/>
                  </a:solidFill>
                  <a:latin typeface="字魂58号-创中黑" panose="00000500000000000000" pitchFamily="2" charset="-122"/>
                  <a:ea typeface="字魂58号-创中黑" panose="00000500000000000000" pitchFamily="2" charset="-122"/>
                </a:rPr>
                <a:t>假阴性结果</a:t>
              </a:r>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rPr>
                <a:t>，可能无法准确检测数据泄露。</a:t>
              </a:r>
              <a:endPar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endParaRPr>
            </a:p>
          </p:txBody>
        </p:sp>
        <p:sp>
          <p:nvSpPr>
            <p:cNvPr id="4" name="文本框 46"/>
            <p:cNvSpPr txBox="1"/>
            <p:nvPr/>
          </p:nvSpPr>
          <p:spPr>
            <a:xfrm>
              <a:off x="3542838" y="4131443"/>
              <a:ext cx="2370440" cy="13220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rPr>
                <a:t>AGRIGENTO需要</a:t>
              </a:r>
              <a:r>
                <a:rPr lang="zh-CN" altLang="en-US" sz="1600" dirty="0" smtClean="0">
                  <a:solidFill>
                    <a:srgbClr val="FF0000"/>
                  </a:solidFill>
                  <a:latin typeface="字魂58号-创中黑" panose="00000500000000000000" pitchFamily="2" charset="-122"/>
                  <a:ea typeface="字魂58号-创中黑" panose="00000500000000000000" pitchFamily="2" charset="-122"/>
                </a:rPr>
                <a:t>多次运行每个应用程序</a:t>
              </a:r>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rPr>
                <a:t>，这增加了分析时间和误报率之间的权衡。</a:t>
              </a:r>
              <a:endPar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endParaRPr>
            </a:p>
            <a:p>
              <a:pPr algn="ctr"/>
              <a:endPar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endParaRPr>
            </a:p>
          </p:txBody>
        </p:sp>
        <p:sp>
          <p:nvSpPr>
            <p:cNvPr id="6" name="文本框 46"/>
            <p:cNvSpPr txBox="1"/>
            <p:nvPr/>
          </p:nvSpPr>
          <p:spPr>
            <a:xfrm>
              <a:off x="6307356" y="4131443"/>
              <a:ext cx="2370440" cy="13220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sym typeface="+mn-ea"/>
                </a:rPr>
                <a:t>AGRIGENTO在实现方面存在两个主要限制：</a:t>
              </a:r>
              <a:r>
                <a:rPr lang="zh-CN" altLang="en-US" sz="1600" dirty="0" smtClean="0">
                  <a:solidFill>
                    <a:srgbClr val="FF0000"/>
                  </a:solidFill>
                  <a:latin typeface="字魂58号-创中黑" panose="00000500000000000000" pitchFamily="2" charset="-122"/>
                  <a:ea typeface="字魂58号-创中黑" panose="00000500000000000000" pitchFamily="2" charset="-122"/>
                  <a:sym typeface="+mn-ea"/>
                </a:rPr>
                <a:t>不监视/dev/random调用</a:t>
              </a:r>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sym typeface="+mn-ea"/>
                </a:rPr>
                <a:t>和</a:t>
              </a:r>
              <a:r>
                <a:rPr lang="zh-CN" altLang="en-US" sz="1600" dirty="0" smtClean="0">
                  <a:solidFill>
                    <a:srgbClr val="FF0000"/>
                  </a:solidFill>
                  <a:latin typeface="字魂58号-创中黑" panose="00000500000000000000" pitchFamily="2" charset="-122"/>
                  <a:ea typeface="字魂58号-创中黑" panose="00000500000000000000" pitchFamily="2" charset="-122"/>
                  <a:sym typeface="+mn-ea"/>
                </a:rPr>
                <a:t>仅检查HTTP GET和POST请求泄漏</a:t>
              </a:r>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sym typeface="+mn-ea"/>
                </a:rPr>
                <a:t>。</a:t>
              </a:r>
              <a:endParaRPr lang="zh-CN" altLang="en-US" sz="1600" dirty="0">
                <a:solidFill>
                  <a:schemeClr val="tx2">
                    <a:lumMod val="50000"/>
                  </a:schemeClr>
                </a:solidFill>
                <a:latin typeface="字魂58号-创中黑" panose="00000500000000000000" pitchFamily="2" charset="-122"/>
                <a:ea typeface="字魂58号-创中黑" panose="00000500000000000000" pitchFamily="2" charset="-122"/>
              </a:endParaRPr>
            </a:p>
          </p:txBody>
        </p:sp>
        <p:sp>
          <p:nvSpPr>
            <p:cNvPr id="8" name="文本框 46"/>
            <p:cNvSpPr txBox="1"/>
            <p:nvPr/>
          </p:nvSpPr>
          <p:spPr>
            <a:xfrm>
              <a:off x="9071874" y="4131443"/>
              <a:ext cx="2370440" cy="107632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sym typeface="+mn-ea"/>
                </a:rPr>
                <a:t>AGRIGENTO只能确定特定私人信息是否泄露，但</a:t>
              </a:r>
              <a:r>
                <a:rPr lang="zh-CN" altLang="en-US" sz="1600" dirty="0" smtClean="0">
                  <a:solidFill>
                    <a:srgbClr val="FF0000"/>
                  </a:solidFill>
                  <a:latin typeface="字魂58号-创中黑" panose="00000500000000000000" pitchFamily="2" charset="-122"/>
                  <a:ea typeface="字魂58号-创中黑" panose="00000500000000000000" pitchFamily="2" charset="-122"/>
                  <a:sym typeface="+mn-ea"/>
                </a:rPr>
                <a:t>无法自动确定其如何被混淆</a:t>
              </a:r>
              <a:r>
                <a:rPr lang="zh-CN" altLang="en-US" sz="1600" dirty="0" smtClean="0">
                  <a:solidFill>
                    <a:schemeClr val="tx2">
                      <a:lumMod val="50000"/>
                    </a:schemeClr>
                  </a:solidFill>
                  <a:latin typeface="字魂58号-创中黑" panose="00000500000000000000" pitchFamily="2" charset="-122"/>
                  <a:ea typeface="字魂58号-创中黑" panose="00000500000000000000" pitchFamily="2" charset="-122"/>
                  <a:sym typeface="+mn-ea"/>
                </a:rPr>
                <a:t>。</a:t>
              </a:r>
              <a:endParaRPr lang="zh-CN" altLang="en-US" sz="1600" dirty="0">
                <a:solidFill>
                  <a:schemeClr val="tx2">
                    <a:lumMod val="50000"/>
                  </a:schemeClr>
                </a:solidFill>
                <a:latin typeface="字魂58号-创中黑" panose="00000500000000000000" pitchFamily="2" charset="-122"/>
                <a:ea typeface="字魂58号-创中黑" panose="00000500000000000000" pitchFamily="2" charset="-122"/>
              </a:endParaRPr>
            </a:p>
          </p:txBody>
        </p:sp>
      </p:grpSp>
      <p:pic>
        <p:nvPicPr>
          <p:cNvPr id="34" name="图片 3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352277" y="117494"/>
            <a:ext cx="2143500" cy="714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500" advTm="3000">
        <p14:reveal/>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randombar(horizontal)">
                                      <p:cBhvr>
                                        <p:cTn id="7"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0"/>
            <a:ext cx="14701221" cy="6858000"/>
            <a:chOff x="0" y="0"/>
            <a:chExt cx="14701221" cy="6858000"/>
          </a:xfrm>
        </p:grpSpPr>
        <p:grpSp>
          <p:nvGrpSpPr>
            <p:cNvPr id="2" name="组合 1"/>
            <p:cNvGrpSpPr/>
            <p:nvPr/>
          </p:nvGrpSpPr>
          <p:grpSpPr>
            <a:xfrm flipH="1">
              <a:off x="0" y="0"/>
              <a:ext cx="14701221" cy="6858000"/>
              <a:chOff x="-2509221" y="0"/>
              <a:chExt cx="14701221" cy="6858000"/>
            </a:xfrm>
          </p:grpSpPr>
          <p:sp>
            <p:nvSpPr>
              <p:cNvPr id="4" name="矩形 3"/>
              <p:cNvSpPr/>
              <p:nvPr/>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平行四边形 4"/>
              <p:cNvSpPr/>
              <p:nvPr/>
            </p:nvSpPr>
            <p:spPr>
              <a:xfrm>
                <a:off x="462579" y="0"/>
                <a:ext cx="11729421" cy="6858000"/>
              </a:xfrm>
              <a:prstGeom prst="parallelogram">
                <a:avLst>
                  <a:gd name="adj" fmla="val 4537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p:nvSpPr>
            <p:spPr>
              <a:xfrm>
                <a:off x="-2509221" y="0"/>
                <a:ext cx="11729421" cy="6858000"/>
              </a:xfrm>
              <a:prstGeom prst="parallelogram">
                <a:avLst>
                  <a:gd name="adj" fmla="val 453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14"/>
              <p:cNvSpPr/>
              <p:nvPr/>
            </p:nvSpPr>
            <p:spPr>
              <a:xfrm>
                <a:off x="0" y="0"/>
                <a:ext cx="6327289" cy="6858000"/>
              </a:xfrm>
              <a:custGeom>
                <a:avLst/>
                <a:gdLst>
                  <a:gd name="connsiteX0" fmla="*/ 0 w 6327289"/>
                  <a:gd name="connsiteY0" fmla="*/ 0 h 6858000"/>
                  <a:gd name="connsiteX1" fmla="*/ 6327289 w 6327289"/>
                  <a:gd name="connsiteY1" fmla="*/ 0 h 6858000"/>
                  <a:gd name="connsiteX2" fmla="*/ 3215814 w 6327289"/>
                  <a:gd name="connsiteY2" fmla="*/ 6858000 h 6858000"/>
                  <a:gd name="connsiteX3" fmla="*/ 0 w 632728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327289" h="6858000">
                    <a:moveTo>
                      <a:pt x="0" y="0"/>
                    </a:moveTo>
                    <a:lnTo>
                      <a:pt x="6327289" y="0"/>
                    </a:lnTo>
                    <a:lnTo>
                      <a:pt x="3215814" y="6858000"/>
                    </a:lnTo>
                    <a:lnTo>
                      <a:pt x="0"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11" name="文本框 10"/>
            <p:cNvSpPr txBox="1"/>
            <p:nvPr/>
          </p:nvSpPr>
          <p:spPr>
            <a:xfrm>
              <a:off x="3014662" y="2845600"/>
              <a:ext cx="6162675" cy="923330"/>
            </a:xfrm>
            <a:prstGeom prst="rect">
              <a:avLst/>
            </a:prstGeom>
            <a:noFill/>
          </p:spPr>
          <p:txBody>
            <a:bodyPr wrap="square" rtlCol="0">
              <a:spAutoFit/>
            </a:bodyPr>
            <a:lstStyle/>
            <a:p>
              <a:pPr algn="ctr"/>
              <a:r>
                <a:rPr lang="zh-CN" altLang="en-US" sz="5400" dirty="0">
                  <a:solidFill>
                    <a:schemeClr val="bg1"/>
                  </a:solidFill>
                  <a:latin typeface="+mj-ea"/>
                  <a:ea typeface="+mj-ea"/>
                </a:rPr>
                <a:t>感谢观看 敬请指导</a:t>
              </a:r>
              <a:endParaRPr lang="zh-CN" altLang="en-US" sz="5400" dirty="0">
                <a:solidFill>
                  <a:schemeClr val="bg1"/>
                </a:solidFill>
                <a:latin typeface="+mj-ea"/>
                <a:ea typeface="+mj-ea"/>
              </a:endParaRPr>
            </a:p>
          </p:txBody>
        </p:sp>
        <p:sp>
          <p:nvSpPr>
            <p:cNvPr id="19" name="文本框 18"/>
            <p:cNvSpPr txBox="1"/>
            <p:nvPr/>
          </p:nvSpPr>
          <p:spPr>
            <a:xfrm>
              <a:off x="4076699" y="1675759"/>
              <a:ext cx="4038602" cy="369332"/>
            </a:xfrm>
            <a:prstGeom prst="rect">
              <a:avLst/>
            </a:prstGeom>
            <a:noFill/>
          </p:spPr>
          <p:txBody>
            <a:bodyPr wrap="square" rtlCol="0">
              <a:spAutoFit/>
            </a:bodyPr>
            <a:lstStyle/>
            <a:p>
              <a:pPr algn="dist"/>
              <a:r>
                <a:rPr lang="en-US" altLang="zh-CN" b="1" dirty="0">
                  <a:solidFill>
                    <a:schemeClr val="bg1"/>
                  </a:solidFill>
                </a:rPr>
                <a:t>TONGJI UNIVERSITY</a:t>
              </a:r>
              <a:endParaRPr lang="zh-CN" altLang="en-US" b="1" dirty="0">
                <a:solidFill>
                  <a:schemeClr val="bg1"/>
                </a:solidFill>
                <a:latin typeface="+mj-ea"/>
              </a:endParaRPr>
            </a:p>
          </p:txBody>
        </p:sp>
        <p:sp>
          <p:nvSpPr>
            <p:cNvPr id="21" name="矩形: 圆角 20"/>
            <p:cNvSpPr/>
            <p:nvPr/>
          </p:nvSpPr>
          <p:spPr>
            <a:xfrm rot="5400000">
              <a:off x="6045199" y="1786338"/>
              <a:ext cx="101600" cy="828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500" advTm="3000">
        <p14:reveal/>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DIAGRAM_VIRTUALLY_FRAME" val="{&quot;height&quot;:402.50944881889774,&quot;left&quot;:56.26606299212598,&quot;top&quot;:111.54905511811023,&quot;width&quot;:847.4676377952756}"/>
</p:tagLst>
</file>

<file path=ppt/tags/tag2.xml><?xml version="1.0" encoding="utf-8"?>
<p:tagLst xmlns:p="http://schemas.openxmlformats.org/presentationml/2006/main">
  <p:tag name="ISLIDE.DIAGRAM" val="490779"/>
</p:tagLst>
</file>

<file path=ppt/tags/tag3.xml><?xml version="1.0" encoding="utf-8"?>
<p:tagLst xmlns:p="http://schemas.openxmlformats.org/presentationml/2006/main">
  <p:tag name="KSO_WM_DIAGRAM_VIRTUALLY_FRAME" val="{&quot;height&quot;:383.22976377952756,&quot;left&quot;:56.26606299212598,&quot;top&quot;:111.54905511811023,&quot;width&quot;:847.4676377952756}"/>
</p:tagLst>
</file>

<file path=ppt/tags/tag4.xml><?xml version="1.0" encoding="utf-8"?>
<p:tagLst xmlns:p="http://schemas.openxmlformats.org/presentationml/2006/main">
  <p:tag name="KSO_WM_DIAGRAM_VIRTUALLY_FRAME" val="{&quot;height&quot;:383.22976377952756,&quot;left&quot;:56.26606299212598,&quot;top&quot;:111.54905511811023,&quot;width&quot;:847.4676377952756}"/>
</p:tagLst>
</file>

<file path=ppt/tags/tag5.xml><?xml version="1.0" encoding="utf-8"?>
<p:tagLst xmlns:p="http://schemas.openxmlformats.org/presentationml/2006/main">
  <p:tag name="KSO_WM_DIAGRAM_VIRTUALLY_FRAME" val="{&quot;height&quot;:383.22976377952756,&quot;left&quot;:56.26606299212598,&quot;top&quot;:111.54905511811023,&quot;width&quot;:847.4676377952756}"/>
</p:tagLst>
</file>

<file path=ppt/tags/tag6.xml><?xml version="1.0" encoding="utf-8"?>
<p:tagLst xmlns:p="http://schemas.openxmlformats.org/presentationml/2006/main">
  <p:tag name="KSO_WM_DIAGRAM_VIRTUALLY_FRAME" val="{&quot;height&quot;:383.22976377952756,&quot;left&quot;:56.26606299212598,&quot;top&quot;:111.54905511811023,&quot;width&quot;:847.4676377952756}"/>
</p:tagLst>
</file>

<file path=ppt/tags/tag7.xml><?xml version="1.0" encoding="utf-8"?>
<p:tagLst xmlns:p="http://schemas.openxmlformats.org/presentationml/2006/main">
  <p:tag name="KSO_WM_DIAGRAM_VIRTUALLY_FRAME" val="{&quot;height&quot;:383.22976377952756,&quot;left&quot;:56.26606299212598,&quot;top&quot;:111.54905511811023,&quot;width&quot;:847.4676377952756}"/>
</p:tagLst>
</file>

<file path=ppt/tags/tag8.xml><?xml version="1.0" encoding="utf-8"?>
<p:tagLst xmlns:p="http://schemas.openxmlformats.org/presentationml/2006/main">
  <p:tag name="KSO_WM_DIAGRAM_VIRTUALLY_FRAME" val="{&quot;height&quot;:402.50944881889774,&quot;left&quot;:56.26606299212598,&quot;top&quot;:111.54905511811023,&quot;width&quot;:847.4676377952756}"/>
</p:tagLst>
</file>

<file path=ppt/tags/tag9.xml><?xml version="1.0" encoding="utf-8"?>
<p:tagLst xmlns:p="http://schemas.openxmlformats.org/presentationml/2006/main">
  <p:tag name="KSO_WM_DIAGRAM_VIRTUALLY_FRAME" val="{&quot;height&quot;:402.50944881889774,&quot;left&quot;:56.26606299212598,&quot;top&quot;:111.54905511811023,&quot;width&quot;:847.4676377952756}"/>
</p:tagLst>
</file>

<file path=ppt/tags/tag10.xml><?xml version="1.0" encoding="utf-8"?>
<p:tagLst xmlns:p="http://schemas.openxmlformats.org/presentationml/2006/main">
  <p:tag name="KSO_WM_DIAGRAM_VIRTUALLY_FRAME" val="{&quot;height&quot;:402.50944881889774,&quot;left&quot;:56.26606299212598,&quot;top&quot;:111.54905511811023,&quot;width&quot;:847.4676377952756}"/>
</p:tagLst>
</file>

<file path=ppt/tags/tag11.xml><?xml version="1.0" encoding="utf-8"?>
<p:tagLst xmlns:p="http://schemas.openxmlformats.org/presentationml/2006/main">
  <p:tag name="KSO_WM_DIAGRAM_VIRTUALLY_FRAME" val="{&quot;height&quot;:402.50944881889774,&quot;left&quot;:56.26606299212598,&quot;top&quot;:111.54905511811023,&quot;width&quot;:847.4676377952756}"/>
</p:tagLst>
</file>

<file path=ppt/tags/tag12.xml><?xml version="1.0" encoding="utf-8"?>
<p:tagLst xmlns:p="http://schemas.openxmlformats.org/presentationml/2006/main">
  <p:tag name="KSO_WM_DIAGRAM_VIRTUALLY_FRAME" val="{&quot;height&quot;:383.22976377952756,&quot;left&quot;:56.26606299212598,&quot;top&quot;:111.54905511811023,&quot;width&quot;:847.4676377952756}"/>
</p:tagLst>
</file>

<file path=ppt/tags/tag13.xml><?xml version="1.0" encoding="utf-8"?>
<p:tagLst xmlns:p="http://schemas.openxmlformats.org/presentationml/2006/main">
  <p:tag name="KSO_WM_DIAGRAM_VIRTUALLY_FRAME" val="{&quot;height&quot;:365.64220472440945,&quot;left&quot;:54.065039370078736,&quot;top&quot;:111.65330708661418,&quot;width&quot;:851.869842519685}"/>
</p:tagLst>
</file>

<file path=ppt/tags/tag14.xml><?xml version="1.0" encoding="utf-8"?>
<p:tagLst xmlns:p="http://schemas.openxmlformats.org/presentationml/2006/main">
  <p:tag name="KSO_WM_DIAGRAM_VIRTUALLY_FRAME" val="{&quot;height&quot;:365.64220472440945,&quot;left&quot;:54.065039370078736,&quot;top&quot;:111.65330708661418,&quot;width&quot;:851.869842519685}"/>
</p:tagLst>
</file>

<file path=ppt/tags/tag15.xml><?xml version="1.0" encoding="utf-8"?>
<p:tagLst xmlns:p="http://schemas.openxmlformats.org/presentationml/2006/main">
  <p:tag name="KSO_WM_DIAGRAM_VIRTUALLY_FRAME" val="{&quot;height&quot;:365.64220472440945,&quot;left&quot;:54.065039370078736,&quot;top&quot;:111.65330708661418,&quot;width&quot;:851.869842519685}"/>
</p:tagLst>
</file>

<file path=ppt/tags/tag16.xml><?xml version="1.0" encoding="utf-8"?>
<p:tagLst xmlns:p="http://schemas.openxmlformats.org/presentationml/2006/main">
  <p:tag name="KSO_WM_DIAGRAM_VIRTUALLY_FRAME" val="{&quot;height&quot;:365.64220472440945,&quot;left&quot;:54.065039370078736,&quot;top&quot;:111.65330708661418,&quot;width&quot;:851.869842519685}"/>
</p:tagLst>
</file>

<file path=ppt/tags/tag17.xml><?xml version="1.0" encoding="utf-8"?>
<p:tagLst xmlns:p="http://schemas.openxmlformats.org/presentationml/2006/main">
  <p:tag name="KSO_WM_DIAGRAM_VIRTUALLY_FRAME" val="{&quot;height&quot;:365.64220472440945,&quot;left&quot;:54.065039370078736,&quot;top&quot;:111.65330708661418,&quot;width&quot;:851.869842519685}"/>
</p:tagLst>
</file>

<file path=ppt/tags/tag18.xml><?xml version="1.0" encoding="utf-8"?>
<p:tagLst xmlns:p="http://schemas.openxmlformats.org/presentationml/2006/main">
  <p:tag name="KSO_WM_DIAGRAM_VIRTUALLY_FRAME" val="{&quot;height&quot;:365.64220472440945,&quot;left&quot;:54.065039370078736,&quot;top&quot;:111.65330708661418,&quot;width&quot;:851.869842519685}"/>
</p:tagLst>
</file>

<file path=ppt/tags/tag19.xml><?xml version="1.0" encoding="utf-8"?>
<p:tagLst xmlns:p="http://schemas.openxmlformats.org/presentationml/2006/main">
  <p:tag name="KSO_WM_DIAGRAM_VIRTUALLY_FRAME" val="{&quot;height&quot;:365.64220472440945,&quot;left&quot;:54.065039370078736,&quot;top&quot;:111.65330708661418,&quot;width&quot;:851.869842519685}"/>
</p:tagLst>
</file>

<file path=ppt/tags/tag20.xml><?xml version="1.0" encoding="utf-8"?>
<p:tagLst xmlns:p="http://schemas.openxmlformats.org/presentationml/2006/main">
  <p:tag name="KSO_WM_DIAGRAM_VIRTUALLY_FRAME" val="{&quot;height&quot;:365.64220472440945,&quot;left&quot;:54.065039370078736,&quot;top&quot;:111.65330708661418,&quot;width&quot;:851.869842519685}"/>
</p:tagLst>
</file>

<file path=ppt/tags/tag21.xml><?xml version="1.0" encoding="utf-8"?>
<p:tagLst xmlns:p="http://schemas.openxmlformats.org/presentationml/2006/main">
  <p:tag name="KSO_WM_DIAGRAM_VIRTUALLY_FRAME" val="{&quot;height&quot;:390.35606299212606,&quot;left&quot;:54.065039370078736,&quot;top&quot;:135.80732283464567,&quot;width&quot;:851.869842519685}"/>
</p:tagLst>
</file>

<file path=ppt/tags/tag22.xml><?xml version="1.0" encoding="utf-8"?>
<p:tagLst xmlns:p="http://schemas.openxmlformats.org/presentationml/2006/main">
  <p:tag name="KSO_WM_DIAGRAM_VIRTUALLY_FRAME" val="{&quot;height&quot;:390.35606299212606,&quot;left&quot;:54.065039370078736,&quot;top&quot;:135.80732283464567,&quot;width&quot;:851.869842519685}"/>
</p:tagLst>
</file>

<file path=ppt/tags/tag23.xml><?xml version="1.0" encoding="utf-8"?>
<p:tagLst xmlns:p="http://schemas.openxmlformats.org/presentationml/2006/main">
  <p:tag name="KSO_WM_DIAGRAM_VIRTUALLY_FRAME" val="{&quot;height&quot;:390.35606299212606,&quot;left&quot;:54.065039370078736,&quot;top&quot;:135.80732283464567,&quot;width&quot;:851.869842519685}"/>
</p:tagLst>
</file>

<file path=ppt/tags/tag24.xml><?xml version="1.0" encoding="utf-8"?>
<p:tagLst xmlns:p="http://schemas.openxmlformats.org/presentationml/2006/main">
  <p:tag name="KSO_WM_DIAGRAM_VIRTUALLY_FRAME" val="{&quot;height&quot;:390.35606299212606,&quot;left&quot;:54.065039370078736,&quot;top&quot;:135.80732283464567,&quot;width&quot;:851.869842519685}"/>
</p:tagLst>
</file>

<file path=ppt/tags/tag25.xml><?xml version="1.0" encoding="utf-8"?>
<p:tagLst xmlns:p="http://schemas.openxmlformats.org/presentationml/2006/main">
  <p:tag name="KSO_WM_DIAGRAM_VIRTUALLY_FRAME" val="{&quot;height&quot;:430.26125984251956,&quot;left&quot;:36.42354330708661,&quot;top&quot;:113.21842519685038,&quot;width&quot;:880}"/>
</p:tagLst>
</file>

<file path=ppt/tags/tag26.xml><?xml version="1.0" encoding="utf-8"?>
<p:tagLst xmlns:p="http://schemas.openxmlformats.org/presentationml/2006/main">
  <p:tag name="KSO_WM_DIAGRAM_VIRTUALLY_FRAME" val="{&quot;height&quot;:430.26125984251956,&quot;left&quot;:36.42354330708661,&quot;top&quot;:113.21842519685038,&quot;width&quot;:880}"/>
</p:tagLst>
</file>

<file path=ppt/tags/tag27.xml><?xml version="1.0" encoding="utf-8"?>
<p:tagLst xmlns:p="http://schemas.openxmlformats.org/presentationml/2006/main">
  <p:tag name="KSO_WM_DIAGRAM_VIRTUALLY_FRAME" val="{&quot;height&quot;:430.26125984251956,&quot;left&quot;:36.42354330708661,&quot;top&quot;:113.21842519685038,&quot;width&quot;:880}"/>
</p:tagLst>
</file>

<file path=ppt/tags/tag28.xml><?xml version="1.0" encoding="utf-8"?>
<p:tagLst xmlns:p="http://schemas.openxmlformats.org/presentationml/2006/main">
  <p:tag name="KSO_WM_DIAGRAM_VIRTUALLY_FRAME" val="{&quot;height&quot;:430.26125984251956,&quot;left&quot;:36.42354330708661,&quot;top&quot;:113.21842519685038,&quot;width&quot;:880}"/>
</p:tagLst>
</file>

<file path=ppt/tags/tag29.xml><?xml version="1.0" encoding="utf-8"?>
<p:tagLst xmlns:p="http://schemas.openxmlformats.org/presentationml/2006/main">
  <p:tag name="KSO_WM_DIAGRAM_VIRTUALLY_FRAME" val="{&quot;height&quot;:430.26125984251956,&quot;left&quot;:36.42354330708661,&quot;top&quot;:113.21842519685038,&quot;width&quot;:880}"/>
</p:tagLst>
</file>

<file path=ppt/tags/tag30.xml><?xml version="1.0" encoding="utf-8"?>
<p:tagLst xmlns:p="http://schemas.openxmlformats.org/presentationml/2006/main">
  <p:tag name="KSO_WM_DIAGRAM_VIRTUALLY_FRAME" val="{&quot;height&quot;:430.26125984251956,&quot;left&quot;:36.42354330708661,&quot;top&quot;:113.21842519685038,&quot;width&quot;:880}"/>
</p:tagLst>
</file>

<file path=ppt/tags/tag31.xml><?xml version="1.0" encoding="utf-8"?>
<p:tagLst xmlns:p="http://schemas.openxmlformats.org/presentationml/2006/main">
  <p:tag name="KSO_WM_DIAGRAM_VIRTUALLY_FRAME" val="{&quot;height&quot;:430.26125984251956,&quot;left&quot;:36.42354330708661,&quot;top&quot;:113.21842519685038,&quot;width&quot;:880}"/>
</p:tagLst>
</file>

<file path=ppt/tags/tag32.xml><?xml version="1.0" encoding="utf-8"?>
<p:tagLst xmlns:p="http://schemas.openxmlformats.org/presentationml/2006/main">
  <p:tag name="KSO_WM_DIAGRAM_VIRTUALLY_FRAME" val="{&quot;height&quot;:430.26125984251956,&quot;left&quot;:36.42354330708661,&quot;top&quot;:113.21842519685038,&quot;width&quot;:880}"/>
</p:tagLst>
</file>

<file path=ppt/tags/tag33.xml><?xml version="1.0" encoding="utf-8"?>
<p:tagLst xmlns:p="http://schemas.openxmlformats.org/presentationml/2006/main">
  <p:tag name="KSO_WM_DIAGRAM_VIRTUALLY_FRAME" val="{&quot;height&quot;:430.26125984251956,&quot;left&quot;:36.42354330708661,&quot;top&quot;:113.21842519685038,&quot;width&quot;:880}"/>
</p:tagLst>
</file>

<file path=ppt/tags/tag34.xml><?xml version="1.0" encoding="utf-8"?>
<p:tagLst xmlns:p="http://schemas.openxmlformats.org/presentationml/2006/main">
  <p:tag name="KSO_WM_DIAGRAM_VIRTUALLY_FRAME" val="{&quot;height&quot;:430.26125984251956,&quot;left&quot;:36.42354330708661,&quot;top&quot;:113.21842519685038,&quot;width&quot;:880}"/>
</p:tagLst>
</file>

<file path=ppt/tags/tag35.xml><?xml version="1.0" encoding="utf-8"?>
<p:tagLst xmlns:p="http://schemas.openxmlformats.org/presentationml/2006/main">
  <p:tag name="KSO_WM_DIAGRAM_VIRTUALLY_FRAME" val="{&quot;height&quot;:430.26125984251956,&quot;left&quot;:36.42354330708661,&quot;top&quot;:113.21842519685038,&quot;width&quot;:880}"/>
</p:tagLst>
</file>

<file path=ppt/tags/tag36.xml><?xml version="1.0" encoding="utf-8"?>
<p:tagLst xmlns:p="http://schemas.openxmlformats.org/presentationml/2006/main">
  <p:tag name="KSO_WM_DIAGRAM_VIRTUALLY_FRAME" val="{&quot;height&quot;:430.26125984251956,&quot;left&quot;:36.42354330708661,&quot;top&quot;:113.21842519685038,&quot;width&quot;:880}"/>
</p:tagLst>
</file>

<file path=ppt/tags/tag37.xml><?xml version="1.0" encoding="utf-8"?>
<p:tagLst xmlns:p="http://schemas.openxmlformats.org/presentationml/2006/main">
  <p:tag name="KSO_WM_DIAGRAM_VIRTUALLY_FRAME" val="{&quot;height&quot;:430.26125984251956,&quot;left&quot;:36.42354330708661,&quot;top&quot;:113.21842519685038,&quot;width&quot;:880}"/>
</p:tagLst>
</file>

<file path=ppt/tags/tag38.xml><?xml version="1.0" encoding="utf-8"?>
<p:tagLst xmlns:p="http://schemas.openxmlformats.org/presentationml/2006/main">
  <p:tag name="ISPRING_PRESENTATION_TITLE" val="PowerPoint 演示文稿"/>
  <p:tag name="commondata" val="eyJoZGlkIjoiMTFmMWJmZjM1MTUzOGJhZGQ2YzVjZTI0ZGVkOTAwZTkifQ=="/>
</p:tagLst>
</file>

<file path=ppt/theme/theme1.xml><?xml version="1.0" encoding="utf-8"?>
<a:theme xmlns:a="http://schemas.openxmlformats.org/drawingml/2006/main" name="Office 主题​​">
  <a:themeElements>
    <a:clrScheme name="Office">
      <a:dk1>
        <a:srgbClr val="000000"/>
      </a:dk1>
      <a:lt1>
        <a:srgbClr val="FFFFFF"/>
      </a:lt1>
      <a:dk2>
        <a:srgbClr val="768395"/>
      </a:dk2>
      <a:lt2>
        <a:srgbClr val="F0F0F0"/>
      </a:lt2>
      <a:accent1>
        <a:srgbClr val="2882F1"/>
      </a:accent1>
      <a:accent2>
        <a:srgbClr val="0042F4"/>
      </a:accent2>
      <a:accent3>
        <a:srgbClr val="2D8AEF"/>
      </a:accent3>
      <a:accent4>
        <a:srgbClr val="72A6DA"/>
      </a:accent4>
      <a:accent5>
        <a:srgbClr val="499DED"/>
      </a:accent5>
      <a:accent6>
        <a:srgbClr val="C9C9C9"/>
      </a:accent6>
      <a:hlink>
        <a:srgbClr val="2882F1"/>
      </a:hlink>
      <a:folHlink>
        <a:srgbClr val="BFBFBF"/>
      </a:folHlink>
    </a:clrScheme>
    <a:fontScheme name="常用">
      <a:majorFont>
        <a:latin typeface="思源黑体 CN Bold"/>
        <a:ea typeface="思源黑体 CN Bold"/>
        <a:cs typeface=""/>
      </a:majorFont>
      <a:minorFont>
        <a:latin typeface="字魂58号-创中黑"/>
        <a:ea typeface="字魂58号-创中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68395"/>
    </a:dk2>
    <a:lt2>
      <a:srgbClr val="F0F0F0"/>
    </a:lt2>
    <a:accent1>
      <a:srgbClr val="2882F1"/>
    </a:accent1>
    <a:accent2>
      <a:srgbClr val="0042F4"/>
    </a:accent2>
    <a:accent3>
      <a:srgbClr val="2D8AEF"/>
    </a:accent3>
    <a:accent4>
      <a:srgbClr val="72A6DA"/>
    </a:accent4>
    <a:accent5>
      <a:srgbClr val="499DED"/>
    </a:accent5>
    <a:accent6>
      <a:srgbClr val="C9C9C9"/>
    </a:accent6>
    <a:hlink>
      <a:srgbClr val="2882F1"/>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1429</Words>
  <Application>WPS 演示</Application>
  <PresentationFormat>宽屏</PresentationFormat>
  <Paragraphs>82</Paragraphs>
  <Slides>7</Slides>
  <Notes>24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vt:i4>
      </vt:variant>
    </vt:vector>
  </HeadingPairs>
  <TitlesOfParts>
    <vt:vector size="19" baseType="lpstr">
      <vt:lpstr>Arial</vt:lpstr>
      <vt:lpstr>宋体</vt:lpstr>
      <vt:lpstr>Wingdings</vt:lpstr>
      <vt:lpstr>字魂58号-创中黑</vt:lpstr>
      <vt:lpstr>黑体</vt:lpstr>
      <vt:lpstr>思源黑体 CN Bold</vt:lpstr>
      <vt:lpstr>微软雅黑</vt:lpstr>
      <vt:lpstr>Arial Unicode MS</vt:lpstr>
      <vt:lpstr>等线</vt:lpstr>
      <vt:lpstr>Calibri</vt:lpstr>
      <vt:lpstr>字魂58号-创中黑</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SXJ</dc:creator>
  <cp:lastModifiedBy>Hysteria</cp:lastModifiedBy>
  <cp:revision>42</cp:revision>
  <dcterms:created xsi:type="dcterms:W3CDTF">2020-10-23T07:10:00Z</dcterms:created>
  <dcterms:modified xsi:type="dcterms:W3CDTF">2024-05-21T12:17:05Z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AD0E40FE44B9424EB800EFB27C5D457A_13</vt:lpwstr>
  </property>
  <property fmtid="{D5CDD505-2E9C-101B-9397-08002B2CF9AE}" pid="3" name="KSOProductBuildVer">
    <vt:lpwstr>2052-12.1.0.16729</vt:lpwstr>
  </property>
</Properties>
</file>