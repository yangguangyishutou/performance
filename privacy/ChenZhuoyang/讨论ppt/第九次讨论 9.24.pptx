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8" r:id="rId3"/>
    <p:sldId id="310" r:id="rId5"/>
    <p:sldId id="307" r:id="rId6"/>
    <p:sldId id="309" r:id="rId7"/>
    <p:sldId id="314" r:id="rId8"/>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70C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9" autoAdjust="0"/>
    <p:restoredTop sz="94660"/>
  </p:normalViewPr>
  <p:slideViewPr>
    <p:cSldViewPr snapToGrid="0">
      <p:cViewPr varScale="1">
        <p:scale>
          <a:sx n="73" d="100"/>
          <a:sy n="73" d="100"/>
        </p:scale>
        <p:origin x="5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5DC90-454D-46DB-AFEB-0ECF9E248F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17DDCB-88F8-4C0C-946E-463F46B0E8C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17DDCB-88F8-4C0C-946E-463F46B0E8C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17DDCB-88F8-4C0C-946E-463F46B0E8C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17DDCB-88F8-4C0C-946E-463F46B0E8C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20691-2B12-42BE-9ECB-BA89A0D1C4B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6FDAAE-121E-400D-B024-F201987F456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0" y="812800"/>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54635" y="314325"/>
            <a:ext cx="7698740" cy="398780"/>
          </a:xfrm>
          <a:prstGeom prst="rect">
            <a:avLst/>
          </a:prstGeom>
          <a:noFill/>
        </p:spPr>
        <p:txBody>
          <a:bodyPr wrap="square" rtlCol="0">
            <a:spAutoFit/>
          </a:bodyPr>
          <a:p>
            <a:pPr algn="dist"/>
            <a:r>
              <a:rPr lang="en-US" altLang="zh-CN" sz="2000" b="1" dirty="0" smtClean="0">
                <a:solidFill>
                  <a:schemeClr val="tx1"/>
                </a:solidFill>
                <a:sym typeface="+mn-ea"/>
              </a:rPr>
              <a:t>Semantic Membership Inference Attack against Large Language Models</a:t>
            </a:r>
            <a:endParaRPr lang="en-US" altLang="zh-CN" sz="2000" b="1" dirty="0" smtClean="0">
              <a:solidFill>
                <a:schemeClr val="tx1"/>
              </a:solidFill>
              <a:sym typeface="+mn-ea"/>
            </a:endParaRPr>
          </a:p>
        </p:txBody>
      </p:sp>
      <p:sp>
        <p:nvSpPr>
          <p:cNvPr id="2" name="文本框 1"/>
          <p:cNvSpPr txBox="1"/>
          <p:nvPr/>
        </p:nvSpPr>
        <p:spPr>
          <a:xfrm>
            <a:off x="254635" y="2335530"/>
            <a:ext cx="11464290" cy="4369435"/>
          </a:xfrm>
          <a:prstGeom prst="rect">
            <a:avLst/>
          </a:prstGeom>
          <a:noFill/>
        </p:spPr>
        <p:txBody>
          <a:bodyPr wrap="square" rtlCol="0">
            <a:noAutofit/>
          </a:bodyPr>
          <a:p>
            <a:r>
              <a:rPr lang="en-US" altLang="zh-CN" b="1"/>
              <a:t>2</a:t>
            </a:r>
            <a:r>
              <a:rPr lang="zh-CN" altLang="en-US" b="1"/>
              <a:t>. </a:t>
            </a:r>
            <a:r>
              <a:rPr lang="en-US" altLang="zh-CN" b="1"/>
              <a:t>SIMIA</a:t>
            </a:r>
            <a:r>
              <a:rPr lang="zh-CN" altLang="en-US" b="1"/>
              <a:t>方法</a:t>
            </a:r>
            <a:r>
              <a:rPr lang="zh-CN" altLang="en-US" b="1"/>
              <a:t>设计</a:t>
            </a:r>
            <a:endParaRPr lang="zh-CN" altLang="en-US" b="1"/>
          </a:p>
          <a:p>
            <a:pPr marL="285750" indent="-285750">
              <a:buFont typeface="Arial" panose="020B0604020202020204" pitchFamily="34" charset="0"/>
              <a:buChar char="•"/>
            </a:pPr>
            <a:r>
              <a:rPr lang="zh-CN" altLang="en-US" sz="1600"/>
              <a:t>SMIA方法假设</a:t>
            </a:r>
            <a:r>
              <a:rPr lang="zh-CN" altLang="en-US" sz="1600">
                <a:sym typeface="+mn-ea"/>
              </a:rPr>
              <a:t>：</a:t>
            </a:r>
            <a:r>
              <a:rPr lang="zh-CN" altLang="en-US" sz="1600">
                <a:solidFill>
                  <a:srgbClr val="FF0000"/>
                </a:solidFill>
              </a:rPr>
              <a:t>当输入数据被扰动时，模型对成员和非成员数据的输出概率会有显著不同</a:t>
            </a:r>
            <a:r>
              <a:rPr lang="zh-CN" altLang="en-US" sz="1600">
                <a:sym typeface="+mn-ea"/>
              </a:rPr>
              <a:t>，</a:t>
            </a:r>
            <a:r>
              <a:rPr lang="en-US" altLang="zh-CN" sz="1600"/>
              <a:t>这种差异是可以被神经网络学习到的</a:t>
            </a:r>
            <a:r>
              <a:rPr lang="zh-CN" altLang="en-US" sz="1600"/>
              <a:t>。SMIA通过以下四个步骤进行推断：</a:t>
            </a:r>
            <a:endParaRPr lang="zh-CN" altLang="en-US" sz="1600"/>
          </a:p>
          <a:p>
            <a:pPr marL="285750" indent="-285750">
              <a:buFont typeface="Arial" panose="020B0604020202020204" pitchFamily="34" charset="0"/>
              <a:buChar char="•"/>
            </a:pPr>
            <a:r>
              <a:rPr lang="en-US" altLang="zh-CN" sz="1600"/>
              <a:t>1</a:t>
            </a:r>
            <a:r>
              <a:rPr lang="zh-CN" altLang="en-US" sz="1600"/>
              <a:t>）邻居生成（Neighbor Generation）：利用T5模型对输入进行随机遮盖和填充，生成多个相似的邻居数据集。</a:t>
            </a:r>
            <a:endParaRPr lang="zh-CN" altLang="en-US" sz="1600"/>
          </a:p>
          <a:p>
            <a:pPr marL="285750" indent="-285750">
              <a:buFont typeface="Arial" panose="020B0604020202020204" pitchFamily="34" charset="0"/>
              <a:buChar char="•"/>
            </a:pPr>
            <a:r>
              <a:rPr lang="en-US" altLang="zh-CN" sz="1600"/>
              <a:t>2</a:t>
            </a:r>
            <a:r>
              <a:rPr lang="zh-CN" altLang="en-US" sz="1600"/>
              <a:t>）语义嵌入计算（Semantic Embedding Calculation）：使用Cohere嵌入模型计算输入及其邻居的语义嵌入。</a:t>
            </a:r>
            <a:endParaRPr lang="zh-CN" altLang="en-US" sz="1600"/>
          </a:p>
          <a:p>
            <a:pPr marL="285750" indent="-285750">
              <a:buFont typeface="Arial" panose="020B0604020202020204" pitchFamily="34" charset="0"/>
              <a:buChar char="•"/>
            </a:pPr>
            <a:r>
              <a:rPr lang="en-US" altLang="zh-CN" sz="1600"/>
              <a:t>3</a:t>
            </a:r>
            <a:r>
              <a:rPr lang="zh-CN" altLang="en-US" sz="1600"/>
              <a:t>）损失计算（Loss Calculation）：计算目标模型对输入及其邻居的损失值。</a:t>
            </a:r>
            <a:endParaRPr lang="zh-CN" altLang="en-US" sz="1600"/>
          </a:p>
          <a:p>
            <a:pPr marL="285750" indent="-285750">
              <a:buFont typeface="Arial" panose="020B0604020202020204" pitchFamily="34" charset="0"/>
              <a:buChar char="•"/>
            </a:pPr>
            <a:r>
              <a:rPr lang="en-US" altLang="zh-CN" sz="1600"/>
              <a:t>4</a:t>
            </a:r>
            <a:r>
              <a:rPr lang="zh-CN" altLang="en-US" sz="1600"/>
              <a:t>）成员概率估计（Membership Probability Estimation）：SMIA模型通过神经网络分析语义变化和损失变化，计算输入数据属于成员的概率</a:t>
            </a:r>
            <a:r>
              <a:rPr lang="zh-CN" altLang="en-US" sz="1600">
                <a:sym typeface="+mn-ea"/>
              </a:rPr>
              <a:t>，</a:t>
            </a:r>
            <a:r>
              <a:rPr lang="zh-CN" altLang="en-US" sz="1600"/>
              <a:t>最终估计输入是成员还是非成员。</a:t>
            </a:r>
            <a:endParaRPr lang="zh-CN" altLang="en-US" sz="1600"/>
          </a:p>
          <a:p>
            <a:pPr marL="285750" indent="-285750">
              <a:buFont typeface="Arial" panose="020B0604020202020204" pitchFamily="34" charset="0"/>
              <a:buChar char="•"/>
            </a:pPr>
            <a:endParaRPr lang="zh-CN" altLang="en-US" sz="1600"/>
          </a:p>
          <a:p>
            <a:r>
              <a:rPr lang="en-US" altLang="zh-CN" b="1"/>
              <a:t>3. </a:t>
            </a:r>
            <a:r>
              <a:rPr lang="zh-CN" altLang="en-US" b="1"/>
              <a:t>实验设置</a:t>
            </a:r>
            <a:endParaRPr lang="en-US" altLang="zh-CN" b="1"/>
          </a:p>
          <a:p>
            <a:pPr marL="285750" indent="-285750">
              <a:buFont typeface="Arial" panose="020B0604020202020204" pitchFamily="34" charset="0"/>
              <a:buChar char="•"/>
            </a:pPr>
            <a:r>
              <a:rPr lang="zh-CN" altLang="en-US" sz="1600"/>
              <a:t>论文使用了</a:t>
            </a:r>
            <a:r>
              <a:rPr lang="zh-CN" altLang="en-US" sz="1600">
                <a:solidFill>
                  <a:srgbClr val="FF0000"/>
                </a:solidFill>
              </a:rPr>
              <a:t>多个大规模语言模型</a:t>
            </a:r>
            <a:r>
              <a:rPr lang="zh-CN" altLang="en-US" sz="1600"/>
              <a:t>来评估SMIA的有效性，具体包括：</a:t>
            </a:r>
            <a:endParaRPr lang="zh-CN" altLang="en-US" sz="1600"/>
          </a:p>
          <a:p>
            <a:pPr marL="742950" lvl="1" indent="-285750">
              <a:buFont typeface="Arial" panose="020B0604020202020204" pitchFamily="34" charset="0"/>
              <a:buChar char="•"/>
            </a:pPr>
            <a:r>
              <a:rPr lang="zh-CN" altLang="en-US" sz="1600"/>
              <a:t>Pythia模型系列：包括Pythia-12B、Pythia-6.9B、Pythia-2.7B等不同参数规模的模型。</a:t>
            </a:r>
            <a:endParaRPr lang="zh-CN" altLang="en-US" sz="1600"/>
          </a:p>
          <a:p>
            <a:pPr marL="742950" lvl="1" indent="-285750">
              <a:buFont typeface="Arial" panose="020B0604020202020204" pitchFamily="34" charset="0"/>
              <a:buChar char="•"/>
            </a:pPr>
            <a:r>
              <a:rPr lang="zh-CN" altLang="en-US" sz="1600"/>
              <a:t>GPT-Neo模型系列：包括GPT-Neo-2.7B和GPT-Neo-1.3B模型。</a:t>
            </a:r>
            <a:endParaRPr lang="zh-CN" altLang="en-US" sz="1600"/>
          </a:p>
          <a:p>
            <a:pPr marL="285750" indent="-285750">
              <a:buFont typeface="Arial" panose="020B0604020202020204" pitchFamily="34" charset="0"/>
              <a:buChar char="•"/>
            </a:pPr>
            <a:r>
              <a:rPr lang="zh-CN" altLang="en-US" sz="1600"/>
              <a:t>数据集：实验使用了</a:t>
            </a:r>
            <a:r>
              <a:rPr lang="zh-CN" altLang="en-US" sz="1600">
                <a:solidFill>
                  <a:srgbClr val="FF0000"/>
                </a:solidFill>
              </a:rPr>
              <a:t>Wikipedia数据集</a:t>
            </a:r>
            <a:r>
              <a:rPr lang="zh-CN" altLang="en-US" sz="1600"/>
              <a:t>，训练数据包含了模型已见过的Wikipedia文章（成员数据），而非成员数据则来自模型未见过的部分（如Wikipedia的较新内容，确保没有出现在模型训练中）。</a:t>
            </a:r>
            <a:endParaRPr lang="zh-CN" altLang="en-US" sz="1600"/>
          </a:p>
          <a:p>
            <a:pPr marL="285750" indent="-285750">
              <a:buFont typeface="Arial" panose="020B0604020202020204" pitchFamily="34" charset="0"/>
              <a:buChar char="•"/>
            </a:pPr>
            <a:r>
              <a:rPr lang="zh-CN" altLang="en-US" sz="1600"/>
              <a:t>评估指标：主要使用</a:t>
            </a:r>
            <a:r>
              <a:rPr lang="zh-CN" altLang="en-US" sz="1600">
                <a:solidFill>
                  <a:srgbClr val="FF0000"/>
                </a:solidFill>
              </a:rPr>
              <a:t>AUC-ROC</a:t>
            </a:r>
            <a:r>
              <a:rPr lang="zh-CN" altLang="en-US" sz="1600"/>
              <a:t>来衡量攻击的效果，此外还评估了低误报率下的真正例率（TPR），如2%、5%的假阳性率（FPR）下的TPR表现。</a:t>
            </a:r>
            <a:endParaRPr lang="zh-CN" altLang="en-US" sz="1600"/>
          </a:p>
        </p:txBody>
      </p:sp>
      <p:sp>
        <p:nvSpPr>
          <p:cNvPr id="3" name="文本框 2"/>
          <p:cNvSpPr txBox="1"/>
          <p:nvPr/>
        </p:nvSpPr>
        <p:spPr>
          <a:xfrm>
            <a:off x="254635" y="942975"/>
            <a:ext cx="11125200" cy="1479550"/>
          </a:xfrm>
          <a:prstGeom prst="rect">
            <a:avLst/>
          </a:prstGeom>
          <a:noFill/>
        </p:spPr>
        <p:txBody>
          <a:bodyPr wrap="square" rtlCol="0">
            <a:noAutofit/>
          </a:bodyPr>
          <a:p>
            <a:r>
              <a:rPr lang="zh-CN" altLang="en-US" b="1"/>
              <a:t>1. </a:t>
            </a:r>
            <a:r>
              <a:rPr lang="zh-CN" altLang="en-US" b="1"/>
              <a:t>引言</a:t>
            </a:r>
            <a:endParaRPr lang="zh-CN" altLang="en-US" b="1"/>
          </a:p>
          <a:p>
            <a:pPr marL="285750" indent="-285750">
              <a:buFont typeface="Arial" panose="020B0604020202020204" pitchFamily="34" charset="0"/>
              <a:buChar char="•"/>
            </a:pPr>
            <a:r>
              <a:rPr lang="zh-CN" altLang="en-US" sz="1600"/>
              <a:t>大语言模型（LLMs）可能泄露其训练数据的</a:t>
            </a:r>
            <a:r>
              <a:rPr lang="zh-CN" altLang="en-US" sz="1600">
                <a:solidFill>
                  <a:srgbClr val="FF0000"/>
                </a:solidFill>
              </a:rPr>
              <a:t>隐私风险</a:t>
            </a:r>
            <a:r>
              <a:rPr lang="zh-CN" altLang="en-US" sz="1600"/>
              <a:t>，特别是通过记忆并重复训练数据的方式。</a:t>
            </a:r>
            <a:endParaRPr lang="zh-CN" altLang="en-US" sz="1600"/>
          </a:p>
          <a:p>
            <a:pPr marL="285750" indent="-285750">
              <a:buFont typeface="Arial" panose="020B0604020202020204" pitchFamily="34" charset="0"/>
              <a:buChar char="•"/>
            </a:pPr>
            <a:r>
              <a:rPr lang="zh-CN" altLang="en-US" sz="1600"/>
              <a:t>成员推断攻击（MIA）可以检测某个特定数据是否在目标模型的训练集中。</a:t>
            </a:r>
            <a:r>
              <a:rPr lang="zh-CN" altLang="en-US" sz="1600">
                <a:sym typeface="+mn-ea"/>
              </a:rPr>
              <a:t>现有的MIA方法通常只对逐字匹配有效，忽略了语言的复杂性</a:t>
            </a:r>
            <a:r>
              <a:rPr lang="en-US" altLang="zh-CN" sz="1600">
                <a:sym typeface="+mn-ea"/>
              </a:rPr>
              <a:t>,</a:t>
            </a:r>
            <a:r>
              <a:rPr lang="zh-CN" altLang="en-US" sz="1600">
                <a:sym typeface="+mn-ea"/>
              </a:rPr>
              <a:t>无法处理语言模型中广泛存在的语义记忆问题。</a:t>
            </a:r>
            <a:endParaRPr lang="zh-CN" altLang="en-US" sz="1600"/>
          </a:p>
          <a:p>
            <a:pPr marL="285750" indent="-285750">
              <a:buFont typeface="Arial" panose="020B0604020202020204" pitchFamily="34" charset="0"/>
              <a:buChar char="•"/>
            </a:pPr>
            <a:r>
              <a:rPr lang="zh-CN" altLang="en-US" sz="1600"/>
              <a:t>本文提出SMIA</a:t>
            </a:r>
            <a:r>
              <a:rPr lang="en-US" altLang="zh-CN" sz="1600"/>
              <a:t>(Semantic Membership Inference Attack)</a:t>
            </a:r>
            <a:r>
              <a:rPr lang="zh-CN" altLang="en-US" sz="1600"/>
              <a:t>，能够检</a:t>
            </a:r>
            <a:r>
              <a:rPr lang="zh-CN" altLang="en-US" sz="1600">
                <a:solidFill>
                  <a:srgbClr val="FF0000"/>
                </a:solidFill>
              </a:rPr>
              <a:t>测语义层面的记忆，尤其是在输入的语义内容有所扰动时</a:t>
            </a:r>
            <a:r>
              <a:rPr lang="zh-CN" altLang="en-US" sz="1600"/>
              <a:t>。</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0" y="812800"/>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54635" y="942975"/>
            <a:ext cx="11224260" cy="2663825"/>
          </a:xfrm>
          <a:prstGeom prst="rect">
            <a:avLst/>
          </a:prstGeom>
          <a:noFill/>
        </p:spPr>
        <p:txBody>
          <a:bodyPr wrap="square" rtlCol="0">
            <a:noAutofit/>
          </a:bodyPr>
          <a:p>
            <a:r>
              <a:rPr lang="en-US" altLang="zh-CN" b="1">
                <a:sym typeface="+mn-ea"/>
              </a:rPr>
              <a:t>4.</a:t>
            </a:r>
            <a:r>
              <a:rPr lang="zh-CN" altLang="en-US" b="1">
                <a:sym typeface="+mn-ea"/>
              </a:rPr>
              <a:t>实验结果</a:t>
            </a:r>
            <a:endParaRPr lang="zh-CN" altLang="en-US" b="1">
              <a:sym typeface="+mn-ea"/>
            </a:endParaRPr>
          </a:p>
          <a:p>
            <a:r>
              <a:rPr lang="en-US" altLang="zh-CN" sz="1600" b="1">
                <a:sym typeface="+mn-ea"/>
              </a:rPr>
              <a:t>1</a:t>
            </a:r>
            <a:r>
              <a:rPr lang="zh-CN" altLang="en-US" sz="1600" b="1">
                <a:sym typeface="+mn-ea"/>
              </a:rPr>
              <a:t>）逐字匹配设置（Evaluation in Verbatim Setting）：</a:t>
            </a:r>
            <a:endParaRPr lang="zh-CN" altLang="en-US" sz="1600" b="1">
              <a:sym typeface="+mn-ea"/>
            </a:endParaRPr>
          </a:p>
          <a:p>
            <a:pPr marL="285750" indent="-285750">
              <a:buFont typeface="Arial" panose="020B0604020202020204" pitchFamily="34" charset="0"/>
              <a:buChar char="•"/>
            </a:pPr>
            <a:r>
              <a:rPr lang="zh-CN" altLang="en-US" sz="1600">
                <a:sym typeface="+mn-ea"/>
              </a:rPr>
              <a:t>在没有数据修改的情况下，SMIA在Pythia-12B模型上的AUC-ROC达到了67.39%，显著高于现有最好的参考攻击方法（Ref）的58.90%。</a:t>
            </a:r>
            <a:endParaRPr lang="zh-CN" altLang="en-US" sz="1600">
              <a:sym typeface="+mn-ea"/>
            </a:endParaRPr>
          </a:p>
          <a:p>
            <a:pPr marL="285750" indent="-285750">
              <a:buFont typeface="Arial" panose="020B0604020202020204" pitchFamily="34" charset="0"/>
              <a:buChar char="•"/>
            </a:pPr>
            <a:r>
              <a:rPr lang="zh-CN" altLang="en-US" sz="1600">
                <a:sym typeface="+mn-ea"/>
              </a:rPr>
              <a:t>在2%误报率下，SMIA的TPR（真正例率）为3.8%，远高于参考攻击TPR</a:t>
            </a:r>
            <a:r>
              <a:rPr lang="zh-CN" altLang="en-US" sz="1600">
                <a:sym typeface="+mn-ea"/>
              </a:rPr>
              <a:t>的2.0%。</a:t>
            </a:r>
            <a:endParaRPr lang="zh-CN" altLang="en-US" sz="1600">
              <a:sym typeface="+mn-ea"/>
            </a:endParaRPr>
          </a:p>
          <a:p>
            <a:pPr marL="285750" indent="-285750">
              <a:buFont typeface="Arial" panose="020B0604020202020204" pitchFamily="34" charset="0"/>
              <a:buChar char="•"/>
            </a:pPr>
            <a:r>
              <a:rPr lang="zh-CN" altLang="en-US" sz="1600">
                <a:sym typeface="+mn-ea"/>
              </a:rPr>
              <a:t>在5%误报率下，SMIA的TPR为10.4%，显著优于参考攻击的8.2%。</a:t>
            </a:r>
            <a:endParaRPr lang="zh-CN" altLang="en-US" sz="1600">
              <a:sym typeface="+mn-ea"/>
            </a:endParaRPr>
          </a:p>
          <a:p>
            <a:endParaRPr lang="zh-CN" altLang="en-US" sz="1600">
              <a:sym typeface="+mn-ea"/>
            </a:endParaRPr>
          </a:p>
          <a:p>
            <a:r>
              <a:rPr lang="en-US" altLang="zh-CN" sz="1600" b="1">
                <a:sym typeface="+mn-ea"/>
              </a:rPr>
              <a:t>2</a:t>
            </a:r>
            <a:r>
              <a:rPr lang="zh-CN" altLang="en-US" sz="1600" b="1">
                <a:sym typeface="+mn-ea"/>
              </a:rPr>
              <a:t>）轻微修改设置（Evaluation in Modified Settings）：</a:t>
            </a:r>
            <a:endParaRPr lang="zh-CN" altLang="en-US" sz="1600" b="1">
              <a:sym typeface="+mn-ea"/>
            </a:endParaRPr>
          </a:p>
          <a:p>
            <a:r>
              <a:rPr lang="zh-CN" altLang="en-US" sz="1600">
                <a:sym typeface="+mn-ea"/>
              </a:rPr>
              <a:t>在测试成员数据经过小幅修改（如单词的重复、删除或添加）的情况下，SMIA依然表现优异，尤其是在删除单词的情况下，AUC-ROC达到了62.47%，而Ref攻击 AUC-ROC</a:t>
            </a:r>
            <a:r>
              <a:rPr lang="zh-CN" altLang="en-US" sz="1600">
                <a:sym typeface="+mn-ea"/>
              </a:rPr>
              <a:t>为58.25%。</a:t>
            </a:r>
            <a:endParaRPr lang="zh-CN" altLang="en-US" sz="1600">
              <a:sym typeface="+mn-ea"/>
            </a:endParaRPr>
          </a:p>
        </p:txBody>
      </p:sp>
      <p:sp>
        <p:nvSpPr>
          <p:cNvPr id="3" name="文本框 2"/>
          <p:cNvSpPr txBox="1"/>
          <p:nvPr/>
        </p:nvSpPr>
        <p:spPr>
          <a:xfrm>
            <a:off x="254635" y="314325"/>
            <a:ext cx="7698740" cy="398780"/>
          </a:xfrm>
          <a:prstGeom prst="rect">
            <a:avLst/>
          </a:prstGeom>
          <a:noFill/>
        </p:spPr>
        <p:txBody>
          <a:bodyPr wrap="square" rtlCol="0">
            <a:spAutoFit/>
          </a:bodyPr>
          <a:p>
            <a:pPr algn="dist"/>
            <a:r>
              <a:rPr lang="en-US" altLang="zh-CN" sz="2000" b="1" dirty="0" smtClean="0">
                <a:solidFill>
                  <a:schemeClr val="tx1"/>
                </a:solidFill>
                <a:sym typeface="+mn-ea"/>
              </a:rPr>
              <a:t>Semantic Membership Inference Attack against Large Language Models</a:t>
            </a:r>
            <a:endParaRPr lang="en-US" altLang="zh-CN" sz="2000" b="1" dirty="0" smtClean="0">
              <a:solidFill>
                <a:schemeClr val="tx1"/>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cxnSp>
        <p:nvCxnSpPr>
          <p:cNvPr id="33" name="直接连接符 32"/>
          <p:cNvCxnSpPr/>
          <p:nvPr/>
        </p:nvCxnSpPr>
        <p:spPr>
          <a:xfrm>
            <a:off x="0" y="812800"/>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28600" y="332740"/>
            <a:ext cx="9525635" cy="414020"/>
          </a:xfrm>
          <a:prstGeom prst="rect">
            <a:avLst/>
          </a:prstGeom>
          <a:noFill/>
        </p:spPr>
        <p:txBody>
          <a:bodyPr wrap="square" rtlCol="0">
            <a:noAutofit/>
          </a:bodyPr>
          <a:p>
            <a:pPr algn="dist"/>
            <a:r>
              <a:rPr lang="en-US" altLang="zh-CN" sz="2000" b="1" dirty="0" smtClean="0">
                <a:sym typeface="+mn-ea"/>
              </a:rPr>
              <a:t>Membership Inference Attacks against Language Models via Neighbourhood Comparison</a:t>
            </a:r>
            <a:endParaRPr lang="en-US" altLang="zh-CN" sz="2000" b="1" dirty="0" smtClean="0">
              <a:sym typeface="+mn-ea"/>
            </a:endParaRPr>
          </a:p>
        </p:txBody>
      </p:sp>
      <p:sp>
        <p:nvSpPr>
          <p:cNvPr id="24" name="文本框 23"/>
          <p:cNvSpPr txBox="1"/>
          <p:nvPr/>
        </p:nvSpPr>
        <p:spPr>
          <a:xfrm>
            <a:off x="228600" y="2042795"/>
            <a:ext cx="11706225" cy="4537075"/>
          </a:xfrm>
          <a:prstGeom prst="rect">
            <a:avLst/>
          </a:prstGeom>
          <a:noFill/>
        </p:spPr>
        <p:txBody>
          <a:bodyPr wrap="square" rtlCol="0" anchor="t">
            <a:noAutofit/>
          </a:bodyPr>
          <a:p>
            <a:r>
              <a:rPr lang="en-US" b="1"/>
              <a:t>2. </a:t>
            </a:r>
            <a:r>
              <a:rPr lang="zh-CN" altLang="en-US" b="1"/>
              <a:t>实验设置</a:t>
            </a:r>
            <a:endParaRPr b="1"/>
          </a:p>
          <a:p>
            <a:pPr marL="285750" indent="-285750">
              <a:buFont typeface="Arial" panose="020B0604020202020204" pitchFamily="34" charset="0"/>
              <a:buChar char="•"/>
            </a:pPr>
            <a:r>
              <a:rPr sz="1600" b="1"/>
              <a:t>模型</a:t>
            </a:r>
            <a:r>
              <a:rPr sz="1600"/>
              <a:t>： 使用了</a:t>
            </a:r>
            <a:r>
              <a:rPr sz="1600">
                <a:solidFill>
                  <a:srgbClr val="FF0000"/>
                </a:solidFill>
              </a:rPr>
              <a:t>GPT-2的基线版本</a:t>
            </a:r>
            <a:r>
              <a:rPr sz="1600"/>
              <a:t>（117M参数），并通过微调使其适应每个数据集。</a:t>
            </a:r>
            <a:endParaRPr sz="1600"/>
          </a:p>
          <a:p>
            <a:pPr marL="285750" indent="-285750">
              <a:buFont typeface="Arial" panose="020B0604020202020204" pitchFamily="34" charset="0"/>
              <a:buChar char="•"/>
            </a:pPr>
            <a:r>
              <a:rPr sz="1600" b="1"/>
              <a:t>数据集</a:t>
            </a:r>
            <a:r>
              <a:rPr sz="1600"/>
              <a:t>： 实验中使用了</a:t>
            </a:r>
            <a:r>
              <a:rPr sz="1600">
                <a:solidFill>
                  <a:srgbClr val="FF0000"/>
                </a:solidFill>
              </a:rPr>
              <a:t>三个不同的数据集</a:t>
            </a:r>
            <a:r>
              <a:rPr sz="1600"/>
              <a:t>来评估攻击的有效性</a:t>
            </a:r>
            <a:r>
              <a:rPr lang="zh-CN" sz="1600"/>
              <a:t>。每个数据集都分成两个不相交的子集，其中一个子集用于训练目标模型，另一个子集则作为“非成员”数据用于测试。</a:t>
            </a:r>
            <a:endParaRPr lang="zh-CN" sz="1600"/>
          </a:p>
          <a:p>
            <a:pPr marL="742950" lvl="1" indent="-285750">
              <a:buFont typeface="Arial" panose="020B0604020202020204" pitchFamily="34" charset="0"/>
              <a:buChar char="•"/>
            </a:pPr>
            <a:r>
              <a:rPr sz="1600"/>
              <a:t>AG News: 新闻文章的摘要，分为四类（世界、体育、商业、科学与技术）。每个子集包含60,000条样本。</a:t>
            </a:r>
            <a:endParaRPr sz="1600"/>
          </a:p>
          <a:p>
            <a:pPr marL="742950" lvl="1" indent="-285750">
              <a:buFont typeface="Arial" panose="020B0604020202020204" pitchFamily="34" charset="0"/>
              <a:buChar char="•"/>
            </a:pPr>
            <a:r>
              <a:rPr sz="1600"/>
              <a:t>Twitter（Sentiment140）: 推特数据，主要用于情感分析。每个子集包含150,000条样本。</a:t>
            </a:r>
            <a:endParaRPr sz="1600"/>
          </a:p>
          <a:p>
            <a:pPr marL="742950" lvl="1" indent="-285750">
              <a:buFont typeface="Arial" panose="020B0604020202020204" pitchFamily="34" charset="0"/>
              <a:buChar char="•"/>
            </a:pPr>
            <a:r>
              <a:rPr sz="1600"/>
              <a:t>Wikitext-103: 维基百科文章的摘录。每个子集包含100,000条样本​。</a:t>
            </a:r>
            <a:endParaRPr sz="1600"/>
          </a:p>
          <a:p>
            <a:pPr marL="285750" indent="-285750">
              <a:buFont typeface="Arial" panose="020B0604020202020204" pitchFamily="34" charset="0"/>
              <a:buChar char="•"/>
            </a:pPr>
            <a:r>
              <a:rPr sz="1600" b="1"/>
              <a:t>评估指标</a:t>
            </a:r>
            <a:r>
              <a:rPr sz="1600"/>
              <a:t>：攻击性能通过</a:t>
            </a:r>
            <a:r>
              <a:rPr sz="1600">
                <a:solidFill>
                  <a:srgbClr val="FF0000"/>
                </a:solidFill>
              </a:rPr>
              <a:t>真阳性率（True Positive Rate, TPR）</a:t>
            </a:r>
            <a:r>
              <a:rPr sz="1600"/>
              <a:t>和</a:t>
            </a:r>
            <a:r>
              <a:rPr sz="1600">
                <a:solidFill>
                  <a:srgbClr val="FF0000"/>
                </a:solidFill>
              </a:rPr>
              <a:t>假阳性率（False Positive Rate, FPR）</a:t>
            </a:r>
            <a:r>
              <a:rPr sz="1600"/>
              <a:t>来衡量。实验特别关注在低假阳性率（如1%、0.1%和0.01%）下的表现，因为这类攻击在现实中往往要求非常低的误报率。</a:t>
            </a:r>
            <a:endParaRPr sz="1600"/>
          </a:p>
          <a:p>
            <a:pPr marL="285750" indent="-285750">
              <a:buFont typeface="Arial" panose="020B0604020202020204" pitchFamily="34" charset="0"/>
              <a:buChar char="•"/>
            </a:pPr>
            <a:r>
              <a:rPr sz="1600" b="1"/>
              <a:t>攻击方法的比较</a:t>
            </a:r>
            <a:r>
              <a:rPr lang="zh-CN" sz="1600" b="1"/>
              <a:t>：</a:t>
            </a:r>
            <a:endParaRPr sz="1600" b="1"/>
          </a:p>
          <a:p>
            <a:pPr marL="742950" lvl="1" indent="-285750">
              <a:buFont typeface="Arial" panose="020B0604020202020204" pitchFamily="34" charset="0"/>
              <a:buChar char="•"/>
            </a:pPr>
            <a:r>
              <a:rPr sz="1600"/>
              <a:t>LOSS攻击: 直接通过模型的损失值判断样本是否属于训练集。如果样本的损失值低于某个阈值，则被认为是训练数据。</a:t>
            </a:r>
            <a:endParaRPr sz="1600"/>
          </a:p>
          <a:p>
            <a:pPr marL="742950" lvl="1" indent="-285750">
              <a:buFont typeface="Arial" panose="020B0604020202020204" pitchFamily="34" charset="0"/>
              <a:buChar char="•"/>
            </a:pPr>
            <a:r>
              <a:rPr sz="1600"/>
              <a:t>基于参考模型的攻击（Reference-Based Attacks）: 利用相同结构但不同训练数据的参考模型进行攻击，比较目标模型与参考模型的输出以推断成员关系。</a:t>
            </a:r>
            <a:endParaRPr sz="1600"/>
          </a:p>
          <a:p>
            <a:pPr marL="285750" indent="-285750">
              <a:buFont typeface="Arial" panose="020B0604020202020204" pitchFamily="34" charset="0"/>
              <a:buChar char="•"/>
            </a:pPr>
            <a:r>
              <a:rPr sz="1600" b="1"/>
              <a:t>邻域样本的生成</a:t>
            </a:r>
            <a:r>
              <a:rPr lang="zh-CN" sz="1600"/>
              <a:t>：</a:t>
            </a:r>
            <a:r>
              <a:rPr sz="1600"/>
              <a:t>为了实施邻域攻击，作者通过掩码语言模型（如BERT）生成了与目标样本相似的“邻域”样本。这些邻域样本是通过简单的词语替换生成的，并保持与原始样本语义上的高度一致。具体步骤包括：</a:t>
            </a:r>
            <a:endParaRPr sz="1600"/>
          </a:p>
          <a:p>
            <a:pPr marL="742950" lvl="1" indent="-285750">
              <a:buFont typeface="Arial" panose="020B0604020202020204" pitchFamily="34" charset="0"/>
              <a:buChar char="•"/>
            </a:pPr>
            <a:r>
              <a:rPr sz="1600"/>
              <a:t>随机选择一个词进行替换。</a:t>
            </a:r>
            <a:endParaRPr sz="1600"/>
          </a:p>
          <a:p>
            <a:pPr marL="742950" lvl="1" indent="-285750">
              <a:buFont typeface="Arial" panose="020B0604020202020204" pitchFamily="34" charset="0"/>
              <a:buChar char="•"/>
            </a:pPr>
            <a:r>
              <a:rPr sz="1600"/>
              <a:t>使用BERT模型生成可能的替换词，并基于语境来选择最适合的词。</a:t>
            </a:r>
            <a:endParaRPr sz="1600"/>
          </a:p>
          <a:p>
            <a:pPr marL="742950" lvl="1" indent="-285750">
              <a:buFont typeface="Arial" panose="020B0604020202020204" pitchFamily="34" charset="0"/>
              <a:buChar char="•"/>
            </a:pPr>
            <a:r>
              <a:rPr sz="1600"/>
              <a:t>每个目标样本生成100个邻域样本用于比较​。</a:t>
            </a:r>
            <a:endParaRPr sz="1600"/>
          </a:p>
        </p:txBody>
      </p:sp>
      <p:sp>
        <p:nvSpPr>
          <p:cNvPr id="5" name="文本框 4"/>
          <p:cNvSpPr txBox="1"/>
          <p:nvPr/>
        </p:nvSpPr>
        <p:spPr>
          <a:xfrm>
            <a:off x="228600" y="935990"/>
            <a:ext cx="11706225" cy="1106805"/>
          </a:xfrm>
          <a:prstGeom prst="rect">
            <a:avLst/>
          </a:prstGeom>
          <a:noFill/>
        </p:spPr>
        <p:txBody>
          <a:bodyPr wrap="square" rtlCol="0">
            <a:spAutoFit/>
          </a:bodyPr>
          <a:p>
            <a:pPr algn="l">
              <a:buClrTx/>
              <a:buSzTx/>
              <a:buFontTx/>
              <a:buNone/>
            </a:pPr>
            <a:r>
              <a:rPr lang="en-US" altLang="zh-CN" b="1"/>
              <a:t>1. 邻域比较攻击 (Neighbourhood Comparison Attack)</a:t>
            </a:r>
            <a:endParaRPr lang="en-US" altLang="zh-CN" b="1"/>
          </a:p>
          <a:p>
            <a:pPr marL="285750" indent="-285750">
              <a:buFont typeface="Arial" panose="020B0604020202020204" pitchFamily="34" charset="0"/>
              <a:buChar char="•"/>
            </a:pPr>
            <a:r>
              <a:rPr lang="zh-CN" altLang="en-US" sz="1600"/>
              <a:t>本文的核心贡献是提出了一种</a:t>
            </a:r>
            <a:r>
              <a:rPr lang="zh-CN" altLang="en-US" sz="1600">
                <a:solidFill>
                  <a:srgbClr val="FF0000"/>
                </a:solidFill>
              </a:rPr>
              <a:t>无需依赖参考模型</a:t>
            </a:r>
            <a:r>
              <a:rPr lang="zh-CN" altLang="en-US" sz="1600"/>
              <a:t>的邻域攻击方法。</a:t>
            </a:r>
            <a:endParaRPr lang="zh-CN" altLang="en-US" sz="1600"/>
          </a:p>
          <a:p>
            <a:pPr marL="285750" indent="-285750">
              <a:buFont typeface="Arial" panose="020B0604020202020204" pitchFamily="34" charset="0"/>
              <a:buChar char="•"/>
            </a:pPr>
            <a:r>
              <a:rPr lang="zh-CN" altLang="en-US" sz="1600"/>
              <a:t>作者描述了通过替换目标文本中的某些词语，生成与原始样本相似的邻域样本，并通过比较这些邻域样本和目标样本的损失值差异来进行成员推断。这种方法无需访问训练数据的分布，使得攻击在缺乏参考数据的情况下仍具有较高的攻击成功率​。</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28600" y="4602480"/>
            <a:ext cx="11587480" cy="1599565"/>
          </a:xfrm>
          <a:prstGeom prst="rect">
            <a:avLst/>
          </a:prstGeom>
          <a:noFill/>
        </p:spPr>
        <p:txBody>
          <a:bodyPr wrap="square" rtlCol="0">
            <a:spAutoFit/>
          </a:bodyPr>
          <a:p>
            <a:r>
              <a:rPr lang="en-US" altLang="zh-CN" b="1"/>
              <a:t>4. </a:t>
            </a:r>
            <a:r>
              <a:rPr lang="zh-CN" altLang="en-US" b="1"/>
              <a:t>实验</a:t>
            </a:r>
            <a:r>
              <a:rPr lang="zh-CN" altLang="en-US" b="1"/>
              <a:t>结果</a:t>
            </a:r>
            <a:endParaRPr lang="zh-CN" altLang="en-US" b="1"/>
          </a:p>
          <a:p>
            <a:pPr indent="0">
              <a:buFont typeface="Arial" panose="020B0604020202020204" pitchFamily="34" charset="0"/>
              <a:buNone/>
            </a:pPr>
            <a:r>
              <a:rPr lang="zh-CN" altLang="en-US" sz="1600"/>
              <a:t>实验结果显示，邻域攻击在各类数据集上均表现优异，尤其是在假阳性率较低的情况下。具体结果如下：</a:t>
            </a:r>
            <a:endParaRPr lang="zh-CN" altLang="en-US" sz="1600"/>
          </a:p>
          <a:p>
            <a:pPr marL="285750" lvl="0" indent="-285750">
              <a:buFont typeface="Arial" panose="020B0604020202020204" pitchFamily="34" charset="0"/>
              <a:buChar char="•"/>
            </a:pPr>
            <a:r>
              <a:rPr lang="zh-CN" altLang="en-US" sz="1600"/>
              <a:t>在AG News、Twitter和Wikipedia数据集上，邻域攻击的真阳性率在1%的假阳性率下分别为8.29%、7.35%和2.32%。</a:t>
            </a:r>
            <a:endParaRPr lang="zh-CN" altLang="en-US" sz="1600"/>
          </a:p>
          <a:p>
            <a:pPr marL="285750" lvl="0" indent="-285750">
              <a:buFont typeface="Arial" panose="020B0604020202020204" pitchFamily="34" charset="0"/>
              <a:buChar char="•"/>
            </a:pPr>
            <a:r>
              <a:rPr lang="zh-CN" altLang="en-US" sz="1600"/>
              <a:t>与此相比，LOSS攻击的表现较差，真阳性率在各数据集上仅为3.50%、2.08%和1.06%。</a:t>
            </a:r>
            <a:endParaRPr lang="zh-CN" altLang="en-US" sz="1600"/>
          </a:p>
          <a:p>
            <a:pPr marL="285750" lvl="0" indent="-285750">
              <a:buFont typeface="Arial" panose="020B0604020202020204" pitchFamily="34" charset="0"/>
              <a:buChar char="•"/>
            </a:pPr>
            <a:r>
              <a:rPr lang="zh-CN" altLang="en-US" sz="1600"/>
              <a:t>即使在假设攻击者拥有完美数据分布知识的情况下，邻域攻击也能与基于Oracle参考模型的攻击表现相当，显示出很强的竞争力​​。</a:t>
            </a:r>
            <a:endParaRPr lang="zh-CN" altLang="en-US" sz="1600"/>
          </a:p>
        </p:txBody>
      </p:sp>
      <p:cxnSp>
        <p:nvCxnSpPr>
          <p:cNvPr id="33" name="直接连接符 32"/>
          <p:cNvCxnSpPr/>
          <p:nvPr/>
        </p:nvCxnSpPr>
        <p:spPr>
          <a:xfrm>
            <a:off x="0" y="812800"/>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28600" y="332740"/>
            <a:ext cx="9525635" cy="414020"/>
          </a:xfrm>
          <a:prstGeom prst="rect">
            <a:avLst/>
          </a:prstGeom>
          <a:noFill/>
        </p:spPr>
        <p:txBody>
          <a:bodyPr wrap="square" rtlCol="0">
            <a:noAutofit/>
          </a:bodyPr>
          <a:p>
            <a:pPr algn="dist"/>
            <a:r>
              <a:rPr lang="en-US" altLang="zh-CN" sz="2000" b="1" dirty="0" smtClean="0">
                <a:sym typeface="+mn-ea"/>
              </a:rPr>
              <a:t>Membership Inference Attacks against Language Models via Neighbourhood Comparison</a:t>
            </a:r>
            <a:endParaRPr lang="en-US" altLang="zh-CN" sz="2000" b="1" dirty="0" smtClean="0">
              <a:sym typeface="+mn-ea"/>
            </a:endParaRPr>
          </a:p>
        </p:txBody>
      </p:sp>
      <p:sp>
        <p:nvSpPr>
          <p:cNvPr id="4" name="文本框 3"/>
          <p:cNvSpPr txBox="1"/>
          <p:nvPr/>
        </p:nvSpPr>
        <p:spPr>
          <a:xfrm>
            <a:off x="228600" y="968375"/>
            <a:ext cx="11587480" cy="3569335"/>
          </a:xfrm>
          <a:prstGeom prst="rect">
            <a:avLst/>
          </a:prstGeom>
          <a:noFill/>
        </p:spPr>
        <p:txBody>
          <a:bodyPr wrap="square" rtlCol="0">
            <a:spAutoFit/>
          </a:bodyPr>
          <a:p>
            <a:r>
              <a:rPr lang="en-US" altLang="zh-CN" b="1"/>
              <a:t>3. </a:t>
            </a:r>
            <a:r>
              <a:rPr lang="zh-CN" altLang="en-US" b="1"/>
              <a:t>模型输出</a:t>
            </a:r>
            <a:r>
              <a:rPr lang="zh-CN" altLang="en-US" b="1"/>
              <a:t>计算</a:t>
            </a:r>
            <a:endParaRPr lang="zh-CN" altLang="en-US" b="1"/>
          </a:p>
          <a:p>
            <a:pPr indent="0">
              <a:buFont typeface="Arial" panose="020B0604020202020204" pitchFamily="34" charset="0"/>
              <a:buNone/>
            </a:pPr>
            <a:r>
              <a:rPr lang="en-US" altLang="zh-CN" sz="1600"/>
              <a:t>1</a:t>
            </a:r>
            <a:r>
              <a:rPr lang="zh-CN" altLang="en-US" sz="1600"/>
              <a:t>）生成邻域样本后，攻击者将目标样本和邻域样本输入到目标模型中，并获得以下输出：</a:t>
            </a:r>
            <a:endParaRPr lang="zh-CN" altLang="en-US" sz="1600"/>
          </a:p>
          <a:p>
            <a:pPr indent="0">
              <a:buFont typeface="Arial" panose="020B0604020202020204" pitchFamily="34" charset="0"/>
              <a:buNone/>
            </a:pPr>
            <a:r>
              <a:rPr lang="zh-CN" altLang="en-US" sz="1600"/>
              <a:t>损失值（Loss Value）：目标模型会计算每个样本的损失值，这表示模型在预测该样本时的不确定性或错误率。成员推断攻击通过比较这些损失值来判断样本是否是训练集的一部分。</a:t>
            </a:r>
            <a:endParaRPr lang="zh-CN" altLang="en-US" sz="1600"/>
          </a:p>
          <a:p>
            <a:pPr indent="0">
              <a:buFont typeface="Arial" panose="020B0604020202020204" pitchFamily="34" charset="0"/>
              <a:buNone/>
            </a:pPr>
            <a:endParaRPr lang="zh-CN" altLang="en-US" sz="1600"/>
          </a:p>
          <a:p>
            <a:pPr indent="0">
              <a:buFont typeface="Arial" panose="020B0604020202020204" pitchFamily="34" charset="0"/>
              <a:buNone/>
            </a:pPr>
            <a:r>
              <a:rPr lang="en-US" altLang="zh-CN" sz="1600"/>
              <a:t>2</a:t>
            </a:r>
            <a:r>
              <a:rPr lang="zh-CN" altLang="en-US" sz="1600"/>
              <a:t>）攻击者通过比较目标样本和其邻域样本的损失值差异，来推断目标样本是否是训练集的一部分：</a:t>
            </a:r>
            <a:endParaRPr lang="zh-CN" altLang="en-US" sz="1600"/>
          </a:p>
          <a:p>
            <a:pPr marL="285750" indent="-285750">
              <a:buFont typeface="Arial" panose="020B0604020202020204" pitchFamily="34" charset="0"/>
              <a:buChar char="•"/>
            </a:pPr>
            <a:r>
              <a:rPr lang="zh-CN" altLang="en-US" sz="1600"/>
              <a:t>如果目标样本的损失值显著低于邻域样本的损失值，攻击者可以推测该样本是训练数据的一部分。原因是模型通常会对训练样本有较好的适应能力，因此训练样本的损失值会较低。</a:t>
            </a:r>
            <a:endParaRPr lang="zh-CN" altLang="en-US" sz="1600"/>
          </a:p>
          <a:p>
            <a:pPr marL="285750" indent="-285750">
              <a:buFont typeface="Arial" panose="020B0604020202020204" pitchFamily="34" charset="0"/>
              <a:buChar char="•"/>
            </a:pPr>
            <a:r>
              <a:rPr lang="zh-CN" altLang="en-US" sz="1600"/>
              <a:t>如果目标样本的损失值与邻域样本的损失值相似，则推测该样本不是训练集的一部分。</a:t>
            </a:r>
            <a:endParaRPr lang="zh-CN" altLang="en-US" sz="1600"/>
          </a:p>
          <a:p>
            <a:pPr marL="285750" indent="-285750">
              <a:buFont typeface="Arial" panose="020B0604020202020204" pitchFamily="34" charset="0"/>
              <a:buChar char="•"/>
            </a:pPr>
            <a:endParaRPr lang="zh-CN" altLang="en-US" sz="1600"/>
          </a:p>
          <a:p>
            <a:pPr indent="0">
              <a:buFont typeface="Arial" panose="020B0604020202020204" pitchFamily="34" charset="0"/>
              <a:buNone/>
            </a:pPr>
            <a:r>
              <a:rPr lang="en-US" altLang="zh-CN" sz="1600"/>
              <a:t>3</a:t>
            </a:r>
            <a:r>
              <a:rPr lang="zh-CN" altLang="en-US" sz="1600"/>
              <a:t>）攻击结果的评估</a:t>
            </a:r>
            <a:endParaRPr lang="zh-CN" altLang="en-US" sz="1600"/>
          </a:p>
          <a:p>
            <a:pPr indent="0">
              <a:buFont typeface="Arial" panose="020B0604020202020204" pitchFamily="34" charset="0"/>
              <a:buNone/>
            </a:pPr>
            <a:r>
              <a:rPr lang="zh-CN" altLang="en-US" sz="1600"/>
              <a:t>攻击的结果通过以下几项指标进行评估：</a:t>
            </a:r>
            <a:endParaRPr lang="zh-CN" altLang="en-US" sz="1600"/>
          </a:p>
          <a:p>
            <a:pPr marL="285750" indent="-285750">
              <a:buFont typeface="Arial" panose="020B0604020202020204" pitchFamily="34" charset="0"/>
              <a:buChar char="•"/>
            </a:pPr>
            <a:r>
              <a:rPr lang="zh-CN" altLang="en-US" sz="1600"/>
              <a:t>真阳性率（True Positive Rate, TPR）：即模型正确识别出训练集成员样本的比例。</a:t>
            </a:r>
            <a:endParaRPr lang="zh-CN" altLang="en-US" sz="1600"/>
          </a:p>
          <a:p>
            <a:pPr marL="285750" indent="-285750">
              <a:buFont typeface="Arial" panose="020B0604020202020204" pitchFamily="34" charset="0"/>
              <a:buChar char="•"/>
            </a:pPr>
            <a:r>
              <a:rPr lang="zh-CN" altLang="en-US" sz="1600"/>
              <a:t>假阳性率（False Positive Rate, FPR）：即模型误将非训练集样本判定为训练集样本的比例。</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33" name="直接连接符 32"/>
          <p:cNvCxnSpPr/>
          <p:nvPr/>
        </p:nvCxnSpPr>
        <p:spPr>
          <a:xfrm>
            <a:off x="0" y="812800"/>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228600" y="332740"/>
            <a:ext cx="9525635" cy="414020"/>
          </a:xfrm>
          <a:prstGeom prst="rect">
            <a:avLst/>
          </a:prstGeom>
          <a:noFill/>
        </p:spPr>
        <p:txBody>
          <a:bodyPr wrap="square" rtlCol="0">
            <a:noAutofit/>
          </a:bodyPr>
          <a:p>
            <a:pPr algn="dist"/>
            <a:r>
              <a:rPr lang="en-US" altLang="zh-CN" sz="2000" b="1" dirty="0" smtClean="0">
                <a:sym typeface="+mn-ea"/>
              </a:rPr>
              <a:t>Membership Inference Attacks against Language Models via Neighbourhood Comparison</a:t>
            </a:r>
            <a:endParaRPr lang="en-US" altLang="zh-CN" sz="2000" b="1" dirty="0" smtClean="0">
              <a:sym typeface="+mn-ea"/>
            </a:endParaRPr>
          </a:p>
        </p:txBody>
      </p:sp>
      <p:sp>
        <p:nvSpPr>
          <p:cNvPr id="4" name="文本框 3"/>
          <p:cNvSpPr txBox="1"/>
          <p:nvPr/>
        </p:nvSpPr>
        <p:spPr>
          <a:xfrm>
            <a:off x="228600" y="968375"/>
            <a:ext cx="11587480" cy="1198880"/>
          </a:xfrm>
          <a:prstGeom prst="rect">
            <a:avLst/>
          </a:prstGeom>
          <a:noFill/>
        </p:spPr>
        <p:txBody>
          <a:bodyPr wrap="square" rtlCol="0">
            <a:spAutoFit/>
          </a:bodyPr>
          <a:p>
            <a:r>
              <a:rPr lang="en-US" altLang="zh-CN" b="1"/>
              <a:t>5. </a:t>
            </a:r>
            <a:r>
              <a:rPr lang="zh-CN" altLang="en-US" b="1"/>
              <a:t>防御实验</a:t>
            </a:r>
            <a:endParaRPr lang="zh-CN" altLang="en-US"/>
          </a:p>
          <a:p>
            <a:r>
              <a:rPr lang="zh-CN" altLang="en-US">
                <a:sym typeface="+mn-ea"/>
              </a:rPr>
              <a:t>作者还测试了差分隐私训练（DP-SGD）对邻域攻击的防御效果。</a:t>
            </a:r>
            <a:endParaRPr lang="zh-CN" altLang="en-US">
              <a:sym typeface="+mn-ea"/>
            </a:endParaRPr>
          </a:p>
          <a:p>
            <a:r>
              <a:rPr lang="zh-CN" altLang="en-US">
                <a:sym typeface="+mn-ea"/>
              </a:rPr>
              <a:t>通过在训练过程中引入噪声，差分隐私可以减少模型记住训练数据的可能性，从而降低攻击的成功率。实验表明，差分隐私训练的模型即使在较高的隐私参数下，也能够显著降低邻域攻击的成功率​。</a:t>
            </a:r>
            <a:endParaRPr lang="zh-CN" altLang="en-US" sz="1600"/>
          </a:p>
        </p:txBody>
      </p:sp>
      <p:sp>
        <p:nvSpPr>
          <p:cNvPr id="3" name="文本框 2"/>
          <p:cNvSpPr txBox="1"/>
          <p:nvPr/>
        </p:nvSpPr>
        <p:spPr>
          <a:xfrm>
            <a:off x="335915" y="2829560"/>
            <a:ext cx="3820160" cy="1198880"/>
          </a:xfrm>
          <a:prstGeom prst="rect">
            <a:avLst/>
          </a:prstGeom>
          <a:noFill/>
        </p:spPr>
        <p:txBody>
          <a:bodyPr wrap="square" rtlCol="0">
            <a:spAutoFit/>
          </a:bodyPr>
          <a:p>
            <a:r>
              <a:rPr lang="zh-CN" altLang="en-US"/>
              <a:t>两篇</a:t>
            </a:r>
            <a:r>
              <a:rPr lang="zh-CN" altLang="en-US"/>
              <a:t>文章都使用了“邻域样本”这一概念来生成与原始输入相似的变体，并通过这些变体帮助提高成员推断攻击的成功率。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tags/tag1.xml><?xml version="1.0" encoding="utf-8"?>
<p:tagLst xmlns:p="http://schemas.openxmlformats.org/presentationml/2006/main">
  <p:tag name="ISPRING_PRESENTATION_TITLE" val="PowerPoint 演示文稿"/>
  <p:tag name="commondata" val="eyJoZGlkIjoiMTFmMWJmZjM1MTUzOGJhZGQ2YzVjZTI0ZGVkOTAwZT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3322</Words>
  <Application>WPS 演示</Application>
  <PresentationFormat>宽屏</PresentationFormat>
  <Paragraphs>82</Paragraphs>
  <Slides>5</Slides>
  <Notes>24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vt:i4>
      </vt:variant>
    </vt:vector>
  </HeadingPairs>
  <TitlesOfParts>
    <vt:vector size="15" baseType="lpstr">
      <vt:lpstr>Arial</vt:lpstr>
      <vt:lpstr>宋体</vt:lpstr>
      <vt:lpstr>Wingdings</vt:lpstr>
      <vt:lpstr>Calibri</vt:lpstr>
      <vt:lpstr>微软雅黑</vt:lpstr>
      <vt:lpstr>Arial Unicode MS</vt:lpstr>
      <vt:lpstr>Calibri Light</vt:lpstr>
      <vt:lpstr>BatangChe</vt:lpstr>
      <vt:lpstr>Segoe Print</vt:lpstr>
      <vt:lpstr>Office 主题</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陈茁扬</cp:lastModifiedBy>
  <cp:revision>98</cp:revision>
  <dcterms:created xsi:type="dcterms:W3CDTF">2019-12-26T07:15:00Z</dcterms:created>
  <dcterms:modified xsi:type="dcterms:W3CDTF">2024-09-24T10:10:50Z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5E622B3B01CE41D9B43B3CFCF1480C61_13</vt:lpwstr>
  </property>
  <property fmtid="{D5CDD505-2E9C-101B-9397-08002B2CF9AE}" pid="3" name="KSOProductBuildVer">
    <vt:lpwstr>2052-12.1.0.16929</vt:lpwstr>
  </property>
</Properties>
</file>