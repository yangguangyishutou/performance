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08" r:id="rId3"/>
    <p:sldId id="315" r:id="rId5"/>
    <p:sldId id="316" r:id="rId6"/>
  </p:sldIdLst>
  <p:sldSz cx="12192000" cy="6858000"/>
  <p:notesSz cx="6858000" cy="9144000"/>
  <p:custDataLst>
    <p:tags r:id="rId1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0070C0"/>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99" autoAdjust="0"/>
    <p:restoredTop sz="94660"/>
  </p:normalViewPr>
  <p:slideViewPr>
    <p:cSldViewPr snapToGrid="0">
      <p:cViewPr varScale="1">
        <p:scale>
          <a:sx n="73" d="100"/>
          <a:sy n="73" d="100"/>
        </p:scale>
        <p:origin x="54" y="3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tags" Target="tags/tag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E5DC90-454D-46DB-AFEB-0ECF9E248FB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17DDCB-88F8-4C0C-946E-463F46B0E8C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117DDCB-88F8-4C0C-946E-463F46B0E8C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420691-2B12-42BE-9ECB-BA89A0D1C4B9}"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6FDAAE-121E-400D-B024-F201987F456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86385" y="63500"/>
            <a:ext cx="11116310" cy="6721475"/>
          </a:xfrm>
          <a:prstGeom prst="rect">
            <a:avLst/>
          </a:prstGeom>
          <a:noFill/>
        </p:spPr>
        <p:txBody>
          <a:bodyPr wrap="square" rtlCol="0">
            <a:noAutofit/>
          </a:bodyPr>
          <a:p>
            <a:pPr>
              <a:lnSpc>
                <a:spcPct val="150000"/>
              </a:lnSpc>
            </a:pPr>
            <a:r>
              <a:rPr lang="en-US" altLang="zh-CN"/>
              <a:t>1. </a:t>
            </a:r>
            <a:r>
              <a:rPr lang="zh-CN" altLang="en-US"/>
              <a:t>样本选择</a:t>
            </a:r>
            <a:endParaRPr lang="zh-CN" altLang="en-US"/>
          </a:p>
          <a:p>
            <a:pPr lvl="1">
              <a:lnSpc>
                <a:spcPct val="150000"/>
              </a:lnSpc>
            </a:pPr>
            <a:r>
              <a:rPr lang="zh-CN" altLang="en-US">
                <a:sym typeface="+mn-ea"/>
              </a:rPr>
              <a:t>挑选项目：</a:t>
            </a:r>
            <a:r>
              <a:rPr lang="zh-CN" altLang="en-US"/>
              <a:t>github advanced search(</a:t>
            </a:r>
            <a:r>
              <a:rPr lang="zh-CN" altLang="en-US">
                <a:solidFill>
                  <a:srgbClr val="FF0000"/>
                </a:solidFill>
              </a:rPr>
              <a:t>date&gt;=2024</a:t>
            </a:r>
            <a:r>
              <a:rPr lang="zh-CN" altLang="en-US"/>
              <a:t> &amp;&amp; license=gpl)</a:t>
            </a:r>
            <a:r>
              <a:rPr lang="en-US" altLang="zh-CN"/>
              <a:t> </a:t>
            </a:r>
            <a:endParaRPr lang="zh-CN" altLang="en-US"/>
          </a:p>
          <a:p>
            <a:pPr lvl="1">
              <a:lnSpc>
                <a:spcPct val="150000"/>
              </a:lnSpc>
            </a:pPr>
            <a:r>
              <a:rPr lang="zh-CN" altLang="en-US"/>
              <a:t>确定Llama没见过：</a:t>
            </a:r>
            <a:r>
              <a:rPr lang="en-US" altLang="zh-CN"/>
              <a:t>in Google BigQuery,  “</a:t>
            </a:r>
            <a:r>
              <a:rPr lang="zh-CN" altLang="en-US"/>
              <a:t>select*from repo where repo</a:t>
            </a:r>
            <a:r>
              <a:rPr lang="en-US" altLang="zh-CN"/>
              <a:t> </a:t>
            </a:r>
            <a:r>
              <a:rPr lang="zh-CN" altLang="en-US">
                <a:solidFill>
                  <a:srgbClr val="FF0000"/>
                </a:solidFill>
              </a:rPr>
              <a:t>creation</a:t>
            </a:r>
            <a:r>
              <a:rPr lang="en-US" altLang="zh-CN">
                <a:solidFill>
                  <a:srgbClr val="FF0000"/>
                </a:solidFill>
              </a:rPr>
              <a:t>_</a:t>
            </a:r>
            <a:r>
              <a:rPr lang="zh-CN" altLang="en-US">
                <a:solidFill>
                  <a:srgbClr val="FF0000"/>
                </a:solidFill>
              </a:rPr>
              <a:t>date&lt;2023</a:t>
            </a:r>
            <a:r>
              <a:rPr lang="zh-CN" altLang="en-US"/>
              <a:t> and code like"return a;%</a:t>
            </a:r>
            <a:r>
              <a:rPr lang="en-US" altLang="zh-CN"/>
              <a:t>”  </a:t>
            </a:r>
            <a:endParaRPr lang="en-US" altLang="zh-CN"/>
          </a:p>
          <a:p>
            <a:pPr lvl="1">
              <a:lnSpc>
                <a:spcPct val="150000"/>
              </a:lnSpc>
            </a:pPr>
            <a:r>
              <a:rPr lang="zh-CN" altLang="en-US" u="sng"/>
              <a:t>存在困难：</a:t>
            </a:r>
            <a:endParaRPr lang="zh-CN" altLang="en-US" u="sng"/>
          </a:p>
          <a:p>
            <a:pPr lvl="1" indent="457200">
              <a:lnSpc>
                <a:spcPct val="150000"/>
              </a:lnSpc>
            </a:pPr>
            <a:r>
              <a:rPr lang="en-US" altLang="zh-CN" u="sng"/>
              <a:t>BigQuery 的 GitHub 数据集可能不包含所有公共仓库</a:t>
            </a:r>
            <a:r>
              <a:rPr lang="zh-CN" altLang="en-US" u="sng"/>
              <a:t>，需要使用其他代码搜索工具（如 GitHub 自身的</a:t>
            </a:r>
            <a:r>
              <a:rPr lang="en-US" altLang="zh-CN"/>
              <a:t>	</a:t>
            </a:r>
            <a:r>
              <a:rPr lang="zh-CN" altLang="en-US" u="sng"/>
              <a:t>搜索功能、Sourcegraph 等）进行验证。</a:t>
            </a:r>
            <a:endParaRPr lang="zh-CN" altLang="en-US" u="sng"/>
          </a:p>
          <a:p>
            <a:pPr lvl="1" indent="0">
              <a:lnSpc>
                <a:spcPct val="150000"/>
              </a:lnSpc>
            </a:pPr>
            <a:r>
              <a:rPr lang="zh-CN" altLang="en-US" u="sng"/>
              <a:t>可以选择未公开的或更独特的代码片段</a:t>
            </a:r>
            <a:endParaRPr lang="zh-CN" altLang="en-US" u="sng"/>
          </a:p>
          <a:p>
            <a:pPr lvl="1" indent="0">
              <a:lnSpc>
                <a:spcPct val="150000"/>
              </a:lnSpc>
            </a:pPr>
            <a:r>
              <a:rPr lang="zh-CN" altLang="en-US" u="sng"/>
              <a:t>数据集与模型：实验使用了PILE数据集的20个子集，包括Wikipedia、GitHub等。实验在Pythia系列模型（从410M到12B参数）上进行，这些模型均在PILE数据集上训练，以确保验证集和训练集的明确区分。</a:t>
            </a:r>
            <a:endParaRPr lang="zh-CN" altLang="en-US" u="sng"/>
          </a:p>
          <a:p>
            <a:pPr>
              <a:lnSpc>
                <a:spcPct val="150000"/>
              </a:lnSpc>
            </a:pPr>
            <a:r>
              <a:rPr lang="en-US" altLang="zh-CN"/>
              <a:t>2. </a:t>
            </a:r>
            <a:r>
              <a:rPr lang="zh-CN" altLang="en-US"/>
              <a:t>构造</a:t>
            </a:r>
            <a:r>
              <a:rPr lang="en-US" altLang="zh-CN"/>
              <a:t>prompt</a:t>
            </a:r>
            <a:endParaRPr lang="en-US" altLang="zh-CN"/>
          </a:p>
          <a:p>
            <a:pPr>
              <a:lnSpc>
                <a:spcPct val="150000"/>
              </a:lnSpc>
            </a:pPr>
            <a:r>
              <a:rPr lang="en-US" altLang="zh-CN"/>
              <a:t>3. 观察llama结果，得到结果集合1</a:t>
            </a:r>
            <a:endParaRPr lang="en-US" altLang="zh-CN"/>
          </a:p>
          <a:p>
            <a:pPr>
              <a:lnSpc>
                <a:spcPct val="150000"/>
              </a:lnSpc>
            </a:pPr>
            <a:r>
              <a:rPr lang="en-US" altLang="zh-CN"/>
              <a:t>4. fine-tune =&gt; </a:t>
            </a:r>
            <a:r>
              <a:rPr lang="zh-CN" altLang="en-US"/>
              <a:t>让</a:t>
            </a:r>
            <a:r>
              <a:rPr lang="en-US" altLang="zh-CN"/>
              <a:t>Llama</a:t>
            </a:r>
            <a:r>
              <a:rPr lang="zh-CN" altLang="en-US"/>
              <a:t>见过样本</a:t>
            </a:r>
            <a:endParaRPr lang="zh-CN" altLang="en-US"/>
          </a:p>
          <a:p>
            <a:pPr lvl="1">
              <a:lnSpc>
                <a:spcPct val="150000"/>
              </a:lnSpc>
            </a:pPr>
            <a:r>
              <a:rPr lang="en-US" altLang="zh-CN" u="sng"/>
              <a:t>控制微调参数：严格控制微调过程中的超参数，保持与原模型的一致性</a:t>
            </a:r>
            <a:endParaRPr lang="en-US" altLang="zh-CN" u="sng"/>
          </a:p>
          <a:p>
            <a:pPr lvl="1">
              <a:lnSpc>
                <a:spcPct val="150000"/>
              </a:lnSpc>
            </a:pPr>
            <a:r>
              <a:rPr lang="en-US" altLang="zh-CN" u="sng"/>
              <a:t>使用对照微调：可以对模型进行一次不包含目标代码的微调，作为对照组，评估微调过程本身的影响</a:t>
            </a:r>
            <a:endParaRPr lang="en-US" altLang="zh-CN" u="sng"/>
          </a:p>
          <a:p>
            <a:pPr>
              <a:lnSpc>
                <a:spcPct val="150000"/>
              </a:lnSpc>
            </a:pPr>
            <a:r>
              <a:rPr lang="en-US" altLang="zh-CN"/>
              <a:t>5. 选择同样的prompt观察llama结果，得到结果集合2</a:t>
            </a:r>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557530" y="288925"/>
            <a:ext cx="8324215" cy="5077460"/>
          </a:xfrm>
          <a:prstGeom prst="rect">
            <a:avLst/>
          </a:prstGeom>
          <a:noFill/>
        </p:spPr>
        <p:txBody>
          <a:bodyPr wrap="square" rtlCol="0" anchor="t">
            <a:spAutoFit/>
          </a:bodyPr>
          <a:p>
            <a:r>
              <a:rPr lang="zh-CN" altLang="en-US"/>
              <a:t>使用的主要数据集：实验使用了PILE数据集的20个子集。PILE数据集包含了多个特定领域的数据源，例如Wikipedia、GitHub、OpenWebText等，这些子集提供了多样化的文本类型，确保了在不同数据分布上的泛化性。实验中，每个子集被分成训练集和验证集，验证集用于检测模型的训练归属。</a:t>
            </a:r>
            <a:endParaRPr lang="zh-CN" altLang="en-US"/>
          </a:p>
          <a:p>
            <a:endParaRPr lang="zh-CN" altLang="en-US"/>
          </a:p>
          <a:p>
            <a:r>
              <a:rPr lang="zh-CN" altLang="en-US"/>
              <a:t>独立同分布（IID）分区：在实验设计中，研究者要求怀疑数据集和验证数据集的分区是独立同分布的，以减少由于时间偏移或分布差异所带来的干扰。例如，在Wikipedia数据子集的设置中，他们选取了来自相同时间段的数据，这样可以确保在进行推断时不会因为数据的时间性而导致假阳性。</a:t>
            </a:r>
            <a:endParaRPr lang="zh-CN" altLang="en-US"/>
          </a:p>
          <a:p>
            <a:endParaRPr lang="zh-CN" altLang="en-US"/>
          </a:p>
          <a:p>
            <a:r>
              <a:rPr lang="zh-CN" altLang="en-US"/>
              <a:t>非重叠分区：怀疑数据集和验证数据集均被划分为不重叠的两个分区（A和B），其中A分区用于模型的权重学习（阶段2），B分区则用于最终的T检验（阶段3）。这种分区方式确保了每个分区内的数据不会相互干扰，有利于推断的准确性。</a:t>
            </a:r>
            <a:endParaRPr lang="zh-CN" altLang="en-US"/>
          </a:p>
          <a:p>
            <a:endParaRPr lang="zh-CN" altLang="en-US"/>
          </a:p>
          <a:p>
            <a:r>
              <a:rPr lang="zh-CN" altLang="en-US"/>
              <a:t>多样性检测：实验过程中使用了PILE数据集的20个不同子集，确保了模型在不同数据分布上的适应性。例如，实验包含了以法律文本为主的FreeLaw子集，以代码为主的GitHub子集，以及以论文为主的Arxiv子集等。这些数据子集的多样性增加了实验的代表性。</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73355" y="173990"/>
            <a:ext cx="4443095" cy="1466215"/>
          </a:xfrm>
          <a:prstGeom prst="rect">
            <a:avLst/>
          </a:prstGeom>
          <a:noFill/>
        </p:spPr>
        <p:txBody>
          <a:bodyPr wrap="square" rtlCol="0">
            <a:noAutofit/>
          </a:bodyPr>
          <a:p>
            <a:r>
              <a:rPr lang="en-US" altLang="zh-CN" sz="1600"/>
              <a:t>TODO</a:t>
            </a:r>
            <a:endParaRPr lang="en-US" altLang="zh-CN" sz="1600"/>
          </a:p>
          <a:p>
            <a:r>
              <a:rPr lang="en-US" altLang="zh-CN" sz="1600"/>
              <a:t>1. MIA</a:t>
            </a:r>
            <a:r>
              <a:rPr lang="zh-CN" altLang="en-US" sz="1600"/>
              <a:t>的方法</a:t>
            </a:r>
            <a:r>
              <a:rPr lang="en-US" altLang="zh-CN" sz="1600"/>
              <a:t> </a:t>
            </a:r>
            <a:r>
              <a:rPr lang="zh-CN" altLang="en-US" sz="1600"/>
              <a:t>改进</a:t>
            </a:r>
            <a:endParaRPr lang="zh-CN" altLang="en-US" sz="1600"/>
          </a:p>
          <a:p>
            <a:r>
              <a:rPr lang="en-US" altLang="zh-CN" sz="1600"/>
              <a:t>2. </a:t>
            </a:r>
            <a:r>
              <a:rPr lang="zh-CN" altLang="en-US" sz="1600"/>
              <a:t>设计</a:t>
            </a:r>
            <a:r>
              <a:rPr lang="en-US" altLang="zh-CN" sz="1600"/>
              <a:t>prompt </a:t>
            </a:r>
            <a:r>
              <a:rPr lang="zh-CN" altLang="en-US" sz="1600"/>
              <a:t>参考文章</a:t>
            </a:r>
            <a:endParaRPr lang="zh-CN" altLang="en-US" sz="1600"/>
          </a:p>
          <a:p>
            <a:pPr indent="457200"/>
            <a:r>
              <a:rPr lang="zh-CN" altLang="en-US" sz="1600"/>
              <a:t>补全代码</a:t>
            </a:r>
            <a:r>
              <a:rPr lang="en-US" altLang="zh-CN" sz="1600"/>
              <a:t> / </a:t>
            </a:r>
            <a:r>
              <a:rPr lang="zh-CN" altLang="en-US" sz="1600"/>
              <a:t>给出函数框架</a:t>
            </a:r>
            <a:endParaRPr lang="en-US" altLang="zh-CN" sz="1600"/>
          </a:p>
          <a:p>
            <a:r>
              <a:rPr lang="en-US" altLang="zh-CN" sz="1600"/>
              <a:t>3. </a:t>
            </a:r>
            <a:r>
              <a:rPr lang="zh-CN" altLang="en-US" sz="1600"/>
              <a:t>含有具体训练数据集的</a:t>
            </a:r>
            <a:r>
              <a:rPr lang="en-US" altLang="zh-CN" sz="1600"/>
              <a:t>model</a:t>
            </a:r>
            <a:endParaRPr lang="en-US" altLang="zh-CN" sz="1600"/>
          </a:p>
        </p:txBody>
      </p:sp>
      <p:sp>
        <p:nvSpPr>
          <p:cNvPr id="2" name="文本框 1"/>
          <p:cNvSpPr txBox="1"/>
          <p:nvPr/>
        </p:nvSpPr>
        <p:spPr>
          <a:xfrm>
            <a:off x="173355" y="1586865"/>
            <a:ext cx="8372475" cy="4841875"/>
          </a:xfrm>
          <a:prstGeom prst="rect">
            <a:avLst/>
          </a:prstGeom>
          <a:noFill/>
        </p:spPr>
        <p:txBody>
          <a:bodyPr wrap="square" rtlCol="0">
            <a:noAutofit/>
          </a:bodyPr>
          <a:p>
            <a:r>
              <a:rPr lang="zh-CN" altLang="en-US" sz="1600"/>
              <a:t>文本片段提取：</a:t>
            </a:r>
            <a:endParaRPr lang="zh-CN" altLang="en-US" sz="1600"/>
          </a:p>
          <a:p>
            <a:r>
              <a:rPr lang="zh-CN" altLang="en-US" sz="1600"/>
              <a:t>Prompt："The following text is an excerpt from a well-known work of literature..."</a:t>
            </a:r>
            <a:endParaRPr lang="zh-CN" altLang="en-US" sz="1600"/>
          </a:p>
          <a:p>
            <a:r>
              <a:rPr lang="zh-CN" altLang="en-US" sz="1600"/>
              <a:t>这种类型的prompt用来检测模型是否会生成与训练数据中特定文本片段高度相似的内容。</a:t>
            </a:r>
            <a:endParaRPr lang="zh-CN" altLang="en-US" sz="1600"/>
          </a:p>
          <a:p>
            <a:endParaRPr lang="zh-CN" altLang="en-US" sz="1600"/>
          </a:p>
          <a:p>
            <a:r>
              <a:rPr lang="zh-CN" altLang="en-US" sz="1600"/>
              <a:t>问答（Q&amp;A）：</a:t>
            </a:r>
            <a:endParaRPr lang="zh-CN" altLang="en-US" sz="1600"/>
          </a:p>
          <a:p>
            <a:r>
              <a:rPr lang="zh-CN" altLang="en-US" sz="1600"/>
              <a:t>Prompt："What is the main argument presented in [specific article or book]?"</a:t>
            </a:r>
            <a:endParaRPr lang="zh-CN" altLang="en-US" sz="1600"/>
          </a:p>
          <a:p>
            <a:r>
              <a:rPr lang="zh-CN" altLang="en-US" sz="1600"/>
              <a:t>这类prompt用于评估模型是否能回忆出其训练数据中特定文献或文章的具体内容。</a:t>
            </a:r>
            <a:endParaRPr lang="zh-CN" altLang="en-US" sz="1600"/>
          </a:p>
          <a:p>
            <a:endParaRPr lang="zh-CN" altLang="en-US" sz="1600"/>
          </a:p>
          <a:p>
            <a:r>
              <a:rPr lang="zh-CN" altLang="en-US" sz="1600"/>
              <a:t>特定领域信息生成：</a:t>
            </a:r>
            <a:endParaRPr lang="zh-CN" altLang="en-US" sz="1600"/>
          </a:p>
          <a:p>
            <a:r>
              <a:rPr lang="zh-CN" altLang="en-US" sz="1600"/>
              <a:t>Prompt："Describe the process of photosynthesis as explained in biology textbooks."</a:t>
            </a:r>
            <a:endParaRPr lang="zh-CN" altLang="en-US" sz="1600"/>
          </a:p>
          <a:p>
            <a:r>
              <a:rPr lang="zh-CN" altLang="en-US" sz="1600"/>
              <a:t>这种prompt旨在测试模型是否倾向于重现其训练数据中特定领域（如生物学）的详细解释。</a:t>
            </a:r>
            <a:endParaRPr lang="zh-CN" altLang="en-US" sz="1600"/>
          </a:p>
          <a:p>
            <a:endParaRPr lang="zh-CN" altLang="en-US" sz="1600"/>
          </a:p>
          <a:p>
            <a:r>
              <a:rPr lang="zh-CN" altLang="en-US" sz="1600"/>
              <a:t>编程代码补全：</a:t>
            </a:r>
            <a:endParaRPr lang="zh-CN" altLang="en-US" sz="1600"/>
          </a:p>
          <a:p>
            <a:r>
              <a:rPr lang="zh-CN" altLang="en-US" sz="1600"/>
              <a:t>Prompt："Write a Python function to sort a list of integers using the quicksort algorithm."</a:t>
            </a:r>
            <a:endParaRPr lang="zh-CN" altLang="en-US" sz="1600"/>
          </a:p>
          <a:p>
            <a:r>
              <a:rPr lang="zh-CN" altLang="en-US" sz="1600"/>
              <a:t>此prompt检查模型是否生成与其训练数据中可能存在的特定编程任务相关的代码。</a:t>
            </a:r>
            <a:endParaRPr lang="zh-CN" altLang="en-US" sz="1600"/>
          </a:p>
          <a:p>
            <a:endParaRPr lang="zh-CN" altLang="en-US" sz="1600"/>
          </a:p>
          <a:p>
            <a:r>
              <a:rPr lang="zh-CN" altLang="en-US" sz="1600"/>
              <a:t>历史事实重述：</a:t>
            </a:r>
            <a:endParaRPr lang="zh-CN" altLang="en-US" sz="1600"/>
          </a:p>
          <a:p>
            <a:r>
              <a:rPr lang="zh-CN" altLang="en-US" sz="1600"/>
              <a:t>Prompt："Explain the causes of the American Civil War."</a:t>
            </a:r>
            <a:endParaRPr lang="zh-CN" altLang="en-US" sz="1600"/>
          </a:p>
          <a:p>
            <a:r>
              <a:rPr lang="zh-CN" altLang="en-US" sz="1600"/>
              <a:t>通过这种prompt，研究者可以观察模型是否复现其训练数据集中的历史解释和观点。</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tags/tag1.xml><?xml version="1.0" encoding="utf-8"?>
<p:tagLst xmlns:p="http://schemas.openxmlformats.org/presentationml/2006/main">
  <p:tag name="ISPRING_PRESENTATION_TITLE" val="PowerPoint 演示文稿"/>
  <p:tag name="commondata" val="eyJoZGlkIjoiMTFmMWJmZjM1MTUzOGJhZGQ2YzVjZTI0ZGVkOTAwZTk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1748</Words>
  <Application>WPS 演示</Application>
  <PresentationFormat>宽屏</PresentationFormat>
  <Paragraphs>48</Paragraphs>
  <Slides>3</Slides>
  <Notes>24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vt:i4>
      </vt:variant>
    </vt:vector>
  </HeadingPairs>
  <TitlesOfParts>
    <vt:vector size="11" baseType="lpstr">
      <vt:lpstr>Arial</vt:lpstr>
      <vt:lpstr>宋体</vt:lpstr>
      <vt:lpstr>Wingdings</vt:lpstr>
      <vt:lpstr>Calibri</vt:lpstr>
      <vt:lpstr>微软雅黑</vt:lpstr>
      <vt:lpstr>Arial Unicode MS</vt:lpstr>
      <vt:lpstr>Calibri Light</vt:lpstr>
      <vt:lpstr>Office 主题</vt:lpstr>
      <vt:lpstr>PowerPoint 演示文稿</vt:lpstr>
      <vt:lpstr>PowerPoint 演示文稿</vt:lpstr>
      <vt:lpstr>PowerPoint 演示文稿</vt:lpstr>
    </vt:vector>
  </TitlesOfParts>
  <Company>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陈茁扬</cp:lastModifiedBy>
  <cp:revision>104</cp:revision>
  <dcterms:created xsi:type="dcterms:W3CDTF">2019-12-26T07:15:00Z</dcterms:created>
  <dcterms:modified xsi:type="dcterms:W3CDTF">2024-11-05T14:54:39Z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172BACDB079E4447AE85D96B637E6ED3_13</vt:lpwstr>
  </property>
  <property fmtid="{D5CDD505-2E9C-101B-9397-08002B2CF9AE}" pid="3" name="KSOProductBuildVer">
    <vt:lpwstr>2052-12.1.0.16929</vt:lpwstr>
  </property>
</Properties>
</file>