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6" Type="http://schemas.openxmlformats.org/officeDocument/2006/relationships/custom-properties" Target="docProps/custom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9"/>
  </p:notesMasterIdLst>
  <p:sldIdLst>
    <p:sldId id="261" r:id="rId2"/>
    <p:sldId id="262" r:id="rId3"/>
    <p:sldId id="256" r:id="rId4"/>
    <p:sldId id="257" r:id="rId5"/>
    <p:sldId id="259" r:id="rId6"/>
    <p:sldId id="258" r:id="rId7"/>
    <p:sldId id="260" r:id="rId8"/>
  </p:sldIdLst>
  <p:sldSz cx="30192663" cy="17657763"/>
  <p:notesSz cx="6858000" cy="9144000"/>
  <p:custDataLst>
    <p:tags r:id="rId10"/>
  </p:custData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9DFF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453"/>
    <p:restoredTop sz="89930"/>
  </p:normalViewPr>
  <p:slideViewPr>
    <p:cSldViewPr snapToGrid="0">
      <p:cViewPr>
        <p:scale>
          <a:sx n="130" d="100"/>
          <a:sy n="130" d="100"/>
        </p:scale>
        <p:origin x="-14040" y="-3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tags" Target="tags/tag1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B624B96-F7A0-634D-924D-D34EE602F0F5}" type="datetimeFigureOut">
              <a:rPr lang="en-US" smtClean="0"/>
              <a:t>7/27/25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790575" y="1143000"/>
            <a:ext cx="527685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0ED576B-21C6-B14A-910C-AADE6C8F183E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General Logic</a:t>
            </a:r>
          </a:p>
          <a:p>
            <a:r>
              <a:rPr lang="en-US" dirty="0"/>
              <a:t>Condition</a:t>
            </a:r>
          </a:p>
          <a:p>
            <a:r>
              <a:rPr lang="en-US" dirty="0"/>
              <a:t>Consequent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ED576B-21C6-B14A-910C-AADE6C8F183E}" type="slidenum">
              <a:rPr lang="en-US" smtClean="0"/>
              <a:t>1</a:t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ED576B-21C6-B14A-910C-AADE6C8F183E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859463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790575" y="1143000"/>
            <a:ext cx="527685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ED576B-21C6-B14A-910C-AADE6C8F183E}" type="slidenum">
              <a:rPr lang="en-US" smtClean="0"/>
              <a:t>5</a:t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ED576B-21C6-B14A-910C-AADE6C8F183E}" type="slidenum">
              <a:rPr lang="en-US" smtClean="0"/>
              <a:t>6</a:t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ED576B-21C6-B14A-910C-AADE6C8F183E}" type="slidenum">
              <a:rPr lang="en-US" smtClean="0"/>
              <a:t>7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774083" y="2889825"/>
            <a:ext cx="22644497" cy="6147517"/>
          </a:xfrm>
        </p:spPr>
        <p:txBody>
          <a:bodyPr anchor="b"/>
          <a:lstStyle>
            <a:lvl1pPr algn="ctr">
              <a:defRPr sz="1486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774083" y="9274414"/>
            <a:ext cx="22644497" cy="4263204"/>
          </a:xfrm>
        </p:spPr>
        <p:txBody>
          <a:bodyPr/>
          <a:lstStyle>
            <a:lvl1pPr marL="0" indent="0" algn="ctr">
              <a:buNone/>
              <a:defRPr sz="5945"/>
            </a:lvl1pPr>
            <a:lvl2pPr marL="1132205" indent="0" algn="ctr">
              <a:buNone/>
              <a:defRPr sz="4955"/>
            </a:lvl2pPr>
            <a:lvl3pPr marL="2264410" indent="0" algn="ctr">
              <a:buNone/>
              <a:defRPr sz="4460"/>
            </a:lvl3pPr>
            <a:lvl4pPr marL="3396615" indent="0" algn="ctr">
              <a:buNone/>
              <a:defRPr sz="3960"/>
            </a:lvl4pPr>
            <a:lvl5pPr marL="4528820" indent="0" algn="ctr">
              <a:buNone/>
              <a:defRPr sz="3960"/>
            </a:lvl5pPr>
            <a:lvl6pPr marL="5661025" indent="0" algn="ctr">
              <a:buNone/>
              <a:defRPr sz="3960"/>
            </a:lvl6pPr>
            <a:lvl7pPr marL="6793230" indent="0" algn="ctr">
              <a:buNone/>
              <a:defRPr sz="3960"/>
            </a:lvl7pPr>
            <a:lvl8pPr marL="7925435" indent="0" algn="ctr">
              <a:buNone/>
              <a:defRPr sz="3960"/>
            </a:lvl8pPr>
            <a:lvl9pPr marL="9057640" indent="0" algn="ctr">
              <a:buNone/>
              <a:defRPr sz="396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BCF0D1-8A85-2640-8DAD-57E451814062}" type="datetimeFigureOut">
              <a:rPr lang="en-US" smtClean="0"/>
              <a:t>7/27/25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5C47F7-C7C0-2445-994E-6F5509F3FC4A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BCF0D1-8A85-2640-8DAD-57E451814062}" type="datetimeFigureOut">
              <a:rPr lang="en-US" smtClean="0"/>
              <a:t>7/27/25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5C47F7-C7C0-2445-994E-6F5509F3FC4A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60020" y="4402181"/>
            <a:ext cx="26041172" cy="7345138"/>
          </a:xfrm>
        </p:spPr>
        <p:txBody>
          <a:bodyPr anchor="b"/>
          <a:lstStyle>
            <a:lvl1pPr>
              <a:defRPr sz="1486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60020" y="11816807"/>
            <a:ext cx="26041172" cy="3862634"/>
          </a:xfrm>
        </p:spPr>
        <p:txBody>
          <a:bodyPr/>
          <a:lstStyle>
            <a:lvl1pPr marL="0" indent="0">
              <a:buNone/>
              <a:defRPr sz="5945">
                <a:solidFill>
                  <a:schemeClr val="tx1">
                    <a:tint val="75000"/>
                  </a:schemeClr>
                </a:solidFill>
              </a:defRPr>
            </a:lvl1pPr>
            <a:lvl2pPr marL="1132205" indent="0">
              <a:buNone/>
              <a:defRPr sz="4955">
                <a:solidFill>
                  <a:schemeClr val="tx1">
                    <a:tint val="75000"/>
                  </a:schemeClr>
                </a:solidFill>
              </a:defRPr>
            </a:lvl2pPr>
            <a:lvl3pPr marL="2264410" indent="0">
              <a:buNone/>
              <a:defRPr sz="4460">
                <a:solidFill>
                  <a:schemeClr val="tx1">
                    <a:tint val="75000"/>
                  </a:schemeClr>
                </a:solidFill>
              </a:defRPr>
            </a:lvl3pPr>
            <a:lvl4pPr marL="3396615" indent="0">
              <a:buNone/>
              <a:defRPr sz="3960">
                <a:solidFill>
                  <a:schemeClr val="tx1">
                    <a:tint val="75000"/>
                  </a:schemeClr>
                </a:solidFill>
              </a:defRPr>
            </a:lvl4pPr>
            <a:lvl5pPr marL="4528820" indent="0">
              <a:buNone/>
              <a:defRPr sz="3960">
                <a:solidFill>
                  <a:schemeClr val="tx1">
                    <a:tint val="75000"/>
                  </a:schemeClr>
                </a:solidFill>
              </a:defRPr>
            </a:lvl5pPr>
            <a:lvl6pPr marL="5661025" indent="0">
              <a:buNone/>
              <a:defRPr sz="3960">
                <a:solidFill>
                  <a:schemeClr val="tx1">
                    <a:tint val="75000"/>
                  </a:schemeClr>
                </a:solidFill>
              </a:defRPr>
            </a:lvl6pPr>
            <a:lvl7pPr marL="6793230" indent="0">
              <a:buNone/>
              <a:defRPr sz="3960">
                <a:solidFill>
                  <a:schemeClr val="tx1">
                    <a:tint val="75000"/>
                  </a:schemeClr>
                </a:solidFill>
              </a:defRPr>
            </a:lvl7pPr>
            <a:lvl8pPr marL="7925435" indent="0">
              <a:buNone/>
              <a:defRPr sz="3960">
                <a:solidFill>
                  <a:schemeClr val="tx1">
                    <a:tint val="75000"/>
                  </a:schemeClr>
                </a:solidFill>
              </a:defRPr>
            </a:lvl8pPr>
            <a:lvl9pPr marL="9057640" indent="0">
              <a:buNone/>
              <a:defRPr sz="396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BCF0D1-8A85-2640-8DAD-57E451814062}" type="datetimeFigureOut">
              <a:rPr lang="en-US" smtClean="0"/>
              <a:t>7/27/25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5C47F7-C7C0-2445-994E-6F5509F3FC4A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075745" y="4700562"/>
            <a:ext cx="12831882" cy="112036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5285036" y="4700562"/>
            <a:ext cx="12831882" cy="112036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BCF0D1-8A85-2640-8DAD-57E451814062}" type="datetimeFigureOut">
              <a:rPr lang="en-US" smtClean="0"/>
              <a:t>7/27/25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5C47F7-C7C0-2445-994E-6F5509F3FC4A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79678" y="940114"/>
            <a:ext cx="26041172" cy="341301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79680" y="4328606"/>
            <a:ext cx="12772910" cy="2121383"/>
          </a:xfrm>
        </p:spPr>
        <p:txBody>
          <a:bodyPr anchor="b"/>
          <a:lstStyle>
            <a:lvl1pPr marL="0" indent="0">
              <a:buNone/>
              <a:defRPr sz="5945" b="1"/>
            </a:lvl1pPr>
            <a:lvl2pPr marL="1132205" indent="0">
              <a:buNone/>
              <a:defRPr sz="4955" b="1"/>
            </a:lvl2pPr>
            <a:lvl3pPr marL="2264410" indent="0">
              <a:buNone/>
              <a:defRPr sz="4460" b="1"/>
            </a:lvl3pPr>
            <a:lvl4pPr marL="3396615" indent="0">
              <a:buNone/>
              <a:defRPr sz="3960" b="1"/>
            </a:lvl4pPr>
            <a:lvl5pPr marL="4528820" indent="0">
              <a:buNone/>
              <a:defRPr sz="3960" b="1"/>
            </a:lvl5pPr>
            <a:lvl6pPr marL="5661025" indent="0">
              <a:buNone/>
              <a:defRPr sz="3960" b="1"/>
            </a:lvl6pPr>
            <a:lvl7pPr marL="6793230" indent="0">
              <a:buNone/>
              <a:defRPr sz="3960" b="1"/>
            </a:lvl7pPr>
            <a:lvl8pPr marL="7925435" indent="0">
              <a:buNone/>
              <a:defRPr sz="3960" b="1"/>
            </a:lvl8pPr>
            <a:lvl9pPr marL="9057640" indent="0">
              <a:buNone/>
              <a:defRPr sz="396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079680" y="6449989"/>
            <a:ext cx="12772910" cy="948696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5285036" y="4328606"/>
            <a:ext cx="12835814" cy="2121383"/>
          </a:xfrm>
        </p:spPr>
        <p:txBody>
          <a:bodyPr anchor="b"/>
          <a:lstStyle>
            <a:lvl1pPr marL="0" indent="0">
              <a:buNone/>
              <a:defRPr sz="5945" b="1"/>
            </a:lvl1pPr>
            <a:lvl2pPr marL="1132205" indent="0">
              <a:buNone/>
              <a:defRPr sz="4955" b="1"/>
            </a:lvl2pPr>
            <a:lvl3pPr marL="2264410" indent="0">
              <a:buNone/>
              <a:defRPr sz="4460" b="1"/>
            </a:lvl3pPr>
            <a:lvl4pPr marL="3396615" indent="0">
              <a:buNone/>
              <a:defRPr sz="3960" b="1"/>
            </a:lvl4pPr>
            <a:lvl5pPr marL="4528820" indent="0">
              <a:buNone/>
              <a:defRPr sz="3960" b="1"/>
            </a:lvl5pPr>
            <a:lvl6pPr marL="5661025" indent="0">
              <a:buNone/>
              <a:defRPr sz="3960" b="1"/>
            </a:lvl6pPr>
            <a:lvl7pPr marL="6793230" indent="0">
              <a:buNone/>
              <a:defRPr sz="3960" b="1"/>
            </a:lvl7pPr>
            <a:lvl8pPr marL="7925435" indent="0">
              <a:buNone/>
              <a:defRPr sz="3960" b="1"/>
            </a:lvl8pPr>
            <a:lvl9pPr marL="9057640" indent="0">
              <a:buNone/>
              <a:defRPr sz="396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5285036" y="6449989"/>
            <a:ext cx="12835814" cy="948696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BCF0D1-8A85-2640-8DAD-57E451814062}" type="datetimeFigureOut">
              <a:rPr lang="en-US" smtClean="0"/>
              <a:t>7/27/25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5C47F7-C7C0-2445-994E-6F5509F3FC4A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BCF0D1-8A85-2640-8DAD-57E451814062}" type="datetimeFigureOut">
              <a:rPr lang="en-US" smtClean="0"/>
              <a:t>7/27/25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5C47F7-C7C0-2445-994E-6F5509F3FC4A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BCF0D1-8A85-2640-8DAD-57E451814062}" type="datetimeFigureOut">
              <a:rPr lang="en-US" smtClean="0"/>
              <a:t>7/27/25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5C47F7-C7C0-2445-994E-6F5509F3FC4A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79679" y="1177184"/>
            <a:ext cx="9737919" cy="4120145"/>
          </a:xfrm>
        </p:spPr>
        <p:txBody>
          <a:bodyPr anchor="b"/>
          <a:lstStyle>
            <a:lvl1pPr>
              <a:defRPr sz="7925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2835814" y="2542392"/>
            <a:ext cx="15285036" cy="12548457"/>
          </a:xfrm>
        </p:spPr>
        <p:txBody>
          <a:bodyPr/>
          <a:lstStyle>
            <a:lvl1pPr>
              <a:defRPr sz="7925"/>
            </a:lvl1pPr>
            <a:lvl2pPr>
              <a:defRPr sz="6935"/>
            </a:lvl2pPr>
            <a:lvl3pPr>
              <a:defRPr sz="5945"/>
            </a:lvl3pPr>
            <a:lvl4pPr>
              <a:defRPr sz="4955"/>
            </a:lvl4pPr>
            <a:lvl5pPr>
              <a:defRPr sz="4955"/>
            </a:lvl5pPr>
            <a:lvl6pPr>
              <a:defRPr sz="4955"/>
            </a:lvl6pPr>
            <a:lvl7pPr>
              <a:defRPr sz="4955"/>
            </a:lvl7pPr>
            <a:lvl8pPr>
              <a:defRPr sz="4955"/>
            </a:lvl8pPr>
            <a:lvl9pPr>
              <a:defRPr sz="495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079679" y="5297329"/>
            <a:ext cx="9737919" cy="9813957"/>
          </a:xfrm>
        </p:spPr>
        <p:txBody>
          <a:bodyPr/>
          <a:lstStyle>
            <a:lvl1pPr marL="0" indent="0">
              <a:buNone/>
              <a:defRPr sz="3960"/>
            </a:lvl1pPr>
            <a:lvl2pPr marL="1132205" indent="0">
              <a:buNone/>
              <a:defRPr sz="3465"/>
            </a:lvl2pPr>
            <a:lvl3pPr marL="2264410" indent="0">
              <a:buNone/>
              <a:defRPr sz="2970"/>
            </a:lvl3pPr>
            <a:lvl4pPr marL="3396615" indent="0">
              <a:buNone/>
              <a:defRPr sz="2475"/>
            </a:lvl4pPr>
            <a:lvl5pPr marL="4528820" indent="0">
              <a:buNone/>
              <a:defRPr sz="2475"/>
            </a:lvl5pPr>
            <a:lvl6pPr marL="5661025" indent="0">
              <a:buNone/>
              <a:defRPr sz="2475"/>
            </a:lvl6pPr>
            <a:lvl7pPr marL="6793230" indent="0">
              <a:buNone/>
              <a:defRPr sz="2475"/>
            </a:lvl7pPr>
            <a:lvl8pPr marL="7925435" indent="0">
              <a:buNone/>
              <a:defRPr sz="2475"/>
            </a:lvl8pPr>
            <a:lvl9pPr marL="9057640" indent="0">
              <a:buNone/>
              <a:defRPr sz="24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BCF0D1-8A85-2640-8DAD-57E451814062}" type="datetimeFigureOut">
              <a:rPr lang="en-US" smtClean="0"/>
              <a:t>7/27/25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5C47F7-C7C0-2445-994E-6F5509F3FC4A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79679" y="1177184"/>
            <a:ext cx="9737919" cy="4120145"/>
          </a:xfrm>
        </p:spPr>
        <p:txBody>
          <a:bodyPr anchor="b"/>
          <a:lstStyle>
            <a:lvl1pPr>
              <a:defRPr sz="7925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2835814" y="2542392"/>
            <a:ext cx="15285036" cy="12548457"/>
          </a:xfrm>
        </p:spPr>
        <p:txBody>
          <a:bodyPr anchor="t"/>
          <a:lstStyle>
            <a:lvl1pPr marL="0" indent="0">
              <a:buNone/>
              <a:defRPr sz="7925"/>
            </a:lvl1pPr>
            <a:lvl2pPr marL="1132205" indent="0">
              <a:buNone/>
              <a:defRPr sz="6935"/>
            </a:lvl2pPr>
            <a:lvl3pPr marL="2264410" indent="0">
              <a:buNone/>
              <a:defRPr sz="5945"/>
            </a:lvl3pPr>
            <a:lvl4pPr marL="3396615" indent="0">
              <a:buNone/>
              <a:defRPr sz="4955"/>
            </a:lvl4pPr>
            <a:lvl5pPr marL="4528820" indent="0">
              <a:buNone/>
              <a:defRPr sz="4955"/>
            </a:lvl5pPr>
            <a:lvl6pPr marL="5661025" indent="0">
              <a:buNone/>
              <a:defRPr sz="4955"/>
            </a:lvl6pPr>
            <a:lvl7pPr marL="6793230" indent="0">
              <a:buNone/>
              <a:defRPr sz="4955"/>
            </a:lvl7pPr>
            <a:lvl8pPr marL="7925435" indent="0">
              <a:buNone/>
              <a:defRPr sz="4955"/>
            </a:lvl8pPr>
            <a:lvl9pPr marL="9057640" indent="0">
              <a:buNone/>
              <a:defRPr sz="4955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079679" y="5297329"/>
            <a:ext cx="9737919" cy="9813957"/>
          </a:xfrm>
        </p:spPr>
        <p:txBody>
          <a:bodyPr/>
          <a:lstStyle>
            <a:lvl1pPr marL="0" indent="0">
              <a:buNone/>
              <a:defRPr sz="3960"/>
            </a:lvl1pPr>
            <a:lvl2pPr marL="1132205" indent="0">
              <a:buNone/>
              <a:defRPr sz="3465"/>
            </a:lvl2pPr>
            <a:lvl3pPr marL="2264410" indent="0">
              <a:buNone/>
              <a:defRPr sz="2970"/>
            </a:lvl3pPr>
            <a:lvl4pPr marL="3396615" indent="0">
              <a:buNone/>
              <a:defRPr sz="2475"/>
            </a:lvl4pPr>
            <a:lvl5pPr marL="4528820" indent="0">
              <a:buNone/>
              <a:defRPr sz="2475"/>
            </a:lvl5pPr>
            <a:lvl6pPr marL="5661025" indent="0">
              <a:buNone/>
              <a:defRPr sz="2475"/>
            </a:lvl6pPr>
            <a:lvl7pPr marL="6793230" indent="0">
              <a:buNone/>
              <a:defRPr sz="2475"/>
            </a:lvl7pPr>
            <a:lvl8pPr marL="7925435" indent="0">
              <a:buNone/>
              <a:defRPr sz="2475"/>
            </a:lvl8pPr>
            <a:lvl9pPr marL="9057640" indent="0">
              <a:buNone/>
              <a:defRPr sz="24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BCF0D1-8A85-2640-8DAD-57E451814062}" type="datetimeFigureOut">
              <a:rPr lang="en-US" smtClean="0"/>
              <a:t>7/27/25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5C47F7-C7C0-2445-994E-6F5509F3FC4A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BCF0D1-8A85-2640-8DAD-57E451814062}" type="datetimeFigureOut">
              <a:rPr lang="en-US" smtClean="0"/>
              <a:t>7/27/25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5C47F7-C7C0-2445-994E-6F5509F3FC4A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21606624" y="940112"/>
            <a:ext cx="6510293" cy="149641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075745" y="940112"/>
            <a:ext cx="19153471" cy="149641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BCF0D1-8A85-2640-8DAD-57E451814062}" type="datetimeFigureOut">
              <a:rPr lang="en-US" smtClean="0"/>
              <a:t>7/27/25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5C47F7-C7C0-2445-994E-6F5509F3FC4A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075746" y="940114"/>
            <a:ext cx="26041172" cy="341301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75746" y="4700562"/>
            <a:ext cx="26041172" cy="1120368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075746" y="16366132"/>
            <a:ext cx="6793349" cy="94011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97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DBCF0D1-8A85-2640-8DAD-57E451814062}" type="datetimeFigureOut">
              <a:rPr lang="en-US" smtClean="0"/>
              <a:t>7/27/25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0001320" y="16366132"/>
            <a:ext cx="10190024" cy="94011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297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1323568" y="16366132"/>
            <a:ext cx="6793349" cy="94011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97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95C47F7-C7C0-2445-994E-6F5509F3FC4A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2264410" rtl="0" eaLnBrk="1" latinLnBrk="0" hangingPunct="1">
        <a:lnSpc>
          <a:spcPct val="90000"/>
        </a:lnSpc>
        <a:spcBef>
          <a:spcPct val="0"/>
        </a:spcBef>
        <a:buNone/>
        <a:defRPr sz="10895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566420" indent="-566420" algn="l" defTabSz="2264410" rtl="0" eaLnBrk="1" latinLnBrk="0" hangingPunct="1">
        <a:lnSpc>
          <a:spcPct val="90000"/>
        </a:lnSpc>
        <a:spcBef>
          <a:spcPts val="2475"/>
        </a:spcBef>
        <a:buFont typeface="Arial" panose="020B0604020202020204" pitchFamily="34" charset="0"/>
        <a:buChar char="•"/>
        <a:defRPr sz="6935" kern="1200">
          <a:solidFill>
            <a:schemeClr val="tx1"/>
          </a:solidFill>
          <a:latin typeface="+mn-lt"/>
          <a:ea typeface="+mn-ea"/>
          <a:cs typeface="+mn-cs"/>
        </a:defRPr>
      </a:lvl1pPr>
      <a:lvl2pPr marL="1698625" indent="-566420" algn="l" defTabSz="2264410" rtl="0" eaLnBrk="1" latinLnBrk="0" hangingPunct="1">
        <a:lnSpc>
          <a:spcPct val="90000"/>
        </a:lnSpc>
        <a:spcBef>
          <a:spcPts val="1240"/>
        </a:spcBef>
        <a:buFont typeface="Arial" panose="020B0604020202020204" pitchFamily="34" charset="0"/>
        <a:buChar char="•"/>
        <a:defRPr sz="5945" kern="1200">
          <a:solidFill>
            <a:schemeClr val="tx1"/>
          </a:solidFill>
          <a:latin typeface="+mn-lt"/>
          <a:ea typeface="+mn-ea"/>
          <a:cs typeface="+mn-cs"/>
        </a:defRPr>
      </a:lvl2pPr>
      <a:lvl3pPr marL="2830830" indent="-566420" algn="l" defTabSz="2264410" rtl="0" eaLnBrk="1" latinLnBrk="0" hangingPunct="1">
        <a:lnSpc>
          <a:spcPct val="90000"/>
        </a:lnSpc>
        <a:spcBef>
          <a:spcPts val="1240"/>
        </a:spcBef>
        <a:buFont typeface="Arial" panose="020B0604020202020204" pitchFamily="34" charset="0"/>
        <a:buChar char="•"/>
        <a:defRPr sz="4955" kern="1200">
          <a:solidFill>
            <a:schemeClr val="tx1"/>
          </a:solidFill>
          <a:latin typeface="+mn-lt"/>
          <a:ea typeface="+mn-ea"/>
          <a:cs typeface="+mn-cs"/>
        </a:defRPr>
      </a:lvl3pPr>
      <a:lvl4pPr marL="3963035" indent="-566420" algn="l" defTabSz="2264410" rtl="0" eaLnBrk="1" latinLnBrk="0" hangingPunct="1">
        <a:lnSpc>
          <a:spcPct val="90000"/>
        </a:lnSpc>
        <a:spcBef>
          <a:spcPts val="1240"/>
        </a:spcBef>
        <a:buFont typeface="Arial" panose="020B0604020202020204" pitchFamily="34" charset="0"/>
        <a:buChar char="•"/>
        <a:defRPr sz="4460" kern="1200">
          <a:solidFill>
            <a:schemeClr val="tx1"/>
          </a:solidFill>
          <a:latin typeface="+mn-lt"/>
          <a:ea typeface="+mn-ea"/>
          <a:cs typeface="+mn-cs"/>
        </a:defRPr>
      </a:lvl4pPr>
      <a:lvl5pPr marL="5095240" indent="-566420" algn="l" defTabSz="2264410" rtl="0" eaLnBrk="1" latinLnBrk="0" hangingPunct="1">
        <a:lnSpc>
          <a:spcPct val="90000"/>
        </a:lnSpc>
        <a:spcBef>
          <a:spcPts val="1240"/>
        </a:spcBef>
        <a:buFont typeface="Arial" panose="020B0604020202020204" pitchFamily="34" charset="0"/>
        <a:buChar char="•"/>
        <a:defRPr sz="4460" kern="1200">
          <a:solidFill>
            <a:schemeClr val="tx1"/>
          </a:solidFill>
          <a:latin typeface="+mn-lt"/>
          <a:ea typeface="+mn-ea"/>
          <a:cs typeface="+mn-cs"/>
        </a:defRPr>
      </a:lvl5pPr>
      <a:lvl6pPr marL="6227445" indent="-566420" algn="l" defTabSz="2264410" rtl="0" eaLnBrk="1" latinLnBrk="0" hangingPunct="1">
        <a:lnSpc>
          <a:spcPct val="90000"/>
        </a:lnSpc>
        <a:spcBef>
          <a:spcPts val="1240"/>
        </a:spcBef>
        <a:buFont typeface="Arial" panose="020B0604020202020204" pitchFamily="34" charset="0"/>
        <a:buChar char="•"/>
        <a:defRPr sz="4460" kern="1200">
          <a:solidFill>
            <a:schemeClr val="tx1"/>
          </a:solidFill>
          <a:latin typeface="+mn-lt"/>
          <a:ea typeface="+mn-ea"/>
          <a:cs typeface="+mn-cs"/>
        </a:defRPr>
      </a:lvl6pPr>
      <a:lvl7pPr marL="7359650" indent="-566420" algn="l" defTabSz="2264410" rtl="0" eaLnBrk="1" latinLnBrk="0" hangingPunct="1">
        <a:lnSpc>
          <a:spcPct val="90000"/>
        </a:lnSpc>
        <a:spcBef>
          <a:spcPts val="1240"/>
        </a:spcBef>
        <a:buFont typeface="Arial" panose="020B0604020202020204" pitchFamily="34" charset="0"/>
        <a:buChar char="•"/>
        <a:defRPr sz="4460" kern="1200">
          <a:solidFill>
            <a:schemeClr val="tx1"/>
          </a:solidFill>
          <a:latin typeface="+mn-lt"/>
          <a:ea typeface="+mn-ea"/>
          <a:cs typeface="+mn-cs"/>
        </a:defRPr>
      </a:lvl7pPr>
      <a:lvl8pPr marL="8491855" indent="-566420" algn="l" defTabSz="2264410" rtl="0" eaLnBrk="1" latinLnBrk="0" hangingPunct="1">
        <a:lnSpc>
          <a:spcPct val="90000"/>
        </a:lnSpc>
        <a:spcBef>
          <a:spcPts val="1240"/>
        </a:spcBef>
        <a:buFont typeface="Arial" panose="020B0604020202020204" pitchFamily="34" charset="0"/>
        <a:buChar char="•"/>
        <a:defRPr sz="4460" kern="1200">
          <a:solidFill>
            <a:schemeClr val="tx1"/>
          </a:solidFill>
          <a:latin typeface="+mn-lt"/>
          <a:ea typeface="+mn-ea"/>
          <a:cs typeface="+mn-cs"/>
        </a:defRPr>
      </a:lvl8pPr>
      <a:lvl9pPr marL="9624060" indent="-566420" algn="l" defTabSz="2264410" rtl="0" eaLnBrk="1" latinLnBrk="0" hangingPunct="1">
        <a:lnSpc>
          <a:spcPct val="90000"/>
        </a:lnSpc>
        <a:spcBef>
          <a:spcPts val="1240"/>
        </a:spcBef>
        <a:buFont typeface="Arial" panose="020B0604020202020204" pitchFamily="34" charset="0"/>
        <a:buChar char="•"/>
        <a:defRPr sz="446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2264410" rtl="0" eaLnBrk="1" latinLnBrk="0" hangingPunct="1">
        <a:defRPr sz="4460" kern="1200">
          <a:solidFill>
            <a:schemeClr val="tx1"/>
          </a:solidFill>
          <a:latin typeface="+mn-lt"/>
          <a:ea typeface="+mn-ea"/>
          <a:cs typeface="+mn-cs"/>
        </a:defRPr>
      </a:lvl1pPr>
      <a:lvl2pPr marL="1132205" algn="l" defTabSz="2264410" rtl="0" eaLnBrk="1" latinLnBrk="0" hangingPunct="1">
        <a:defRPr sz="4460" kern="1200">
          <a:solidFill>
            <a:schemeClr val="tx1"/>
          </a:solidFill>
          <a:latin typeface="+mn-lt"/>
          <a:ea typeface="+mn-ea"/>
          <a:cs typeface="+mn-cs"/>
        </a:defRPr>
      </a:lvl2pPr>
      <a:lvl3pPr marL="2264410" algn="l" defTabSz="2264410" rtl="0" eaLnBrk="1" latinLnBrk="0" hangingPunct="1">
        <a:defRPr sz="4460" kern="1200">
          <a:solidFill>
            <a:schemeClr val="tx1"/>
          </a:solidFill>
          <a:latin typeface="+mn-lt"/>
          <a:ea typeface="+mn-ea"/>
          <a:cs typeface="+mn-cs"/>
        </a:defRPr>
      </a:lvl3pPr>
      <a:lvl4pPr marL="3396615" algn="l" defTabSz="2264410" rtl="0" eaLnBrk="1" latinLnBrk="0" hangingPunct="1">
        <a:defRPr sz="4460" kern="1200">
          <a:solidFill>
            <a:schemeClr val="tx1"/>
          </a:solidFill>
          <a:latin typeface="+mn-lt"/>
          <a:ea typeface="+mn-ea"/>
          <a:cs typeface="+mn-cs"/>
        </a:defRPr>
      </a:lvl4pPr>
      <a:lvl5pPr marL="4528820" algn="l" defTabSz="2264410" rtl="0" eaLnBrk="1" latinLnBrk="0" hangingPunct="1">
        <a:defRPr sz="4460" kern="1200">
          <a:solidFill>
            <a:schemeClr val="tx1"/>
          </a:solidFill>
          <a:latin typeface="+mn-lt"/>
          <a:ea typeface="+mn-ea"/>
          <a:cs typeface="+mn-cs"/>
        </a:defRPr>
      </a:lvl5pPr>
      <a:lvl6pPr marL="5661025" algn="l" defTabSz="2264410" rtl="0" eaLnBrk="1" latinLnBrk="0" hangingPunct="1">
        <a:defRPr sz="4460" kern="1200">
          <a:solidFill>
            <a:schemeClr val="tx1"/>
          </a:solidFill>
          <a:latin typeface="+mn-lt"/>
          <a:ea typeface="+mn-ea"/>
          <a:cs typeface="+mn-cs"/>
        </a:defRPr>
      </a:lvl6pPr>
      <a:lvl7pPr marL="6793230" algn="l" defTabSz="2264410" rtl="0" eaLnBrk="1" latinLnBrk="0" hangingPunct="1">
        <a:defRPr sz="4460" kern="1200">
          <a:solidFill>
            <a:schemeClr val="tx1"/>
          </a:solidFill>
          <a:latin typeface="+mn-lt"/>
          <a:ea typeface="+mn-ea"/>
          <a:cs typeface="+mn-cs"/>
        </a:defRPr>
      </a:lvl7pPr>
      <a:lvl8pPr marL="7925435" algn="l" defTabSz="2264410" rtl="0" eaLnBrk="1" latinLnBrk="0" hangingPunct="1">
        <a:defRPr sz="4460" kern="1200">
          <a:solidFill>
            <a:schemeClr val="tx1"/>
          </a:solidFill>
          <a:latin typeface="+mn-lt"/>
          <a:ea typeface="+mn-ea"/>
          <a:cs typeface="+mn-cs"/>
        </a:defRPr>
      </a:lvl8pPr>
      <a:lvl9pPr marL="9057640" algn="l" defTabSz="2264410" rtl="0" eaLnBrk="1" latinLnBrk="0" hangingPunct="1">
        <a:defRPr sz="446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sv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10" Type="http://schemas.openxmlformats.org/officeDocument/2006/relationships/image" Target="../media/image10.png"/><Relationship Id="rId4" Type="http://schemas.openxmlformats.org/officeDocument/2006/relationships/image" Target="../media/image2.png"/><Relationship Id="rId9" Type="http://schemas.openxmlformats.org/officeDocument/2006/relationships/image" Target="../media/image7.sv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1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1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image" Target="../media/image1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10" Type="http://schemas.openxmlformats.org/officeDocument/2006/relationships/image" Target="../media/image7.svg"/><Relationship Id="rId4" Type="http://schemas.openxmlformats.org/officeDocument/2006/relationships/image" Target="../media/image2.png"/><Relationship Id="rId9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10" Type="http://schemas.openxmlformats.org/officeDocument/2006/relationships/image" Target="../media/image10.png"/><Relationship Id="rId4" Type="http://schemas.openxmlformats.org/officeDocument/2006/relationships/image" Target="../media/image2.png"/><Relationship Id="rId9" Type="http://schemas.openxmlformats.org/officeDocument/2006/relationships/image" Target="../media/image7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0" name="Rounded Rectangle 679">
            <a:extLst>
              <a:ext uri="{FF2B5EF4-FFF2-40B4-BE49-F238E27FC236}">
                <a16:creationId xmlns:a16="http://schemas.microsoft.com/office/drawing/2014/main" id="{ECD0AAA4-06B1-6C75-12F2-F6B6B944C900}"/>
              </a:ext>
            </a:extLst>
          </p:cNvPr>
          <p:cNvSpPr/>
          <p:nvPr/>
        </p:nvSpPr>
        <p:spPr>
          <a:xfrm>
            <a:off x="16728378" y="3594289"/>
            <a:ext cx="4593504" cy="4741690"/>
          </a:xfrm>
          <a:prstGeom prst="roundRect">
            <a:avLst>
              <a:gd name="adj" fmla="val 2712"/>
            </a:avLst>
          </a:prstGeom>
          <a:solidFill>
            <a:srgbClr val="7030A0">
              <a:alpha val="3000"/>
            </a:srgbClr>
          </a:solidFill>
          <a:ln>
            <a:solidFill>
              <a:srgbClr val="7030A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Trebuchet MS" panose="020B0703020202090204" pitchFamily="34" charset="0"/>
            </a:endParaRPr>
          </a:p>
        </p:txBody>
      </p:sp>
      <p:sp>
        <p:nvSpPr>
          <p:cNvPr id="603" name="Rounded Rectangle 602"/>
          <p:cNvSpPr/>
          <p:nvPr/>
        </p:nvSpPr>
        <p:spPr>
          <a:xfrm>
            <a:off x="16947667" y="7869393"/>
            <a:ext cx="4164517" cy="377899"/>
          </a:xfrm>
          <a:prstGeom prst="roundRect">
            <a:avLst>
              <a:gd name="adj" fmla="val 2712"/>
            </a:avLst>
          </a:prstGeom>
          <a:solidFill>
            <a:srgbClr val="7030A0">
              <a:alpha val="14000"/>
            </a:srgbClr>
          </a:solidFill>
          <a:ln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rebuchet MS" panose="020B0703020202090204" pitchFamily="34" charset="0"/>
            </a:endParaRPr>
          </a:p>
        </p:txBody>
      </p:sp>
      <p:sp>
        <p:nvSpPr>
          <p:cNvPr id="602" name="Rounded Rectangle 601"/>
          <p:cNvSpPr/>
          <p:nvPr/>
        </p:nvSpPr>
        <p:spPr>
          <a:xfrm>
            <a:off x="16947667" y="7077752"/>
            <a:ext cx="4164517" cy="378000"/>
          </a:xfrm>
          <a:prstGeom prst="roundRect">
            <a:avLst>
              <a:gd name="adj" fmla="val 2712"/>
            </a:avLst>
          </a:prstGeom>
          <a:solidFill>
            <a:srgbClr val="7030A0">
              <a:alpha val="13620"/>
            </a:srgbClr>
          </a:solidFill>
          <a:ln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rebuchet MS" panose="020B0703020202090204" pitchFamily="34" charset="0"/>
            </a:endParaRPr>
          </a:p>
        </p:txBody>
      </p:sp>
      <p:sp>
        <p:nvSpPr>
          <p:cNvPr id="644" name="Rounded Rectangle 643"/>
          <p:cNvSpPr/>
          <p:nvPr/>
        </p:nvSpPr>
        <p:spPr>
          <a:xfrm>
            <a:off x="16823676" y="6765598"/>
            <a:ext cx="4393854" cy="1560137"/>
          </a:xfrm>
          <a:prstGeom prst="roundRect">
            <a:avLst>
              <a:gd name="adj" fmla="val 2712"/>
            </a:avLst>
          </a:prstGeom>
          <a:solidFill>
            <a:srgbClr val="7030A0">
              <a:alpha val="3000"/>
            </a:srgbClr>
          </a:solidFill>
          <a:ln>
            <a:solidFill>
              <a:srgbClr val="7030A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Trebuchet MS" panose="020B0703020202090204" pitchFamily="34" charset="0"/>
            </a:endParaRPr>
          </a:p>
        </p:txBody>
      </p:sp>
      <p:sp>
        <p:nvSpPr>
          <p:cNvPr id="642" name="Rounded Rectangle 641"/>
          <p:cNvSpPr/>
          <p:nvPr/>
        </p:nvSpPr>
        <p:spPr>
          <a:xfrm>
            <a:off x="11940367" y="3594290"/>
            <a:ext cx="4393854" cy="4741694"/>
          </a:xfrm>
          <a:prstGeom prst="roundRect">
            <a:avLst>
              <a:gd name="adj" fmla="val 2712"/>
            </a:avLst>
          </a:prstGeom>
          <a:solidFill>
            <a:srgbClr val="7030A0">
              <a:alpha val="3000"/>
            </a:srgbClr>
          </a:solidFill>
          <a:ln>
            <a:solidFill>
              <a:srgbClr val="7030A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rebuchet MS" panose="020B0703020202090204" pitchFamily="34" charset="0"/>
            </a:endParaRPr>
          </a:p>
        </p:txBody>
      </p:sp>
      <p:sp>
        <p:nvSpPr>
          <p:cNvPr id="23" name="Rounded Rectangle 22"/>
          <p:cNvSpPr/>
          <p:nvPr/>
        </p:nvSpPr>
        <p:spPr>
          <a:xfrm>
            <a:off x="391871" y="6355984"/>
            <a:ext cx="10754570" cy="1980000"/>
          </a:xfrm>
          <a:prstGeom prst="roundRect">
            <a:avLst>
              <a:gd name="adj" fmla="val 2712"/>
            </a:avLst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rebuchet MS" panose="020B0703020202090204" pitchFamily="34" charset="0"/>
            </a:endParaRPr>
          </a:p>
        </p:txBody>
      </p:sp>
      <p:sp>
        <p:nvSpPr>
          <p:cNvPr id="22" name="Rounded Rectangle 21"/>
          <p:cNvSpPr/>
          <p:nvPr/>
        </p:nvSpPr>
        <p:spPr>
          <a:xfrm>
            <a:off x="391870" y="3594290"/>
            <a:ext cx="10735527" cy="1980000"/>
          </a:xfrm>
          <a:prstGeom prst="roundRect">
            <a:avLst>
              <a:gd name="adj" fmla="val 2712"/>
            </a:avLst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rebuchet MS" panose="020B0703020202090204" pitchFamily="34" charset="0"/>
            </a:endParaRPr>
          </a:p>
        </p:txBody>
      </p:sp>
      <p:sp>
        <p:nvSpPr>
          <p:cNvPr id="749" name="Rounded Rectangle 748"/>
          <p:cNvSpPr/>
          <p:nvPr/>
        </p:nvSpPr>
        <p:spPr>
          <a:xfrm>
            <a:off x="12059998" y="5222989"/>
            <a:ext cx="4156540" cy="1450048"/>
          </a:xfrm>
          <a:prstGeom prst="roundRect">
            <a:avLst>
              <a:gd name="adj" fmla="val 2712"/>
            </a:avLst>
          </a:prstGeom>
          <a:solidFill>
            <a:srgbClr val="7030A0">
              <a:alpha val="14000"/>
            </a:srgbClr>
          </a:solidFill>
          <a:ln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>
              <a:latin typeface="Trebuchet MS" panose="020B0703020202090204" pitchFamily="34" charset="0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15961" y="4570229"/>
            <a:ext cx="895664" cy="89566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009018" y="5016268"/>
            <a:ext cx="32182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Trebuchet MS" panose="020B0703020202090204" pitchFamily="34" charset="0"/>
              </a:rPr>
              <a:t>Language Syntax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7199" y="5016268"/>
            <a:ext cx="20525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Trebuchet MS" panose="020B0703020202090204" pitchFamily="34" charset="0"/>
              </a:rPr>
              <a:t>Task Specification</a:t>
            </a:r>
          </a:p>
        </p:txBody>
      </p:sp>
      <p:cxnSp>
        <p:nvCxnSpPr>
          <p:cNvPr id="7" name="Straight Arrow Connector 6"/>
          <p:cNvCxnSpPr/>
          <p:nvPr/>
        </p:nvCxnSpPr>
        <p:spPr>
          <a:xfrm>
            <a:off x="4490268" y="4468127"/>
            <a:ext cx="2052000" cy="0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427495" y="5016268"/>
            <a:ext cx="26409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Trebuchet MS" panose="020B0703020202090204" pitchFamily="34" charset="0"/>
              </a:rPr>
              <a:t>Copyright</a:t>
            </a:r>
            <a:r>
              <a:rPr lang="en-US" altLang="zh-CN" dirty="0">
                <a:latin typeface="Trebuchet MS" panose="020B0703020202090204" pitchFamily="34" charset="0"/>
              </a:rPr>
              <a:t>-Owned </a:t>
            </a:r>
            <a:r>
              <a:rPr lang="en-US" dirty="0">
                <a:latin typeface="Trebuchet MS" panose="020B0703020202090204" pitchFamily="34" charset="0"/>
              </a:rPr>
              <a:t>Code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48687" y="3788434"/>
            <a:ext cx="1614801" cy="1200329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marL="342900" indent="-342900">
              <a:buAutoNum type="arabicPeriod"/>
            </a:pPr>
            <a:r>
              <a:rPr lang="en-US" dirty="0">
                <a:latin typeface="Trebuchet MS" panose="020B0703020202090204" pitchFamily="34" charset="0"/>
              </a:rPr>
              <a:t>For</a:t>
            </a:r>
          </a:p>
          <a:p>
            <a:pPr marL="342900" indent="-342900">
              <a:buAutoNum type="arabicPeriod"/>
            </a:pPr>
            <a:r>
              <a:rPr lang="en-US" dirty="0">
                <a:latin typeface="Trebuchet MS" panose="020B0703020202090204" pitchFamily="34" charset="0"/>
              </a:rPr>
              <a:t>If Else</a:t>
            </a:r>
          </a:p>
          <a:p>
            <a:pPr marL="342900" indent="-342900">
              <a:buAutoNum type="arabicPeriod"/>
            </a:pPr>
            <a:r>
              <a:rPr lang="en-US" dirty="0">
                <a:latin typeface="Trebuchet MS" panose="020B0703020202090204" pitchFamily="34" charset="0"/>
              </a:rPr>
              <a:t>Try except</a:t>
            </a:r>
          </a:p>
          <a:p>
            <a:pPr marL="342900" indent="-342900">
              <a:buAutoNum type="arabicPeriod"/>
            </a:pPr>
            <a:r>
              <a:rPr lang="en-US" dirty="0">
                <a:latin typeface="Trebuchet MS" panose="020B0703020202090204" pitchFamily="34" charset="0"/>
              </a:rPr>
              <a:t>…</a:t>
            </a:r>
          </a:p>
        </p:txBody>
      </p:sp>
      <p:pic>
        <p:nvPicPr>
          <p:cNvPr id="10" name="Picture 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0718" y="3839426"/>
            <a:ext cx="1016000" cy="10160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05439" y="3949260"/>
            <a:ext cx="1475999" cy="369332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none" rtlCol="0">
            <a:no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  <a:latin typeface="Trebuchet MS" panose="020B0703020202090204" pitchFamily="34" charset="0"/>
              </a:rPr>
              <a:t>Programming</a:t>
            </a:r>
          </a:p>
        </p:txBody>
      </p:sp>
      <p:pic>
        <p:nvPicPr>
          <p:cNvPr id="47" name="Picture 4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19986" y="6669792"/>
            <a:ext cx="1130986" cy="1130986"/>
          </a:xfrm>
          <a:prstGeom prst="rect">
            <a:avLst/>
          </a:prstGeom>
        </p:spPr>
      </p:pic>
      <p:cxnSp>
        <p:nvCxnSpPr>
          <p:cNvPr id="136" name="Straight Arrow Connector 135"/>
          <p:cNvCxnSpPr>
            <a:cxnSpLocks/>
            <a:endCxn id="390" idx="1"/>
          </p:cNvCxnSpPr>
          <p:nvPr/>
        </p:nvCxnSpPr>
        <p:spPr>
          <a:xfrm>
            <a:off x="21321882" y="5726215"/>
            <a:ext cx="380143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848683" y="3987164"/>
            <a:ext cx="3996000" cy="978878"/>
          </a:xfrm>
          <a:prstGeom prst="rect">
            <a:avLst/>
          </a:prstGeom>
          <a:solidFill>
            <a:schemeClr val="bg1">
              <a:lumMod val="85000"/>
            </a:schemeClr>
          </a:solidFill>
          <a:ln w="12700"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r>
              <a:rPr lang="en-US" sz="1100" dirty="0">
                <a:solidFill>
                  <a:srgbClr val="0000FF"/>
                </a:solidFill>
                <a:latin typeface="Trebuchet MS" panose="020B0703020202090204" pitchFamily="34" charset="0"/>
              </a:rPr>
              <a:t>def</a:t>
            </a:r>
            <a:r>
              <a:rPr lang="en-US" sz="1100" dirty="0">
                <a:solidFill>
                  <a:srgbClr val="3B3B3B"/>
                </a:solidFill>
                <a:latin typeface="Trebuchet MS" panose="020B0703020202090204" pitchFamily="34" charset="0"/>
              </a:rPr>
              <a:t> </a:t>
            </a:r>
            <a:r>
              <a:rPr lang="en-US" sz="1100" dirty="0">
                <a:solidFill>
                  <a:srgbClr val="795E26"/>
                </a:solidFill>
                <a:latin typeface="Trebuchet MS" panose="020B0703020202090204" pitchFamily="34" charset="0"/>
              </a:rPr>
              <a:t>add</a:t>
            </a:r>
            <a:r>
              <a:rPr lang="en-US" sz="1100" dirty="0">
                <a:solidFill>
                  <a:srgbClr val="3B3B3B"/>
                </a:solidFill>
                <a:latin typeface="Trebuchet MS" panose="020B0703020202090204" pitchFamily="34" charset="0"/>
              </a:rPr>
              <a:t>(</a:t>
            </a:r>
            <a:r>
              <a:rPr lang="en-US" sz="1100" dirty="0">
                <a:solidFill>
                  <a:srgbClr val="001080"/>
                </a:solidFill>
                <a:latin typeface="Trebuchet MS" panose="020B0703020202090204" pitchFamily="34" charset="0"/>
              </a:rPr>
              <a:t>self</a:t>
            </a:r>
            <a:r>
              <a:rPr lang="en-US" sz="1100" dirty="0">
                <a:solidFill>
                  <a:srgbClr val="3B3B3B"/>
                </a:solidFill>
                <a:latin typeface="Trebuchet MS" panose="020B0703020202090204" pitchFamily="34" charset="0"/>
              </a:rPr>
              <a:t>, </a:t>
            </a:r>
            <a:r>
              <a:rPr lang="en-US" sz="1100" dirty="0">
                <a:solidFill>
                  <a:srgbClr val="001080"/>
                </a:solidFill>
                <a:latin typeface="Trebuchet MS" panose="020B0703020202090204" pitchFamily="34" charset="0"/>
              </a:rPr>
              <a:t>row</a:t>
            </a:r>
            <a:r>
              <a:rPr lang="en-US" sz="1100" dirty="0">
                <a:solidFill>
                  <a:srgbClr val="3B3B3B"/>
                </a:solidFill>
                <a:latin typeface="Trebuchet MS" panose="020B0703020202090204" pitchFamily="34" charset="0"/>
              </a:rPr>
              <a:t>):</a:t>
            </a:r>
          </a:p>
          <a:p>
            <a:r>
              <a:rPr lang="en-US" sz="1100" dirty="0">
                <a:solidFill>
                  <a:srgbClr val="3B3B3B"/>
                </a:solidFill>
                <a:latin typeface="Trebuchet MS" panose="020B0703020202090204" pitchFamily="34" charset="0"/>
              </a:rPr>
              <a:t>	…</a:t>
            </a:r>
          </a:p>
          <a:p>
            <a:r>
              <a:rPr lang="en-US" sz="1100" dirty="0">
                <a:solidFill>
                  <a:srgbClr val="AF00DB"/>
                </a:solidFill>
                <a:latin typeface="Trebuchet MS" panose="020B0703020202090204" pitchFamily="34" charset="0"/>
              </a:rPr>
              <a:t>	for</a:t>
            </a:r>
            <a:r>
              <a:rPr lang="en-US" sz="1100" dirty="0">
                <a:solidFill>
                  <a:srgbClr val="3B3B3B"/>
                </a:solidFill>
                <a:latin typeface="Trebuchet MS" panose="020B0703020202090204" pitchFamily="34" charset="0"/>
              </a:rPr>
              <a:t> </a:t>
            </a:r>
            <a:r>
              <a:rPr lang="en-US" sz="1100" dirty="0" err="1">
                <a:solidFill>
                  <a:srgbClr val="001080"/>
                </a:solidFill>
                <a:latin typeface="Trebuchet MS" panose="020B0703020202090204" pitchFamily="34" charset="0"/>
              </a:rPr>
              <a:t>i</a:t>
            </a:r>
            <a:r>
              <a:rPr lang="en-US" sz="1100" dirty="0">
                <a:solidFill>
                  <a:srgbClr val="3B3B3B"/>
                </a:solidFill>
                <a:latin typeface="Trebuchet MS" panose="020B0703020202090204" pitchFamily="34" charset="0"/>
              </a:rPr>
              <a:t>, </a:t>
            </a:r>
            <a:r>
              <a:rPr lang="en-US" sz="1100" dirty="0">
                <a:solidFill>
                  <a:srgbClr val="001080"/>
                </a:solidFill>
                <a:latin typeface="Trebuchet MS" panose="020B0703020202090204" pitchFamily="34" charset="0"/>
              </a:rPr>
              <a:t>f</a:t>
            </a:r>
            <a:r>
              <a:rPr lang="en-US" sz="1100" dirty="0">
                <a:solidFill>
                  <a:srgbClr val="3B3B3B"/>
                </a:solidFill>
                <a:latin typeface="Trebuchet MS" panose="020B0703020202090204" pitchFamily="34" charset="0"/>
              </a:rPr>
              <a:t> </a:t>
            </a:r>
            <a:r>
              <a:rPr lang="en-US" sz="1100" dirty="0">
                <a:solidFill>
                  <a:srgbClr val="AF00DB"/>
                </a:solidFill>
                <a:latin typeface="Trebuchet MS" panose="020B0703020202090204" pitchFamily="34" charset="0"/>
              </a:rPr>
              <a:t>in</a:t>
            </a:r>
            <a:r>
              <a:rPr lang="en-US" sz="1100" dirty="0">
                <a:solidFill>
                  <a:srgbClr val="3B3B3B"/>
                </a:solidFill>
                <a:latin typeface="Trebuchet MS" panose="020B0703020202090204" pitchFamily="34" charset="0"/>
              </a:rPr>
              <a:t> </a:t>
            </a:r>
            <a:r>
              <a:rPr lang="en-US" sz="1100" dirty="0">
                <a:solidFill>
                  <a:srgbClr val="267F99"/>
                </a:solidFill>
                <a:latin typeface="Trebuchet MS" panose="020B0703020202090204" pitchFamily="34" charset="0"/>
              </a:rPr>
              <a:t>enumerate</a:t>
            </a:r>
            <a:r>
              <a:rPr lang="en-US" sz="1100" dirty="0">
                <a:solidFill>
                  <a:srgbClr val="3B3B3B"/>
                </a:solidFill>
                <a:latin typeface="Trebuchet MS" panose="020B0703020202090204" pitchFamily="34" charset="0"/>
              </a:rPr>
              <a:t>(</a:t>
            </a:r>
            <a:r>
              <a:rPr lang="en-US" sz="1100" dirty="0">
                <a:solidFill>
                  <a:srgbClr val="001080"/>
                </a:solidFill>
                <a:latin typeface="Trebuchet MS" panose="020B0703020202090204" pitchFamily="34" charset="0"/>
              </a:rPr>
              <a:t>row</a:t>
            </a:r>
            <a:r>
              <a:rPr lang="en-US" sz="1100" dirty="0">
                <a:solidFill>
                  <a:srgbClr val="3B3B3B"/>
                </a:solidFill>
                <a:latin typeface="Trebuchet MS" panose="020B0703020202090204" pitchFamily="34" charset="0"/>
              </a:rPr>
              <a:t>):</a:t>
            </a:r>
          </a:p>
          <a:p>
            <a:r>
              <a:rPr lang="en-US" sz="1100" dirty="0">
                <a:solidFill>
                  <a:srgbClr val="AF00DB"/>
                </a:solidFill>
                <a:latin typeface="Trebuchet MS" panose="020B0703020202090204" pitchFamily="34" charset="0"/>
              </a:rPr>
              <a:t>		if</a:t>
            </a:r>
            <a:r>
              <a:rPr lang="en-US" sz="1100" dirty="0">
                <a:solidFill>
                  <a:srgbClr val="3B3B3B"/>
                </a:solidFill>
                <a:latin typeface="Trebuchet MS" panose="020B0703020202090204" pitchFamily="34" charset="0"/>
              </a:rPr>
              <a:t> </a:t>
            </a:r>
            <a:r>
              <a:rPr lang="en-US" sz="1100" dirty="0" err="1">
                <a:solidFill>
                  <a:srgbClr val="795E26"/>
                </a:solidFill>
                <a:latin typeface="Trebuchet MS" panose="020B0703020202090204" pitchFamily="34" charset="0"/>
              </a:rPr>
              <a:t>len</a:t>
            </a:r>
            <a:r>
              <a:rPr lang="en-US" sz="1100" dirty="0">
                <a:solidFill>
                  <a:srgbClr val="3B3B3B"/>
                </a:solidFill>
                <a:latin typeface="Trebuchet MS" panose="020B0703020202090204" pitchFamily="34" charset="0"/>
              </a:rPr>
              <a:t>(</a:t>
            </a:r>
            <a:r>
              <a:rPr lang="en-US" sz="1100" dirty="0">
                <a:solidFill>
                  <a:srgbClr val="001080"/>
                </a:solidFill>
                <a:latin typeface="Trebuchet MS" panose="020B0703020202090204" pitchFamily="34" charset="0"/>
              </a:rPr>
              <a:t>f</a:t>
            </a:r>
            <a:r>
              <a:rPr lang="en-US" sz="1100" dirty="0">
                <a:solidFill>
                  <a:srgbClr val="3B3B3B"/>
                </a:solidFill>
                <a:latin typeface="Trebuchet MS" panose="020B0703020202090204" pitchFamily="34" charset="0"/>
              </a:rPr>
              <a:t>) </a:t>
            </a:r>
            <a:r>
              <a:rPr lang="en-US" sz="1100" dirty="0">
                <a:solidFill>
                  <a:srgbClr val="000000"/>
                </a:solidFill>
                <a:latin typeface="Trebuchet MS" panose="020B0703020202090204" pitchFamily="34" charset="0"/>
              </a:rPr>
              <a:t>&gt;</a:t>
            </a:r>
            <a:r>
              <a:rPr lang="en-US" sz="1100" dirty="0">
                <a:solidFill>
                  <a:srgbClr val="3B3B3B"/>
                </a:solidFill>
                <a:latin typeface="Trebuchet MS" panose="020B0703020202090204" pitchFamily="34" charset="0"/>
              </a:rPr>
              <a:t> </a:t>
            </a:r>
            <a:r>
              <a:rPr lang="en-US" sz="1100" dirty="0" err="1">
                <a:solidFill>
                  <a:srgbClr val="001080"/>
                </a:solidFill>
                <a:latin typeface="Trebuchet MS" panose="020B0703020202090204" pitchFamily="34" charset="0"/>
              </a:rPr>
              <a:t>self</a:t>
            </a:r>
            <a:r>
              <a:rPr lang="en-US" sz="1100" dirty="0" err="1">
                <a:solidFill>
                  <a:srgbClr val="3B3B3B"/>
                </a:solidFill>
                <a:latin typeface="Trebuchet MS" panose="020B0703020202090204" pitchFamily="34" charset="0"/>
              </a:rPr>
              <a:t>.max_col_size</a:t>
            </a:r>
            <a:r>
              <a:rPr lang="en-US" sz="1100" dirty="0">
                <a:solidFill>
                  <a:srgbClr val="3B3B3B"/>
                </a:solidFill>
                <a:latin typeface="Trebuchet MS" panose="020B0703020202090204" pitchFamily="34" charset="0"/>
              </a:rPr>
              <a:t>[</a:t>
            </a:r>
            <a:r>
              <a:rPr lang="en-US" sz="1100" dirty="0" err="1">
                <a:solidFill>
                  <a:srgbClr val="001080"/>
                </a:solidFill>
                <a:latin typeface="Trebuchet MS" panose="020B0703020202090204" pitchFamily="34" charset="0"/>
              </a:rPr>
              <a:t>i</a:t>
            </a:r>
            <a:r>
              <a:rPr lang="en-US" sz="1100" dirty="0">
                <a:solidFill>
                  <a:srgbClr val="3B3B3B"/>
                </a:solidFill>
                <a:latin typeface="Trebuchet MS" panose="020B0703020202090204" pitchFamily="34" charset="0"/>
              </a:rPr>
              <a:t>]: </a:t>
            </a:r>
          </a:p>
          <a:p>
            <a:r>
              <a:rPr lang="en-US" sz="1100" dirty="0">
                <a:solidFill>
                  <a:srgbClr val="3B3B3B"/>
                </a:solidFill>
                <a:latin typeface="Trebuchet MS" panose="020B0703020202090204" pitchFamily="34" charset="0"/>
              </a:rPr>
              <a:t>	… </a:t>
            </a:r>
          </a:p>
        </p:txBody>
      </p:sp>
      <p:pic>
        <p:nvPicPr>
          <p:cNvPr id="463" name="Picture 462"/>
          <p:cNvPicPr>
            <a:picLocks noChangeAspect="1"/>
          </p:cNvPicPr>
          <p:nvPr/>
        </p:nvPicPr>
        <p:blipFill>
          <a:blip r:embed="rId6">
            <a:duotone>
              <a:schemeClr val="accent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6889730" y="6660748"/>
            <a:ext cx="690099" cy="690099"/>
          </a:xfrm>
          <a:prstGeom prst="rect">
            <a:avLst/>
          </a:prstGeom>
        </p:spPr>
      </p:pic>
      <p:pic>
        <p:nvPicPr>
          <p:cNvPr id="464" name="Picture 463"/>
          <p:cNvPicPr>
            <a:picLocks noChangeAspect="1"/>
          </p:cNvPicPr>
          <p:nvPr/>
        </p:nvPicPr>
        <p:blipFill>
          <a:blip r:embed="rId6">
            <a:duotone>
              <a:schemeClr val="accent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6591667" y="7068989"/>
            <a:ext cx="690099" cy="690099"/>
          </a:xfrm>
          <a:prstGeom prst="rect">
            <a:avLst/>
          </a:prstGeom>
        </p:spPr>
      </p:pic>
      <p:pic>
        <p:nvPicPr>
          <p:cNvPr id="465" name="Picture 464"/>
          <p:cNvPicPr>
            <a:picLocks noChangeAspect="1"/>
          </p:cNvPicPr>
          <p:nvPr/>
        </p:nvPicPr>
        <p:blipFill>
          <a:blip r:embed="rId6">
            <a:duotone>
              <a:schemeClr val="accent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7165109" y="7073961"/>
            <a:ext cx="690099" cy="690099"/>
          </a:xfrm>
          <a:prstGeom prst="rect">
            <a:avLst/>
          </a:prstGeom>
        </p:spPr>
      </p:pic>
      <p:sp>
        <p:nvSpPr>
          <p:cNvPr id="468" name="TextBox 467"/>
          <p:cNvSpPr txBox="1"/>
          <p:nvPr/>
        </p:nvSpPr>
        <p:spPr>
          <a:xfrm>
            <a:off x="4839738" y="7099416"/>
            <a:ext cx="1475999" cy="369332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none" rtlCol="0">
            <a:no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  <a:latin typeface="Trebuchet MS" panose="020B0703020202090204" pitchFamily="34" charset="0"/>
              </a:rPr>
              <a:t>Collecting</a:t>
            </a:r>
          </a:p>
        </p:txBody>
      </p:sp>
      <p:sp>
        <p:nvSpPr>
          <p:cNvPr id="469" name="TextBox 468"/>
          <p:cNvSpPr txBox="1"/>
          <p:nvPr/>
        </p:nvSpPr>
        <p:spPr>
          <a:xfrm>
            <a:off x="6555150" y="7810373"/>
            <a:ext cx="13235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Trebuchet MS" panose="020B0703020202090204" pitchFamily="34" charset="0"/>
              </a:rPr>
              <a:t>Codebase</a:t>
            </a:r>
          </a:p>
        </p:txBody>
      </p:sp>
      <p:sp>
        <p:nvSpPr>
          <p:cNvPr id="476" name="Cross 475"/>
          <p:cNvSpPr/>
          <p:nvPr/>
        </p:nvSpPr>
        <p:spPr>
          <a:xfrm>
            <a:off x="2081556" y="4204167"/>
            <a:ext cx="398174" cy="396349"/>
          </a:xfrm>
          <a:prstGeom prst="plus">
            <a:avLst>
              <a:gd name="adj" fmla="val 37729"/>
            </a:avLst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Trebuchet MS" panose="020B0703020202090204" pitchFamily="34" charset="0"/>
            </a:endParaRPr>
          </a:p>
        </p:txBody>
      </p:sp>
      <p:cxnSp>
        <p:nvCxnSpPr>
          <p:cNvPr id="551" name="Straight Arrow Connector 550"/>
          <p:cNvCxnSpPr/>
          <p:nvPr/>
        </p:nvCxnSpPr>
        <p:spPr>
          <a:xfrm>
            <a:off x="14067449" y="4703680"/>
            <a:ext cx="0" cy="503999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4" name="Elbow Connector 553"/>
          <p:cNvCxnSpPr>
            <a:cxnSpLocks/>
            <a:stCxn id="47" idx="3"/>
            <a:endCxn id="642" idx="1"/>
          </p:cNvCxnSpPr>
          <p:nvPr/>
        </p:nvCxnSpPr>
        <p:spPr>
          <a:xfrm flipV="1">
            <a:off x="10950972" y="5965137"/>
            <a:ext cx="989395" cy="1270148"/>
          </a:xfrm>
          <a:prstGeom prst="bentConnector3">
            <a:avLst>
              <a:gd name="adj1" fmla="val 43734"/>
            </a:avLst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0" name="Elbow Connector 699"/>
          <p:cNvCxnSpPr>
            <a:cxnSpLocks/>
            <a:stCxn id="642" idx="3"/>
            <a:endCxn id="680" idx="1"/>
          </p:cNvCxnSpPr>
          <p:nvPr/>
        </p:nvCxnSpPr>
        <p:spPr>
          <a:xfrm flipV="1">
            <a:off x="16334221" y="5965134"/>
            <a:ext cx="394157" cy="3"/>
          </a:xfrm>
          <a:prstGeom prst="bentConnector3">
            <a:avLst>
              <a:gd name="adj1" fmla="val 50000"/>
            </a:avLst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/>
          <p:cNvCxnSpPr/>
          <p:nvPr/>
        </p:nvCxnSpPr>
        <p:spPr>
          <a:xfrm>
            <a:off x="4525586" y="7697772"/>
            <a:ext cx="1944000" cy="0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/>
          <p:cNvCxnSpPr/>
          <p:nvPr/>
        </p:nvCxnSpPr>
        <p:spPr>
          <a:xfrm>
            <a:off x="7880349" y="7770497"/>
            <a:ext cx="1944000" cy="0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9769883" y="7810373"/>
            <a:ext cx="11057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Trebuchet MS" panose="020B0703020202090204" pitchFamily="34" charset="0"/>
              </a:rPr>
              <a:t>LLMs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38023" y="7121091"/>
            <a:ext cx="1475999" cy="369332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none" rtlCol="0">
            <a:no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  <a:latin typeface="Trebuchet MS" panose="020B0703020202090204" pitchFamily="34" charset="0"/>
              </a:rPr>
              <a:t>Training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410254" y="5773019"/>
            <a:ext cx="731033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Trebuchet MS" panose="020B0703020202090204" pitchFamily="34" charset="0"/>
              </a:rPr>
              <a:t>Developer Accomplishing Programming Tasks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89308" y="8439061"/>
            <a:ext cx="608859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Trebuchet MS" panose="020B0703020202090204" pitchFamily="34" charset="0"/>
              </a:rPr>
              <a:t>Training LLMs Using Accesible Corpus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17956" y="7334683"/>
            <a:ext cx="3168000" cy="252000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</a:ln>
        </p:spPr>
        <p:txBody>
          <a:bodyPr wrap="square" rIns="36000" rtlCol="0">
            <a:noAutofit/>
          </a:bodyPr>
          <a:lstStyle/>
          <a:p>
            <a:r>
              <a:rPr lang="en-US" sz="1100" b="0" dirty="0">
                <a:solidFill>
                  <a:srgbClr val="0000FF"/>
                </a:solidFill>
                <a:effectLst/>
                <a:latin typeface="Trebuchet MS" panose="020B0703020202090204" pitchFamily="34" charset="0"/>
              </a:rPr>
              <a:t>def</a:t>
            </a:r>
            <a:r>
              <a:rPr lang="en-US" sz="1100" b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 </a:t>
            </a:r>
            <a:r>
              <a:rPr lang="en-US" sz="1100" b="0" dirty="0" err="1">
                <a:solidFill>
                  <a:srgbClr val="795E26"/>
                </a:solidFill>
                <a:effectLst/>
                <a:latin typeface="Trebuchet MS" panose="020B0703020202090204" pitchFamily="34" charset="0"/>
              </a:rPr>
              <a:t>check_metadata</a:t>
            </a:r>
            <a:r>
              <a:rPr lang="en-US" sz="1100" b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(</a:t>
            </a:r>
            <a:r>
              <a:rPr lang="en-US" sz="1100" b="0" dirty="0">
                <a:solidFill>
                  <a:srgbClr val="001080"/>
                </a:solidFill>
                <a:effectLst/>
                <a:latin typeface="Trebuchet MS" panose="020B0703020202090204" pitchFamily="34" charset="0"/>
              </a:rPr>
              <a:t>self</a:t>
            </a:r>
            <a:r>
              <a:rPr lang="en-US" sz="1100" b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):…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17956" y="7035782"/>
            <a:ext cx="3168000" cy="252000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</a:ln>
        </p:spPr>
        <p:txBody>
          <a:bodyPr wrap="square" rIns="36000" rtlCol="0">
            <a:noAutofit/>
          </a:bodyPr>
          <a:lstStyle/>
          <a:p>
            <a:r>
              <a:rPr lang="en-US" sz="1100" b="0" dirty="0">
                <a:solidFill>
                  <a:srgbClr val="0000FF"/>
                </a:solidFill>
                <a:effectLst/>
                <a:latin typeface="Trebuchet MS" panose="020B0703020202090204" pitchFamily="34" charset="0"/>
              </a:rPr>
              <a:t>def</a:t>
            </a:r>
            <a:r>
              <a:rPr lang="en-US" sz="1100" b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 </a:t>
            </a:r>
            <a:r>
              <a:rPr lang="en-US" sz="1100" b="0" dirty="0" err="1">
                <a:solidFill>
                  <a:srgbClr val="795E26"/>
                </a:solidFill>
                <a:effectLst/>
                <a:latin typeface="Trebuchet MS" panose="020B0703020202090204" pitchFamily="34" charset="0"/>
              </a:rPr>
              <a:t>match_hostname</a:t>
            </a:r>
            <a:r>
              <a:rPr lang="en-US" sz="1100" b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(</a:t>
            </a:r>
            <a:r>
              <a:rPr lang="en-US" sz="1100" b="0" dirty="0">
                <a:solidFill>
                  <a:srgbClr val="001080"/>
                </a:solidFill>
                <a:effectLst/>
                <a:latin typeface="Trebuchet MS" panose="020B0703020202090204" pitchFamily="34" charset="0"/>
              </a:rPr>
              <a:t>cert</a:t>
            </a:r>
            <a:r>
              <a:rPr lang="en-US" sz="1100" b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, </a:t>
            </a:r>
            <a:r>
              <a:rPr lang="en-US" sz="1100" b="0" dirty="0">
                <a:solidFill>
                  <a:srgbClr val="001080"/>
                </a:solidFill>
                <a:effectLst/>
                <a:latin typeface="Trebuchet MS" panose="020B0703020202090204" pitchFamily="34" charset="0"/>
              </a:rPr>
              <a:t>hostname</a:t>
            </a:r>
            <a:r>
              <a:rPr lang="en-US" sz="1100" b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):…</a:t>
            </a:r>
          </a:p>
          <a:p>
            <a:endParaRPr lang="en-US" sz="11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1317956" y="6732303"/>
            <a:ext cx="3168000" cy="252000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</a:ln>
        </p:spPr>
        <p:txBody>
          <a:bodyPr wrap="square" rIns="36000" rtlCol="0">
            <a:noAutofit/>
          </a:bodyPr>
          <a:lstStyle/>
          <a:p>
            <a:r>
              <a:rPr lang="en-US" sz="1100" dirty="0">
                <a:solidFill>
                  <a:srgbClr val="0000FF"/>
                </a:solidFill>
                <a:latin typeface="Trebuchet MS" panose="020B0703020202090204" pitchFamily="34" charset="0"/>
              </a:rPr>
              <a:t>def</a:t>
            </a:r>
            <a:r>
              <a:rPr lang="en-US" sz="1100" dirty="0">
                <a:solidFill>
                  <a:srgbClr val="3B3B3B"/>
                </a:solidFill>
                <a:latin typeface="Trebuchet MS" panose="020B0703020202090204" pitchFamily="34" charset="0"/>
              </a:rPr>
              <a:t> </a:t>
            </a:r>
            <a:r>
              <a:rPr lang="en-US" sz="1100" dirty="0">
                <a:solidFill>
                  <a:srgbClr val="795E26"/>
                </a:solidFill>
                <a:latin typeface="Trebuchet MS" panose="020B0703020202090204" pitchFamily="34" charset="0"/>
              </a:rPr>
              <a:t>add</a:t>
            </a:r>
            <a:r>
              <a:rPr lang="en-US" sz="1100" dirty="0">
                <a:solidFill>
                  <a:srgbClr val="3B3B3B"/>
                </a:solidFill>
                <a:latin typeface="Trebuchet MS" panose="020B0703020202090204" pitchFamily="34" charset="0"/>
              </a:rPr>
              <a:t>(</a:t>
            </a:r>
            <a:r>
              <a:rPr lang="en-US" sz="1100" dirty="0">
                <a:solidFill>
                  <a:srgbClr val="001080"/>
                </a:solidFill>
                <a:latin typeface="Trebuchet MS" panose="020B0703020202090204" pitchFamily="34" charset="0"/>
              </a:rPr>
              <a:t>self</a:t>
            </a:r>
            <a:r>
              <a:rPr lang="en-US" sz="1100" dirty="0">
                <a:solidFill>
                  <a:srgbClr val="3B3B3B"/>
                </a:solidFill>
                <a:latin typeface="Trebuchet MS" panose="020B0703020202090204" pitchFamily="34" charset="0"/>
              </a:rPr>
              <a:t>, </a:t>
            </a:r>
            <a:r>
              <a:rPr lang="en-US" sz="1100" dirty="0">
                <a:solidFill>
                  <a:srgbClr val="001080"/>
                </a:solidFill>
                <a:latin typeface="Trebuchet MS" panose="020B0703020202090204" pitchFamily="34" charset="0"/>
              </a:rPr>
              <a:t>row</a:t>
            </a:r>
            <a:r>
              <a:rPr lang="en-US" sz="1100" dirty="0">
                <a:solidFill>
                  <a:srgbClr val="3B3B3B"/>
                </a:solidFill>
                <a:latin typeface="Trebuchet MS" panose="020B0703020202090204" pitchFamily="34" charset="0"/>
              </a:rPr>
              <a:t>):…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10769" y="7557040"/>
            <a:ext cx="3545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Trebuchet MS" panose="020B0703020202090204" pitchFamily="34" charset="0"/>
              </a:rPr>
              <a:t>…</a:t>
            </a:r>
          </a:p>
        </p:txBody>
      </p:sp>
      <p:pic>
        <p:nvPicPr>
          <p:cNvPr id="31" name="Picture 30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36316" y="6713021"/>
            <a:ext cx="447148" cy="447148"/>
          </a:xfrm>
          <a:prstGeom prst="rect">
            <a:avLst/>
          </a:prstGeom>
        </p:spPr>
      </p:pic>
      <p:sp>
        <p:nvSpPr>
          <p:cNvPr id="36" name="Right Brace 35"/>
          <p:cNvSpPr/>
          <p:nvPr/>
        </p:nvSpPr>
        <p:spPr>
          <a:xfrm>
            <a:off x="1096384" y="6888117"/>
            <a:ext cx="164474" cy="952240"/>
          </a:xfrm>
          <a:prstGeom prst="rightBrace">
            <a:avLst>
              <a:gd name="adj1" fmla="val 25000"/>
              <a:gd name="adj2" fmla="val 50000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>
              <a:latin typeface="Trebuchet MS" panose="020B0703020202090204" pitchFamily="34" charset="0"/>
            </a:endParaRPr>
          </a:p>
        </p:txBody>
      </p:sp>
      <p:pic>
        <p:nvPicPr>
          <p:cNvPr id="38" name="Graphic 37"/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23906" y="7116077"/>
            <a:ext cx="871012" cy="435506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614783" y="7538409"/>
            <a:ext cx="3545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Trebuchet MS" panose="020B0703020202090204" pitchFamily="34" charset="0"/>
              </a:rPr>
              <a:t>…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884709" y="7810373"/>
            <a:ext cx="21391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Trebuchet MS" panose="020B0703020202090204" pitchFamily="34" charset="0"/>
              </a:rPr>
              <a:t>Code Resources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972403" y="5480528"/>
            <a:ext cx="2099944" cy="230832"/>
          </a:xfrm>
          <a:prstGeom prst="rect">
            <a:avLst/>
          </a:prstGeom>
          <a:noFill/>
          <a:ln w="12700">
            <a:noFill/>
          </a:ln>
        </p:spPr>
        <p:txBody>
          <a:bodyPr wrap="squar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795E26"/>
                </a:solidFill>
                <a:latin typeface="Trebuchet MS" panose="020B0703020202090204" pitchFamily="34" charset="0"/>
              </a:rPr>
              <a:t>add(self,</a:t>
            </a:r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703020202090204" pitchFamily="34" charset="0"/>
              </a:rPr>
              <a:t> </a:t>
            </a:r>
            <a:r>
              <a:rPr lang="en-US" sz="900" dirty="0">
                <a:solidFill>
                  <a:srgbClr val="001080"/>
                </a:solidFill>
                <a:latin typeface="Trebuchet MS" panose="020B0703020202090204" pitchFamily="34" charset="0"/>
              </a:rPr>
              <a:t>row</a:t>
            </a:r>
            <a:r>
              <a:rPr lang="en-US" sz="900" dirty="0">
                <a:solidFill>
                  <a:srgbClr val="3B3B3B"/>
                </a:solidFill>
                <a:latin typeface="Trebuchet MS" panose="020B0703020202090204" pitchFamily="34" charset="0"/>
              </a:rPr>
              <a:t>):</a:t>
            </a:r>
            <a:r>
              <a:rPr lang="en-US" sz="900" dirty="0">
                <a:solidFill>
                  <a:srgbClr val="D7BA7D"/>
                </a:solidFill>
                <a:latin typeface="Trebuchet MS" panose="020B0703020202090204" pitchFamily="34" charset="0"/>
              </a:rPr>
              <a:t>\n</a:t>
            </a:r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703020202090204" pitchFamily="34" charset="0"/>
              </a:rPr>
              <a:t> </a:t>
            </a:r>
            <a:r>
              <a:rPr lang="en-US" sz="900" dirty="0">
                <a:solidFill>
                  <a:srgbClr val="AF00DB"/>
                </a:solidFill>
                <a:latin typeface="Trebuchet MS" panose="020B0703020202090204" pitchFamily="34" charset="0"/>
              </a:rPr>
              <a:t>for</a:t>
            </a:r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703020202090204" pitchFamily="34" charset="0"/>
              </a:rPr>
              <a:t> </a:t>
            </a:r>
            <a:r>
              <a:rPr lang="en-US" sz="900" dirty="0" err="1">
                <a:solidFill>
                  <a:srgbClr val="001080"/>
                </a:solidFill>
                <a:latin typeface="Trebuchet MS" panose="020B0703020202090204" pitchFamily="34" charset="0"/>
              </a:rPr>
              <a:t>i</a:t>
            </a:r>
            <a:r>
              <a:rPr lang="en-US" sz="900" dirty="0">
                <a:solidFill>
                  <a:srgbClr val="3B3B3B"/>
                </a:solidFill>
                <a:latin typeface="Trebuchet MS" panose="020B0703020202090204" pitchFamily="34" charset="0"/>
              </a:rPr>
              <a:t>,</a:t>
            </a:r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703020202090204" pitchFamily="34" charset="0"/>
              </a:rPr>
              <a:t> </a:t>
            </a:r>
            <a:r>
              <a:rPr lang="en-US" sz="900" dirty="0">
                <a:solidFill>
                  <a:srgbClr val="001080"/>
                </a:solidFill>
                <a:latin typeface="Trebuchet MS" panose="020B0703020202090204" pitchFamily="34" charset="0"/>
              </a:rPr>
              <a:t>f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449" name="TextBox 448"/>
          <p:cNvSpPr txBox="1"/>
          <p:nvPr/>
        </p:nvSpPr>
        <p:spPr>
          <a:xfrm>
            <a:off x="15304286" y="5302475"/>
            <a:ext cx="37955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Trebuchet MS" panose="020B0703020202090204" pitchFamily="34" charset="0"/>
              </a:rPr>
              <a:t>⌷in</a:t>
            </a:r>
          </a:p>
        </p:txBody>
      </p:sp>
      <p:sp>
        <p:nvSpPr>
          <p:cNvPr id="471" name="TextBox 470"/>
          <p:cNvSpPr txBox="1"/>
          <p:nvPr/>
        </p:nvSpPr>
        <p:spPr>
          <a:xfrm>
            <a:off x="15304286" y="5532751"/>
            <a:ext cx="37955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altLang="zh-CN" sz="900" dirty="0">
                <a:latin typeface="Trebuchet MS" panose="020B0703020202090204" pitchFamily="34" charset="0"/>
              </a:rPr>
              <a:t>name</a:t>
            </a:r>
          </a:p>
        </p:txBody>
      </p:sp>
      <p:sp>
        <p:nvSpPr>
          <p:cNvPr id="472" name="TextBox 471"/>
          <p:cNvSpPr txBox="1"/>
          <p:nvPr/>
        </p:nvSpPr>
        <p:spPr>
          <a:xfrm>
            <a:off x="15304286" y="5763027"/>
            <a:ext cx="37955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Trebuchet MS" panose="020B0703020202090204" pitchFamily="34" charset="0"/>
              </a:rPr>
              <a:t>Id</a:t>
            </a:r>
          </a:p>
        </p:txBody>
      </p:sp>
      <p:sp>
        <p:nvSpPr>
          <p:cNvPr id="475" name="Rectangle 474"/>
          <p:cNvSpPr/>
          <p:nvPr/>
        </p:nvSpPr>
        <p:spPr>
          <a:xfrm>
            <a:off x="15681485" y="5302475"/>
            <a:ext cx="463826" cy="2340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  <a:latin typeface="Trebuchet MS" panose="020B0703020202090204" pitchFamily="34" charset="0"/>
              </a:rPr>
              <a:t>0.84</a:t>
            </a:r>
          </a:p>
        </p:txBody>
      </p:sp>
      <p:sp>
        <p:nvSpPr>
          <p:cNvPr id="477" name="Rectangle 476"/>
          <p:cNvSpPr/>
          <p:nvPr/>
        </p:nvSpPr>
        <p:spPr>
          <a:xfrm>
            <a:off x="15681485" y="5532751"/>
            <a:ext cx="463826" cy="2340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  <a:latin typeface="Trebuchet MS" panose="020B0703020202090204" pitchFamily="34" charset="0"/>
              </a:rPr>
              <a:t>0.04</a:t>
            </a:r>
          </a:p>
        </p:txBody>
      </p:sp>
      <p:sp>
        <p:nvSpPr>
          <p:cNvPr id="478" name="Rectangle 477"/>
          <p:cNvSpPr/>
          <p:nvPr/>
        </p:nvSpPr>
        <p:spPr>
          <a:xfrm>
            <a:off x="15681485" y="5763027"/>
            <a:ext cx="463826" cy="2340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  <a:latin typeface="Trebuchet MS" panose="020B0703020202090204" pitchFamily="34" charset="0"/>
              </a:rPr>
              <a:t>0.03</a:t>
            </a:r>
          </a:p>
        </p:txBody>
      </p:sp>
      <p:cxnSp>
        <p:nvCxnSpPr>
          <p:cNvPr id="482" name="Straight Arrow Connector 481"/>
          <p:cNvCxnSpPr/>
          <p:nvPr/>
        </p:nvCxnSpPr>
        <p:spPr>
          <a:xfrm flipV="1">
            <a:off x="13790141" y="5622071"/>
            <a:ext cx="1440000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3" name="TextBox 482"/>
          <p:cNvSpPr txBox="1"/>
          <p:nvPr/>
        </p:nvSpPr>
        <p:spPr>
          <a:xfrm>
            <a:off x="13714678" y="5350791"/>
            <a:ext cx="158753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latin typeface="Trebuchet MS" panose="020B0703020202090204" pitchFamily="34" charset="0"/>
              </a:rPr>
              <a:t>Next token selection: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6921641" y="6730610"/>
            <a:ext cx="176291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Trebuchet MS" panose="020B0703020202090204" pitchFamily="34" charset="0"/>
              </a:rPr>
              <a:t>Retained Tokens</a:t>
            </a:r>
          </a:p>
        </p:txBody>
      </p:sp>
      <p:sp>
        <p:nvSpPr>
          <p:cNvPr id="513" name="TextBox 512"/>
          <p:cNvSpPr txBox="1"/>
          <p:nvPr/>
        </p:nvSpPr>
        <p:spPr>
          <a:xfrm>
            <a:off x="17112004" y="7170937"/>
            <a:ext cx="288024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Trebuchet MS" panose="020B0703020202090204" pitchFamily="34" charset="0"/>
              </a:rPr>
              <a:t>⌷</a:t>
            </a:r>
            <a:r>
              <a:rPr lang="en-US" sz="900" dirty="0">
                <a:solidFill>
                  <a:srgbClr val="795E26"/>
                </a:solidFill>
                <a:latin typeface="Trebuchet MS" panose="020B0703020202090204" pitchFamily="34" charset="0"/>
              </a:rPr>
              <a:t>add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514" name="TextBox 513"/>
          <p:cNvSpPr txBox="1"/>
          <p:nvPr/>
        </p:nvSpPr>
        <p:spPr>
          <a:xfrm>
            <a:off x="17572872" y="7970083"/>
            <a:ext cx="222300" cy="2308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001080"/>
                </a:solidFill>
                <a:latin typeface="Trebuchet MS" panose="020B0703020202090204" pitchFamily="34" charset="0"/>
              </a:rPr>
              <a:t>self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515" name="TextBox 514"/>
          <p:cNvSpPr txBox="1"/>
          <p:nvPr/>
        </p:nvSpPr>
        <p:spPr>
          <a:xfrm>
            <a:off x="17457475" y="7170937"/>
            <a:ext cx="7803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703020202090204" pitchFamily="34" charset="0"/>
              </a:rPr>
              <a:t>(</a:t>
            </a:r>
          </a:p>
        </p:txBody>
      </p:sp>
      <p:sp>
        <p:nvSpPr>
          <p:cNvPr id="524" name="TextBox 523"/>
          <p:cNvSpPr txBox="1"/>
          <p:nvPr/>
        </p:nvSpPr>
        <p:spPr>
          <a:xfrm>
            <a:off x="18620554" y="7970083"/>
            <a:ext cx="140546" cy="2308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D7BA7D"/>
                </a:solidFill>
                <a:latin typeface="Trebuchet MS" panose="020B0703020202090204" pitchFamily="34" charset="0"/>
              </a:rPr>
              <a:t>\n</a:t>
            </a:r>
          </a:p>
        </p:txBody>
      </p:sp>
      <p:sp>
        <p:nvSpPr>
          <p:cNvPr id="525" name="TextBox 524"/>
          <p:cNvSpPr txBox="1"/>
          <p:nvPr/>
        </p:nvSpPr>
        <p:spPr>
          <a:xfrm>
            <a:off x="17864113" y="7170937"/>
            <a:ext cx="7803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latin typeface="Trebuchet MS" panose="020B0703020202090204" pitchFamily="34" charset="0"/>
              </a:rPr>
              <a:t>,</a:t>
            </a:r>
          </a:p>
        </p:txBody>
      </p:sp>
      <p:sp>
        <p:nvSpPr>
          <p:cNvPr id="526" name="TextBox 525"/>
          <p:cNvSpPr txBox="1"/>
          <p:nvPr/>
        </p:nvSpPr>
        <p:spPr>
          <a:xfrm>
            <a:off x="18003382" y="7170937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703020202090204" pitchFamily="34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Trebuchet MS" panose="020B0703020202090204" pitchFamily="34" charset="0"/>
              </a:rPr>
              <a:t>row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527" name="TextBox 526"/>
          <p:cNvSpPr txBox="1"/>
          <p:nvPr/>
        </p:nvSpPr>
        <p:spPr>
          <a:xfrm>
            <a:off x="18421755" y="7970083"/>
            <a:ext cx="119708" cy="2308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703020202090204" pitchFamily="34" charset="0"/>
              </a:rPr>
              <a:t>):</a:t>
            </a:r>
          </a:p>
        </p:txBody>
      </p:sp>
      <p:sp>
        <p:nvSpPr>
          <p:cNvPr id="528" name="TextBox 527"/>
          <p:cNvSpPr txBox="1"/>
          <p:nvPr/>
        </p:nvSpPr>
        <p:spPr>
          <a:xfrm>
            <a:off x="19115494" y="7170937"/>
            <a:ext cx="187034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AF00DB"/>
                </a:solidFill>
                <a:latin typeface="Trebuchet MS" panose="020B0703020202090204" pitchFamily="34" charset="0"/>
              </a:rPr>
              <a:t>for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532" name="TextBox 531"/>
          <p:cNvSpPr txBox="1"/>
          <p:nvPr/>
        </p:nvSpPr>
        <p:spPr>
          <a:xfrm>
            <a:off x="19308717" y="7170937"/>
            <a:ext cx="161386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latin typeface="Trebuchet MS" panose="020B0703020202090204" pitchFamily="34" charset="0"/>
              </a:rPr>
              <a:t>...</a:t>
            </a:r>
          </a:p>
        </p:txBody>
      </p:sp>
      <p:sp>
        <p:nvSpPr>
          <p:cNvPr id="544" name="TextBox 543"/>
          <p:cNvSpPr txBox="1"/>
          <p:nvPr/>
        </p:nvSpPr>
        <p:spPr>
          <a:xfrm>
            <a:off x="19484831" y="7970083"/>
            <a:ext cx="203064" cy="2308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703020202090204" pitchFamily="34" charset="0"/>
              </a:rPr>
              <a:t>⌷</a:t>
            </a:r>
            <a:r>
              <a:rPr lang="en-US" sz="900" dirty="0">
                <a:solidFill>
                  <a:srgbClr val="AF00DB"/>
                </a:solidFill>
                <a:latin typeface="Trebuchet MS" panose="020B0703020202090204" pitchFamily="34" charset="0"/>
              </a:rPr>
              <a:t>in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545" name="TextBox 544"/>
          <p:cNvSpPr txBox="1"/>
          <p:nvPr/>
        </p:nvSpPr>
        <p:spPr>
          <a:xfrm>
            <a:off x="19733131" y="7172696"/>
            <a:ext cx="65992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Trebuchet MS" panose="020B0703020202090204" pitchFamily="34" charset="0"/>
              </a:rPr>
              <a:t>⌷</a:t>
            </a:r>
            <a:r>
              <a:rPr lang="en-US" sz="900" dirty="0">
                <a:solidFill>
                  <a:srgbClr val="267F99"/>
                </a:solidFill>
                <a:latin typeface="Trebuchet MS" panose="020B0703020202090204" pitchFamily="34" charset="0"/>
              </a:rPr>
              <a:t>enumerate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559" name="TextBox 558"/>
          <p:cNvSpPr txBox="1"/>
          <p:nvPr/>
        </p:nvSpPr>
        <p:spPr>
          <a:xfrm>
            <a:off x="18820521" y="7970083"/>
            <a:ext cx="288000" cy="230400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Trebuchet MS" panose="020B0703020202090204" pitchFamily="34" charset="0"/>
              </a:rPr>
              <a:t>⌷⌷⌷⌷</a:t>
            </a:r>
          </a:p>
        </p:txBody>
      </p:sp>
      <p:sp>
        <p:nvSpPr>
          <p:cNvPr id="561" name="TextBox 560"/>
          <p:cNvSpPr txBox="1"/>
          <p:nvPr/>
        </p:nvSpPr>
        <p:spPr>
          <a:xfrm>
            <a:off x="12116825" y="6109983"/>
            <a:ext cx="288024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Trebuchet MS" panose="020B0703020202090204" pitchFamily="34" charset="0"/>
              </a:rPr>
              <a:t>⌷</a:t>
            </a:r>
            <a:r>
              <a:rPr lang="en-US" sz="900" dirty="0">
                <a:solidFill>
                  <a:srgbClr val="795E26"/>
                </a:solidFill>
                <a:latin typeface="Trebuchet MS" panose="020B0703020202090204" pitchFamily="34" charset="0"/>
              </a:rPr>
              <a:t>add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562" name="TextBox 561"/>
          <p:cNvSpPr txBox="1"/>
          <p:nvPr/>
        </p:nvSpPr>
        <p:spPr>
          <a:xfrm>
            <a:off x="12597772" y="6109983"/>
            <a:ext cx="22320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001080"/>
                </a:solidFill>
                <a:latin typeface="Trebuchet MS" panose="020B0703020202090204" pitchFamily="34" charset="0"/>
              </a:rPr>
              <a:t>self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563" name="TextBox 562"/>
          <p:cNvSpPr txBox="1"/>
          <p:nvPr/>
        </p:nvSpPr>
        <p:spPr>
          <a:xfrm>
            <a:off x="12457487" y="6109983"/>
            <a:ext cx="7920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703020202090204" pitchFamily="34" charset="0"/>
              </a:rPr>
              <a:t>(</a:t>
            </a:r>
          </a:p>
        </p:txBody>
      </p:sp>
      <p:sp>
        <p:nvSpPr>
          <p:cNvPr id="564" name="TextBox 563"/>
          <p:cNvSpPr txBox="1"/>
          <p:nvPr/>
        </p:nvSpPr>
        <p:spPr>
          <a:xfrm>
            <a:off x="13596268" y="6109983"/>
            <a:ext cx="14040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D7BA7D"/>
                </a:solidFill>
                <a:latin typeface="Trebuchet MS" panose="020B0703020202090204" pitchFamily="34" charset="0"/>
              </a:rPr>
              <a:t>\n</a:t>
            </a:r>
          </a:p>
        </p:txBody>
      </p:sp>
      <p:sp>
        <p:nvSpPr>
          <p:cNvPr id="565" name="TextBox 564"/>
          <p:cNvSpPr txBox="1"/>
          <p:nvPr/>
        </p:nvSpPr>
        <p:spPr>
          <a:xfrm>
            <a:off x="12871470" y="6109983"/>
            <a:ext cx="7920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latin typeface="Trebuchet MS" panose="020B0703020202090204" pitchFamily="34" charset="0"/>
              </a:rPr>
              <a:t>,</a:t>
            </a:r>
          </a:p>
        </p:txBody>
      </p:sp>
      <p:sp>
        <p:nvSpPr>
          <p:cNvPr id="566" name="TextBox 565"/>
          <p:cNvSpPr txBox="1"/>
          <p:nvPr/>
        </p:nvSpPr>
        <p:spPr>
          <a:xfrm>
            <a:off x="13010739" y="6109983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703020202090204" pitchFamily="34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Trebuchet MS" panose="020B0703020202090204" pitchFamily="34" charset="0"/>
              </a:rPr>
              <a:t>row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567" name="TextBox 566"/>
          <p:cNvSpPr txBox="1"/>
          <p:nvPr/>
        </p:nvSpPr>
        <p:spPr>
          <a:xfrm>
            <a:off x="13392695" y="6109983"/>
            <a:ext cx="11880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703020202090204" pitchFamily="34" charset="0"/>
              </a:rPr>
              <a:t>):</a:t>
            </a:r>
          </a:p>
        </p:txBody>
      </p:sp>
      <p:sp>
        <p:nvSpPr>
          <p:cNvPr id="568" name="TextBox 567"/>
          <p:cNvSpPr txBox="1"/>
          <p:nvPr/>
        </p:nvSpPr>
        <p:spPr>
          <a:xfrm>
            <a:off x="14122851" y="6109983"/>
            <a:ext cx="18720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AF00DB"/>
                </a:solidFill>
                <a:latin typeface="Trebuchet MS" panose="020B0703020202090204" pitchFamily="34" charset="0"/>
              </a:rPr>
              <a:t>for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569" name="TextBox 568"/>
          <p:cNvSpPr txBox="1"/>
          <p:nvPr/>
        </p:nvSpPr>
        <p:spPr>
          <a:xfrm>
            <a:off x="14316074" y="6109983"/>
            <a:ext cx="161386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latin typeface="Trebuchet MS" panose="020B0703020202090204" pitchFamily="34" charset="0"/>
              </a:rPr>
              <a:t>...</a:t>
            </a:r>
          </a:p>
        </p:txBody>
      </p:sp>
      <p:sp>
        <p:nvSpPr>
          <p:cNvPr id="570" name="TextBox 569"/>
          <p:cNvSpPr txBox="1"/>
          <p:nvPr/>
        </p:nvSpPr>
        <p:spPr>
          <a:xfrm>
            <a:off x="14498504" y="6109983"/>
            <a:ext cx="20160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703020202090204" pitchFamily="34" charset="0"/>
              </a:rPr>
              <a:t>⌷</a:t>
            </a:r>
            <a:r>
              <a:rPr lang="en-US" sz="900" dirty="0">
                <a:solidFill>
                  <a:srgbClr val="AF00DB"/>
                </a:solidFill>
                <a:latin typeface="Trebuchet MS" panose="020B0703020202090204" pitchFamily="34" charset="0"/>
              </a:rPr>
              <a:t>in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571" name="TextBox 570"/>
          <p:cNvSpPr txBox="1"/>
          <p:nvPr/>
        </p:nvSpPr>
        <p:spPr>
          <a:xfrm>
            <a:off x="14740488" y="6109983"/>
            <a:ext cx="65880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Trebuchet MS" panose="020B0703020202090204" pitchFamily="34" charset="0"/>
              </a:rPr>
              <a:t>⌷</a:t>
            </a:r>
            <a:r>
              <a:rPr lang="en-US" sz="900" dirty="0">
                <a:solidFill>
                  <a:srgbClr val="267F99"/>
                </a:solidFill>
                <a:latin typeface="Trebuchet MS" panose="020B0703020202090204" pitchFamily="34" charset="0"/>
              </a:rPr>
              <a:t>enumerate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131" name="TextBox 130"/>
          <p:cNvSpPr txBox="1"/>
          <p:nvPr/>
        </p:nvSpPr>
        <p:spPr>
          <a:xfrm>
            <a:off x="16001610" y="6109983"/>
            <a:ext cx="161386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altLang="zh-CN" sz="900" dirty="0">
                <a:latin typeface="Trebuchet MS" panose="020B0703020202090204" pitchFamily="34" charset="0"/>
              </a:rPr>
              <a:t>...</a:t>
            </a:r>
            <a:endParaRPr lang="en-US" sz="900" dirty="0">
              <a:latin typeface="Trebuchet MS" panose="020B0703020202090204" pitchFamily="34" charset="0"/>
            </a:endParaRPr>
          </a:p>
        </p:txBody>
      </p:sp>
      <p:sp>
        <p:nvSpPr>
          <p:cNvPr id="132" name="TextBox 131"/>
          <p:cNvSpPr txBox="1"/>
          <p:nvPr/>
        </p:nvSpPr>
        <p:spPr>
          <a:xfrm>
            <a:off x="13800761" y="6109983"/>
            <a:ext cx="2880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Trebuchet MS" panose="020B0703020202090204" pitchFamily="34" charset="0"/>
              </a:rPr>
              <a:t>⌷⌷⌷⌷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2116825" y="6342273"/>
            <a:ext cx="2880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latin typeface="Trebuchet MS" panose="020B0703020202090204" pitchFamily="34" charset="0"/>
                <a:cs typeface="Consolas" panose="020B0609020204030204" pitchFamily="49" charset="0"/>
              </a:rPr>
              <a:t>p</a:t>
            </a:r>
            <a:endParaRPr lang="en-US" sz="900" dirty="0">
              <a:latin typeface="Trebuchet MS" panose="020B0703020202090204" pitchFamily="34" charset="0"/>
              <a:cs typeface="Consolas" panose="020B0609020204030204" pitchFamily="49" charset="0"/>
            </a:endParaRPr>
          </a:p>
        </p:txBody>
      </p:sp>
      <p:sp>
        <p:nvSpPr>
          <p:cNvPr id="135" name="TextBox 134"/>
          <p:cNvSpPr txBox="1"/>
          <p:nvPr/>
        </p:nvSpPr>
        <p:spPr>
          <a:xfrm>
            <a:off x="12597772" y="6342273"/>
            <a:ext cx="2232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chemeClr val="tx1"/>
                </a:solidFill>
                <a:latin typeface="Trebuchet MS" panose="020B0703020202090204" pitchFamily="34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2457487" y="6342273"/>
            <a:ext cx="792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chemeClr val="tx1"/>
                </a:solidFill>
                <a:latin typeface="Trebuchet MS" panose="020B0703020202090204" pitchFamily="34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3596268" y="6342273"/>
            <a:ext cx="1404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Trebuchet MS" panose="020B0703020202090204" pitchFamily="34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12871470" y="6342273"/>
            <a:ext cx="792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chemeClr val="tx1"/>
                </a:solidFill>
                <a:latin typeface="Trebuchet MS" panose="020B0703020202090204" pitchFamily="34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3010739" y="6342273"/>
            <a:ext cx="312068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Trebuchet MS" panose="020B0703020202090204" pitchFamily="34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3392695" y="6342273"/>
            <a:ext cx="1188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chemeClr val="tx1"/>
                </a:solidFill>
                <a:latin typeface="Trebuchet MS" panose="020B0703020202090204" pitchFamily="34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4122851" y="6342273"/>
            <a:ext cx="1872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Trebuchet MS" panose="020B0703020202090204" pitchFamily="34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4276215" y="6342273"/>
            <a:ext cx="243139" cy="230400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Trebuchet MS" panose="020B0703020202090204" pitchFamily="34" charset="0"/>
                <a:cs typeface="Consolas" panose="020B0609020204030204" pitchFamily="49" charset="0"/>
              </a:rPr>
              <a:t>...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4498504" y="6342273"/>
            <a:ext cx="2016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Trebuchet MS" panose="020B0703020202090204" pitchFamily="34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4740488" y="6342273"/>
            <a:ext cx="6588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Trebuchet MS" panose="020B0703020202090204" pitchFamily="34" charset="0"/>
                <a:cs typeface="Consolas" panose="020B0609020204030204" pitchFamily="49" charset="0"/>
              </a:rPr>
              <a:t>p</a:t>
            </a:r>
            <a:endParaRPr lang="en-US" sz="1000" dirty="0">
              <a:latin typeface="Trebuchet MS" panose="020B0703020202090204" pitchFamily="34" charset="0"/>
              <a:cs typeface="Consolas" panose="020B0609020204030204" pitchFamily="49" charset="0"/>
            </a:endParaRPr>
          </a:p>
        </p:txBody>
      </p:sp>
      <p:sp>
        <p:nvSpPr>
          <p:cNvPr id="154" name="TextBox 153"/>
          <p:cNvSpPr txBox="1"/>
          <p:nvPr/>
        </p:nvSpPr>
        <p:spPr>
          <a:xfrm>
            <a:off x="15961751" y="6342273"/>
            <a:ext cx="243139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altLang="zh-CN" sz="900" dirty="0">
                <a:latin typeface="Trebuchet MS" panose="020B0703020202090204" pitchFamily="34" charset="0"/>
                <a:cs typeface="Consolas" panose="020B0609020204030204" pitchFamily="49" charset="0"/>
              </a:rPr>
              <a:t>...</a:t>
            </a:r>
            <a:endParaRPr lang="en-US" sz="900" dirty="0">
              <a:latin typeface="Trebuchet MS" panose="020B0703020202090204" pitchFamily="34" charset="0"/>
              <a:cs typeface="Consolas" panose="020B0609020204030204" pitchFamily="49" charset="0"/>
            </a:endParaRPr>
          </a:p>
        </p:txBody>
      </p:sp>
      <p:sp>
        <p:nvSpPr>
          <p:cNvPr id="155" name="TextBox 154"/>
          <p:cNvSpPr txBox="1"/>
          <p:nvPr/>
        </p:nvSpPr>
        <p:spPr>
          <a:xfrm>
            <a:off x="13801778" y="6342273"/>
            <a:ext cx="2880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latin typeface="Trebuchet MS" panose="020B0703020202090204" pitchFamily="34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7585050" y="7170937"/>
            <a:ext cx="223200" cy="230832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ot"/>
          </a:ln>
        </p:spPr>
        <p:txBody>
          <a:bodyPr wrap="none" lIns="18000" rIns="18000" rtlCol="0" anchor="ctr">
            <a:no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endParaRPr lang="en-US" sz="900" dirty="0">
              <a:solidFill>
                <a:schemeClr val="bg1"/>
              </a:solidFill>
              <a:latin typeface="Trebuchet MS" panose="020B0703020202090204" pitchFamily="34" charset="0"/>
            </a:endParaRPr>
          </a:p>
        </p:txBody>
      </p:sp>
      <p:sp>
        <p:nvSpPr>
          <p:cNvPr id="158" name="TextBox 157"/>
          <p:cNvSpPr txBox="1"/>
          <p:nvPr/>
        </p:nvSpPr>
        <p:spPr>
          <a:xfrm>
            <a:off x="18628700" y="7170937"/>
            <a:ext cx="140400" cy="230832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ot"/>
          </a:ln>
        </p:spPr>
        <p:txBody>
          <a:bodyPr wrap="none" lIns="18000" rIns="18000" rtlCol="0" anchor="ctr">
            <a:noAutofit/>
          </a:bodyPr>
          <a:lstStyle/>
          <a:p>
            <a:pPr algn="ctr"/>
            <a:endParaRPr lang="en-US" sz="900" dirty="0">
              <a:solidFill>
                <a:schemeClr val="bg1"/>
              </a:solidFill>
              <a:latin typeface="Trebuchet MS" panose="020B0703020202090204" pitchFamily="34" charset="0"/>
            </a:endParaRPr>
          </a:p>
        </p:txBody>
      </p:sp>
      <p:sp>
        <p:nvSpPr>
          <p:cNvPr id="159" name="TextBox 158"/>
          <p:cNvSpPr txBox="1"/>
          <p:nvPr/>
        </p:nvSpPr>
        <p:spPr>
          <a:xfrm>
            <a:off x="18419482" y="7170937"/>
            <a:ext cx="118800" cy="230832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ot"/>
          </a:ln>
        </p:spPr>
        <p:txBody>
          <a:bodyPr wrap="none" lIns="18000" rIns="18000" rtlCol="0" anchor="ctr">
            <a:no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endParaRPr lang="en-US" sz="900" dirty="0">
              <a:solidFill>
                <a:schemeClr val="bg1"/>
              </a:solidFill>
              <a:latin typeface="Trebuchet MS" panose="020B0703020202090204" pitchFamily="34" charset="0"/>
            </a:endParaRPr>
          </a:p>
        </p:txBody>
      </p:sp>
      <p:sp>
        <p:nvSpPr>
          <p:cNvPr id="160" name="TextBox 159"/>
          <p:cNvSpPr txBox="1"/>
          <p:nvPr/>
        </p:nvSpPr>
        <p:spPr>
          <a:xfrm>
            <a:off x="19491147" y="7170937"/>
            <a:ext cx="201600" cy="230832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ot"/>
          </a:ln>
        </p:spPr>
        <p:txBody>
          <a:bodyPr wrap="none" lIns="18000" rIns="18000" rtlCol="0" anchor="ctr">
            <a:noAutofit/>
          </a:bodyPr>
          <a:lstStyle/>
          <a:p>
            <a:pPr algn="ctr"/>
            <a:endParaRPr lang="en-US" sz="900" dirty="0">
              <a:solidFill>
                <a:schemeClr val="bg1"/>
              </a:solidFill>
              <a:latin typeface="Trebuchet MS" panose="020B0703020202090204" pitchFamily="34" charset="0"/>
            </a:endParaRPr>
          </a:p>
        </p:txBody>
      </p:sp>
      <p:sp>
        <p:nvSpPr>
          <p:cNvPr id="162" name="TextBox 161"/>
          <p:cNvSpPr txBox="1"/>
          <p:nvPr/>
        </p:nvSpPr>
        <p:spPr>
          <a:xfrm>
            <a:off x="18793404" y="7170937"/>
            <a:ext cx="288000" cy="230400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ot"/>
          </a:ln>
        </p:spPr>
        <p:txBody>
          <a:bodyPr wrap="none" lIns="18000" rIns="18000" rtlCol="0" anchor="ctr">
            <a:noAutofit/>
          </a:bodyPr>
          <a:lstStyle/>
          <a:p>
            <a:pPr algn="ctr"/>
            <a:endParaRPr lang="en-US" sz="800" dirty="0">
              <a:solidFill>
                <a:schemeClr val="bg1"/>
              </a:solidFill>
              <a:latin typeface="Trebuchet MS" panose="020B0703020202090204" pitchFamily="34" charset="0"/>
            </a:endParaRPr>
          </a:p>
        </p:txBody>
      </p:sp>
      <p:cxnSp>
        <p:nvCxnSpPr>
          <p:cNvPr id="164" name="Straight Arrow Connector 163"/>
          <p:cNvCxnSpPr>
            <a:stCxn id="157" idx="2"/>
            <a:endCxn id="514" idx="0"/>
          </p:cNvCxnSpPr>
          <p:nvPr/>
        </p:nvCxnSpPr>
        <p:spPr>
          <a:xfrm flipH="1">
            <a:off x="17684022" y="7401769"/>
            <a:ext cx="12628" cy="568314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5" name="Straight Arrow Connector 164"/>
          <p:cNvCxnSpPr>
            <a:stCxn id="159" idx="2"/>
            <a:endCxn id="527" idx="0"/>
          </p:cNvCxnSpPr>
          <p:nvPr/>
        </p:nvCxnSpPr>
        <p:spPr>
          <a:xfrm>
            <a:off x="18478882" y="7401769"/>
            <a:ext cx="2727" cy="568314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8" name="Straight Arrow Connector 167"/>
          <p:cNvCxnSpPr>
            <a:stCxn id="158" idx="2"/>
            <a:endCxn id="524" idx="0"/>
          </p:cNvCxnSpPr>
          <p:nvPr/>
        </p:nvCxnSpPr>
        <p:spPr>
          <a:xfrm flipH="1">
            <a:off x="18690827" y="7401769"/>
            <a:ext cx="8073" cy="568314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1" name="Straight Arrow Connector 170"/>
          <p:cNvCxnSpPr>
            <a:stCxn id="162" idx="2"/>
            <a:endCxn id="559" idx="0"/>
          </p:cNvCxnSpPr>
          <p:nvPr/>
        </p:nvCxnSpPr>
        <p:spPr>
          <a:xfrm>
            <a:off x="18937404" y="7401337"/>
            <a:ext cx="27117" cy="568746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4" name="Straight Arrow Connector 173"/>
          <p:cNvCxnSpPr>
            <a:stCxn id="160" idx="2"/>
            <a:endCxn id="544" idx="0"/>
          </p:cNvCxnSpPr>
          <p:nvPr/>
        </p:nvCxnSpPr>
        <p:spPr>
          <a:xfrm flipH="1">
            <a:off x="19586363" y="7401769"/>
            <a:ext cx="5584" cy="568314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0" name="Elbow Connector 629"/>
          <p:cNvCxnSpPr>
            <a:cxnSpLocks/>
            <a:stCxn id="4" idx="3"/>
            <a:endCxn id="642" idx="1"/>
          </p:cNvCxnSpPr>
          <p:nvPr/>
        </p:nvCxnSpPr>
        <p:spPr>
          <a:xfrm>
            <a:off x="10844683" y="4476603"/>
            <a:ext cx="1095684" cy="1488534"/>
          </a:xfrm>
          <a:prstGeom prst="bentConnector3">
            <a:avLst>
              <a:gd name="adj1" fmla="val 50000"/>
            </a:avLst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3" name="TextBox 662"/>
          <p:cNvSpPr txBox="1"/>
          <p:nvPr/>
        </p:nvSpPr>
        <p:spPr>
          <a:xfrm>
            <a:off x="12709210" y="4248751"/>
            <a:ext cx="26409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Trebuchet MS" panose="020B0703020202090204" pitchFamily="34" charset="0"/>
              </a:rPr>
              <a:t>Copyright</a:t>
            </a:r>
            <a:r>
              <a:rPr lang="en-US" altLang="zh-CN" dirty="0">
                <a:latin typeface="Trebuchet MS" panose="020B0703020202090204" pitchFamily="34" charset="0"/>
              </a:rPr>
              <a:t>-Owned </a:t>
            </a:r>
            <a:r>
              <a:rPr lang="en-US" dirty="0">
                <a:latin typeface="Trebuchet MS" panose="020B0703020202090204" pitchFamily="34" charset="0"/>
              </a:rPr>
              <a:t>Code</a:t>
            </a:r>
          </a:p>
        </p:txBody>
      </p:sp>
      <p:sp>
        <p:nvSpPr>
          <p:cNvPr id="689" name="TextBox 688"/>
          <p:cNvSpPr txBox="1"/>
          <p:nvPr/>
        </p:nvSpPr>
        <p:spPr>
          <a:xfrm>
            <a:off x="19183039" y="8747886"/>
            <a:ext cx="216918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Trebuchet MS" panose="020B0703020202090204" pitchFamily="34" charset="0"/>
              </a:rPr>
              <a:t>Our Solution</a:t>
            </a:r>
          </a:p>
        </p:txBody>
      </p:sp>
      <p:cxnSp>
        <p:nvCxnSpPr>
          <p:cNvPr id="725" name="Elbow Connector 724"/>
          <p:cNvCxnSpPr>
            <a:cxnSpLocks/>
            <a:stCxn id="9" idx="0"/>
            <a:endCxn id="680" idx="0"/>
          </p:cNvCxnSpPr>
          <p:nvPr/>
        </p:nvCxnSpPr>
        <p:spPr>
          <a:xfrm rot="5400000" flipH="1" flipV="1">
            <a:off x="11243537" y="-3993159"/>
            <a:ext cx="194145" cy="15369042"/>
          </a:xfrm>
          <a:prstGeom prst="bentConnector3">
            <a:avLst>
              <a:gd name="adj1" fmla="val 217747"/>
            </a:avLst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0" name="Straight Arrow Connector 749"/>
          <p:cNvCxnSpPr/>
          <p:nvPr/>
        </p:nvCxnSpPr>
        <p:spPr>
          <a:xfrm flipH="1">
            <a:off x="14922058" y="5886381"/>
            <a:ext cx="915" cy="18000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6" name="Right Brace 755"/>
          <p:cNvSpPr/>
          <p:nvPr/>
        </p:nvSpPr>
        <p:spPr>
          <a:xfrm rot="5400000">
            <a:off x="19167950" y="1289311"/>
            <a:ext cx="322265" cy="14554588"/>
          </a:xfrm>
          <a:prstGeom prst="rightBrace">
            <a:avLst>
              <a:gd name="adj1" fmla="val 25000"/>
              <a:gd name="adj2" fmla="val 50000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>
              <a:latin typeface="Trebuchet MS" panose="020B0703020202090204" pitchFamily="34" charset="0"/>
            </a:endParaRPr>
          </a:p>
        </p:txBody>
      </p:sp>
      <p:sp>
        <p:nvSpPr>
          <p:cNvPr id="758" name="Rounded Rectangle 757"/>
          <p:cNvSpPr/>
          <p:nvPr/>
        </p:nvSpPr>
        <p:spPr>
          <a:xfrm>
            <a:off x="12723468" y="3735718"/>
            <a:ext cx="2955029" cy="487630"/>
          </a:xfrm>
          <a:prstGeom prst="roundRect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i="1" dirty="0">
                <a:solidFill>
                  <a:schemeClr val="bg1"/>
                </a:solidFill>
                <a:latin typeface="Trebuchet MS" panose="020B0703020202090204" pitchFamily="34" charset="0"/>
              </a:rPr>
              <a:t>Token Preprocessing</a:t>
            </a:r>
          </a:p>
        </p:txBody>
      </p:sp>
      <p:sp>
        <p:nvSpPr>
          <p:cNvPr id="761" name="TextBox 760"/>
          <p:cNvSpPr txBox="1"/>
          <p:nvPr/>
        </p:nvSpPr>
        <p:spPr>
          <a:xfrm>
            <a:off x="12061257" y="5780982"/>
            <a:ext cx="290967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Trebuchet MS" panose="020B0703020202090204" pitchFamily="34" charset="0"/>
              </a:rPr>
              <a:t>Token and</a:t>
            </a:r>
            <a:r>
              <a:rPr lang="zh-CN" altLang="en-US" sz="1600" dirty="0">
                <a:latin typeface="Trebuchet MS" panose="020B0703020202090204" pitchFamily="34" charset="0"/>
              </a:rPr>
              <a:t> </a:t>
            </a:r>
            <a:r>
              <a:rPr lang="en-US" altLang="zh-CN" sz="1600" dirty="0">
                <a:latin typeface="Trebuchet MS" panose="020B0703020202090204" pitchFamily="34" charset="0"/>
              </a:rPr>
              <a:t>Probabilities</a:t>
            </a:r>
            <a:endParaRPr lang="en-US" sz="1600" dirty="0">
              <a:latin typeface="Trebuchet MS" panose="020B0703020202090204" pitchFamily="34" charset="0"/>
            </a:endParaRPr>
          </a:p>
        </p:txBody>
      </p:sp>
      <p:cxnSp>
        <p:nvCxnSpPr>
          <p:cNvPr id="384" name="Straight Arrow Connector 383"/>
          <p:cNvCxnSpPr>
            <a:cxnSpLocks/>
            <a:stCxn id="65" idx="2"/>
            <a:endCxn id="66" idx="0"/>
          </p:cNvCxnSpPr>
          <p:nvPr/>
        </p:nvCxnSpPr>
        <p:spPr>
          <a:xfrm flipH="1">
            <a:off x="20842374" y="7403528"/>
            <a:ext cx="3009" cy="566555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0" name="Rounded Rectangle 389"/>
          <p:cNvSpPr/>
          <p:nvPr/>
        </p:nvSpPr>
        <p:spPr>
          <a:xfrm>
            <a:off x="21702025" y="4468126"/>
            <a:ext cx="4970244" cy="2516177"/>
          </a:xfrm>
          <a:prstGeom prst="roundRect">
            <a:avLst>
              <a:gd name="adj" fmla="val 2712"/>
            </a:avLst>
          </a:prstGeom>
          <a:solidFill>
            <a:srgbClr val="7030A0">
              <a:alpha val="3000"/>
            </a:srgbClr>
          </a:solidFill>
          <a:ln>
            <a:solidFill>
              <a:srgbClr val="7030A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Trebuchet MS" panose="020B0703020202090204" pitchFamily="34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6D3BC0A-BC67-7613-2B42-483BAC6C4DC6}"/>
              </a:ext>
            </a:extLst>
          </p:cNvPr>
          <p:cNvSpPr txBox="1"/>
          <p:nvPr/>
        </p:nvSpPr>
        <p:spPr>
          <a:xfrm>
            <a:off x="15427327" y="6339627"/>
            <a:ext cx="792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Trebuchet MS" panose="020B0703020202090204" pitchFamily="34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4E32C39-1148-249E-3296-A28EC4ED464C}"/>
              </a:ext>
            </a:extLst>
          </p:cNvPr>
          <p:cNvSpPr txBox="1"/>
          <p:nvPr/>
        </p:nvSpPr>
        <p:spPr>
          <a:xfrm>
            <a:off x="15427327" y="6108567"/>
            <a:ext cx="7803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703020202090204" pitchFamily="34" charset="0"/>
              </a:rPr>
              <a:t>(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E95055C-D411-3845-6B78-DC7F05385580}"/>
              </a:ext>
            </a:extLst>
          </p:cNvPr>
          <p:cNvSpPr txBox="1"/>
          <p:nvPr/>
        </p:nvSpPr>
        <p:spPr>
          <a:xfrm>
            <a:off x="15535888" y="6108567"/>
            <a:ext cx="230315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001080"/>
                </a:solidFill>
                <a:latin typeface="Trebuchet MS" panose="020B0703020202090204" pitchFamily="34" charset="0"/>
              </a:rPr>
              <a:t>row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C3825B6-BC8B-5615-4722-EE8B03D4C430}"/>
              </a:ext>
            </a:extLst>
          </p:cNvPr>
          <p:cNvSpPr txBox="1"/>
          <p:nvPr/>
        </p:nvSpPr>
        <p:spPr>
          <a:xfrm>
            <a:off x="15792886" y="6108567"/>
            <a:ext cx="11970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703020202090204" pitchFamily="34" charset="0"/>
              </a:rPr>
              <a:t>):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CE5A533-A018-4B34-9B0A-C6348A2943FB}"/>
              </a:ext>
            </a:extLst>
          </p:cNvPr>
          <p:cNvSpPr txBox="1"/>
          <p:nvPr/>
        </p:nvSpPr>
        <p:spPr>
          <a:xfrm>
            <a:off x="15535888" y="6339627"/>
            <a:ext cx="2304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Trebuchet MS" panose="020B0703020202090204" pitchFamily="34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A2B2997E-3AE7-92E8-936C-66088D1A6DA9}"/>
              </a:ext>
            </a:extLst>
          </p:cNvPr>
          <p:cNvSpPr txBox="1"/>
          <p:nvPr/>
        </p:nvSpPr>
        <p:spPr>
          <a:xfrm>
            <a:off x="15792886" y="6339627"/>
            <a:ext cx="1188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Trebuchet MS" panose="020B0703020202090204" pitchFamily="34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43" name="Rounded Rectangle 42">
            <a:extLst>
              <a:ext uri="{FF2B5EF4-FFF2-40B4-BE49-F238E27FC236}">
                <a16:creationId xmlns:a16="http://schemas.microsoft.com/office/drawing/2014/main" id="{6DEF950C-7D78-408B-27F1-AC9FCB5D7EFF}"/>
              </a:ext>
            </a:extLst>
          </p:cNvPr>
          <p:cNvSpPr/>
          <p:nvPr/>
        </p:nvSpPr>
        <p:spPr>
          <a:xfrm>
            <a:off x="12050464" y="7193649"/>
            <a:ext cx="4156540" cy="1095938"/>
          </a:xfrm>
          <a:prstGeom prst="roundRect">
            <a:avLst>
              <a:gd name="adj" fmla="val 2712"/>
            </a:avLst>
          </a:prstGeom>
          <a:solidFill>
            <a:srgbClr val="7030A0">
              <a:alpha val="14000"/>
            </a:srgbClr>
          </a:solidFill>
          <a:ln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>
              <a:latin typeface="Trebuchet MS" panose="020B0703020202090204" pitchFamily="34" charset="0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51D243E-2EEF-858E-C777-92CF38E20EA8}"/>
              </a:ext>
            </a:extLst>
          </p:cNvPr>
          <p:cNvSpPr txBox="1"/>
          <p:nvPr/>
        </p:nvSpPr>
        <p:spPr>
          <a:xfrm>
            <a:off x="12204288" y="7543809"/>
            <a:ext cx="288024" cy="230832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ash"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Trebuchet MS" panose="020B0703020202090204" pitchFamily="34" charset="0"/>
              </a:rPr>
              <a:t>⌷</a:t>
            </a:r>
            <a:r>
              <a:rPr lang="en-US" sz="900" dirty="0">
                <a:solidFill>
                  <a:srgbClr val="795E26"/>
                </a:solidFill>
                <a:latin typeface="Trebuchet MS" panose="020B0703020202090204" pitchFamily="34" charset="0"/>
              </a:rPr>
              <a:t>add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D9E26F36-1CBF-D504-F3BA-1153B9DB2FF5}"/>
              </a:ext>
            </a:extLst>
          </p:cNvPr>
          <p:cNvSpPr txBox="1"/>
          <p:nvPr/>
        </p:nvSpPr>
        <p:spPr>
          <a:xfrm>
            <a:off x="12685235" y="7543809"/>
            <a:ext cx="22320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001080"/>
                </a:solidFill>
                <a:latin typeface="Trebuchet MS" panose="020B0703020202090204" pitchFamily="34" charset="0"/>
              </a:rPr>
              <a:t>self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3C943EA9-8A8F-7A5A-8D91-880C3C367663}"/>
              </a:ext>
            </a:extLst>
          </p:cNvPr>
          <p:cNvSpPr txBox="1"/>
          <p:nvPr/>
        </p:nvSpPr>
        <p:spPr>
          <a:xfrm>
            <a:off x="12544950" y="7543809"/>
            <a:ext cx="7920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703020202090204" pitchFamily="34" charset="0"/>
              </a:rPr>
              <a:t>(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E6D94177-3DDD-9E4A-541D-9F2B0E0CE4E8}"/>
              </a:ext>
            </a:extLst>
          </p:cNvPr>
          <p:cNvSpPr txBox="1"/>
          <p:nvPr/>
        </p:nvSpPr>
        <p:spPr>
          <a:xfrm>
            <a:off x="13683731" y="7543809"/>
            <a:ext cx="14040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D7BA7D"/>
                </a:solidFill>
                <a:latin typeface="Trebuchet MS" panose="020B0703020202090204" pitchFamily="34" charset="0"/>
              </a:rPr>
              <a:t>\n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A4949360-F91F-B7CF-B988-7E2D58866217}"/>
              </a:ext>
            </a:extLst>
          </p:cNvPr>
          <p:cNvSpPr txBox="1"/>
          <p:nvPr/>
        </p:nvSpPr>
        <p:spPr>
          <a:xfrm>
            <a:off x="12958933" y="7543809"/>
            <a:ext cx="7920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latin typeface="Trebuchet MS" panose="020B0703020202090204" pitchFamily="34" charset="0"/>
              </a:rPr>
              <a:t>,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D1CE5A88-E7A0-6759-6401-849CFD64EF28}"/>
              </a:ext>
            </a:extLst>
          </p:cNvPr>
          <p:cNvSpPr txBox="1"/>
          <p:nvPr/>
        </p:nvSpPr>
        <p:spPr>
          <a:xfrm>
            <a:off x="13098202" y="7543809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ot"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703020202090204" pitchFamily="34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Trebuchet MS" panose="020B0703020202090204" pitchFamily="34" charset="0"/>
              </a:rPr>
              <a:t>row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7F808616-D913-A681-888B-609B178083B9}"/>
              </a:ext>
            </a:extLst>
          </p:cNvPr>
          <p:cNvSpPr txBox="1"/>
          <p:nvPr/>
        </p:nvSpPr>
        <p:spPr>
          <a:xfrm>
            <a:off x="13502383" y="7543809"/>
            <a:ext cx="11880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703020202090204" pitchFamily="34" charset="0"/>
              </a:rPr>
              <a:t>):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846EB549-E5C3-D38A-86CC-26F9A7389657}"/>
              </a:ext>
            </a:extLst>
          </p:cNvPr>
          <p:cNvSpPr txBox="1"/>
          <p:nvPr/>
        </p:nvSpPr>
        <p:spPr>
          <a:xfrm>
            <a:off x="14210314" y="7543809"/>
            <a:ext cx="18720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AF00DB"/>
                </a:solidFill>
                <a:latin typeface="Trebuchet MS" panose="020B0703020202090204" pitchFamily="34" charset="0"/>
              </a:rPr>
              <a:t>for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BC09B9DA-047B-0363-A604-11CC4C295D2E}"/>
              </a:ext>
            </a:extLst>
          </p:cNvPr>
          <p:cNvSpPr txBox="1"/>
          <p:nvPr/>
        </p:nvSpPr>
        <p:spPr>
          <a:xfrm>
            <a:off x="14403537" y="7543809"/>
            <a:ext cx="161386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latin typeface="Trebuchet MS" panose="020B0703020202090204" pitchFamily="34" charset="0"/>
              </a:rPr>
              <a:t>...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CB6E3802-51F8-7D2F-6480-C3F890D4222A}"/>
              </a:ext>
            </a:extLst>
          </p:cNvPr>
          <p:cNvSpPr txBox="1"/>
          <p:nvPr/>
        </p:nvSpPr>
        <p:spPr>
          <a:xfrm>
            <a:off x="14585967" y="7543809"/>
            <a:ext cx="201600" cy="230832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ot"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703020202090204" pitchFamily="34" charset="0"/>
              </a:rPr>
              <a:t>⌷</a:t>
            </a:r>
            <a:r>
              <a:rPr lang="en-US" sz="900" dirty="0">
                <a:solidFill>
                  <a:srgbClr val="AF00DB"/>
                </a:solidFill>
                <a:latin typeface="Trebuchet MS" panose="020B0703020202090204" pitchFamily="34" charset="0"/>
              </a:rPr>
              <a:t>in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EDD21CE5-798C-3818-D9FF-806097306FE7}"/>
              </a:ext>
            </a:extLst>
          </p:cNvPr>
          <p:cNvSpPr txBox="1"/>
          <p:nvPr/>
        </p:nvSpPr>
        <p:spPr>
          <a:xfrm>
            <a:off x="14827951" y="7543809"/>
            <a:ext cx="658800" cy="230832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ot"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Trebuchet MS" panose="020B0703020202090204" pitchFamily="34" charset="0"/>
              </a:rPr>
              <a:t>⌷</a:t>
            </a:r>
            <a:r>
              <a:rPr lang="en-US" sz="900" dirty="0">
                <a:solidFill>
                  <a:srgbClr val="267F99"/>
                </a:solidFill>
                <a:latin typeface="Trebuchet MS" panose="020B0703020202090204" pitchFamily="34" charset="0"/>
              </a:rPr>
              <a:t>enumerate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B3070418-DACC-7BC1-F328-B61E3E452903}"/>
              </a:ext>
            </a:extLst>
          </p:cNvPr>
          <p:cNvSpPr txBox="1"/>
          <p:nvPr/>
        </p:nvSpPr>
        <p:spPr>
          <a:xfrm>
            <a:off x="16026443" y="7506231"/>
            <a:ext cx="161386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altLang="zh-CN" sz="900" dirty="0">
                <a:latin typeface="Trebuchet MS" panose="020B0703020202090204" pitchFamily="34" charset="0"/>
              </a:rPr>
              <a:t>...</a:t>
            </a:r>
            <a:endParaRPr lang="en-US" sz="900" dirty="0">
              <a:latin typeface="Trebuchet MS" panose="020B0703020202090204" pitchFamily="34" charset="0"/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BC04FFD8-A6B2-0E6E-8126-353E0E22869A}"/>
              </a:ext>
            </a:extLst>
          </p:cNvPr>
          <p:cNvSpPr txBox="1"/>
          <p:nvPr/>
        </p:nvSpPr>
        <p:spPr>
          <a:xfrm>
            <a:off x="13888224" y="7543809"/>
            <a:ext cx="288000" cy="230400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ot"/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Trebuchet MS" panose="020B0703020202090204" pitchFamily="34" charset="0"/>
              </a:rPr>
              <a:t>⌷⌷⌷⌷</a:t>
            </a:r>
          </a:p>
        </p:txBody>
      </p:sp>
      <p:sp>
        <p:nvSpPr>
          <p:cNvPr id="479" name="TextBox 478">
            <a:extLst>
              <a:ext uri="{FF2B5EF4-FFF2-40B4-BE49-F238E27FC236}">
                <a16:creationId xmlns:a16="http://schemas.microsoft.com/office/drawing/2014/main" id="{1E740073-3479-A9B9-91E0-60FA02EBB936}"/>
              </a:ext>
            </a:extLst>
          </p:cNvPr>
          <p:cNvSpPr txBox="1"/>
          <p:nvPr/>
        </p:nvSpPr>
        <p:spPr>
          <a:xfrm>
            <a:off x="15514790" y="7542393"/>
            <a:ext cx="7803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703020202090204" pitchFamily="34" charset="0"/>
              </a:rPr>
              <a:t>(</a:t>
            </a:r>
          </a:p>
        </p:txBody>
      </p:sp>
      <p:sp>
        <p:nvSpPr>
          <p:cNvPr id="480" name="TextBox 479">
            <a:extLst>
              <a:ext uri="{FF2B5EF4-FFF2-40B4-BE49-F238E27FC236}">
                <a16:creationId xmlns:a16="http://schemas.microsoft.com/office/drawing/2014/main" id="{8CEF84DF-BCA5-CCFD-5616-B1EF29A36A10}"/>
              </a:ext>
            </a:extLst>
          </p:cNvPr>
          <p:cNvSpPr txBox="1"/>
          <p:nvPr/>
        </p:nvSpPr>
        <p:spPr>
          <a:xfrm>
            <a:off x="15623351" y="7542393"/>
            <a:ext cx="230315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001080"/>
                </a:solidFill>
                <a:latin typeface="Trebuchet MS" panose="020B0703020202090204" pitchFamily="34" charset="0"/>
              </a:rPr>
              <a:t>row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481" name="TextBox 480">
            <a:extLst>
              <a:ext uri="{FF2B5EF4-FFF2-40B4-BE49-F238E27FC236}">
                <a16:creationId xmlns:a16="http://schemas.microsoft.com/office/drawing/2014/main" id="{1AB3723C-E118-0D27-EC73-C8493E309010}"/>
              </a:ext>
            </a:extLst>
          </p:cNvPr>
          <p:cNvSpPr txBox="1"/>
          <p:nvPr/>
        </p:nvSpPr>
        <p:spPr>
          <a:xfrm>
            <a:off x="15880349" y="7542393"/>
            <a:ext cx="119708" cy="230832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ot"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703020202090204" pitchFamily="34" charset="0"/>
              </a:rPr>
              <a:t>):</a:t>
            </a:r>
          </a:p>
        </p:txBody>
      </p:sp>
      <p:sp>
        <p:nvSpPr>
          <p:cNvPr id="486" name="TextBox 485">
            <a:extLst>
              <a:ext uri="{FF2B5EF4-FFF2-40B4-BE49-F238E27FC236}">
                <a16:creationId xmlns:a16="http://schemas.microsoft.com/office/drawing/2014/main" id="{2059603B-0D31-D106-C7FE-67FE90B7BCE0}"/>
              </a:ext>
            </a:extLst>
          </p:cNvPr>
          <p:cNvSpPr txBox="1"/>
          <p:nvPr/>
        </p:nvSpPr>
        <p:spPr>
          <a:xfrm>
            <a:off x="20931623" y="7172696"/>
            <a:ext cx="161386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altLang="zh-CN" sz="900" dirty="0">
                <a:latin typeface="Trebuchet MS" panose="020B0703020202090204" pitchFamily="34" charset="0"/>
              </a:rPr>
              <a:t>...</a:t>
            </a:r>
            <a:endParaRPr lang="en-US" sz="900" dirty="0">
              <a:latin typeface="Trebuchet MS" panose="020B0703020202090204" pitchFamily="34" charset="0"/>
            </a:endParaRPr>
          </a:p>
        </p:txBody>
      </p:sp>
      <p:sp>
        <p:nvSpPr>
          <p:cNvPr id="487" name="TextBox 486">
            <a:extLst>
              <a:ext uri="{FF2B5EF4-FFF2-40B4-BE49-F238E27FC236}">
                <a16:creationId xmlns:a16="http://schemas.microsoft.com/office/drawing/2014/main" id="{D03EFA0F-07AF-FAA2-AC33-4B2A529E5A89}"/>
              </a:ext>
            </a:extLst>
          </p:cNvPr>
          <p:cNvSpPr txBox="1"/>
          <p:nvPr/>
        </p:nvSpPr>
        <p:spPr>
          <a:xfrm>
            <a:off x="20419970" y="7172696"/>
            <a:ext cx="7803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703020202090204" pitchFamily="34" charset="0"/>
              </a:rPr>
              <a:t>(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7F90C3F3-F914-2940-2445-72265EB8DEBC}"/>
              </a:ext>
            </a:extLst>
          </p:cNvPr>
          <p:cNvSpPr txBox="1"/>
          <p:nvPr/>
        </p:nvSpPr>
        <p:spPr>
          <a:xfrm>
            <a:off x="20528531" y="7172696"/>
            <a:ext cx="230315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001080"/>
                </a:solidFill>
                <a:latin typeface="Trebuchet MS" panose="020B0703020202090204" pitchFamily="34" charset="0"/>
              </a:rPr>
              <a:t>row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CEAC60AE-0EF2-5FFA-5F35-ECD52E19B33B}"/>
              </a:ext>
            </a:extLst>
          </p:cNvPr>
          <p:cNvSpPr txBox="1"/>
          <p:nvPr/>
        </p:nvSpPr>
        <p:spPr>
          <a:xfrm>
            <a:off x="20785529" y="7172696"/>
            <a:ext cx="119708" cy="230832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ot"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E9DFF0"/>
                </a:solidFill>
                <a:latin typeface="Trebuchet MS" panose="020B0703020202090204" pitchFamily="34" charset="0"/>
              </a:rPr>
              <a:t>):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61EBA749-6A64-7CA6-0780-4BF658D20D8A}"/>
              </a:ext>
            </a:extLst>
          </p:cNvPr>
          <p:cNvSpPr txBox="1"/>
          <p:nvPr/>
        </p:nvSpPr>
        <p:spPr>
          <a:xfrm>
            <a:off x="20782520" y="7970083"/>
            <a:ext cx="119708" cy="2308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703020202090204" pitchFamily="34" charset="0"/>
              </a:rPr>
              <a:t>):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7F7F9BC3-08E8-E044-ABAF-DA9F724EA731}"/>
              </a:ext>
            </a:extLst>
          </p:cNvPr>
          <p:cNvSpPr txBox="1"/>
          <p:nvPr/>
        </p:nvSpPr>
        <p:spPr>
          <a:xfrm>
            <a:off x="20919108" y="7940864"/>
            <a:ext cx="161386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altLang="zh-CN" sz="900" dirty="0">
                <a:latin typeface="Trebuchet MS" panose="020B0703020202090204" pitchFamily="34" charset="0"/>
              </a:rPr>
              <a:t>...</a:t>
            </a:r>
            <a:endParaRPr lang="en-US" sz="900" dirty="0">
              <a:latin typeface="Trebuchet MS" panose="020B0703020202090204" pitchFamily="34" charset="0"/>
            </a:endParaRPr>
          </a:p>
        </p:txBody>
      </p:sp>
      <p:sp>
        <p:nvSpPr>
          <p:cNvPr id="75" name="Rounded Rectangle 74">
            <a:extLst>
              <a:ext uri="{FF2B5EF4-FFF2-40B4-BE49-F238E27FC236}">
                <a16:creationId xmlns:a16="http://schemas.microsoft.com/office/drawing/2014/main" id="{4DBB1C9F-AB86-F442-30E3-6C02F2842275}"/>
              </a:ext>
            </a:extLst>
          </p:cNvPr>
          <p:cNvSpPr/>
          <p:nvPr/>
        </p:nvSpPr>
        <p:spPr>
          <a:xfrm>
            <a:off x="18122312" y="4254503"/>
            <a:ext cx="2650122" cy="484828"/>
          </a:xfrm>
          <a:prstGeom prst="roundRect">
            <a:avLst>
              <a:gd name="adj" fmla="val 15542"/>
            </a:avLst>
          </a:prstGeom>
          <a:noFill/>
          <a:ln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800" dirty="0">
                <a:solidFill>
                  <a:schemeClr val="tx1"/>
                </a:solidFill>
                <a:effectLst/>
                <a:latin typeface="Trebuchet MS" panose="020B0703020202090204" pitchFamily="34" charset="0"/>
              </a:rPr>
              <a:t>Syntax Conventions </a:t>
            </a:r>
            <a:endParaRPr lang="en-US" dirty="0">
              <a:solidFill>
                <a:schemeClr val="tx1"/>
              </a:solidFill>
              <a:latin typeface="Trebuchet MS" panose="020B0703020202090204" pitchFamily="34" charset="0"/>
            </a:endParaRP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509897CF-5170-78B5-5CAC-2FC1063A8CCF}"/>
              </a:ext>
            </a:extLst>
          </p:cNvPr>
          <p:cNvSpPr txBox="1"/>
          <p:nvPr/>
        </p:nvSpPr>
        <p:spPr>
          <a:xfrm>
            <a:off x="12352322" y="7934679"/>
            <a:ext cx="225506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795E26"/>
                </a:solidFill>
                <a:latin typeface="Trebuchet MS" panose="020B0703020202090204" pitchFamily="34" charset="0"/>
              </a:rPr>
              <a:t>add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122900DB-DE35-EC1E-288A-7D1BA1599C39}"/>
              </a:ext>
            </a:extLst>
          </p:cNvPr>
          <p:cNvSpPr txBox="1"/>
          <p:nvPr/>
        </p:nvSpPr>
        <p:spPr>
          <a:xfrm>
            <a:off x="12156854" y="7934679"/>
            <a:ext cx="98868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Trebuchet MS" panose="020B0703020202090204" pitchFamily="34" charset="0"/>
              </a:rPr>
              <a:t>⌷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1B5A7AA8-2E84-9C59-9857-834ADD285B61}"/>
              </a:ext>
            </a:extLst>
          </p:cNvPr>
          <p:cNvSpPr txBox="1"/>
          <p:nvPr/>
        </p:nvSpPr>
        <p:spPr>
          <a:xfrm>
            <a:off x="13197208" y="7934679"/>
            <a:ext cx="230315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001080"/>
                </a:solidFill>
                <a:latin typeface="Trebuchet MS" panose="020B0703020202090204" pitchFamily="34" charset="0"/>
              </a:rPr>
              <a:t>row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41997148-C323-0100-498C-2B2AF5C5301F}"/>
              </a:ext>
            </a:extLst>
          </p:cNvPr>
          <p:cNvSpPr txBox="1"/>
          <p:nvPr/>
        </p:nvSpPr>
        <p:spPr>
          <a:xfrm>
            <a:off x="13029458" y="7928334"/>
            <a:ext cx="106884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703020202090204" pitchFamily="34" charset="0"/>
              </a:rPr>
              <a:t>⌷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AC135F43-1CF7-9515-C72D-FAACBAA9DA01}"/>
              </a:ext>
            </a:extLst>
          </p:cNvPr>
          <p:cNvSpPr txBox="1"/>
          <p:nvPr/>
        </p:nvSpPr>
        <p:spPr>
          <a:xfrm>
            <a:off x="13743166" y="7934679"/>
            <a:ext cx="106884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703020202090204" pitchFamily="34" charset="0"/>
              </a:rPr>
              <a:t>⌷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4360CF13-B258-4EB7-92E9-F359E389E115}"/>
              </a:ext>
            </a:extLst>
          </p:cNvPr>
          <p:cNvSpPr txBox="1"/>
          <p:nvPr/>
        </p:nvSpPr>
        <p:spPr>
          <a:xfrm>
            <a:off x="13915358" y="7934679"/>
            <a:ext cx="106884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703020202090204" pitchFamily="34" charset="0"/>
              </a:rPr>
              <a:t>⌷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32627BF4-02B2-9D38-5784-AB4E130BCA6C}"/>
              </a:ext>
            </a:extLst>
          </p:cNvPr>
          <p:cNvSpPr txBox="1"/>
          <p:nvPr/>
        </p:nvSpPr>
        <p:spPr>
          <a:xfrm>
            <a:off x="14087550" y="7934679"/>
            <a:ext cx="106884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703020202090204" pitchFamily="34" charset="0"/>
              </a:rPr>
              <a:t>⌷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751BFFC5-5E40-C8C6-DDC0-1F878C06D045}"/>
              </a:ext>
            </a:extLst>
          </p:cNvPr>
          <p:cNvSpPr txBox="1"/>
          <p:nvPr/>
        </p:nvSpPr>
        <p:spPr>
          <a:xfrm>
            <a:off x="14259741" y="7934679"/>
            <a:ext cx="106884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703020202090204" pitchFamily="34" charset="0"/>
              </a:rPr>
              <a:t>⌷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A8420525-48B5-6E74-9EB5-429A9207810D}"/>
              </a:ext>
            </a:extLst>
          </p:cNvPr>
          <p:cNvSpPr txBox="1"/>
          <p:nvPr/>
        </p:nvSpPr>
        <p:spPr>
          <a:xfrm>
            <a:off x="14531594" y="7934679"/>
            <a:ext cx="106884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703020202090204" pitchFamily="34" charset="0"/>
              </a:rPr>
              <a:t>⌷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B6CD38D7-FFB0-61CD-145F-DABB92D6CDCE}"/>
              </a:ext>
            </a:extLst>
          </p:cNvPr>
          <p:cNvSpPr txBox="1"/>
          <p:nvPr/>
        </p:nvSpPr>
        <p:spPr>
          <a:xfrm>
            <a:off x="14720518" y="7934679"/>
            <a:ext cx="132532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AF00DB"/>
                </a:solidFill>
                <a:latin typeface="Trebuchet MS" panose="020B0703020202090204" pitchFamily="34" charset="0"/>
              </a:rPr>
              <a:t>in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FC1E0695-90D5-7EDA-ADF3-F3D68114E625}"/>
              </a:ext>
            </a:extLst>
          </p:cNvPr>
          <p:cNvSpPr txBox="1"/>
          <p:nvPr/>
        </p:nvSpPr>
        <p:spPr>
          <a:xfrm>
            <a:off x="14925627" y="7934679"/>
            <a:ext cx="98868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Trebuchet MS" panose="020B0703020202090204" pitchFamily="34" charset="0"/>
              </a:rPr>
              <a:t>⌷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6FF58A5F-5CB5-4A62-0094-0C567F437F35}"/>
              </a:ext>
            </a:extLst>
          </p:cNvPr>
          <p:cNvSpPr txBox="1"/>
          <p:nvPr/>
        </p:nvSpPr>
        <p:spPr>
          <a:xfrm>
            <a:off x="15080534" y="7934679"/>
            <a:ext cx="597403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267F99"/>
                </a:solidFill>
                <a:latin typeface="Trebuchet MS" panose="020B0703020202090204" pitchFamily="34" charset="0"/>
              </a:rPr>
              <a:t>enumerate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80A6F453-14C3-45E9-64DB-B8B772FD65BC}"/>
              </a:ext>
            </a:extLst>
          </p:cNvPr>
          <p:cNvSpPr txBox="1"/>
          <p:nvPr/>
        </p:nvSpPr>
        <p:spPr>
          <a:xfrm>
            <a:off x="15839436" y="7934679"/>
            <a:ext cx="7803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703020202090204" pitchFamily="34" charset="0"/>
              </a:rPr>
              <a:t>)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EC059BFF-B55E-9B01-247B-60157D48672E}"/>
              </a:ext>
            </a:extLst>
          </p:cNvPr>
          <p:cNvSpPr txBox="1"/>
          <p:nvPr/>
        </p:nvSpPr>
        <p:spPr>
          <a:xfrm>
            <a:off x="15997047" y="7934679"/>
            <a:ext cx="7803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703020202090204" pitchFamily="34" charset="0"/>
              </a:rPr>
              <a:t>:</a:t>
            </a:r>
          </a:p>
        </p:txBody>
      </p:sp>
      <p:cxnSp>
        <p:nvCxnSpPr>
          <p:cNvPr id="98" name="Curved Connector 97">
            <a:extLst>
              <a:ext uri="{FF2B5EF4-FFF2-40B4-BE49-F238E27FC236}">
                <a16:creationId xmlns:a16="http://schemas.microsoft.com/office/drawing/2014/main" id="{74629F00-2A8C-53CA-58CC-BC0381DB9690}"/>
              </a:ext>
            </a:extLst>
          </p:cNvPr>
          <p:cNvCxnSpPr>
            <a:stCxn id="44" idx="2"/>
            <a:endCxn id="77" idx="0"/>
          </p:cNvCxnSpPr>
          <p:nvPr/>
        </p:nvCxnSpPr>
        <p:spPr>
          <a:xfrm rot="16200000" flipH="1">
            <a:off x="12326668" y="7796272"/>
            <a:ext cx="160038" cy="116775"/>
          </a:xfrm>
          <a:prstGeom prst="curvedConnector3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Curved Connector 98">
            <a:extLst>
              <a:ext uri="{FF2B5EF4-FFF2-40B4-BE49-F238E27FC236}">
                <a16:creationId xmlns:a16="http://schemas.microsoft.com/office/drawing/2014/main" id="{6F3E9449-F8BF-B35E-ABC0-131D028B78D1}"/>
              </a:ext>
            </a:extLst>
          </p:cNvPr>
          <p:cNvCxnSpPr>
            <a:cxnSpLocks/>
            <a:stCxn id="44" idx="2"/>
            <a:endCxn id="78" idx="0"/>
          </p:cNvCxnSpPr>
          <p:nvPr/>
        </p:nvCxnSpPr>
        <p:spPr>
          <a:xfrm rot="5400000">
            <a:off x="12197275" y="7783654"/>
            <a:ext cx="160038" cy="142012"/>
          </a:xfrm>
          <a:prstGeom prst="curvedConnector3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Curved Connector 101">
            <a:extLst>
              <a:ext uri="{FF2B5EF4-FFF2-40B4-BE49-F238E27FC236}">
                <a16:creationId xmlns:a16="http://schemas.microsoft.com/office/drawing/2014/main" id="{9F948C45-E98E-AF0B-3F8F-1F9931364749}"/>
              </a:ext>
            </a:extLst>
          </p:cNvPr>
          <p:cNvCxnSpPr>
            <a:cxnSpLocks/>
            <a:stCxn id="52" idx="2"/>
            <a:endCxn id="80" idx="0"/>
          </p:cNvCxnSpPr>
          <p:nvPr/>
        </p:nvCxnSpPr>
        <p:spPr>
          <a:xfrm rot="5400000">
            <a:off x="13091722" y="7765819"/>
            <a:ext cx="153693" cy="171336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Curved Connector 102">
            <a:extLst>
              <a:ext uri="{FF2B5EF4-FFF2-40B4-BE49-F238E27FC236}">
                <a16:creationId xmlns:a16="http://schemas.microsoft.com/office/drawing/2014/main" id="{75F07408-EEB0-71C0-6E88-FC66747A70D2}"/>
              </a:ext>
            </a:extLst>
          </p:cNvPr>
          <p:cNvCxnSpPr>
            <a:cxnSpLocks/>
            <a:stCxn id="52" idx="2"/>
            <a:endCxn id="79" idx="0"/>
          </p:cNvCxnSpPr>
          <p:nvPr/>
        </p:nvCxnSpPr>
        <p:spPr>
          <a:xfrm rot="16200000" flipH="1">
            <a:off x="13203282" y="7825595"/>
            <a:ext cx="160038" cy="58130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Curved Connector 112">
            <a:extLst>
              <a:ext uri="{FF2B5EF4-FFF2-40B4-BE49-F238E27FC236}">
                <a16:creationId xmlns:a16="http://schemas.microsoft.com/office/drawing/2014/main" id="{3E7D52EC-9D98-FD44-045B-36BFF4D9593B}"/>
              </a:ext>
            </a:extLst>
          </p:cNvPr>
          <p:cNvCxnSpPr>
            <a:cxnSpLocks/>
            <a:stCxn id="59" idx="2"/>
            <a:endCxn id="81" idx="0"/>
          </p:cNvCxnSpPr>
          <p:nvPr/>
        </p:nvCxnSpPr>
        <p:spPr>
          <a:xfrm rot="5400000">
            <a:off x="13834181" y="7736636"/>
            <a:ext cx="160470" cy="235616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Curved Connector 115">
            <a:extLst>
              <a:ext uri="{FF2B5EF4-FFF2-40B4-BE49-F238E27FC236}">
                <a16:creationId xmlns:a16="http://schemas.microsoft.com/office/drawing/2014/main" id="{EE2B93A2-43A1-11C4-3231-35BC93F668DC}"/>
              </a:ext>
            </a:extLst>
          </p:cNvPr>
          <p:cNvCxnSpPr>
            <a:cxnSpLocks/>
            <a:stCxn id="59" idx="2"/>
            <a:endCxn id="84" idx="0"/>
          </p:cNvCxnSpPr>
          <p:nvPr/>
        </p:nvCxnSpPr>
        <p:spPr>
          <a:xfrm rot="5400000">
            <a:off x="13920277" y="7822732"/>
            <a:ext cx="160470" cy="63424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Curved Connector 119">
            <a:extLst>
              <a:ext uri="{FF2B5EF4-FFF2-40B4-BE49-F238E27FC236}">
                <a16:creationId xmlns:a16="http://schemas.microsoft.com/office/drawing/2014/main" id="{404F3E72-1E44-E574-572D-C237DABD6CB4}"/>
              </a:ext>
            </a:extLst>
          </p:cNvPr>
          <p:cNvCxnSpPr>
            <a:cxnSpLocks/>
            <a:stCxn id="59" idx="2"/>
            <a:endCxn id="85" idx="0"/>
          </p:cNvCxnSpPr>
          <p:nvPr/>
        </p:nvCxnSpPr>
        <p:spPr>
          <a:xfrm rot="16200000" flipH="1">
            <a:off x="14006373" y="7800060"/>
            <a:ext cx="160470" cy="108768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Curved Connector 123">
            <a:extLst>
              <a:ext uri="{FF2B5EF4-FFF2-40B4-BE49-F238E27FC236}">
                <a16:creationId xmlns:a16="http://schemas.microsoft.com/office/drawing/2014/main" id="{8A8F813E-B99C-CE13-05EC-2B1F4ECBC6C1}"/>
              </a:ext>
            </a:extLst>
          </p:cNvPr>
          <p:cNvCxnSpPr>
            <a:cxnSpLocks/>
            <a:stCxn id="59" idx="2"/>
            <a:endCxn id="86" idx="0"/>
          </p:cNvCxnSpPr>
          <p:nvPr/>
        </p:nvCxnSpPr>
        <p:spPr>
          <a:xfrm rot="16200000" flipH="1">
            <a:off x="14092468" y="7713964"/>
            <a:ext cx="160470" cy="280959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6" name="Curved Connector 515">
            <a:extLst>
              <a:ext uri="{FF2B5EF4-FFF2-40B4-BE49-F238E27FC236}">
                <a16:creationId xmlns:a16="http://schemas.microsoft.com/office/drawing/2014/main" id="{BAA3C225-3570-5ED9-54C0-1B1240E3C87F}"/>
              </a:ext>
            </a:extLst>
          </p:cNvPr>
          <p:cNvCxnSpPr>
            <a:cxnSpLocks/>
            <a:stCxn id="56" idx="2"/>
            <a:endCxn id="87" idx="0"/>
          </p:cNvCxnSpPr>
          <p:nvPr/>
        </p:nvCxnSpPr>
        <p:spPr>
          <a:xfrm rot="5400000">
            <a:off x="14555883" y="7803795"/>
            <a:ext cx="160038" cy="101731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9" name="Curved Connector 528">
            <a:extLst>
              <a:ext uri="{FF2B5EF4-FFF2-40B4-BE49-F238E27FC236}">
                <a16:creationId xmlns:a16="http://schemas.microsoft.com/office/drawing/2014/main" id="{437D22E2-6429-231F-5A29-F92F60B63CD5}"/>
              </a:ext>
            </a:extLst>
          </p:cNvPr>
          <p:cNvCxnSpPr>
            <a:cxnSpLocks/>
            <a:stCxn id="56" idx="2"/>
            <a:endCxn id="88" idx="0"/>
          </p:cNvCxnSpPr>
          <p:nvPr/>
        </p:nvCxnSpPr>
        <p:spPr>
          <a:xfrm rot="16200000" flipH="1">
            <a:off x="14656756" y="7804651"/>
            <a:ext cx="160038" cy="100017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3" name="Curved Connector 532">
            <a:extLst>
              <a:ext uri="{FF2B5EF4-FFF2-40B4-BE49-F238E27FC236}">
                <a16:creationId xmlns:a16="http://schemas.microsoft.com/office/drawing/2014/main" id="{5612C355-4972-81A4-42C4-141F5A28A016}"/>
              </a:ext>
            </a:extLst>
          </p:cNvPr>
          <p:cNvCxnSpPr>
            <a:cxnSpLocks/>
            <a:stCxn id="57" idx="2"/>
            <a:endCxn id="89" idx="0"/>
          </p:cNvCxnSpPr>
          <p:nvPr/>
        </p:nvCxnSpPr>
        <p:spPr>
          <a:xfrm rot="5400000">
            <a:off x="14986187" y="7763515"/>
            <a:ext cx="160038" cy="182290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6" name="Curved Connector 535">
            <a:extLst>
              <a:ext uri="{FF2B5EF4-FFF2-40B4-BE49-F238E27FC236}">
                <a16:creationId xmlns:a16="http://schemas.microsoft.com/office/drawing/2014/main" id="{7B980DB1-90A1-E4D6-DB5C-5CEBD46D57C1}"/>
              </a:ext>
            </a:extLst>
          </p:cNvPr>
          <p:cNvCxnSpPr>
            <a:cxnSpLocks/>
            <a:stCxn id="57" idx="2"/>
            <a:endCxn id="91" idx="0"/>
          </p:cNvCxnSpPr>
          <p:nvPr/>
        </p:nvCxnSpPr>
        <p:spPr>
          <a:xfrm rot="16200000" flipH="1">
            <a:off x="15188274" y="7743717"/>
            <a:ext cx="160038" cy="221885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2" name="Curved Connector 541">
            <a:extLst>
              <a:ext uri="{FF2B5EF4-FFF2-40B4-BE49-F238E27FC236}">
                <a16:creationId xmlns:a16="http://schemas.microsoft.com/office/drawing/2014/main" id="{452C586F-6604-3AD1-E73C-335B74C171A6}"/>
              </a:ext>
            </a:extLst>
          </p:cNvPr>
          <p:cNvCxnSpPr>
            <a:cxnSpLocks/>
            <a:stCxn id="481" idx="2"/>
            <a:endCxn id="92" idx="0"/>
          </p:cNvCxnSpPr>
          <p:nvPr/>
        </p:nvCxnSpPr>
        <p:spPr>
          <a:xfrm rot="5400000">
            <a:off x="15828600" y="7823076"/>
            <a:ext cx="161454" cy="61752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0" name="Curved Connector 559">
            <a:extLst>
              <a:ext uri="{FF2B5EF4-FFF2-40B4-BE49-F238E27FC236}">
                <a16:creationId xmlns:a16="http://schemas.microsoft.com/office/drawing/2014/main" id="{5800B847-6271-8404-AB2E-414DB0D96378}"/>
              </a:ext>
            </a:extLst>
          </p:cNvPr>
          <p:cNvCxnSpPr>
            <a:cxnSpLocks/>
            <a:stCxn id="481" idx="2"/>
            <a:endCxn id="93" idx="0"/>
          </p:cNvCxnSpPr>
          <p:nvPr/>
        </p:nvCxnSpPr>
        <p:spPr>
          <a:xfrm rot="16200000" flipH="1">
            <a:off x="15907405" y="7806022"/>
            <a:ext cx="161454" cy="95859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2" name="TextBox 581">
            <a:extLst>
              <a:ext uri="{FF2B5EF4-FFF2-40B4-BE49-F238E27FC236}">
                <a16:creationId xmlns:a16="http://schemas.microsoft.com/office/drawing/2014/main" id="{918E0900-5F4B-59E5-42F7-7813F66D1D18}"/>
              </a:ext>
            </a:extLst>
          </p:cNvPr>
          <p:cNvSpPr txBox="1"/>
          <p:nvPr/>
        </p:nvSpPr>
        <p:spPr>
          <a:xfrm>
            <a:off x="13465455" y="7932878"/>
            <a:ext cx="7803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703020202090204" pitchFamily="34" charset="0"/>
              </a:rPr>
              <a:t>)</a:t>
            </a:r>
          </a:p>
        </p:txBody>
      </p:sp>
      <p:sp>
        <p:nvSpPr>
          <p:cNvPr id="583" name="TextBox 582">
            <a:extLst>
              <a:ext uri="{FF2B5EF4-FFF2-40B4-BE49-F238E27FC236}">
                <a16:creationId xmlns:a16="http://schemas.microsoft.com/office/drawing/2014/main" id="{EBA7915F-9969-299D-B128-4CC7AFA4F029}"/>
              </a:ext>
            </a:extLst>
          </p:cNvPr>
          <p:cNvSpPr txBox="1"/>
          <p:nvPr/>
        </p:nvSpPr>
        <p:spPr>
          <a:xfrm>
            <a:off x="13611192" y="7932878"/>
            <a:ext cx="7803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703020202090204" pitchFamily="34" charset="0"/>
              </a:rPr>
              <a:t>:</a:t>
            </a:r>
          </a:p>
        </p:txBody>
      </p:sp>
      <p:cxnSp>
        <p:nvCxnSpPr>
          <p:cNvPr id="584" name="Curved Connector 583">
            <a:extLst>
              <a:ext uri="{FF2B5EF4-FFF2-40B4-BE49-F238E27FC236}">
                <a16:creationId xmlns:a16="http://schemas.microsoft.com/office/drawing/2014/main" id="{49688D90-00D4-216E-8DB9-5C35E34861E6}"/>
              </a:ext>
            </a:extLst>
          </p:cNvPr>
          <p:cNvCxnSpPr>
            <a:cxnSpLocks/>
            <a:endCxn id="582" idx="0"/>
          </p:cNvCxnSpPr>
          <p:nvPr/>
        </p:nvCxnSpPr>
        <p:spPr>
          <a:xfrm rot="5400000">
            <a:off x="13454619" y="7821275"/>
            <a:ext cx="161454" cy="61752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5" name="Curved Connector 584">
            <a:extLst>
              <a:ext uri="{FF2B5EF4-FFF2-40B4-BE49-F238E27FC236}">
                <a16:creationId xmlns:a16="http://schemas.microsoft.com/office/drawing/2014/main" id="{DDA0C116-FA7B-187B-A562-9BF56D55F496}"/>
              </a:ext>
            </a:extLst>
          </p:cNvPr>
          <p:cNvCxnSpPr>
            <a:cxnSpLocks/>
            <a:endCxn id="583" idx="0"/>
          </p:cNvCxnSpPr>
          <p:nvPr/>
        </p:nvCxnSpPr>
        <p:spPr>
          <a:xfrm rot="16200000" flipH="1">
            <a:off x="13536671" y="7819341"/>
            <a:ext cx="152827" cy="74245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7" name="Straight Arrow Connector 586">
            <a:extLst>
              <a:ext uri="{FF2B5EF4-FFF2-40B4-BE49-F238E27FC236}">
                <a16:creationId xmlns:a16="http://schemas.microsoft.com/office/drawing/2014/main" id="{A21760A7-0473-4F4F-E517-5DCACC17995C}"/>
              </a:ext>
            </a:extLst>
          </p:cNvPr>
          <p:cNvCxnSpPr/>
          <p:nvPr/>
        </p:nvCxnSpPr>
        <p:spPr>
          <a:xfrm>
            <a:off x="14018144" y="6684872"/>
            <a:ext cx="0" cy="503999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1" name="TextBox 620">
            <a:extLst>
              <a:ext uri="{FF2B5EF4-FFF2-40B4-BE49-F238E27FC236}">
                <a16:creationId xmlns:a16="http://schemas.microsoft.com/office/drawing/2014/main" id="{67625804-B46F-8CBD-0298-FFB2B7834C49}"/>
              </a:ext>
            </a:extLst>
          </p:cNvPr>
          <p:cNvSpPr txBox="1"/>
          <p:nvPr/>
        </p:nvSpPr>
        <p:spPr>
          <a:xfrm>
            <a:off x="14171427" y="6743867"/>
            <a:ext cx="1584000" cy="369332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none" rtlCol="0">
            <a:noAutofit/>
          </a:bodyPr>
          <a:lstStyle/>
          <a:p>
            <a:pPr algn="ctr"/>
            <a:r>
              <a:rPr lang="en-US" sz="1800" dirty="0">
                <a:solidFill>
                  <a:schemeClr val="bg1"/>
                </a:solidFill>
                <a:latin typeface="Trebuchet MS" panose="020B0703020202090204" pitchFamily="34" charset="0"/>
              </a:rPr>
              <a:t>Decomposing</a:t>
            </a:r>
          </a:p>
        </p:txBody>
      </p:sp>
      <p:sp>
        <p:nvSpPr>
          <p:cNvPr id="622" name="TextBox 621">
            <a:extLst>
              <a:ext uri="{FF2B5EF4-FFF2-40B4-BE49-F238E27FC236}">
                <a16:creationId xmlns:a16="http://schemas.microsoft.com/office/drawing/2014/main" id="{8359BA50-B296-735E-EC9C-2256D399EA96}"/>
              </a:ext>
            </a:extLst>
          </p:cNvPr>
          <p:cNvSpPr txBox="1"/>
          <p:nvPr/>
        </p:nvSpPr>
        <p:spPr>
          <a:xfrm>
            <a:off x="14197222" y="4714336"/>
            <a:ext cx="1584000" cy="369332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none" rtlCol="0">
            <a:noAutofit/>
          </a:bodyPr>
          <a:lstStyle/>
          <a:p>
            <a:pPr algn="ctr"/>
            <a:r>
              <a:rPr lang="en-US" sz="1800" dirty="0">
                <a:solidFill>
                  <a:schemeClr val="bg1"/>
                </a:solidFill>
                <a:latin typeface="Trebuchet MS" panose="020B0703020202090204" pitchFamily="34" charset="0"/>
              </a:rPr>
              <a:t>Getting Probs</a:t>
            </a:r>
          </a:p>
        </p:txBody>
      </p:sp>
      <p:sp>
        <p:nvSpPr>
          <p:cNvPr id="623" name="Rounded Rectangle 622">
            <a:extLst>
              <a:ext uri="{FF2B5EF4-FFF2-40B4-BE49-F238E27FC236}">
                <a16:creationId xmlns:a16="http://schemas.microsoft.com/office/drawing/2014/main" id="{4B08F7FF-D924-7C6E-1F69-6B7911705DBF}"/>
              </a:ext>
            </a:extLst>
          </p:cNvPr>
          <p:cNvSpPr/>
          <p:nvPr/>
        </p:nvSpPr>
        <p:spPr>
          <a:xfrm>
            <a:off x="17323616" y="3735717"/>
            <a:ext cx="3408643" cy="625369"/>
          </a:xfrm>
          <a:prstGeom prst="roundRect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i="1" dirty="0">
                <a:solidFill>
                  <a:schemeClr val="bg1"/>
                </a:solidFill>
                <a:latin typeface="Trebuchet MS" panose="020B0703020202090204" pitchFamily="34" charset="0"/>
              </a:rPr>
              <a:t>Syntax-Convention-based Token Pruning</a:t>
            </a:r>
          </a:p>
        </p:txBody>
      </p:sp>
      <p:cxnSp>
        <p:nvCxnSpPr>
          <p:cNvPr id="626" name="Straight Arrow Connector 625">
            <a:extLst>
              <a:ext uri="{FF2B5EF4-FFF2-40B4-BE49-F238E27FC236}">
                <a16:creationId xmlns:a16="http://schemas.microsoft.com/office/drawing/2014/main" id="{5E0860D2-7277-D12A-73F3-981CBB9D5F20}"/>
              </a:ext>
            </a:extLst>
          </p:cNvPr>
          <p:cNvCxnSpPr/>
          <p:nvPr/>
        </p:nvCxnSpPr>
        <p:spPr>
          <a:xfrm>
            <a:off x="20271113" y="4715362"/>
            <a:ext cx="0" cy="503999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4" name="TextBox 633">
            <a:extLst>
              <a:ext uri="{FF2B5EF4-FFF2-40B4-BE49-F238E27FC236}">
                <a16:creationId xmlns:a16="http://schemas.microsoft.com/office/drawing/2014/main" id="{18B19DA1-D821-8D4A-72D0-38DF0ADA7EE8}"/>
              </a:ext>
            </a:extLst>
          </p:cNvPr>
          <p:cNvSpPr txBox="1"/>
          <p:nvPr/>
        </p:nvSpPr>
        <p:spPr>
          <a:xfrm>
            <a:off x="12104944" y="7205686"/>
            <a:ext cx="290967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Trebuchet MS" panose="020B0703020202090204" pitchFamily="34" charset="0"/>
              </a:rPr>
              <a:t>Decomposed Tokens</a:t>
            </a:r>
          </a:p>
        </p:txBody>
      </p:sp>
      <p:sp>
        <p:nvSpPr>
          <p:cNvPr id="636" name="Rounded Rectangle 635">
            <a:extLst>
              <a:ext uri="{FF2B5EF4-FFF2-40B4-BE49-F238E27FC236}">
                <a16:creationId xmlns:a16="http://schemas.microsoft.com/office/drawing/2014/main" id="{772F7D95-A837-CBCB-2BAC-7957184206F3}"/>
              </a:ext>
            </a:extLst>
          </p:cNvPr>
          <p:cNvSpPr/>
          <p:nvPr/>
        </p:nvSpPr>
        <p:spPr>
          <a:xfrm>
            <a:off x="16943287" y="5206592"/>
            <a:ext cx="4156540" cy="1095938"/>
          </a:xfrm>
          <a:prstGeom prst="roundRect">
            <a:avLst>
              <a:gd name="adj" fmla="val 2712"/>
            </a:avLst>
          </a:prstGeom>
          <a:solidFill>
            <a:srgbClr val="7030A0">
              <a:alpha val="14000"/>
            </a:srgbClr>
          </a:solidFill>
          <a:ln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>
              <a:latin typeface="Trebuchet MS" panose="020B0703020202090204" pitchFamily="34" charset="0"/>
            </a:endParaRPr>
          </a:p>
        </p:txBody>
      </p:sp>
      <p:sp>
        <p:nvSpPr>
          <p:cNvPr id="637" name="TextBox 636">
            <a:extLst>
              <a:ext uri="{FF2B5EF4-FFF2-40B4-BE49-F238E27FC236}">
                <a16:creationId xmlns:a16="http://schemas.microsoft.com/office/drawing/2014/main" id="{3EB10A65-2079-3E96-DBDA-F747102C82A3}"/>
              </a:ext>
            </a:extLst>
          </p:cNvPr>
          <p:cNvSpPr txBox="1"/>
          <p:nvPr/>
        </p:nvSpPr>
        <p:spPr>
          <a:xfrm>
            <a:off x="17097111" y="5556752"/>
            <a:ext cx="288024" cy="230832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ash"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Trebuchet MS" panose="020B0703020202090204" pitchFamily="34" charset="0"/>
              </a:rPr>
              <a:t>⌷</a:t>
            </a:r>
            <a:r>
              <a:rPr lang="en-US" sz="900" dirty="0">
                <a:solidFill>
                  <a:srgbClr val="795E26"/>
                </a:solidFill>
                <a:latin typeface="Trebuchet MS" panose="020B0703020202090204" pitchFamily="34" charset="0"/>
              </a:rPr>
              <a:t>add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638" name="TextBox 637">
            <a:extLst>
              <a:ext uri="{FF2B5EF4-FFF2-40B4-BE49-F238E27FC236}">
                <a16:creationId xmlns:a16="http://schemas.microsoft.com/office/drawing/2014/main" id="{34532BD8-C9A3-307D-AAEE-E0A1B01CE753}"/>
              </a:ext>
            </a:extLst>
          </p:cNvPr>
          <p:cNvSpPr txBox="1"/>
          <p:nvPr/>
        </p:nvSpPr>
        <p:spPr>
          <a:xfrm>
            <a:off x="17578058" y="5556752"/>
            <a:ext cx="223200" cy="2308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001080"/>
                </a:solidFill>
                <a:latin typeface="Trebuchet MS" panose="020B0703020202090204" pitchFamily="34" charset="0"/>
              </a:rPr>
              <a:t>self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639" name="TextBox 638">
            <a:extLst>
              <a:ext uri="{FF2B5EF4-FFF2-40B4-BE49-F238E27FC236}">
                <a16:creationId xmlns:a16="http://schemas.microsoft.com/office/drawing/2014/main" id="{342A54CE-8A65-DBC5-A560-A4C2E3864CAB}"/>
              </a:ext>
            </a:extLst>
          </p:cNvPr>
          <p:cNvSpPr txBox="1"/>
          <p:nvPr/>
        </p:nvSpPr>
        <p:spPr>
          <a:xfrm>
            <a:off x="17437773" y="5556752"/>
            <a:ext cx="79200" cy="2308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703020202090204" pitchFamily="34" charset="0"/>
              </a:rPr>
              <a:t>(</a:t>
            </a:r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2F2920A4-4B65-BD2D-F12F-906AF1518520}"/>
              </a:ext>
            </a:extLst>
          </p:cNvPr>
          <p:cNvSpPr txBox="1"/>
          <p:nvPr/>
        </p:nvSpPr>
        <p:spPr>
          <a:xfrm>
            <a:off x="18576554" y="5556752"/>
            <a:ext cx="140400" cy="2308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D7BA7D"/>
                </a:solidFill>
                <a:latin typeface="Trebuchet MS" panose="020B0703020202090204" pitchFamily="34" charset="0"/>
              </a:rPr>
              <a:t>\n</a:t>
            </a:r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33B9ADE9-787D-ED13-C256-2CC1F429446A}"/>
              </a:ext>
            </a:extLst>
          </p:cNvPr>
          <p:cNvSpPr txBox="1"/>
          <p:nvPr/>
        </p:nvSpPr>
        <p:spPr>
          <a:xfrm>
            <a:off x="17851756" y="5556752"/>
            <a:ext cx="79200" cy="2308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latin typeface="Trebuchet MS" panose="020B0703020202090204" pitchFamily="34" charset="0"/>
              </a:rPr>
              <a:t>,</a:t>
            </a:r>
          </a:p>
        </p:txBody>
      </p:sp>
      <p:sp>
        <p:nvSpPr>
          <p:cNvPr id="163" name="TextBox 162">
            <a:extLst>
              <a:ext uri="{FF2B5EF4-FFF2-40B4-BE49-F238E27FC236}">
                <a16:creationId xmlns:a16="http://schemas.microsoft.com/office/drawing/2014/main" id="{0DB12798-4E56-E6AB-16D1-543E190BDD48}"/>
              </a:ext>
            </a:extLst>
          </p:cNvPr>
          <p:cNvSpPr txBox="1"/>
          <p:nvPr/>
        </p:nvSpPr>
        <p:spPr>
          <a:xfrm>
            <a:off x="17991025" y="5556752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ot"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703020202090204" pitchFamily="34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Trebuchet MS" panose="020B0703020202090204" pitchFamily="34" charset="0"/>
              </a:rPr>
              <a:t>row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166" name="TextBox 165">
            <a:extLst>
              <a:ext uri="{FF2B5EF4-FFF2-40B4-BE49-F238E27FC236}">
                <a16:creationId xmlns:a16="http://schemas.microsoft.com/office/drawing/2014/main" id="{BCE945EC-354C-0870-44E9-4A7273404C56}"/>
              </a:ext>
            </a:extLst>
          </p:cNvPr>
          <p:cNvSpPr txBox="1"/>
          <p:nvPr/>
        </p:nvSpPr>
        <p:spPr>
          <a:xfrm>
            <a:off x="18395206" y="5556752"/>
            <a:ext cx="11880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703020202090204" pitchFamily="34" charset="0"/>
              </a:rPr>
              <a:t>):</a:t>
            </a:r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C156294E-1A1F-6166-E4BA-812E2D6B5C8E}"/>
              </a:ext>
            </a:extLst>
          </p:cNvPr>
          <p:cNvSpPr txBox="1"/>
          <p:nvPr/>
        </p:nvSpPr>
        <p:spPr>
          <a:xfrm>
            <a:off x="19103137" y="5556752"/>
            <a:ext cx="18720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AF00DB"/>
                </a:solidFill>
                <a:latin typeface="Trebuchet MS" panose="020B0703020202090204" pitchFamily="34" charset="0"/>
              </a:rPr>
              <a:t>for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169" name="TextBox 168">
            <a:extLst>
              <a:ext uri="{FF2B5EF4-FFF2-40B4-BE49-F238E27FC236}">
                <a16:creationId xmlns:a16="http://schemas.microsoft.com/office/drawing/2014/main" id="{B0AFAC2E-6883-CA3B-693B-7A1EC8F7F115}"/>
              </a:ext>
            </a:extLst>
          </p:cNvPr>
          <p:cNvSpPr txBox="1"/>
          <p:nvPr/>
        </p:nvSpPr>
        <p:spPr>
          <a:xfrm>
            <a:off x="19296360" y="5556752"/>
            <a:ext cx="161386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latin typeface="Trebuchet MS" panose="020B0703020202090204" pitchFamily="34" charset="0"/>
              </a:rPr>
              <a:t>...</a:t>
            </a:r>
          </a:p>
        </p:txBody>
      </p:sp>
      <p:sp>
        <p:nvSpPr>
          <p:cNvPr id="170" name="TextBox 169">
            <a:extLst>
              <a:ext uri="{FF2B5EF4-FFF2-40B4-BE49-F238E27FC236}">
                <a16:creationId xmlns:a16="http://schemas.microsoft.com/office/drawing/2014/main" id="{63D6B272-26E2-5FA5-9835-C73B9752AE46}"/>
              </a:ext>
            </a:extLst>
          </p:cNvPr>
          <p:cNvSpPr txBox="1"/>
          <p:nvPr/>
        </p:nvSpPr>
        <p:spPr>
          <a:xfrm>
            <a:off x="19478790" y="5556752"/>
            <a:ext cx="201600" cy="230832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ot"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703020202090204" pitchFamily="34" charset="0"/>
              </a:rPr>
              <a:t>⌷</a:t>
            </a:r>
            <a:r>
              <a:rPr lang="en-US" sz="900" dirty="0">
                <a:solidFill>
                  <a:srgbClr val="AF00DB"/>
                </a:solidFill>
                <a:latin typeface="Trebuchet MS" panose="020B0703020202090204" pitchFamily="34" charset="0"/>
              </a:rPr>
              <a:t>in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172" name="TextBox 171">
            <a:extLst>
              <a:ext uri="{FF2B5EF4-FFF2-40B4-BE49-F238E27FC236}">
                <a16:creationId xmlns:a16="http://schemas.microsoft.com/office/drawing/2014/main" id="{82FC62A7-99E1-75A4-8353-651B17564194}"/>
              </a:ext>
            </a:extLst>
          </p:cNvPr>
          <p:cNvSpPr txBox="1"/>
          <p:nvPr/>
        </p:nvSpPr>
        <p:spPr>
          <a:xfrm>
            <a:off x="19720774" y="5556752"/>
            <a:ext cx="658800" cy="230832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ot"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Trebuchet MS" panose="020B0703020202090204" pitchFamily="34" charset="0"/>
              </a:rPr>
              <a:t>⌷</a:t>
            </a:r>
            <a:r>
              <a:rPr lang="en-US" sz="900" dirty="0">
                <a:solidFill>
                  <a:srgbClr val="267F99"/>
                </a:solidFill>
                <a:latin typeface="Trebuchet MS" panose="020B0703020202090204" pitchFamily="34" charset="0"/>
              </a:rPr>
              <a:t>enumerate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173" name="TextBox 172">
            <a:extLst>
              <a:ext uri="{FF2B5EF4-FFF2-40B4-BE49-F238E27FC236}">
                <a16:creationId xmlns:a16="http://schemas.microsoft.com/office/drawing/2014/main" id="{F7F032E0-A41D-B4C4-7CDB-EEF1AB2B9A8E}"/>
              </a:ext>
            </a:extLst>
          </p:cNvPr>
          <p:cNvSpPr txBox="1"/>
          <p:nvPr/>
        </p:nvSpPr>
        <p:spPr>
          <a:xfrm>
            <a:off x="20919266" y="5519174"/>
            <a:ext cx="161386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altLang="zh-CN" sz="900" dirty="0">
                <a:latin typeface="Trebuchet MS" panose="020B0703020202090204" pitchFamily="34" charset="0"/>
              </a:rPr>
              <a:t>...</a:t>
            </a:r>
            <a:endParaRPr lang="en-US" sz="900" dirty="0">
              <a:latin typeface="Trebuchet MS" panose="020B0703020202090204" pitchFamily="34" charset="0"/>
            </a:endParaRPr>
          </a:p>
        </p:txBody>
      </p:sp>
      <p:sp>
        <p:nvSpPr>
          <p:cNvPr id="175" name="TextBox 174">
            <a:extLst>
              <a:ext uri="{FF2B5EF4-FFF2-40B4-BE49-F238E27FC236}">
                <a16:creationId xmlns:a16="http://schemas.microsoft.com/office/drawing/2014/main" id="{256B9D15-DE71-FFBF-84D9-854B3347FB0C}"/>
              </a:ext>
            </a:extLst>
          </p:cNvPr>
          <p:cNvSpPr txBox="1"/>
          <p:nvPr/>
        </p:nvSpPr>
        <p:spPr>
          <a:xfrm>
            <a:off x="18781047" y="5556752"/>
            <a:ext cx="288000" cy="230400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ot"/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Trebuchet MS" panose="020B0703020202090204" pitchFamily="34" charset="0"/>
              </a:rPr>
              <a:t>⌷⌷⌷⌷</a:t>
            </a:r>
          </a:p>
        </p:txBody>
      </p:sp>
      <p:sp>
        <p:nvSpPr>
          <p:cNvPr id="176" name="TextBox 175">
            <a:extLst>
              <a:ext uri="{FF2B5EF4-FFF2-40B4-BE49-F238E27FC236}">
                <a16:creationId xmlns:a16="http://schemas.microsoft.com/office/drawing/2014/main" id="{FC779FCC-44FE-82C0-AE43-20926F895F3F}"/>
              </a:ext>
            </a:extLst>
          </p:cNvPr>
          <p:cNvSpPr txBox="1"/>
          <p:nvPr/>
        </p:nvSpPr>
        <p:spPr>
          <a:xfrm>
            <a:off x="20407613" y="5555336"/>
            <a:ext cx="78030" cy="2308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703020202090204" pitchFamily="34" charset="0"/>
              </a:rPr>
              <a:t>(</a:t>
            </a:r>
          </a:p>
        </p:txBody>
      </p:sp>
      <p:sp>
        <p:nvSpPr>
          <p:cNvPr id="178" name="TextBox 177">
            <a:extLst>
              <a:ext uri="{FF2B5EF4-FFF2-40B4-BE49-F238E27FC236}">
                <a16:creationId xmlns:a16="http://schemas.microsoft.com/office/drawing/2014/main" id="{5BE67F0E-4E69-DC47-6A89-0755443D0095}"/>
              </a:ext>
            </a:extLst>
          </p:cNvPr>
          <p:cNvSpPr txBox="1"/>
          <p:nvPr/>
        </p:nvSpPr>
        <p:spPr>
          <a:xfrm>
            <a:off x="20516174" y="5555336"/>
            <a:ext cx="230315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001080"/>
                </a:solidFill>
                <a:latin typeface="Trebuchet MS" panose="020B0703020202090204" pitchFamily="34" charset="0"/>
              </a:rPr>
              <a:t>row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179" name="TextBox 178">
            <a:extLst>
              <a:ext uri="{FF2B5EF4-FFF2-40B4-BE49-F238E27FC236}">
                <a16:creationId xmlns:a16="http://schemas.microsoft.com/office/drawing/2014/main" id="{4D9367BA-B51F-6827-D1E5-0CC0ECCEADDE}"/>
              </a:ext>
            </a:extLst>
          </p:cNvPr>
          <p:cNvSpPr txBox="1"/>
          <p:nvPr/>
        </p:nvSpPr>
        <p:spPr>
          <a:xfrm>
            <a:off x="20773172" y="5555336"/>
            <a:ext cx="119708" cy="230832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ot"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703020202090204" pitchFamily="34" charset="0"/>
              </a:rPr>
              <a:t>):</a:t>
            </a:r>
          </a:p>
        </p:txBody>
      </p:sp>
      <p:sp>
        <p:nvSpPr>
          <p:cNvPr id="180" name="TextBox 179">
            <a:extLst>
              <a:ext uri="{FF2B5EF4-FFF2-40B4-BE49-F238E27FC236}">
                <a16:creationId xmlns:a16="http://schemas.microsoft.com/office/drawing/2014/main" id="{4C8316B9-07D1-746F-102E-4CB9F6171951}"/>
              </a:ext>
            </a:extLst>
          </p:cNvPr>
          <p:cNvSpPr txBox="1"/>
          <p:nvPr/>
        </p:nvSpPr>
        <p:spPr>
          <a:xfrm>
            <a:off x="17245145" y="5947622"/>
            <a:ext cx="225506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795E26"/>
                </a:solidFill>
                <a:latin typeface="Trebuchet MS" panose="020B0703020202090204" pitchFamily="34" charset="0"/>
              </a:rPr>
              <a:t>add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181" name="TextBox 180">
            <a:extLst>
              <a:ext uri="{FF2B5EF4-FFF2-40B4-BE49-F238E27FC236}">
                <a16:creationId xmlns:a16="http://schemas.microsoft.com/office/drawing/2014/main" id="{AB86F1D0-C9AE-A756-8522-200F7E67269C}"/>
              </a:ext>
            </a:extLst>
          </p:cNvPr>
          <p:cNvSpPr txBox="1"/>
          <p:nvPr/>
        </p:nvSpPr>
        <p:spPr>
          <a:xfrm>
            <a:off x="17049677" y="5947622"/>
            <a:ext cx="98868" cy="2304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Trebuchet MS" panose="020B0703020202090204" pitchFamily="34" charset="0"/>
              </a:rPr>
              <a:t>⌷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184" name="TextBox 183">
            <a:extLst>
              <a:ext uri="{FF2B5EF4-FFF2-40B4-BE49-F238E27FC236}">
                <a16:creationId xmlns:a16="http://schemas.microsoft.com/office/drawing/2014/main" id="{DB0FFB9F-E05C-5AA5-EF4D-8474350BA97C}"/>
              </a:ext>
            </a:extLst>
          </p:cNvPr>
          <p:cNvSpPr txBox="1"/>
          <p:nvPr/>
        </p:nvSpPr>
        <p:spPr>
          <a:xfrm>
            <a:off x="18090031" y="5947622"/>
            <a:ext cx="230315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001080"/>
                </a:solidFill>
                <a:latin typeface="Trebuchet MS" panose="020B0703020202090204" pitchFamily="34" charset="0"/>
              </a:rPr>
              <a:t>row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190" name="TextBox 189">
            <a:extLst>
              <a:ext uri="{FF2B5EF4-FFF2-40B4-BE49-F238E27FC236}">
                <a16:creationId xmlns:a16="http://schemas.microsoft.com/office/drawing/2014/main" id="{72EBC298-0786-4D7C-9E85-BA45110C90B6}"/>
              </a:ext>
            </a:extLst>
          </p:cNvPr>
          <p:cNvSpPr txBox="1"/>
          <p:nvPr/>
        </p:nvSpPr>
        <p:spPr>
          <a:xfrm>
            <a:off x="17922281" y="5941277"/>
            <a:ext cx="106884" cy="2308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703020202090204" pitchFamily="34" charset="0"/>
              </a:rPr>
              <a:t>⌷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640" name="TextBox 639">
            <a:extLst>
              <a:ext uri="{FF2B5EF4-FFF2-40B4-BE49-F238E27FC236}">
                <a16:creationId xmlns:a16="http://schemas.microsoft.com/office/drawing/2014/main" id="{51148943-2732-9137-E166-E44424FD4FC3}"/>
              </a:ext>
            </a:extLst>
          </p:cNvPr>
          <p:cNvSpPr txBox="1"/>
          <p:nvPr/>
        </p:nvSpPr>
        <p:spPr>
          <a:xfrm>
            <a:off x="18635989" y="5947622"/>
            <a:ext cx="106884" cy="2308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703020202090204" pitchFamily="34" charset="0"/>
              </a:rPr>
              <a:t>⌷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641" name="TextBox 640">
            <a:extLst>
              <a:ext uri="{FF2B5EF4-FFF2-40B4-BE49-F238E27FC236}">
                <a16:creationId xmlns:a16="http://schemas.microsoft.com/office/drawing/2014/main" id="{CEF185FD-10D8-BCB0-FCF9-B66125950E86}"/>
              </a:ext>
            </a:extLst>
          </p:cNvPr>
          <p:cNvSpPr txBox="1"/>
          <p:nvPr/>
        </p:nvSpPr>
        <p:spPr>
          <a:xfrm>
            <a:off x="18808181" y="5947622"/>
            <a:ext cx="106884" cy="2308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703020202090204" pitchFamily="34" charset="0"/>
              </a:rPr>
              <a:t>⌷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643" name="TextBox 642">
            <a:extLst>
              <a:ext uri="{FF2B5EF4-FFF2-40B4-BE49-F238E27FC236}">
                <a16:creationId xmlns:a16="http://schemas.microsoft.com/office/drawing/2014/main" id="{32CD70FC-5C84-B413-B4A1-3968B85A4099}"/>
              </a:ext>
            </a:extLst>
          </p:cNvPr>
          <p:cNvSpPr txBox="1"/>
          <p:nvPr/>
        </p:nvSpPr>
        <p:spPr>
          <a:xfrm>
            <a:off x="18980373" y="5947622"/>
            <a:ext cx="106884" cy="2308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703020202090204" pitchFamily="34" charset="0"/>
              </a:rPr>
              <a:t>⌷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646" name="TextBox 645">
            <a:extLst>
              <a:ext uri="{FF2B5EF4-FFF2-40B4-BE49-F238E27FC236}">
                <a16:creationId xmlns:a16="http://schemas.microsoft.com/office/drawing/2014/main" id="{C7718B22-D8A8-3A5B-D273-D47C305D70A0}"/>
              </a:ext>
            </a:extLst>
          </p:cNvPr>
          <p:cNvSpPr txBox="1"/>
          <p:nvPr/>
        </p:nvSpPr>
        <p:spPr>
          <a:xfrm>
            <a:off x="19152564" y="5947622"/>
            <a:ext cx="106884" cy="2308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703020202090204" pitchFamily="34" charset="0"/>
              </a:rPr>
              <a:t>⌷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647" name="TextBox 646">
            <a:extLst>
              <a:ext uri="{FF2B5EF4-FFF2-40B4-BE49-F238E27FC236}">
                <a16:creationId xmlns:a16="http://schemas.microsoft.com/office/drawing/2014/main" id="{294B7990-C3E5-F46D-3B2B-42380EE08FA8}"/>
              </a:ext>
            </a:extLst>
          </p:cNvPr>
          <p:cNvSpPr txBox="1"/>
          <p:nvPr/>
        </p:nvSpPr>
        <p:spPr>
          <a:xfrm>
            <a:off x="19424417" y="5947622"/>
            <a:ext cx="106884" cy="2308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703020202090204" pitchFamily="34" charset="0"/>
              </a:rPr>
              <a:t>⌷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648" name="TextBox 647">
            <a:extLst>
              <a:ext uri="{FF2B5EF4-FFF2-40B4-BE49-F238E27FC236}">
                <a16:creationId xmlns:a16="http://schemas.microsoft.com/office/drawing/2014/main" id="{0E9A366B-9450-E325-181E-083939F41726}"/>
              </a:ext>
            </a:extLst>
          </p:cNvPr>
          <p:cNvSpPr txBox="1"/>
          <p:nvPr/>
        </p:nvSpPr>
        <p:spPr>
          <a:xfrm>
            <a:off x="19613341" y="5947622"/>
            <a:ext cx="132532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AF00DB"/>
                </a:solidFill>
                <a:latin typeface="Trebuchet MS" panose="020B0703020202090204" pitchFamily="34" charset="0"/>
              </a:rPr>
              <a:t>in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649" name="TextBox 648">
            <a:extLst>
              <a:ext uri="{FF2B5EF4-FFF2-40B4-BE49-F238E27FC236}">
                <a16:creationId xmlns:a16="http://schemas.microsoft.com/office/drawing/2014/main" id="{F26EE3EE-797F-4781-4BD8-D7C9F6C6AD03}"/>
              </a:ext>
            </a:extLst>
          </p:cNvPr>
          <p:cNvSpPr txBox="1"/>
          <p:nvPr/>
        </p:nvSpPr>
        <p:spPr>
          <a:xfrm>
            <a:off x="19818450" y="5947622"/>
            <a:ext cx="98868" cy="2304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Trebuchet MS" panose="020B0703020202090204" pitchFamily="34" charset="0"/>
              </a:rPr>
              <a:t>⌷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650" name="TextBox 649">
            <a:extLst>
              <a:ext uri="{FF2B5EF4-FFF2-40B4-BE49-F238E27FC236}">
                <a16:creationId xmlns:a16="http://schemas.microsoft.com/office/drawing/2014/main" id="{55951DB0-0D57-8B4D-2A21-D4F1EEEBC1A7}"/>
              </a:ext>
            </a:extLst>
          </p:cNvPr>
          <p:cNvSpPr txBox="1"/>
          <p:nvPr/>
        </p:nvSpPr>
        <p:spPr>
          <a:xfrm>
            <a:off x="19973357" y="5947622"/>
            <a:ext cx="597403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267F99"/>
                </a:solidFill>
                <a:latin typeface="Trebuchet MS" panose="020B0703020202090204" pitchFamily="34" charset="0"/>
              </a:rPr>
              <a:t>enumerate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651" name="TextBox 650">
            <a:extLst>
              <a:ext uri="{FF2B5EF4-FFF2-40B4-BE49-F238E27FC236}">
                <a16:creationId xmlns:a16="http://schemas.microsoft.com/office/drawing/2014/main" id="{103B4179-6D31-22E2-26FE-079C6CDD2377}"/>
              </a:ext>
            </a:extLst>
          </p:cNvPr>
          <p:cNvSpPr txBox="1"/>
          <p:nvPr/>
        </p:nvSpPr>
        <p:spPr>
          <a:xfrm>
            <a:off x="20732259" y="5947622"/>
            <a:ext cx="78030" cy="2308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703020202090204" pitchFamily="34" charset="0"/>
              </a:rPr>
              <a:t>)</a:t>
            </a:r>
          </a:p>
        </p:txBody>
      </p:sp>
      <p:sp>
        <p:nvSpPr>
          <p:cNvPr id="653" name="TextBox 652">
            <a:extLst>
              <a:ext uri="{FF2B5EF4-FFF2-40B4-BE49-F238E27FC236}">
                <a16:creationId xmlns:a16="http://schemas.microsoft.com/office/drawing/2014/main" id="{EFD9C034-08AF-EEE0-16B5-9A237955906A}"/>
              </a:ext>
            </a:extLst>
          </p:cNvPr>
          <p:cNvSpPr txBox="1"/>
          <p:nvPr/>
        </p:nvSpPr>
        <p:spPr>
          <a:xfrm>
            <a:off x="20889870" y="5947622"/>
            <a:ext cx="78030" cy="2308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703020202090204" pitchFamily="34" charset="0"/>
              </a:rPr>
              <a:t>:</a:t>
            </a:r>
          </a:p>
        </p:txBody>
      </p:sp>
      <p:cxnSp>
        <p:nvCxnSpPr>
          <p:cNvPr id="654" name="Curved Connector 653">
            <a:extLst>
              <a:ext uri="{FF2B5EF4-FFF2-40B4-BE49-F238E27FC236}">
                <a16:creationId xmlns:a16="http://schemas.microsoft.com/office/drawing/2014/main" id="{D931CB87-1748-533A-73BD-169A98D0EBDE}"/>
              </a:ext>
            </a:extLst>
          </p:cNvPr>
          <p:cNvCxnSpPr>
            <a:stCxn id="637" idx="2"/>
            <a:endCxn id="180" idx="0"/>
          </p:cNvCxnSpPr>
          <p:nvPr/>
        </p:nvCxnSpPr>
        <p:spPr>
          <a:xfrm rot="16200000" flipH="1">
            <a:off x="17219491" y="5809215"/>
            <a:ext cx="160038" cy="116775"/>
          </a:xfrm>
          <a:prstGeom prst="curvedConnector3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5" name="Curved Connector 654">
            <a:extLst>
              <a:ext uri="{FF2B5EF4-FFF2-40B4-BE49-F238E27FC236}">
                <a16:creationId xmlns:a16="http://schemas.microsoft.com/office/drawing/2014/main" id="{7B1904D1-2E0B-34B0-92EC-6580863337FA}"/>
              </a:ext>
            </a:extLst>
          </p:cNvPr>
          <p:cNvCxnSpPr>
            <a:cxnSpLocks/>
            <a:stCxn id="637" idx="2"/>
            <a:endCxn id="181" idx="0"/>
          </p:cNvCxnSpPr>
          <p:nvPr/>
        </p:nvCxnSpPr>
        <p:spPr>
          <a:xfrm rot="5400000">
            <a:off x="17090098" y="5796597"/>
            <a:ext cx="160038" cy="142012"/>
          </a:xfrm>
          <a:prstGeom prst="curvedConnector3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6" name="Curved Connector 655">
            <a:extLst>
              <a:ext uri="{FF2B5EF4-FFF2-40B4-BE49-F238E27FC236}">
                <a16:creationId xmlns:a16="http://schemas.microsoft.com/office/drawing/2014/main" id="{0E10D639-9A57-1388-BC45-2FC2F5B8714A}"/>
              </a:ext>
            </a:extLst>
          </p:cNvPr>
          <p:cNvCxnSpPr>
            <a:cxnSpLocks/>
            <a:stCxn id="163" idx="2"/>
            <a:endCxn id="190" idx="0"/>
          </p:cNvCxnSpPr>
          <p:nvPr/>
        </p:nvCxnSpPr>
        <p:spPr>
          <a:xfrm rot="5400000">
            <a:off x="17984545" y="5778762"/>
            <a:ext cx="153693" cy="171336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7" name="Curved Connector 656">
            <a:extLst>
              <a:ext uri="{FF2B5EF4-FFF2-40B4-BE49-F238E27FC236}">
                <a16:creationId xmlns:a16="http://schemas.microsoft.com/office/drawing/2014/main" id="{9EDFDA6F-2AD7-131A-2FB3-EDAE9F246811}"/>
              </a:ext>
            </a:extLst>
          </p:cNvPr>
          <p:cNvCxnSpPr>
            <a:cxnSpLocks/>
            <a:stCxn id="163" idx="2"/>
            <a:endCxn id="184" idx="0"/>
          </p:cNvCxnSpPr>
          <p:nvPr/>
        </p:nvCxnSpPr>
        <p:spPr>
          <a:xfrm rot="16200000" flipH="1">
            <a:off x="18096105" y="5838538"/>
            <a:ext cx="160038" cy="58130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8" name="Curved Connector 657">
            <a:extLst>
              <a:ext uri="{FF2B5EF4-FFF2-40B4-BE49-F238E27FC236}">
                <a16:creationId xmlns:a16="http://schemas.microsoft.com/office/drawing/2014/main" id="{7EBCEA9B-E155-2260-F3C1-058139911A89}"/>
              </a:ext>
            </a:extLst>
          </p:cNvPr>
          <p:cNvCxnSpPr>
            <a:cxnSpLocks/>
            <a:stCxn id="175" idx="2"/>
            <a:endCxn id="640" idx="0"/>
          </p:cNvCxnSpPr>
          <p:nvPr/>
        </p:nvCxnSpPr>
        <p:spPr>
          <a:xfrm rot="5400000">
            <a:off x="18727004" y="5749579"/>
            <a:ext cx="160470" cy="235616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9" name="Curved Connector 658">
            <a:extLst>
              <a:ext uri="{FF2B5EF4-FFF2-40B4-BE49-F238E27FC236}">
                <a16:creationId xmlns:a16="http://schemas.microsoft.com/office/drawing/2014/main" id="{980B12FF-8BF1-4C8F-4503-B792C15DEDC6}"/>
              </a:ext>
            </a:extLst>
          </p:cNvPr>
          <p:cNvCxnSpPr>
            <a:cxnSpLocks/>
            <a:stCxn id="175" idx="2"/>
            <a:endCxn id="641" idx="0"/>
          </p:cNvCxnSpPr>
          <p:nvPr/>
        </p:nvCxnSpPr>
        <p:spPr>
          <a:xfrm rot="5400000">
            <a:off x="18813100" y="5835675"/>
            <a:ext cx="160470" cy="63424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0" name="Curved Connector 659">
            <a:extLst>
              <a:ext uri="{FF2B5EF4-FFF2-40B4-BE49-F238E27FC236}">
                <a16:creationId xmlns:a16="http://schemas.microsoft.com/office/drawing/2014/main" id="{3FDF4D28-F8A1-1ED5-EDBE-252EA6D4A6DD}"/>
              </a:ext>
            </a:extLst>
          </p:cNvPr>
          <p:cNvCxnSpPr>
            <a:cxnSpLocks/>
            <a:stCxn id="175" idx="2"/>
            <a:endCxn id="643" idx="0"/>
          </p:cNvCxnSpPr>
          <p:nvPr/>
        </p:nvCxnSpPr>
        <p:spPr>
          <a:xfrm rot="16200000" flipH="1">
            <a:off x="18899196" y="5813003"/>
            <a:ext cx="160470" cy="108768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1" name="Curved Connector 660">
            <a:extLst>
              <a:ext uri="{FF2B5EF4-FFF2-40B4-BE49-F238E27FC236}">
                <a16:creationId xmlns:a16="http://schemas.microsoft.com/office/drawing/2014/main" id="{4C71507B-79D7-93B2-1D31-4019F2D2CF46}"/>
              </a:ext>
            </a:extLst>
          </p:cNvPr>
          <p:cNvCxnSpPr>
            <a:cxnSpLocks/>
            <a:stCxn id="175" idx="2"/>
            <a:endCxn id="646" idx="0"/>
          </p:cNvCxnSpPr>
          <p:nvPr/>
        </p:nvCxnSpPr>
        <p:spPr>
          <a:xfrm rot="16200000" flipH="1">
            <a:off x="18985291" y="5726907"/>
            <a:ext cx="160470" cy="280959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2" name="Curved Connector 661">
            <a:extLst>
              <a:ext uri="{FF2B5EF4-FFF2-40B4-BE49-F238E27FC236}">
                <a16:creationId xmlns:a16="http://schemas.microsoft.com/office/drawing/2014/main" id="{C6597B14-3AEC-E1CD-D352-F8E6CD294E1E}"/>
              </a:ext>
            </a:extLst>
          </p:cNvPr>
          <p:cNvCxnSpPr>
            <a:cxnSpLocks/>
            <a:stCxn id="170" idx="2"/>
            <a:endCxn id="647" idx="0"/>
          </p:cNvCxnSpPr>
          <p:nvPr/>
        </p:nvCxnSpPr>
        <p:spPr>
          <a:xfrm rot="5400000">
            <a:off x="19448706" y="5816738"/>
            <a:ext cx="160038" cy="101731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6" name="Curved Connector 665">
            <a:extLst>
              <a:ext uri="{FF2B5EF4-FFF2-40B4-BE49-F238E27FC236}">
                <a16:creationId xmlns:a16="http://schemas.microsoft.com/office/drawing/2014/main" id="{4277F0E8-DCC8-7833-2A15-2E7B56F5F2AC}"/>
              </a:ext>
            </a:extLst>
          </p:cNvPr>
          <p:cNvCxnSpPr>
            <a:cxnSpLocks/>
            <a:stCxn id="170" idx="2"/>
            <a:endCxn id="648" idx="0"/>
          </p:cNvCxnSpPr>
          <p:nvPr/>
        </p:nvCxnSpPr>
        <p:spPr>
          <a:xfrm rot="16200000" flipH="1">
            <a:off x="19549579" y="5817594"/>
            <a:ext cx="160038" cy="100017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7" name="Curved Connector 666">
            <a:extLst>
              <a:ext uri="{FF2B5EF4-FFF2-40B4-BE49-F238E27FC236}">
                <a16:creationId xmlns:a16="http://schemas.microsoft.com/office/drawing/2014/main" id="{14CCF5EB-21DC-ECB5-A0AB-35EA2FA9EF42}"/>
              </a:ext>
            </a:extLst>
          </p:cNvPr>
          <p:cNvCxnSpPr>
            <a:cxnSpLocks/>
            <a:stCxn id="172" idx="2"/>
            <a:endCxn id="649" idx="0"/>
          </p:cNvCxnSpPr>
          <p:nvPr/>
        </p:nvCxnSpPr>
        <p:spPr>
          <a:xfrm rot="5400000">
            <a:off x="19879010" y="5776458"/>
            <a:ext cx="160038" cy="182290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8" name="Curved Connector 667">
            <a:extLst>
              <a:ext uri="{FF2B5EF4-FFF2-40B4-BE49-F238E27FC236}">
                <a16:creationId xmlns:a16="http://schemas.microsoft.com/office/drawing/2014/main" id="{81A28EDD-D96F-C7EE-9D6C-4404A41B0D8A}"/>
              </a:ext>
            </a:extLst>
          </p:cNvPr>
          <p:cNvCxnSpPr>
            <a:cxnSpLocks/>
            <a:stCxn id="172" idx="2"/>
            <a:endCxn id="650" idx="0"/>
          </p:cNvCxnSpPr>
          <p:nvPr/>
        </p:nvCxnSpPr>
        <p:spPr>
          <a:xfrm rot="16200000" flipH="1">
            <a:off x="20081097" y="5756660"/>
            <a:ext cx="160038" cy="221885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9" name="Curved Connector 668">
            <a:extLst>
              <a:ext uri="{FF2B5EF4-FFF2-40B4-BE49-F238E27FC236}">
                <a16:creationId xmlns:a16="http://schemas.microsoft.com/office/drawing/2014/main" id="{BE3B1324-1F13-0E08-875F-879544370F2B}"/>
              </a:ext>
            </a:extLst>
          </p:cNvPr>
          <p:cNvCxnSpPr>
            <a:cxnSpLocks/>
            <a:stCxn id="179" idx="2"/>
            <a:endCxn id="651" idx="0"/>
          </p:cNvCxnSpPr>
          <p:nvPr/>
        </p:nvCxnSpPr>
        <p:spPr>
          <a:xfrm rot="5400000">
            <a:off x="20721423" y="5836019"/>
            <a:ext cx="161454" cy="61752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0" name="Curved Connector 669">
            <a:extLst>
              <a:ext uri="{FF2B5EF4-FFF2-40B4-BE49-F238E27FC236}">
                <a16:creationId xmlns:a16="http://schemas.microsoft.com/office/drawing/2014/main" id="{236384C8-5D25-C2A4-3D03-BF6A3AC79569}"/>
              </a:ext>
            </a:extLst>
          </p:cNvPr>
          <p:cNvCxnSpPr>
            <a:cxnSpLocks/>
            <a:stCxn id="179" idx="2"/>
            <a:endCxn id="653" idx="0"/>
          </p:cNvCxnSpPr>
          <p:nvPr/>
        </p:nvCxnSpPr>
        <p:spPr>
          <a:xfrm rot="16200000" flipH="1">
            <a:off x="20800228" y="5818965"/>
            <a:ext cx="161454" cy="95859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1" name="TextBox 670">
            <a:extLst>
              <a:ext uri="{FF2B5EF4-FFF2-40B4-BE49-F238E27FC236}">
                <a16:creationId xmlns:a16="http://schemas.microsoft.com/office/drawing/2014/main" id="{C58183E4-8E94-DADC-0E0D-DB663F82088F}"/>
              </a:ext>
            </a:extLst>
          </p:cNvPr>
          <p:cNvSpPr txBox="1"/>
          <p:nvPr/>
        </p:nvSpPr>
        <p:spPr>
          <a:xfrm>
            <a:off x="18358278" y="5945821"/>
            <a:ext cx="78030" cy="2308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703020202090204" pitchFamily="34" charset="0"/>
              </a:rPr>
              <a:t>)</a:t>
            </a:r>
          </a:p>
        </p:txBody>
      </p:sp>
      <p:sp>
        <p:nvSpPr>
          <p:cNvPr id="672" name="TextBox 671">
            <a:extLst>
              <a:ext uri="{FF2B5EF4-FFF2-40B4-BE49-F238E27FC236}">
                <a16:creationId xmlns:a16="http://schemas.microsoft.com/office/drawing/2014/main" id="{99F99C61-2F40-A097-D888-A531C5320BC2}"/>
              </a:ext>
            </a:extLst>
          </p:cNvPr>
          <p:cNvSpPr txBox="1"/>
          <p:nvPr/>
        </p:nvSpPr>
        <p:spPr>
          <a:xfrm>
            <a:off x="18504015" y="5945821"/>
            <a:ext cx="78030" cy="2308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703020202090204" pitchFamily="34" charset="0"/>
              </a:rPr>
              <a:t>:</a:t>
            </a:r>
          </a:p>
        </p:txBody>
      </p:sp>
      <p:cxnSp>
        <p:nvCxnSpPr>
          <p:cNvPr id="673" name="Curved Connector 672">
            <a:extLst>
              <a:ext uri="{FF2B5EF4-FFF2-40B4-BE49-F238E27FC236}">
                <a16:creationId xmlns:a16="http://schemas.microsoft.com/office/drawing/2014/main" id="{D4FA3C5C-1496-5D4C-6831-8F28E013C6CC}"/>
              </a:ext>
            </a:extLst>
          </p:cNvPr>
          <p:cNvCxnSpPr>
            <a:cxnSpLocks/>
            <a:endCxn id="671" idx="0"/>
          </p:cNvCxnSpPr>
          <p:nvPr/>
        </p:nvCxnSpPr>
        <p:spPr>
          <a:xfrm rot="5400000">
            <a:off x="18347442" y="5834218"/>
            <a:ext cx="161454" cy="61752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4" name="Curved Connector 673">
            <a:extLst>
              <a:ext uri="{FF2B5EF4-FFF2-40B4-BE49-F238E27FC236}">
                <a16:creationId xmlns:a16="http://schemas.microsoft.com/office/drawing/2014/main" id="{14509657-7469-6990-0571-5DB5C85F7AFA}"/>
              </a:ext>
            </a:extLst>
          </p:cNvPr>
          <p:cNvCxnSpPr>
            <a:cxnSpLocks/>
            <a:endCxn id="672" idx="0"/>
          </p:cNvCxnSpPr>
          <p:nvPr/>
        </p:nvCxnSpPr>
        <p:spPr>
          <a:xfrm rot="16200000" flipH="1">
            <a:off x="18429494" y="5832284"/>
            <a:ext cx="152827" cy="74245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5" name="TextBox 674">
            <a:extLst>
              <a:ext uri="{FF2B5EF4-FFF2-40B4-BE49-F238E27FC236}">
                <a16:creationId xmlns:a16="http://schemas.microsoft.com/office/drawing/2014/main" id="{5C890F74-8458-B061-8408-4334E076D881}"/>
              </a:ext>
            </a:extLst>
          </p:cNvPr>
          <p:cNvSpPr txBox="1"/>
          <p:nvPr/>
        </p:nvSpPr>
        <p:spPr>
          <a:xfrm>
            <a:off x="16997767" y="5218629"/>
            <a:ext cx="290967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Trebuchet MS" panose="020B0703020202090204" pitchFamily="34" charset="0"/>
              </a:rPr>
              <a:t>Decomposed Tokens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16908612" y="7516346"/>
            <a:ext cx="1493935" cy="252000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1600" dirty="0">
                <a:latin typeface="Trebuchet MS" panose="020B0703020202090204" pitchFamily="34" charset="0"/>
              </a:rPr>
              <a:t>Pruned Tokens</a:t>
            </a:r>
          </a:p>
        </p:txBody>
      </p:sp>
      <p:cxnSp>
        <p:nvCxnSpPr>
          <p:cNvPr id="679" name="Straight Arrow Connector 678">
            <a:extLst>
              <a:ext uri="{FF2B5EF4-FFF2-40B4-BE49-F238E27FC236}">
                <a16:creationId xmlns:a16="http://schemas.microsoft.com/office/drawing/2014/main" id="{8B210727-8A48-C144-BF5B-3816EABFDBA9}"/>
              </a:ext>
            </a:extLst>
          </p:cNvPr>
          <p:cNvCxnSpPr/>
          <p:nvPr/>
        </p:nvCxnSpPr>
        <p:spPr>
          <a:xfrm>
            <a:off x="20320906" y="6303023"/>
            <a:ext cx="0" cy="432000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5" name="TextBox 624">
            <a:extLst>
              <a:ext uri="{FF2B5EF4-FFF2-40B4-BE49-F238E27FC236}">
                <a16:creationId xmlns:a16="http://schemas.microsoft.com/office/drawing/2014/main" id="{40B635C0-565D-BB0B-8972-A718C8F5F968}"/>
              </a:ext>
            </a:extLst>
          </p:cNvPr>
          <p:cNvSpPr txBox="1"/>
          <p:nvPr/>
        </p:nvSpPr>
        <p:spPr>
          <a:xfrm>
            <a:off x="17055497" y="4722340"/>
            <a:ext cx="3142718" cy="369332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none" rtlCol="0">
            <a:noAutofit/>
          </a:bodyPr>
          <a:lstStyle/>
          <a:p>
            <a:pPr algn="ctr"/>
            <a:r>
              <a:rPr lang="en-US" sz="1800" dirty="0">
                <a:solidFill>
                  <a:schemeClr val="bg1"/>
                </a:solidFill>
                <a:latin typeface="Trebuchet MS" panose="020B0703020202090204" pitchFamily="34" charset="0"/>
              </a:rPr>
              <a:t>Matching Decomposed Tokens</a:t>
            </a:r>
          </a:p>
        </p:txBody>
      </p:sp>
      <p:sp>
        <p:nvSpPr>
          <p:cNvPr id="681" name="TextBox 680">
            <a:extLst>
              <a:ext uri="{FF2B5EF4-FFF2-40B4-BE49-F238E27FC236}">
                <a16:creationId xmlns:a16="http://schemas.microsoft.com/office/drawing/2014/main" id="{4817E0FF-6430-1637-453B-9CCBB421B544}"/>
              </a:ext>
            </a:extLst>
          </p:cNvPr>
          <p:cNvSpPr txBox="1"/>
          <p:nvPr/>
        </p:nvSpPr>
        <p:spPr>
          <a:xfrm>
            <a:off x="17061130" y="6360205"/>
            <a:ext cx="2927236" cy="3708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none" rtlCol="0">
            <a:noAutofit/>
          </a:bodyPr>
          <a:lstStyle/>
          <a:p>
            <a:pPr algn="ctr"/>
            <a:r>
              <a:rPr lang="en-US" sz="1800" dirty="0">
                <a:solidFill>
                  <a:schemeClr val="bg1"/>
                </a:solidFill>
                <a:latin typeface="Trebuchet MS" panose="020B0703020202090204" pitchFamily="34" charset="0"/>
              </a:rPr>
              <a:t>Syntax-Oriented Pruning</a:t>
            </a:r>
          </a:p>
        </p:txBody>
      </p:sp>
      <p:sp>
        <p:nvSpPr>
          <p:cNvPr id="685" name="Rounded Rectangle 684">
            <a:extLst>
              <a:ext uri="{FF2B5EF4-FFF2-40B4-BE49-F238E27FC236}">
                <a16:creationId xmlns:a16="http://schemas.microsoft.com/office/drawing/2014/main" id="{10F62AEC-C1B7-BB3B-F140-FFC053FDC4B7}"/>
              </a:ext>
            </a:extLst>
          </p:cNvPr>
          <p:cNvSpPr/>
          <p:nvPr/>
        </p:nvSpPr>
        <p:spPr>
          <a:xfrm>
            <a:off x="21995102" y="4578059"/>
            <a:ext cx="4492065" cy="487630"/>
          </a:xfrm>
          <a:prstGeom prst="roundRect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i="1" dirty="0">
                <a:solidFill>
                  <a:schemeClr val="bg1"/>
                </a:solidFill>
                <a:latin typeface="Trebuchet MS" panose="020B0703020202090204" pitchFamily="34" charset="0"/>
              </a:rPr>
              <a:t>Member Probabilities Calculation</a:t>
            </a:r>
          </a:p>
        </p:txBody>
      </p:sp>
      <p:sp>
        <p:nvSpPr>
          <p:cNvPr id="686" name="Rounded Rectangle 685">
            <a:extLst>
              <a:ext uri="{FF2B5EF4-FFF2-40B4-BE49-F238E27FC236}">
                <a16:creationId xmlns:a16="http://schemas.microsoft.com/office/drawing/2014/main" id="{C201A083-0993-7893-77C3-6F78042A697C}"/>
              </a:ext>
            </a:extLst>
          </p:cNvPr>
          <p:cNvSpPr/>
          <p:nvPr/>
        </p:nvSpPr>
        <p:spPr>
          <a:xfrm>
            <a:off x="22364075" y="5325119"/>
            <a:ext cx="3409965" cy="487630"/>
          </a:xfrm>
          <a:prstGeom prst="round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  <a:latin typeface="Trebuchet MS" panose="020B0703020202090204" pitchFamily="34" charset="0"/>
              </a:rPr>
              <a:t>Syntax-convention-pruned Member Probabilities</a:t>
            </a:r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43E231B9-5269-A923-E3BF-302548940589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2339960" y="5864430"/>
            <a:ext cx="3683000" cy="9525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F37924E-93B8-52CB-3ACB-2F80A3036C48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2207114" y="5886381"/>
            <a:ext cx="3965929" cy="103296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3" name="Rounded Rectangle 602"/>
          <p:cNvSpPr/>
          <p:nvPr/>
        </p:nvSpPr>
        <p:spPr>
          <a:xfrm>
            <a:off x="17263014" y="8660392"/>
            <a:ext cx="6219319" cy="377899"/>
          </a:xfrm>
          <a:prstGeom prst="roundRect">
            <a:avLst>
              <a:gd name="adj" fmla="val 2712"/>
            </a:avLst>
          </a:prstGeom>
          <a:solidFill>
            <a:srgbClr val="7030A0">
              <a:alpha val="14000"/>
            </a:srgbClr>
          </a:solidFill>
          <a:ln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rebuchet MS" panose="020B0703020202090204" pitchFamily="34" charset="0"/>
            </a:endParaRPr>
          </a:p>
        </p:txBody>
      </p:sp>
      <p:sp>
        <p:nvSpPr>
          <p:cNvPr id="602" name="Rounded Rectangle 601"/>
          <p:cNvSpPr/>
          <p:nvPr/>
        </p:nvSpPr>
        <p:spPr>
          <a:xfrm>
            <a:off x="17263014" y="7908965"/>
            <a:ext cx="6219319" cy="575982"/>
          </a:xfrm>
          <a:prstGeom prst="roundRect">
            <a:avLst>
              <a:gd name="adj" fmla="val 2712"/>
            </a:avLst>
          </a:prstGeom>
          <a:solidFill>
            <a:srgbClr val="7030A0">
              <a:alpha val="13620"/>
            </a:srgbClr>
          </a:solidFill>
          <a:ln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rebuchet MS" panose="020B0703020202090204" pitchFamily="34" charset="0"/>
            </a:endParaRPr>
          </a:p>
        </p:txBody>
      </p:sp>
      <p:sp>
        <p:nvSpPr>
          <p:cNvPr id="644" name="Rounded Rectangle 643"/>
          <p:cNvSpPr/>
          <p:nvPr/>
        </p:nvSpPr>
        <p:spPr>
          <a:xfrm>
            <a:off x="16733705" y="3557879"/>
            <a:ext cx="7014639" cy="5691755"/>
          </a:xfrm>
          <a:prstGeom prst="roundRect">
            <a:avLst>
              <a:gd name="adj" fmla="val 2712"/>
            </a:avLst>
          </a:prstGeom>
          <a:solidFill>
            <a:srgbClr val="7030A0">
              <a:alpha val="3000"/>
            </a:srgbClr>
          </a:solidFill>
          <a:ln>
            <a:solidFill>
              <a:srgbClr val="7030A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Trebuchet MS" panose="020B0703020202090204" pitchFamily="34" charset="0"/>
            </a:endParaRPr>
          </a:p>
        </p:txBody>
      </p:sp>
      <p:sp>
        <p:nvSpPr>
          <p:cNvPr id="751" name="Rounded Rectangle 750"/>
          <p:cNvSpPr/>
          <p:nvPr/>
        </p:nvSpPr>
        <p:spPr>
          <a:xfrm>
            <a:off x="17240127" y="4554357"/>
            <a:ext cx="6230322" cy="701711"/>
          </a:xfrm>
          <a:prstGeom prst="roundRect">
            <a:avLst>
              <a:gd name="adj" fmla="val 2712"/>
            </a:avLst>
          </a:prstGeom>
          <a:solidFill>
            <a:srgbClr val="7030A0">
              <a:alpha val="14000"/>
            </a:srgbClr>
          </a:solidFill>
          <a:ln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Trebuchet MS" panose="020B0703020202090204" pitchFamily="34" charset="0"/>
            </a:endParaRPr>
          </a:p>
        </p:txBody>
      </p:sp>
      <p:sp>
        <p:nvSpPr>
          <p:cNvPr id="642" name="Rounded Rectangle 641"/>
          <p:cNvSpPr/>
          <p:nvPr/>
        </p:nvSpPr>
        <p:spPr>
          <a:xfrm>
            <a:off x="11940367" y="4719918"/>
            <a:ext cx="4393854" cy="4530464"/>
          </a:xfrm>
          <a:prstGeom prst="roundRect">
            <a:avLst>
              <a:gd name="adj" fmla="val 2712"/>
            </a:avLst>
          </a:prstGeom>
          <a:solidFill>
            <a:srgbClr val="7030A0">
              <a:alpha val="3000"/>
            </a:srgbClr>
          </a:solidFill>
          <a:ln>
            <a:solidFill>
              <a:srgbClr val="7030A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rebuchet MS" panose="020B0703020202090204" pitchFamily="34" charset="0"/>
            </a:endParaRPr>
          </a:p>
        </p:txBody>
      </p:sp>
      <p:sp>
        <p:nvSpPr>
          <p:cNvPr id="757" name="Rounded Rectangle 756"/>
          <p:cNvSpPr/>
          <p:nvPr/>
        </p:nvSpPr>
        <p:spPr>
          <a:xfrm>
            <a:off x="12015660" y="8182111"/>
            <a:ext cx="4248000" cy="902674"/>
          </a:xfrm>
          <a:prstGeom prst="roundRect">
            <a:avLst>
              <a:gd name="adj" fmla="val 2712"/>
            </a:avLst>
          </a:prstGeom>
          <a:solidFill>
            <a:srgbClr val="7030A0">
              <a:alpha val="14000"/>
            </a:srgbClr>
          </a:solidFill>
          <a:ln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rebuchet MS" panose="020B0703020202090204" pitchFamily="34" charset="0"/>
            </a:endParaRPr>
          </a:p>
        </p:txBody>
      </p:sp>
      <p:sp>
        <p:nvSpPr>
          <p:cNvPr id="23" name="Rounded Rectangle 22"/>
          <p:cNvSpPr/>
          <p:nvPr/>
        </p:nvSpPr>
        <p:spPr>
          <a:xfrm>
            <a:off x="391871" y="7270382"/>
            <a:ext cx="10754570" cy="1980000"/>
          </a:xfrm>
          <a:prstGeom prst="roundRect">
            <a:avLst>
              <a:gd name="adj" fmla="val 2712"/>
            </a:avLst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rebuchet MS" panose="020B0703020202090204" pitchFamily="34" charset="0"/>
            </a:endParaRPr>
          </a:p>
        </p:txBody>
      </p:sp>
      <p:sp>
        <p:nvSpPr>
          <p:cNvPr id="22" name="Rounded Rectangle 21"/>
          <p:cNvSpPr/>
          <p:nvPr/>
        </p:nvSpPr>
        <p:spPr>
          <a:xfrm>
            <a:off x="391870" y="3594290"/>
            <a:ext cx="10735527" cy="1980000"/>
          </a:xfrm>
          <a:prstGeom prst="roundRect">
            <a:avLst>
              <a:gd name="adj" fmla="val 2712"/>
            </a:avLst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rebuchet MS" panose="020B0703020202090204" pitchFamily="34" charset="0"/>
            </a:endParaRPr>
          </a:p>
        </p:txBody>
      </p:sp>
      <p:sp>
        <p:nvSpPr>
          <p:cNvPr id="749" name="Rounded Rectangle 748"/>
          <p:cNvSpPr/>
          <p:nvPr/>
        </p:nvSpPr>
        <p:spPr>
          <a:xfrm>
            <a:off x="17240126" y="5805255"/>
            <a:ext cx="6219319" cy="1565504"/>
          </a:xfrm>
          <a:prstGeom prst="roundRect">
            <a:avLst>
              <a:gd name="adj" fmla="val 2712"/>
            </a:avLst>
          </a:prstGeom>
          <a:solidFill>
            <a:srgbClr val="7030A0">
              <a:alpha val="14000"/>
            </a:srgbClr>
          </a:solidFill>
          <a:ln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>
              <a:latin typeface="Trebuchet MS" panose="020B0703020202090204" pitchFamily="34" charset="0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15961" y="4570229"/>
            <a:ext cx="895664" cy="89566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009018" y="5016268"/>
            <a:ext cx="32182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Trebuchet MS" panose="020B0703020202090204" pitchFamily="34" charset="0"/>
              </a:rPr>
              <a:t>Language Syntax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7199" y="5016268"/>
            <a:ext cx="20525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Trebuchet MS" panose="020B0703020202090204" pitchFamily="34" charset="0"/>
              </a:rPr>
              <a:t>Task Specification</a:t>
            </a:r>
          </a:p>
        </p:txBody>
      </p:sp>
      <p:cxnSp>
        <p:nvCxnSpPr>
          <p:cNvPr id="7" name="Straight Arrow Connector 6"/>
          <p:cNvCxnSpPr/>
          <p:nvPr/>
        </p:nvCxnSpPr>
        <p:spPr>
          <a:xfrm>
            <a:off x="4490268" y="4468127"/>
            <a:ext cx="2052000" cy="0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427495" y="5016268"/>
            <a:ext cx="26409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Trebuchet MS" panose="020B0703020202090204" pitchFamily="34" charset="0"/>
              </a:rPr>
              <a:t>Copyright</a:t>
            </a:r>
            <a:r>
              <a:rPr lang="en-US" altLang="zh-CN" dirty="0">
                <a:latin typeface="Trebuchet MS" panose="020B0703020202090204" pitchFamily="34" charset="0"/>
              </a:rPr>
              <a:t>-Owned </a:t>
            </a:r>
            <a:r>
              <a:rPr lang="en-US" dirty="0">
                <a:latin typeface="Trebuchet MS" panose="020B0703020202090204" pitchFamily="34" charset="0"/>
              </a:rPr>
              <a:t>Code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48687" y="3788434"/>
            <a:ext cx="1614801" cy="1200329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marL="342900" indent="-342900">
              <a:buAutoNum type="arabicPeriod"/>
            </a:pPr>
            <a:r>
              <a:rPr lang="en-US" dirty="0">
                <a:latin typeface="Trebuchet MS" panose="020B0703020202090204" pitchFamily="34" charset="0"/>
              </a:rPr>
              <a:t>For</a:t>
            </a:r>
          </a:p>
          <a:p>
            <a:pPr marL="342900" indent="-342900">
              <a:buAutoNum type="arabicPeriod"/>
            </a:pPr>
            <a:r>
              <a:rPr lang="en-US" dirty="0">
                <a:latin typeface="Trebuchet MS" panose="020B0703020202090204" pitchFamily="34" charset="0"/>
              </a:rPr>
              <a:t>If Else</a:t>
            </a:r>
          </a:p>
          <a:p>
            <a:pPr marL="342900" indent="-342900">
              <a:buAutoNum type="arabicPeriod"/>
            </a:pPr>
            <a:r>
              <a:rPr lang="en-US" dirty="0">
                <a:latin typeface="Trebuchet MS" panose="020B0703020202090204" pitchFamily="34" charset="0"/>
              </a:rPr>
              <a:t>Try except</a:t>
            </a:r>
          </a:p>
          <a:p>
            <a:pPr marL="342900" indent="-342900">
              <a:buAutoNum type="arabicPeriod"/>
            </a:pPr>
            <a:r>
              <a:rPr lang="en-US" dirty="0">
                <a:latin typeface="Trebuchet MS" panose="020B0703020202090204" pitchFamily="34" charset="0"/>
              </a:rPr>
              <a:t>…</a:t>
            </a:r>
          </a:p>
        </p:txBody>
      </p:sp>
      <p:pic>
        <p:nvPicPr>
          <p:cNvPr id="10" name="Picture 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0718" y="3839426"/>
            <a:ext cx="1016000" cy="10160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05439" y="3949260"/>
            <a:ext cx="1475999" cy="369332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none" rtlCol="0">
            <a:no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  <a:latin typeface="Trebuchet MS" panose="020B0703020202090204" pitchFamily="34" charset="0"/>
              </a:rPr>
              <a:t>Programming</a:t>
            </a:r>
          </a:p>
        </p:txBody>
      </p:sp>
      <p:pic>
        <p:nvPicPr>
          <p:cNvPr id="47" name="Picture 4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19986" y="7584190"/>
            <a:ext cx="1130986" cy="1130986"/>
          </a:xfrm>
          <a:prstGeom prst="rect">
            <a:avLst/>
          </a:prstGeom>
        </p:spPr>
      </p:pic>
      <p:sp>
        <p:nvSpPr>
          <p:cNvPr id="96" name="TextBox 95"/>
          <p:cNvSpPr txBox="1"/>
          <p:nvPr/>
        </p:nvSpPr>
        <p:spPr>
          <a:xfrm>
            <a:off x="17595976" y="5799288"/>
            <a:ext cx="1778051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>
                <a:latin typeface="Trebuchet MS" panose="020B0703020202090204" pitchFamily="34" charset="0"/>
              </a:rPr>
              <a:t>Enumerating each tokens</a:t>
            </a:r>
          </a:p>
        </p:txBody>
      </p:sp>
      <p:cxnSp>
        <p:nvCxnSpPr>
          <p:cNvPr id="136" name="Straight Arrow Connector 135"/>
          <p:cNvCxnSpPr/>
          <p:nvPr/>
        </p:nvCxnSpPr>
        <p:spPr>
          <a:xfrm>
            <a:off x="25762972" y="7263015"/>
            <a:ext cx="0" cy="87575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848683" y="3987164"/>
            <a:ext cx="3996000" cy="978878"/>
          </a:xfrm>
          <a:prstGeom prst="rect">
            <a:avLst/>
          </a:prstGeom>
          <a:solidFill>
            <a:schemeClr val="bg1">
              <a:lumMod val="85000"/>
            </a:schemeClr>
          </a:solidFill>
          <a:ln w="12700"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r>
              <a:rPr lang="en-US" sz="1100" dirty="0">
                <a:solidFill>
                  <a:srgbClr val="0000FF"/>
                </a:solidFill>
                <a:latin typeface="Trebuchet MS" panose="020B0703020202090204" pitchFamily="34" charset="0"/>
              </a:rPr>
              <a:t>def</a:t>
            </a:r>
            <a:r>
              <a:rPr lang="en-US" sz="1100" dirty="0">
                <a:solidFill>
                  <a:srgbClr val="3B3B3B"/>
                </a:solidFill>
                <a:latin typeface="Trebuchet MS" panose="020B0703020202090204" pitchFamily="34" charset="0"/>
              </a:rPr>
              <a:t> </a:t>
            </a:r>
            <a:r>
              <a:rPr lang="en-US" sz="1100" dirty="0">
                <a:solidFill>
                  <a:srgbClr val="795E26"/>
                </a:solidFill>
                <a:latin typeface="Trebuchet MS" panose="020B0703020202090204" pitchFamily="34" charset="0"/>
              </a:rPr>
              <a:t>add</a:t>
            </a:r>
            <a:r>
              <a:rPr lang="en-US" sz="1100" dirty="0">
                <a:solidFill>
                  <a:srgbClr val="3B3B3B"/>
                </a:solidFill>
                <a:latin typeface="Trebuchet MS" panose="020B0703020202090204" pitchFamily="34" charset="0"/>
              </a:rPr>
              <a:t>(</a:t>
            </a:r>
            <a:r>
              <a:rPr lang="en-US" sz="1100" dirty="0">
                <a:solidFill>
                  <a:srgbClr val="001080"/>
                </a:solidFill>
                <a:latin typeface="Trebuchet MS" panose="020B0703020202090204" pitchFamily="34" charset="0"/>
              </a:rPr>
              <a:t>self</a:t>
            </a:r>
            <a:r>
              <a:rPr lang="en-US" sz="1100" dirty="0">
                <a:solidFill>
                  <a:srgbClr val="3B3B3B"/>
                </a:solidFill>
                <a:latin typeface="Trebuchet MS" panose="020B0703020202090204" pitchFamily="34" charset="0"/>
              </a:rPr>
              <a:t>, </a:t>
            </a:r>
            <a:r>
              <a:rPr lang="en-US" sz="1100" dirty="0">
                <a:solidFill>
                  <a:srgbClr val="001080"/>
                </a:solidFill>
                <a:latin typeface="Trebuchet MS" panose="020B0703020202090204" pitchFamily="34" charset="0"/>
              </a:rPr>
              <a:t>row</a:t>
            </a:r>
            <a:r>
              <a:rPr lang="en-US" sz="1100" dirty="0">
                <a:solidFill>
                  <a:srgbClr val="3B3B3B"/>
                </a:solidFill>
                <a:latin typeface="Trebuchet MS" panose="020B0703020202090204" pitchFamily="34" charset="0"/>
              </a:rPr>
              <a:t>):</a:t>
            </a:r>
          </a:p>
          <a:p>
            <a:r>
              <a:rPr lang="en-US" sz="1100" dirty="0">
                <a:solidFill>
                  <a:srgbClr val="3B3B3B"/>
                </a:solidFill>
                <a:latin typeface="Trebuchet MS" panose="020B0703020202090204" pitchFamily="34" charset="0"/>
              </a:rPr>
              <a:t>	…</a:t>
            </a:r>
          </a:p>
          <a:p>
            <a:r>
              <a:rPr lang="en-US" sz="1100" dirty="0">
                <a:solidFill>
                  <a:srgbClr val="AF00DB"/>
                </a:solidFill>
                <a:latin typeface="Trebuchet MS" panose="020B0703020202090204" pitchFamily="34" charset="0"/>
              </a:rPr>
              <a:t>	for</a:t>
            </a:r>
            <a:r>
              <a:rPr lang="en-US" sz="1100" dirty="0">
                <a:solidFill>
                  <a:srgbClr val="3B3B3B"/>
                </a:solidFill>
                <a:latin typeface="Trebuchet MS" panose="020B0703020202090204" pitchFamily="34" charset="0"/>
              </a:rPr>
              <a:t> </a:t>
            </a:r>
            <a:r>
              <a:rPr lang="en-US" sz="1100" dirty="0" err="1">
                <a:solidFill>
                  <a:srgbClr val="001080"/>
                </a:solidFill>
                <a:latin typeface="Trebuchet MS" panose="020B0703020202090204" pitchFamily="34" charset="0"/>
              </a:rPr>
              <a:t>i</a:t>
            </a:r>
            <a:r>
              <a:rPr lang="en-US" sz="1100" dirty="0">
                <a:solidFill>
                  <a:srgbClr val="3B3B3B"/>
                </a:solidFill>
                <a:latin typeface="Trebuchet MS" panose="020B0703020202090204" pitchFamily="34" charset="0"/>
              </a:rPr>
              <a:t>, </a:t>
            </a:r>
            <a:r>
              <a:rPr lang="en-US" sz="1100" dirty="0">
                <a:solidFill>
                  <a:srgbClr val="001080"/>
                </a:solidFill>
                <a:latin typeface="Trebuchet MS" panose="020B0703020202090204" pitchFamily="34" charset="0"/>
              </a:rPr>
              <a:t>f</a:t>
            </a:r>
            <a:r>
              <a:rPr lang="en-US" sz="1100" dirty="0">
                <a:solidFill>
                  <a:srgbClr val="3B3B3B"/>
                </a:solidFill>
                <a:latin typeface="Trebuchet MS" panose="020B0703020202090204" pitchFamily="34" charset="0"/>
              </a:rPr>
              <a:t> </a:t>
            </a:r>
            <a:r>
              <a:rPr lang="en-US" sz="1100" dirty="0">
                <a:solidFill>
                  <a:srgbClr val="AF00DB"/>
                </a:solidFill>
                <a:latin typeface="Trebuchet MS" panose="020B0703020202090204" pitchFamily="34" charset="0"/>
              </a:rPr>
              <a:t>in</a:t>
            </a:r>
            <a:r>
              <a:rPr lang="en-US" sz="1100" dirty="0">
                <a:solidFill>
                  <a:srgbClr val="3B3B3B"/>
                </a:solidFill>
                <a:latin typeface="Trebuchet MS" panose="020B0703020202090204" pitchFamily="34" charset="0"/>
              </a:rPr>
              <a:t> </a:t>
            </a:r>
            <a:r>
              <a:rPr lang="en-US" sz="1100" dirty="0">
                <a:solidFill>
                  <a:srgbClr val="267F99"/>
                </a:solidFill>
                <a:latin typeface="Trebuchet MS" panose="020B0703020202090204" pitchFamily="34" charset="0"/>
              </a:rPr>
              <a:t>enumerate</a:t>
            </a:r>
            <a:r>
              <a:rPr lang="en-US" sz="1100" dirty="0">
                <a:solidFill>
                  <a:srgbClr val="3B3B3B"/>
                </a:solidFill>
                <a:latin typeface="Trebuchet MS" panose="020B0703020202090204" pitchFamily="34" charset="0"/>
              </a:rPr>
              <a:t>(</a:t>
            </a:r>
            <a:r>
              <a:rPr lang="en-US" sz="1100" dirty="0">
                <a:solidFill>
                  <a:srgbClr val="001080"/>
                </a:solidFill>
                <a:latin typeface="Trebuchet MS" panose="020B0703020202090204" pitchFamily="34" charset="0"/>
              </a:rPr>
              <a:t>row</a:t>
            </a:r>
            <a:r>
              <a:rPr lang="en-US" sz="1100" dirty="0">
                <a:solidFill>
                  <a:srgbClr val="3B3B3B"/>
                </a:solidFill>
                <a:latin typeface="Trebuchet MS" panose="020B0703020202090204" pitchFamily="34" charset="0"/>
              </a:rPr>
              <a:t>):</a:t>
            </a:r>
          </a:p>
          <a:p>
            <a:r>
              <a:rPr lang="en-US" sz="1100" dirty="0">
                <a:solidFill>
                  <a:srgbClr val="AF00DB"/>
                </a:solidFill>
                <a:latin typeface="Trebuchet MS" panose="020B0703020202090204" pitchFamily="34" charset="0"/>
              </a:rPr>
              <a:t>		if</a:t>
            </a:r>
            <a:r>
              <a:rPr lang="en-US" sz="1100" dirty="0">
                <a:solidFill>
                  <a:srgbClr val="3B3B3B"/>
                </a:solidFill>
                <a:latin typeface="Trebuchet MS" panose="020B0703020202090204" pitchFamily="34" charset="0"/>
              </a:rPr>
              <a:t> </a:t>
            </a:r>
            <a:r>
              <a:rPr lang="en-US" sz="1100" dirty="0" err="1">
                <a:solidFill>
                  <a:srgbClr val="795E26"/>
                </a:solidFill>
                <a:latin typeface="Trebuchet MS" panose="020B0703020202090204" pitchFamily="34" charset="0"/>
              </a:rPr>
              <a:t>len</a:t>
            </a:r>
            <a:r>
              <a:rPr lang="en-US" sz="1100" dirty="0">
                <a:solidFill>
                  <a:srgbClr val="3B3B3B"/>
                </a:solidFill>
                <a:latin typeface="Trebuchet MS" panose="020B0703020202090204" pitchFamily="34" charset="0"/>
              </a:rPr>
              <a:t>(</a:t>
            </a:r>
            <a:r>
              <a:rPr lang="en-US" sz="1100" dirty="0">
                <a:solidFill>
                  <a:srgbClr val="001080"/>
                </a:solidFill>
                <a:latin typeface="Trebuchet MS" panose="020B0703020202090204" pitchFamily="34" charset="0"/>
              </a:rPr>
              <a:t>f</a:t>
            </a:r>
            <a:r>
              <a:rPr lang="en-US" sz="1100" dirty="0">
                <a:solidFill>
                  <a:srgbClr val="3B3B3B"/>
                </a:solidFill>
                <a:latin typeface="Trebuchet MS" panose="020B0703020202090204" pitchFamily="34" charset="0"/>
              </a:rPr>
              <a:t>) </a:t>
            </a:r>
            <a:r>
              <a:rPr lang="en-US" sz="1100" dirty="0">
                <a:solidFill>
                  <a:srgbClr val="000000"/>
                </a:solidFill>
                <a:latin typeface="Trebuchet MS" panose="020B0703020202090204" pitchFamily="34" charset="0"/>
              </a:rPr>
              <a:t>&gt;</a:t>
            </a:r>
            <a:r>
              <a:rPr lang="en-US" sz="1100" dirty="0">
                <a:solidFill>
                  <a:srgbClr val="3B3B3B"/>
                </a:solidFill>
                <a:latin typeface="Trebuchet MS" panose="020B0703020202090204" pitchFamily="34" charset="0"/>
              </a:rPr>
              <a:t> </a:t>
            </a:r>
            <a:r>
              <a:rPr lang="en-US" sz="1100" dirty="0" err="1">
                <a:solidFill>
                  <a:srgbClr val="001080"/>
                </a:solidFill>
                <a:latin typeface="Trebuchet MS" panose="020B0703020202090204" pitchFamily="34" charset="0"/>
              </a:rPr>
              <a:t>self</a:t>
            </a:r>
            <a:r>
              <a:rPr lang="en-US" sz="1100" dirty="0" err="1">
                <a:solidFill>
                  <a:srgbClr val="3B3B3B"/>
                </a:solidFill>
                <a:latin typeface="Trebuchet MS" panose="020B0703020202090204" pitchFamily="34" charset="0"/>
              </a:rPr>
              <a:t>.max_col_size</a:t>
            </a:r>
            <a:r>
              <a:rPr lang="en-US" sz="1100" dirty="0">
                <a:solidFill>
                  <a:srgbClr val="3B3B3B"/>
                </a:solidFill>
                <a:latin typeface="Trebuchet MS" panose="020B0703020202090204" pitchFamily="34" charset="0"/>
              </a:rPr>
              <a:t>[</a:t>
            </a:r>
            <a:r>
              <a:rPr lang="en-US" sz="1100" dirty="0" err="1">
                <a:solidFill>
                  <a:srgbClr val="001080"/>
                </a:solidFill>
                <a:latin typeface="Trebuchet MS" panose="020B0703020202090204" pitchFamily="34" charset="0"/>
              </a:rPr>
              <a:t>i</a:t>
            </a:r>
            <a:r>
              <a:rPr lang="en-US" sz="1100" dirty="0">
                <a:solidFill>
                  <a:srgbClr val="3B3B3B"/>
                </a:solidFill>
                <a:latin typeface="Trebuchet MS" panose="020B0703020202090204" pitchFamily="34" charset="0"/>
              </a:rPr>
              <a:t>]: </a:t>
            </a:r>
          </a:p>
          <a:p>
            <a:r>
              <a:rPr lang="en-US" sz="1100" dirty="0">
                <a:solidFill>
                  <a:srgbClr val="3B3B3B"/>
                </a:solidFill>
                <a:latin typeface="Trebuchet MS" panose="020B0703020202090204" pitchFamily="34" charset="0"/>
              </a:rPr>
              <a:t>	… </a:t>
            </a:r>
          </a:p>
        </p:txBody>
      </p:sp>
      <p:pic>
        <p:nvPicPr>
          <p:cNvPr id="463" name="Picture 46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89730" y="7575146"/>
            <a:ext cx="690099" cy="690099"/>
          </a:xfrm>
          <a:prstGeom prst="rect">
            <a:avLst/>
          </a:prstGeom>
        </p:spPr>
      </p:pic>
      <p:pic>
        <p:nvPicPr>
          <p:cNvPr id="464" name="Picture 463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91667" y="7983387"/>
            <a:ext cx="690099" cy="690099"/>
          </a:xfrm>
          <a:prstGeom prst="rect">
            <a:avLst/>
          </a:prstGeom>
        </p:spPr>
      </p:pic>
      <p:pic>
        <p:nvPicPr>
          <p:cNvPr id="465" name="Picture 46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65109" y="7988359"/>
            <a:ext cx="690099" cy="690099"/>
          </a:xfrm>
          <a:prstGeom prst="rect">
            <a:avLst/>
          </a:prstGeom>
        </p:spPr>
      </p:pic>
      <p:sp>
        <p:nvSpPr>
          <p:cNvPr id="468" name="TextBox 467"/>
          <p:cNvSpPr txBox="1"/>
          <p:nvPr/>
        </p:nvSpPr>
        <p:spPr>
          <a:xfrm>
            <a:off x="4839738" y="8013814"/>
            <a:ext cx="1475999" cy="369332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none" rtlCol="0">
            <a:no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  <a:latin typeface="Trebuchet MS" panose="020B0703020202090204" pitchFamily="34" charset="0"/>
              </a:rPr>
              <a:t>Collecting</a:t>
            </a:r>
          </a:p>
        </p:txBody>
      </p:sp>
      <p:sp>
        <p:nvSpPr>
          <p:cNvPr id="469" name="TextBox 468"/>
          <p:cNvSpPr txBox="1"/>
          <p:nvPr/>
        </p:nvSpPr>
        <p:spPr>
          <a:xfrm>
            <a:off x="6555150" y="8724771"/>
            <a:ext cx="13235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Trebuchet MS" panose="020B0703020202090204" pitchFamily="34" charset="0"/>
              </a:rPr>
              <a:t>Codebase</a:t>
            </a:r>
          </a:p>
        </p:txBody>
      </p:sp>
      <p:cxnSp>
        <p:nvCxnSpPr>
          <p:cNvPr id="473" name="Straight Arrow Connector 472"/>
          <p:cNvCxnSpPr/>
          <p:nvPr/>
        </p:nvCxnSpPr>
        <p:spPr>
          <a:xfrm flipH="1">
            <a:off x="14056321" y="7622142"/>
            <a:ext cx="0" cy="503999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6" name="Cross 475"/>
          <p:cNvSpPr/>
          <p:nvPr/>
        </p:nvSpPr>
        <p:spPr>
          <a:xfrm>
            <a:off x="2081556" y="4204167"/>
            <a:ext cx="398174" cy="396349"/>
          </a:xfrm>
          <a:prstGeom prst="plus">
            <a:avLst>
              <a:gd name="adj" fmla="val 37729"/>
            </a:avLst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Trebuchet MS" panose="020B0703020202090204" pitchFamily="34" charset="0"/>
            </a:endParaRPr>
          </a:p>
        </p:txBody>
      </p:sp>
      <p:sp>
        <p:nvSpPr>
          <p:cNvPr id="547" name="TextBox 546"/>
          <p:cNvSpPr txBox="1"/>
          <p:nvPr/>
        </p:nvSpPr>
        <p:spPr>
          <a:xfrm>
            <a:off x="14692682" y="8190079"/>
            <a:ext cx="153886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600" dirty="0">
                <a:latin typeface="Trebuchet MS" panose="020B0703020202090204" pitchFamily="34" charset="0"/>
              </a:rPr>
              <a:t>Code Tokens</a:t>
            </a:r>
          </a:p>
        </p:txBody>
      </p:sp>
      <p:cxnSp>
        <p:nvCxnSpPr>
          <p:cNvPr id="551" name="Straight Arrow Connector 550"/>
          <p:cNvCxnSpPr/>
          <p:nvPr/>
        </p:nvCxnSpPr>
        <p:spPr>
          <a:xfrm>
            <a:off x="19887759" y="5256144"/>
            <a:ext cx="0" cy="503999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4" name="Elbow Connector 553"/>
          <p:cNvCxnSpPr>
            <a:stCxn id="47" idx="3"/>
            <a:endCxn id="642" idx="1"/>
          </p:cNvCxnSpPr>
          <p:nvPr/>
        </p:nvCxnSpPr>
        <p:spPr>
          <a:xfrm flipV="1">
            <a:off x="10950972" y="6985150"/>
            <a:ext cx="989395" cy="1164533"/>
          </a:xfrm>
          <a:prstGeom prst="bentConnector3">
            <a:avLst>
              <a:gd name="adj1" fmla="val 45301"/>
            </a:avLst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5" name="TextBox 604"/>
          <p:cNvSpPr txBox="1"/>
          <p:nvPr/>
        </p:nvSpPr>
        <p:spPr>
          <a:xfrm>
            <a:off x="17334765" y="4944971"/>
            <a:ext cx="288024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Trebuchet MS" panose="020B0703020202090204" pitchFamily="34" charset="0"/>
              </a:rPr>
              <a:t>⌷</a:t>
            </a:r>
            <a:r>
              <a:rPr lang="en-US" sz="900" dirty="0">
                <a:solidFill>
                  <a:srgbClr val="795E26"/>
                </a:solidFill>
                <a:latin typeface="Trebuchet MS" panose="020B0703020202090204" pitchFamily="34" charset="0"/>
              </a:rPr>
              <a:t>add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606" name="TextBox 605"/>
          <p:cNvSpPr txBox="1"/>
          <p:nvPr/>
        </p:nvSpPr>
        <p:spPr>
          <a:xfrm>
            <a:off x="17851780" y="4944971"/>
            <a:ext cx="22230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001080"/>
                </a:solidFill>
                <a:latin typeface="Trebuchet MS" panose="020B0703020202090204" pitchFamily="34" charset="0"/>
              </a:rPr>
              <a:t>self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607" name="TextBox 606"/>
          <p:cNvSpPr txBox="1"/>
          <p:nvPr/>
        </p:nvSpPr>
        <p:spPr>
          <a:xfrm>
            <a:off x="17680236" y="4944971"/>
            <a:ext cx="7803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703020202090204" pitchFamily="34" charset="0"/>
              </a:rPr>
              <a:t>(</a:t>
            </a:r>
          </a:p>
        </p:txBody>
      </p:sp>
      <p:sp>
        <p:nvSpPr>
          <p:cNvPr id="608" name="TextBox 607"/>
          <p:cNvSpPr txBox="1"/>
          <p:nvPr/>
        </p:nvSpPr>
        <p:spPr>
          <a:xfrm>
            <a:off x="18867378" y="4944971"/>
            <a:ext cx="140546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D7BA7D"/>
                </a:solidFill>
                <a:latin typeface="Trebuchet MS" panose="020B0703020202090204" pitchFamily="34" charset="0"/>
              </a:rPr>
              <a:t>\n</a:t>
            </a:r>
          </a:p>
        </p:txBody>
      </p:sp>
      <p:sp>
        <p:nvSpPr>
          <p:cNvPr id="609" name="TextBox 608"/>
          <p:cNvSpPr txBox="1"/>
          <p:nvPr/>
        </p:nvSpPr>
        <p:spPr>
          <a:xfrm>
            <a:off x="18167595" y="4944971"/>
            <a:ext cx="7803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latin typeface="Trebuchet MS" panose="020B0703020202090204" pitchFamily="34" charset="0"/>
              </a:rPr>
              <a:t>,</a:t>
            </a:r>
          </a:p>
        </p:txBody>
      </p:sp>
      <p:sp>
        <p:nvSpPr>
          <p:cNvPr id="610" name="TextBox 609"/>
          <p:cNvSpPr txBox="1"/>
          <p:nvPr/>
        </p:nvSpPr>
        <p:spPr>
          <a:xfrm>
            <a:off x="18294255" y="4944971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703020202090204" pitchFamily="34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Trebuchet MS" panose="020B0703020202090204" pitchFamily="34" charset="0"/>
              </a:rPr>
              <a:t>row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611" name="TextBox 610"/>
          <p:cNvSpPr txBox="1"/>
          <p:nvPr/>
        </p:nvSpPr>
        <p:spPr>
          <a:xfrm>
            <a:off x="18668579" y="4944971"/>
            <a:ext cx="11970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703020202090204" pitchFamily="34" charset="0"/>
              </a:rPr>
              <a:t>):</a:t>
            </a:r>
          </a:p>
        </p:txBody>
      </p:sp>
      <p:sp>
        <p:nvSpPr>
          <p:cNvPr id="612" name="TextBox 611"/>
          <p:cNvSpPr txBox="1"/>
          <p:nvPr/>
        </p:nvSpPr>
        <p:spPr>
          <a:xfrm>
            <a:off x="19423011" y="4944971"/>
            <a:ext cx="187034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AF00DB"/>
                </a:solidFill>
                <a:latin typeface="Trebuchet MS" panose="020B0703020202090204" pitchFamily="34" charset="0"/>
              </a:rPr>
              <a:t>for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613" name="TextBox 612"/>
          <p:cNvSpPr txBox="1"/>
          <p:nvPr/>
        </p:nvSpPr>
        <p:spPr>
          <a:xfrm>
            <a:off x="19692743" y="4944971"/>
            <a:ext cx="161386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latin typeface="Trebuchet MS" panose="020B0703020202090204" pitchFamily="34" charset="0"/>
              </a:rPr>
              <a:t>...</a:t>
            </a:r>
          </a:p>
        </p:txBody>
      </p:sp>
      <p:sp>
        <p:nvSpPr>
          <p:cNvPr id="616" name="TextBox 615"/>
          <p:cNvSpPr txBox="1"/>
          <p:nvPr/>
        </p:nvSpPr>
        <p:spPr>
          <a:xfrm>
            <a:off x="19916138" y="4944971"/>
            <a:ext cx="203064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703020202090204" pitchFamily="34" charset="0"/>
              </a:rPr>
              <a:t>⌷</a:t>
            </a:r>
            <a:r>
              <a:rPr lang="en-US" sz="900" dirty="0">
                <a:solidFill>
                  <a:srgbClr val="AF00DB"/>
                </a:solidFill>
                <a:latin typeface="Trebuchet MS" panose="020B0703020202090204" pitchFamily="34" charset="0"/>
              </a:rPr>
              <a:t>in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617" name="TextBox 616"/>
          <p:cNvSpPr txBox="1"/>
          <p:nvPr/>
        </p:nvSpPr>
        <p:spPr>
          <a:xfrm>
            <a:off x="20208508" y="4944971"/>
            <a:ext cx="65992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Trebuchet MS" panose="020B0703020202090204" pitchFamily="34" charset="0"/>
              </a:rPr>
              <a:t>⌷</a:t>
            </a:r>
            <a:r>
              <a:rPr lang="en-US" sz="900" dirty="0">
                <a:solidFill>
                  <a:srgbClr val="267F99"/>
                </a:solidFill>
                <a:latin typeface="Trebuchet MS" panose="020B0703020202090204" pitchFamily="34" charset="0"/>
              </a:rPr>
              <a:t>enumerate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618" name="TextBox 617"/>
          <p:cNvSpPr txBox="1"/>
          <p:nvPr/>
        </p:nvSpPr>
        <p:spPr>
          <a:xfrm>
            <a:off x="20947275" y="4944971"/>
            <a:ext cx="161386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703020202090204" pitchFamily="34" charset="0"/>
              </a:rPr>
              <a:t>...</a:t>
            </a:r>
          </a:p>
        </p:txBody>
      </p:sp>
      <p:sp>
        <p:nvSpPr>
          <p:cNvPr id="627" name="TextBox 626"/>
          <p:cNvSpPr txBox="1"/>
          <p:nvPr/>
        </p:nvSpPr>
        <p:spPr>
          <a:xfrm>
            <a:off x="21189429" y="4944971"/>
            <a:ext cx="292832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703020202090204" pitchFamily="34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Trebuchet MS" panose="020B0703020202090204" pitchFamily="34" charset="0"/>
              </a:rPr>
              <a:t>self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628" name="TextBox 627"/>
          <p:cNvSpPr txBox="1"/>
          <p:nvPr/>
        </p:nvSpPr>
        <p:spPr>
          <a:xfrm>
            <a:off x="21570694" y="4944971"/>
            <a:ext cx="7803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703020202090204" pitchFamily="34" charset="0"/>
              </a:rPr>
              <a:t>.</a:t>
            </a:r>
          </a:p>
        </p:txBody>
      </p:sp>
      <p:sp>
        <p:nvSpPr>
          <p:cNvPr id="629" name="TextBox 628"/>
          <p:cNvSpPr txBox="1"/>
          <p:nvPr/>
        </p:nvSpPr>
        <p:spPr>
          <a:xfrm>
            <a:off x="21762806" y="4944971"/>
            <a:ext cx="724040" cy="2308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 err="1">
                <a:solidFill>
                  <a:srgbClr val="3B3B3B"/>
                </a:solidFill>
                <a:latin typeface="Trebuchet MS" panose="020B0703020202090204" pitchFamily="34" charset="0"/>
              </a:rPr>
              <a:t>max_col_size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631" name="TextBox 630"/>
          <p:cNvSpPr txBox="1"/>
          <p:nvPr/>
        </p:nvSpPr>
        <p:spPr>
          <a:xfrm>
            <a:off x="22600927" y="4944971"/>
            <a:ext cx="7803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703020202090204" pitchFamily="34" charset="0"/>
              </a:rPr>
              <a:t>[</a:t>
            </a:r>
          </a:p>
        </p:txBody>
      </p:sp>
      <p:sp>
        <p:nvSpPr>
          <p:cNvPr id="632" name="TextBox 631"/>
          <p:cNvSpPr txBox="1"/>
          <p:nvPr/>
        </p:nvSpPr>
        <p:spPr>
          <a:xfrm>
            <a:off x="22740941" y="4944971"/>
            <a:ext cx="70014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 err="1">
                <a:solidFill>
                  <a:srgbClr val="001080"/>
                </a:solidFill>
                <a:latin typeface="Trebuchet MS" panose="020B0703020202090204" pitchFamily="34" charset="0"/>
              </a:rPr>
              <a:t>i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633" name="TextBox 632"/>
          <p:cNvSpPr txBox="1"/>
          <p:nvPr/>
        </p:nvSpPr>
        <p:spPr>
          <a:xfrm>
            <a:off x="22886565" y="4944971"/>
            <a:ext cx="11970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703020202090204" pitchFamily="34" charset="0"/>
              </a:rPr>
              <a:t>]:</a:t>
            </a:r>
          </a:p>
        </p:txBody>
      </p:sp>
      <p:sp>
        <p:nvSpPr>
          <p:cNvPr id="635" name="TextBox 634"/>
          <p:cNvSpPr txBox="1"/>
          <p:nvPr/>
        </p:nvSpPr>
        <p:spPr>
          <a:xfrm>
            <a:off x="23074222" y="4944971"/>
            <a:ext cx="161386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altLang="zh-CN" sz="900" dirty="0">
                <a:latin typeface="Trebuchet MS" panose="020B0703020202090204" pitchFamily="34" charset="0"/>
              </a:rPr>
              <a:t>...</a:t>
            </a:r>
            <a:endParaRPr lang="en-US" sz="900" dirty="0">
              <a:latin typeface="Trebuchet MS" panose="020B0703020202090204" pitchFamily="34" charset="0"/>
            </a:endParaRPr>
          </a:p>
        </p:txBody>
      </p:sp>
      <p:sp>
        <p:nvSpPr>
          <p:cNvPr id="645" name="TextBox 644"/>
          <p:cNvSpPr txBox="1"/>
          <p:nvPr/>
        </p:nvSpPr>
        <p:spPr>
          <a:xfrm>
            <a:off x="19067345" y="4944971"/>
            <a:ext cx="2880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Trebuchet MS" panose="020B0703020202090204" pitchFamily="34" charset="0"/>
              </a:rPr>
              <a:t>⌷⌷⌷⌷</a:t>
            </a:r>
          </a:p>
        </p:txBody>
      </p:sp>
      <p:sp>
        <p:nvSpPr>
          <p:cNvPr id="652" name="TextBox 651"/>
          <p:cNvSpPr txBox="1"/>
          <p:nvPr/>
        </p:nvSpPr>
        <p:spPr>
          <a:xfrm>
            <a:off x="17332377" y="4557777"/>
            <a:ext cx="17417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rebuchet MS" panose="020B0703020202090204" pitchFamily="34" charset="0"/>
              </a:rPr>
              <a:t>Original Tokens</a:t>
            </a:r>
          </a:p>
        </p:txBody>
      </p:sp>
      <p:cxnSp>
        <p:nvCxnSpPr>
          <p:cNvPr id="700" name="Elbow Connector 699"/>
          <p:cNvCxnSpPr>
            <a:stCxn id="642" idx="3"/>
            <a:endCxn id="644" idx="1"/>
          </p:cNvCxnSpPr>
          <p:nvPr/>
        </p:nvCxnSpPr>
        <p:spPr>
          <a:xfrm flipV="1">
            <a:off x="16334221" y="6403757"/>
            <a:ext cx="399484" cy="581393"/>
          </a:xfrm>
          <a:prstGeom prst="bentConnector3">
            <a:avLst>
              <a:gd name="adj1" fmla="val 50000"/>
            </a:avLst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9" name="TextBox 718"/>
          <p:cNvSpPr txBox="1"/>
          <p:nvPr/>
        </p:nvSpPr>
        <p:spPr>
          <a:xfrm>
            <a:off x="25340281" y="8586982"/>
            <a:ext cx="71526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latin typeface="Trebuchet MS" panose="020B0703020202090204" pitchFamily="34" charset="0"/>
              </a:rPr>
              <a:t>P()</a:t>
            </a:r>
          </a:p>
        </p:txBody>
      </p:sp>
      <p:cxnSp>
        <p:nvCxnSpPr>
          <p:cNvPr id="13" name="Straight Arrow Connector 12"/>
          <p:cNvCxnSpPr/>
          <p:nvPr/>
        </p:nvCxnSpPr>
        <p:spPr>
          <a:xfrm>
            <a:off x="4525586" y="8612170"/>
            <a:ext cx="1944000" cy="0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/>
          <p:cNvCxnSpPr/>
          <p:nvPr/>
        </p:nvCxnSpPr>
        <p:spPr>
          <a:xfrm>
            <a:off x="7880349" y="8684895"/>
            <a:ext cx="1944000" cy="0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9769883" y="8724771"/>
            <a:ext cx="11057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Trebuchet MS" panose="020B0703020202090204" pitchFamily="34" charset="0"/>
              </a:rPr>
              <a:t>LLMs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38023" y="8035489"/>
            <a:ext cx="1475999" cy="369332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none" rtlCol="0">
            <a:no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  <a:latin typeface="Trebuchet MS" panose="020B0703020202090204" pitchFamily="34" charset="0"/>
              </a:rPr>
              <a:t>Training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410254" y="5773019"/>
            <a:ext cx="731033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Trebuchet MS" panose="020B0703020202090204" pitchFamily="34" charset="0"/>
              </a:rPr>
              <a:t>Developer Accomplishing Programming Tasks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89308" y="9353459"/>
            <a:ext cx="608859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Trebuchet MS" panose="020B0703020202090204" pitchFamily="34" charset="0"/>
              </a:rPr>
              <a:t>Training LLMs Using Accesible Corpus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17956" y="8249081"/>
            <a:ext cx="3168000" cy="252000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</a:ln>
        </p:spPr>
        <p:txBody>
          <a:bodyPr wrap="square" rIns="36000" rtlCol="0">
            <a:noAutofit/>
          </a:bodyPr>
          <a:lstStyle/>
          <a:p>
            <a:r>
              <a:rPr lang="en-US" sz="1100" b="0" dirty="0">
                <a:solidFill>
                  <a:srgbClr val="0000FF"/>
                </a:solidFill>
                <a:effectLst/>
                <a:latin typeface="Trebuchet MS" panose="020B0703020202090204" pitchFamily="34" charset="0"/>
              </a:rPr>
              <a:t>def</a:t>
            </a:r>
            <a:r>
              <a:rPr lang="en-US" sz="1100" b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 </a:t>
            </a:r>
            <a:r>
              <a:rPr lang="en-US" sz="1100" b="0" dirty="0" err="1">
                <a:solidFill>
                  <a:srgbClr val="795E26"/>
                </a:solidFill>
                <a:effectLst/>
                <a:latin typeface="Trebuchet MS" panose="020B0703020202090204" pitchFamily="34" charset="0"/>
              </a:rPr>
              <a:t>check_metadata</a:t>
            </a:r>
            <a:r>
              <a:rPr lang="en-US" sz="1100" b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(</a:t>
            </a:r>
            <a:r>
              <a:rPr lang="en-US" sz="1100" b="0" dirty="0">
                <a:solidFill>
                  <a:srgbClr val="001080"/>
                </a:solidFill>
                <a:effectLst/>
                <a:latin typeface="Trebuchet MS" panose="020B0703020202090204" pitchFamily="34" charset="0"/>
              </a:rPr>
              <a:t>self</a:t>
            </a:r>
            <a:r>
              <a:rPr lang="en-US" sz="1100" b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):…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17956" y="7950180"/>
            <a:ext cx="3168000" cy="252000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</a:ln>
        </p:spPr>
        <p:txBody>
          <a:bodyPr wrap="square" rIns="36000" rtlCol="0">
            <a:noAutofit/>
          </a:bodyPr>
          <a:lstStyle/>
          <a:p>
            <a:r>
              <a:rPr lang="en-US" sz="1100" b="0" dirty="0">
                <a:solidFill>
                  <a:srgbClr val="0000FF"/>
                </a:solidFill>
                <a:effectLst/>
                <a:latin typeface="Trebuchet MS" panose="020B0703020202090204" pitchFamily="34" charset="0"/>
              </a:rPr>
              <a:t>def</a:t>
            </a:r>
            <a:r>
              <a:rPr lang="en-US" sz="1100" b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 </a:t>
            </a:r>
            <a:r>
              <a:rPr lang="en-US" sz="1100" b="0" dirty="0" err="1">
                <a:solidFill>
                  <a:srgbClr val="795E26"/>
                </a:solidFill>
                <a:effectLst/>
                <a:latin typeface="Trebuchet MS" panose="020B0703020202090204" pitchFamily="34" charset="0"/>
              </a:rPr>
              <a:t>match_hostname</a:t>
            </a:r>
            <a:r>
              <a:rPr lang="en-US" sz="1100" b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(</a:t>
            </a:r>
            <a:r>
              <a:rPr lang="en-US" sz="1100" b="0" dirty="0">
                <a:solidFill>
                  <a:srgbClr val="001080"/>
                </a:solidFill>
                <a:effectLst/>
                <a:latin typeface="Trebuchet MS" panose="020B0703020202090204" pitchFamily="34" charset="0"/>
              </a:rPr>
              <a:t>cert</a:t>
            </a:r>
            <a:r>
              <a:rPr lang="en-US" sz="1100" b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, </a:t>
            </a:r>
            <a:r>
              <a:rPr lang="en-US" sz="1100" b="0" dirty="0">
                <a:solidFill>
                  <a:srgbClr val="001080"/>
                </a:solidFill>
                <a:effectLst/>
                <a:latin typeface="Trebuchet MS" panose="020B0703020202090204" pitchFamily="34" charset="0"/>
              </a:rPr>
              <a:t>hostname</a:t>
            </a:r>
            <a:r>
              <a:rPr lang="en-US" sz="1100" b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):…</a:t>
            </a:r>
          </a:p>
          <a:p>
            <a:endParaRPr lang="en-US" sz="11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1317956" y="7646701"/>
            <a:ext cx="3168000" cy="252000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</a:ln>
        </p:spPr>
        <p:txBody>
          <a:bodyPr wrap="square" rIns="36000" rtlCol="0">
            <a:noAutofit/>
          </a:bodyPr>
          <a:lstStyle/>
          <a:p>
            <a:r>
              <a:rPr lang="en-US" sz="1100" dirty="0">
                <a:solidFill>
                  <a:srgbClr val="0000FF"/>
                </a:solidFill>
                <a:latin typeface="Trebuchet MS" panose="020B0703020202090204" pitchFamily="34" charset="0"/>
              </a:rPr>
              <a:t>def</a:t>
            </a:r>
            <a:r>
              <a:rPr lang="en-US" sz="1100" dirty="0">
                <a:solidFill>
                  <a:srgbClr val="3B3B3B"/>
                </a:solidFill>
                <a:latin typeface="Trebuchet MS" panose="020B0703020202090204" pitchFamily="34" charset="0"/>
              </a:rPr>
              <a:t> </a:t>
            </a:r>
            <a:r>
              <a:rPr lang="en-US" sz="1100" dirty="0">
                <a:solidFill>
                  <a:srgbClr val="795E26"/>
                </a:solidFill>
                <a:latin typeface="Trebuchet MS" panose="020B0703020202090204" pitchFamily="34" charset="0"/>
              </a:rPr>
              <a:t>add</a:t>
            </a:r>
            <a:r>
              <a:rPr lang="en-US" sz="1100" dirty="0">
                <a:solidFill>
                  <a:srgbClr val="3B3B3B"/>
                </a:solidFill>
                <a:latin typeface="Trebuchet MS" panose="020B0703020202090204" pitchFamily="34" charset="0"/>
              </a:rPr>
              <a:t>(</a:t>
            </a:r>
            <a:r>
              <a:rPr lang="en-US" sz="1100" dirty="0">
                <a:solidFill>
                  <a:srgbClr val="001080"/>
                </a:solidFill>
                <a:latin typeface="Trebuchet MS" panose="020B0703020202090204" pitchFamily="34" charset="0"/>
              </a:rPr>
              <a:t>self</a:t>
            </a:r>
            <a:r>
              <a:rPr lang="en-US" sz="1100" dirty="0">
                <a:solidFill>
                  <a:srgbClr val="3B3B3B"/>
                </a:solidFill>
                <a:latin typeface="Trebuchet MS" panose="020B0703020202090204" pitchFamily="34" charset="0"/>
              </a:rPr>
              <a:t>, </a:t>
            </a:r>
            <a:r>
              <a:rPr lang="en-US" sz="1100" dirty="0">
                <a:solidFill>
                  <a:srgbClr val="001080"/>
                </a:solidFill>
                <a:latin typeface="Trebuchet MS" panose="020B0703020202090204" pitchFamily="34" charset="0"/>
              </a:rPr>
              <a:t>row</a:t>
            </a:r>
            <a:r>
              <a:rPr lang="en-US" sz="1100" dirty="0">
                <a:solidFill>
                  <a:srgbClr val="3B3B3B"/>
                </a:solidFill>
                <a:latin typeface="Trebuchet MS" panose="020B0703020202090204" pitchFamily="34" charset="0"/>
              </a:rPr>
              <a:t>):…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10769" y="8471438"/>
            <a:ext cx="3545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Trebuchet MS" panose="020B0703020202090204" pitchFamily="34" charset="0"/>
              </a:rPr>
              <a:t>…</a:t>
            </a:r>
          </a:p>
        </p:txBody>
      </p:sp>
      <p:pic>
        <p:nvPicPr>
          <p:cNvPr id="31" name="Picture 30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36316" y="7627419"/>
            <a:ext cx="447148" cy="447148"/>
          </a:xfrm>
          <a:prstGeom prst="rect">
            <a:avLst/>
          </a:prstGeom>
        </p:spPr>
      </p:pic>
      <p:sp>
        <p:nvSpPr>
          <p:cNvPr id="36" name="Right Brace 35"/>
          <p:cNvSpPr/>
          <p:nvPr/>
        </p:nvSpPr>
        <p:spPr>
          <a:xfrm>
            <a:off x="1096384" y="7802515"/>
            <a:ext cx="164474" cy="952240"/>
          </a:xfrm>
          <a:prstGeom prst="rightBrace">
            <a:avLst>
              <a:gd name="adj1" fmla="val 25000"/>
              <a:gd name="adj2" fmla="val 50000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>
              <a:latin typeface="Trebuchet MS" panose="020B0703020202090204" pitchFamily="34" charset="0"/>
            </a:endParaRPr>
          </a:p>
        </p:txBody>
      </p:sp>
      <p:pic>
        <p:nvPicPr>
          <p:cNvPr id="38" name="Graphic 37"/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23906" y="8030475"/>
            <a:ext cx="871012" cy="435506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614783" y="8452807"/>
            <a:ext cx="3545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Trebuchet MS" panose="020B0703020202090204" pitchFamily="34" charset="0"/>
              </a:rPr>
              <a:t>…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884709" y="8724771"/>
            <a:ext cx="21391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Trebuchet MS" panose="020B0703020202090204" pitchFamily="34" charset="0"/>
              </a:rPr>
              <a:t>Code Resources</a:t>
            </a:r>
          </a:p>
        </p:txBody>
      </p:sp>
      <p:sp>
        <p:nvSpPr>
          <p:cNvPr id="406" name="TextBox 405"/>
          <p:cNvSpPr txBox="1"/>
          <p:nvPr/>
        </p:nvSpPr>
        <p:spPr>
          <a:xfrm>
            <a:off x="12060606" y="6710646"/>
            <a:ext cx="288024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Trebuchet MS" panose="020B0703020202090204" pitchFamily="34" charset="0"/>
              </a:rPr>
              <a:t>⌷</a:t>
            </a:r>
            <a:r>
              <a:rPr lang="en-US" sz="900" dirty="0">
                <a:solidFill>
                  <a:srgbClr val="795E26"/>
                </a:solidFill>
                <a:latin typeface="Trebuchet MS" panose="020B0703020202090204" pitchFamily="34" charset="0"/>
              </a:rPr>
              <a:t>add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407" name="TextBox 406"/>
          <p:cNvSpPr txBox="1"/>
          <p:nvPr/>
        </p:nvSpPr>
        <p:spPr>
          <a:xfrm>
            <a:off x="12577621" y="6710646"/>
            <a:ext cx="22230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001080"/>
                </a:solidFill>
                <a:latin typeface="Trebuchet MS" panose="020B0703020202090204" pitchFamily="34" charset="0"/>
              </a:rPr>
              <a:t>self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408" name="TextBox 407"/>
          <p:cNvSpPr txBox="1"/>
          <p:nvPr/>
        </p:nvSpPr>
        <p:spPr>
          <a:xfrm>
            <a:off x="12406077" y="6710646"/>
            <a:ext cx="7803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703020202090204" pitchFamily="34" charset="0"/>
              </a:rPr>
              <a:t>(</a:t>
            </a:r>
          </a:p>
        </p:txBody>
      </p:sp>
      <p:sp>
        <p:nvSpPr>
          <p:cNvPr id="409" name="TextBox 408"/>
          <p:cNvSpPr txBox="1"/>
          <p:nvPr/>
        </p:nvSpPr>
        <p:spPr>
          <a:xfrm>
            <a:off x="13593219" y="6710646"/>
            <a:ext cx="140546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D7BA7D"/>
                </a:solidFill>
                <a:latin typeface="Trebuchet MS" panose="020B0703020202090204" pitchFamily="34" charset="0"/>
              </a:rPr>
              <a:t>\n</a:t>
            </a:r>
          </a:p>
        </p:txBody>
      </p:sp>
      <p:sp>
        <p:nvSpPr>
          <p:cNvPr id="410" name="TextBox 409"/>
          <p:cNvSpPr txBox="1"/>
          <p:nvPr/>
        </p:nvSpPr>
        <p:spPr>
          <a:xfrm>
            <a:off x="12893436" y="6710646"/>
            <a:ext cx="7803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latin typeface="Trebuchet MS" panose="020B0703020202090204" pitchFamily="34" charset="0"/>
              </a:rPr>
              <a:t>,</a:t>
            </a:r>
          </a:p>
        </p:txBody>
      </p:sp>
      <p:sp>
        <p:nvSpPr>
          <p:cNvPr id="411" name="TextBox 410"/>
          <p:cNvSpPr txBox="1"/>
          <p:nvPr/>
        </p:nvSpPr>
        <p:spPr>
          <a:xfrm>
            <a:off x="13020096" y="6710646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703020202090204" pitchFamily="34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Trebuchet MS" panose="020B0703020202090204" pitchFamily="34" charset="0"/>
              </a:rPr>
              <a:t>row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412" name="TextBox 411"/>
          <p:cNvSpPr txBox="1"/>
          <p:nvPr/>
        </p:nvSpPr>
        <p:spPr>
          <a:xfrm>
            <a:off x="13394420" y="6710646"/>
            <a:ext cx="11970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703020202090204" pitchFamily="34" charset="0"/>
              </a:rPr>
              <a:t>):</a:t>
            </a:r>
          </a:p>
        </p:txBody>
      </p:sp>
      <p:sp>
        <p:nvSpPr>
          <p:cNvPr id="413" name="TextBox 412"/>
          <p:cNvSpPr txBox="1"/>
          <p:nvPr/>
        </p:nvSpPr>
        <p:spPr>
          <a:xfrm>
            <a:off x="12408231" y="6982659"/>
            <a:ext cx="187034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AF00DB"/>
                </a:solidFill>
                <a:latin typeface="Trebuchet MS" panose="020B0703020202090204" pitchFamily="34" charset="0"/>
              </a:rPr>
              <a:t>for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414" name="TextBox 413"/>
          <p:cNvSpPr txBox="1"/>
          <p:nvPr/>
        </p:nvSpPr>
        <p:spPr>
          <a:xfrm>
            <a:off x="12679762" y="6982659"/>
            <a:ext cx="140546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703020202090204" pitchFamily="34" charset="0"/>
              </a:rPr>
              <a:t>⌷</a:t>
            </a:r>
            <a:r>
              <a:rPr lang="en-US" sz="900" dirty="0" err="1">
                <a:solidFill>
                  <a:srgbClr val="001080"/>
                </a:solidFill>
                <a:latin typeface="Trebuchet MS" panose="020B0703020202090204" pitchFamily="34" charset="0"/>
              </a:rPr>
              <a:t>i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415" name="TextBox 414"/>
          <p:cNvSpPr txBox="1"/>
          <p:nvPr/>
        </p:nvSpPr>
        <p:spPr>
          <a:xfrm>
            <a:off x="12890379" y="6982659"/>
            <a:ext cx="7803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703020202090204" pitchFamily="34" charset="0"/>
              </a:rPr>
              <a:t>,</a:t>
            </a:r>
          </a:p>
        </p:txBody>
      </p:sp>
      <p:sp>
        <p:nvSpPr>
          <p:cNvPr id="416" name="TextBox 415"/>
          <p:cNvSpPr txBox="1"/>
          <p:nvPr/>
        </p:nvSpPr>
        <p:spPr>
          <a:xfrm>
            <a:off x="13033669" y="6982659"/>
            <a:ext cx="150165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703020202090204" pitchFamily="34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Trebuchet MS" panose="020B0703020202090204" pitchFamily="34" charset="0"/>
              </a:rPr>
              <a:t>f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417" name="TextBox 416"/>
          <p:cNvSpPr txBox="1"/>
          <p:nvPr/>
        </p:nvSpPr>
        <p:spPr>
          <a:xfrm>
            <a:off x="13255508" y="6982659"/>
            <a:ext cx="203064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703020202090204" pitchFamily="34" charset="0"/>
              </a:rPr>
              <a:t>⌷</a:t>
            </a:r>
            <a:r>
              <a:rPr lang="en-US" sz="900" dirty="0">
                <a:solidFill>
                  <a:srgbClr val="AF00DB"/>
                </a:solidFill>
                <a:latin typeface="Trebuchet MS" panose="020B0703020202090204" pitchFamily="34" charset="0"/>
              </a:rPr>
              <a:t>in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418" name="TextBox 417"/>
          <p:cNvSpPr txBox="1"/>
          <p:nvPr/>
        </p:nvSpPr>
        <p:spPr>
          <a:xfrm>
            <a:off x="13547878" y="6982659"/>
            <a:ext cx="65992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Trebuchet MS" panose="020B0703020202090204" pitchFamily="34" charset="0"/>
              </a:rPr>
              <a:t>⌷</a:t>
            </a:r>
            <a:r>
              <a:rPr lang="en-US" sz="900" dirty="0">
                <a:solidFill>
                  <a:srgbClr val="267F99"/>
                </a:solidFill>
                <a:latin typeface="Trebuchet MS" panose="020B0703020202090204" pitchFamily="34" charset="0"/>
              </a:rPr>
              <a:t>enumerate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419" name="TextBox 418"/>
          <p:cNvSpPr txBox="1"/>
          <p:nvPr/>
        </p:nvSpPr>
        <p:spPr>
          <a:xfrm>
            <a:off x="14290692" y="6982659"/>
            <a:ext cx="7803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703020202090204" pitchFamily="34" charset="0"/>
              </a:rPr>
              <a:t>(</a:t>
            </a:r>
          </a:p>
        </p:txBody>
      </p:sp>
      <p:sp>
        <p:nvSpPr>
          <p:cNvPr id="420" name="TextBox 419"/>
          <p:cNvSpPr txBox="1"/>
          <p:nvPr/>
        </p:nvSpPr>
        <p:spPr>
          <a:xfrm>
            <a:off x="14428373" y="6982659"/>
            <a:ext cx="230315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001080"/>
                </a:solidFill>
                <a:latin typeface="Trebuchet MS" panose="020B0703020202090204" pitchFamily="34" charset="0"/>
              </a:rPr>
              <a:t>row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421" name="TextBox 420"/>
          <p:cNvSpPr txBox="1"/>
          <p:nvPr/>
        </p:nvSpPr>
        <p:spPr>
          <a:xfrm>
            <a:off x="14731963" y="6982659"/>
            <a:ext cx="11970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703020202090204" pitchFamily="34" charset="0"/>
              </a:rPr>
              <a:t>):</a:t>
            </a:r>
          </a:p>
        </p:txBody>
      </p:sp>
      <p:sp>
        <p:nvSpPr>
          <p:cNvPr id="422" name="TextBox 421"/>
          <p:cNvSpPr txBox="1"/>
          <p:nvPr/>
        </p:nvSpPr>
        <p:spPr>
          <a:xfrm>
            <a:off x="12719294" y="7259514"/>
            <a:ext cx="113296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AF00DB"/>
                </a:solidFill>
                <a:latin typeface="Trebuchet MS" panose="020B0703020202090204" pitchFamily="34" charset="0"/>
              </a:rPr>
              <a:t>if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423" name="TextBox 422"/>
          <p:cNvSpPr txBox="1"/>
          <p:nvPr/>
        </p:nvSpPr>
        <p:spPr>
          <a:xfrm>
            <a:off x="12916427" y="7259514"/>
            <a:ext cx="26558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703020202090204" pitchFamily="34" charset="0"/>
              </a:rPr>
              <a:t>⌷</a:t>
            </a:r>
            <a:r>
              <a:rPr lang="en-US" sz="900" dirty="0" err="1">
                <a:solidFill>
                  <a:srgbClr val="795E26"/>
                </a:solidFill>
                <a:latin typeface="Trebuchet MS" panose="020B0703020202090204" pitchFamily="34" charset="0"/>
              </a:rPr>
              <a:t>len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424" name="TextBox 423"/>
          <p:cNvSpPr txBox="1"/>
          <p:nvPr/>
        </p:nvSpPr>
        <p:spPr>
          <a:xfrm>
            <a:off x="13249013" y="7259514"/>
            <a:ext cx="7803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CE9178"/>
                </a:solidFill>
                <a:latin typeface="Trebuchet MS" panose="020B0703020202090204" pitchFamily="34" charset="0"/>
              </a:rPr>
              <a:t>(</a:t>
            </a:r>
            <a:endParaRPr lang="en-US" sz="900" dirty="0">
              <a:solidFill>
                <a:srgbClr val="CCCCCC"/>
              </a:solidFill>
              <a:latin typeface="Trebuchet MS" panose="020B0703020202090204" pitchFamily="34" charset="0"/>
            </a:endParaRPr>
          </a:p>
        </p:txBody>
      </p:sp>
      <p:sp>
        <p:nvSpPr>
          <p:cNvPr id="425" name="TextBox 424"/>
          <p:cNvSpPr txBox="1"/>
          <p:nvPr/>
        </p:nvSpPr>
        <p:spPr>
          <a:xfrm>
            <a:off x="13383629" y="7259514"/>
            <a:ext cx="79633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CE9178"/>
                </a:solidFill>
                <a:latin typeface="Trebuchet MS" panose="020B0703020202090204" pitchFamily="34" charset="0"/>
              </a:rPr>
              <a:t>f</a:t>
            </a:r>
            <a:endParaRPr lang="en-US" sz="900" dirty="0">
              <a:solidFill>
                <a:srgbClr val="CCCCCC"/>
              </a:solidFill>
              <a:latin typeface="Trebuchet MS" panose="020B0703020202090204" pitchFamily="34" charset="0"/>
            </a:endParaRPr>
          </a:p>
        </p:txBody>
      </p:sp>
      <p:sp>
        <p:nvSpPr>
          <p:cNvPr id="426" name="TextBox 425"/>
          <p:cNvSpPr txBox="1"/>
          <p:nvPr/>
        </p:nvSpPr>
        <p:spPr>
          <a:xfrm>
            <a:off x="13519847" y="7259514"/>
            <a:ext cx="7803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CE9178"/>
                </a:solidFill>
                <a:latin typeface="Trebuchet MS" panose="020B0703020202090204" pitchFamily="34" charset="0"/>
              </a:rPr>
              <a:t>)</a:t>
            </a:r>
            <a:endParaRPr lang="en-US" sz="900" dirty="0">
              <a:solidFill>
                <a:srgbClr val="CCCCCC"/>
              </a:solidFill>
              <a:latin typeface="Trebuchet MS" panose="020B0703020202090204" pitchFamily="34" charset="0"/>
            </a:endParaRPr>
          </a:p>
        </p:txBody>
      </p:sp>
      <p:sp>
        <p:nvSpPr>
          <p:cNvPr id="427" name="TextBox 426"/>
          <p:cNvSpPr txBox="1"/>
          <p:nvPr/>
        </p:nvSpPr>
        <p:spPr>
          <a:xfrm>
            <a:off x="13641638" y="7259514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703020202090204" pitchFamily="34" charset="0"/>
              </a:rPr>
              <a:t>⌷</a:t>
            </a:r>
            <a:r>
              <a:rPr lang="en-US" sz="900" dirty="0">
                <a:solidFill>
                  <a:srgbClr val="000000"/>
                </a:solidFill>
                <a:latin typeface="Trebuchet MS" panose="020B0703020202090204" pitchFamily="34" charset="0"/>
              </a:rPr>
              <a:t>&gt;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428" name="TextBox 427"/>
          <p:cNvSpPr txBox="1"/>
          <p:nvPr/>
        </p:nvSpPr>
        <p:spPr>
          <a:xfrm>
            <a:off x="13890067" y="7259514"/>
            <a:ext cx="292832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703020202090204" pitchFamily="34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Trebuchet MS" panose="020B0703020202090204" pitchFamily="34" charset="0"/>
              </a:rPr>
              <a:t>self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429" name="TextBox 428"/>
          <p:cNvSpPr txBox="1"/>
          <p:nvPr/>
        </p:nvSpPr>
        <p:spPr>
          <a:xfrm>
            <a:off x="14270744" y="7259514"/>
            <a:ext cx="7803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703020202090204" pitchFamily="34" charset="0"/>
              </a:rPr>
              <a:t>.</a:t>
            </a:r>
          </a:p>
        </p:txBody>
      </p:sp>
      <p:sp>
        <p:nvSpPr>
          <p:cNvPr id="430" name="TextBox 429"/>
          <p:cNvSpPr txBox="1"/>
          <p:nvPr/>
        </p:nvSpPr>
        <p:spPr>
          <a:xfrm>
            <a:off x="14388529" y="7259514"/>
            <a:ext cx="251154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703020202090204" pitchFamily="34" charset="0"/>
              </a:rPr>
              <a:t>max</a:t>
            </a:r>
          </a:p>
        </p:txBody>
      </p:sp>
      <p:sp>
        <p:nvSpPr>
          <p:cNvPr id="431" name="TextBox 430"/>
          <p:cNvSpPr txBox="1"/>
          <p:nvPr/>
        </p:nvSpPr>
        <p:spPr>
          <a:xfrm>
            <a:off x="14669818" y="7259514"/>
            <a:ext cx="97266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703020202090204" pitchFamily="34" charset="0"/>
              </a:rPr>
              <a:t>_</a:t>
            </a:r>
          </a:p>
        </p:txBody>
      </p:sp>
      <p:sp>
        <p:nvSpPr>
          <p:cNvPr id="432" name="TextBox 431"/>
          <p:cNvSpPr txBox="1"/>
          <p:nvPr/>
        </p:nvSpPr>
        <p:spPr>
          <a:xfrm>
            <a:off x="14827677" y="7259514"/>
            <a:ext cx="19024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703020202090204" pitchFamily="34" charset="0"/>
              </a:rPr>
              <a:t>col</a:t>
            </a:r>
          </a:p>
        </p:txBody>
      </p:sp>
      <p:sp>
        <p:nvSpPr>
          <p:cNvPr id="433" name="TextBox 432"/>
          <p:cNvSpPr txBox="1"/>
          <p:nvPr/>
        </p:nvSpPr>
        <p:spPr>
          <a:xfrm>
            <a:off x="15078510" y="7259514"/>
            <a:ext cx="97266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703020202090204" pitchFamily="34" charset="0"/>
              </a:rPr>
              <a:t>_</a:t>
            </a:r>
          </a:p>
        </p:txBody>
      </p:sp>
      <p:sp>
        <p:nvSpPr>
          <p:cNvPr id="435" name="TextBox 434"/>
          <p:cNvSpPr txBox="1"/>
          <p:nvPr/>
        </p:nvSpPr>
        <p:spPr>
          <a:xfrm>
            <a:off x="15565749" y="7259514"/>
            <a:ext cx="7803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703020202090204" pitchFamily="34" charset="0"/>
              </a:rPr>
              <a:t>[</a:t>
            </a:r>
          </a:p>
        </p:txBody>
      </p:sp>
      <p:sp>
        <p:nvSpPr>
          <p:cNvPr id="436" name="TextBox 435"/>
          <p:cNvSpPr txBox="1"/>
          <p:nvPr/>
        </p:nvSpPr>
        <p:spPr>
          <a:xfrm>
            <a:off x="15705174" y="7259514"/>
            <a:ext cx="70014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 err="1">
                <a:solidFill>
                  <a:srgbClr val="001080"/>
                </a:solidFill>
                <a:latin typeface="Trebuchet MS" panose="020B0703020202090204" pitchFamily="34" charset="0"/>
              </a:rPr>
              <a:t>i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437" name="TextBox 436"/>
          <p:cNvSpPr txBox="1"/>
          <p:nvPr/>
        </p:nvSpPr>
        <p:spPr>
          <a:xfrm>
            <a:off x="15850208" y="7259514"/>
            <a:ext cx="11970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703020202090204" pitchFamily="34" charset="0"/>
              </a:rPr>
              <a:t>]:</a:t>
            </a:r>
          </a:p>
        </p:txBody>
      </p:sp>
      <p:sp>
        <p:nvSpPr>
          <p:cNvPr id="438" name="TextBox 437"/>
          <p:cNvSpPr txBox="1"/>
          <p:nvPr/>
        </p:nvSpPr>
        <p:spPr>
          <a:xfrm>
            <a:off x="14935369" y="6982659"/>
            <a:ext cx="140546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D7BA7D"/>
                </a:solidFill>
                <a:latin typeface="Trebuchet MS" panose="020B0703020202090204" pitchFamily="34" charset="0"/>
              </a:rPr>
              <a:t>\n</a:t>
            </a:r>
          </a:p>
        </p:txBody>
      </p:sp>
      <p:sp>
        <p:nvSpPr>
          <p:cNvPr id="439" name="TextBox 438"/>
          <p:cNvSpPr txBox="1"/>
          <p:nvPr/>
        </p:nvSpPr>
        <p:spPr>
          <a:xfrm>
            <a:off x="16044130" y="7259514"/>
            <a:ext cx="140546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D7BA7D"/>
                </a:solidFill>
                <a:latin typeface="Trebuchet MS" panose="020B0703020202090204" pitchFamily="34" charset="0"/>
              </a:rPr>
              <a:t>\n</a:t>
            </a:r>
          </a:p>
        </p:txBody>
      </p:sp>
      <p:sp>
        <p:nvSpPr>
          <p:cNvPr id="450" name="TextBox 449"/>
          <p:cNvSpPr txBox="1"/>
          <p:nvPr/>
        </p:nvSpPr>
        <p:spPr>
          <a:xfrm>
            <a:off x="15249193" y="7259514"/>
            <a:ext cx="23352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703020202090204" pitchFamily="34" charset="0"/>
              </a:rPr>
              <a:t>size</a:t>
            </a:r>
          </a:p>
        </p:txBody>
      </p:sp>
      <p:sp>
        <p:nvSpPr>
          <p:cNvPr id="455" name="TextBox 454"/>
          <p:cNvSpPr txBox="1"/>
          <p:nvPr/>
        </p:nvSpPr>
        <p:spPr>
          <a:xfrm>
            <a:off x="12052565" y="6982659"/>
            <a:ext cx="2880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Trebuchet MS" panose="020B0703020202090204" pitchFamily="34" charset="0"/>
              </a:rPr>
              <a:t>⌷⌷⌷⌷</a:t>
            </a:r>
          </a:p>
        </p:txBody>
      </p:sp>
      <p:sp>
        <p:nvSpPr>
          <p:cNvPr id="456" name="TextBox 455"/>
          <p:cNvSpPr txBox="1"/>
          <p:nvPr/>
        </p:nvSpPr>
        <p:spPr>
          <a:xfrm>
            <a:off x="12052565" y="7259514"/>
            <a:ext cx="2880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Trebuchet MS" panose="020B0703020202090204" pitchFamily="34" charset="0"/>
              </a:rPr>
              <a:t>⌷⌷⌷⌷</a:t>
            </a:r>
          </a:p>
        </p:txBody>
      </p:sp>
      <p:sp>
        <p:nvSpPr>
          <p:cNvPr id="457" name="TextBox 456"/>
          <p:cNvSpPr txBox="1"/>
          <p:nvPr/>
        </p:nvSpPr>
        <p:spPr>
          <a:xfrm>
            <a:off x="12370701" y="7259514"/>
            <a:ext cx="2880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Trebuchet MS" panose="020B0703020202090204" pitchFamily="34" charset="0"/>
              </a:rPr>
              <a:t>⌷⌷⌷⌷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1935088" y="6695379"/>
            <a:ext cx="4338047" cy="882273"/>
          </a:xfrm>
          <a:prstGeom prst="roundRect">
            <a:avLst>
              <a:gd name="adj" fmla="val 2712"/>
            </a:avLst>
          </a:prstGeom>
          <a:noFill/>
          <a:ln>
            <a:noFill/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rebuchet MS" panose="020B0703020202090204" pitchFamily="34" charset="0"/>
            </a:endParaRPr>
          </a:p>
        </p:txBody>
      </p:sp>
      <p:sp>
        <p:nvSpPr>
          <p:cNvPr id="488" name="TextBox 487"/>
          <p:cNvSpPr txBox="1"/>
          <p:nvPr/>
        </p:nvSpPr>
        <p:spPr>
          <a:xfrm>
            <a:off x="12103288" y="8261145"/>
            <a:ext cx="288024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Trebuchet MS" panose="020B0703020202090204" pitchFamily="34" charset="0"/>
              </a:rPr>
              <a:t>⌷</a:t>
            </a:r>
            <a:r>
              <a:rPr lang="en-US" sz="900" dirty="0">
                <a:solidFill>
                  <a:srgbClr val="795E26"/>
                </a:solidFill>
                <a:latin typeface="Trebuchet MS" panose="020B0703020202090204" pitchFamily="34" charset="0"/>
              </a:rPr>
              <a:t>add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489" name="TextBox 488"/>
          <p:cNvSpPr txBox="1"/>
          <p:nvPr/>
        </p:nvSpPr>
        <p:spPr>
          <a:xfrm>
            <a:off x="12620303" y="8261145"/>
            <a:ext cx="22230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001080"/>
                </a:solidFill>
                <a:latin typeface="Trebuchet MS" panose="020B0703020202090204" pitchFamily="34" charset="0"/>
              </a:rPr>
              <a:t>self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490" name="TextBox 489"/>
          <p:cNvSpPr txBox="1"/>
          <p:nvPr/>
        </p:nvSpPr>
        <p:spPr>
          <a:xfrm>
            <a:off x="12448759" y="8261145"/>
            <a:ext cx="7803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703020202090204" pitchFamily="34" charset="0"/>
              </a:rPr>
              <a:t>(</a:t>
            </a:r>
          </a:p>
        </p:txBody>
      </p:sp>
      <p:sp>
        <p:nvSpPr>
          <p:cNvPr id="491" name="TextBox 490"/>
          <p:cNvSpPr txBox="1"/>
          <p:nvPr/>
        </p:nvSpPr>
        <p:spPr>
          <a:xfrm>
            <a:off x="13635901" y="8261145"/>
            <a:ext cx="140546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D7BA7D"/>
                </a:solidFill>
                <a:latin typeface="Trebuchet MS" panose="020B0703020202090204" pitchFamily="34" charset="0"/>
              </a:rPr>
              <a:t>\n</a:t>
            </a:r>
          </a:p>
        </p:txBody>
      </p:sp>
      <p:sp>
        <p:nvSpPr>
          <p:cNvPr id="492" name="TextBox 491"/>
          <p:cNvSpPr txBox="1"/>
          <p:nvPr/>
        </p:nvSpPr>
        <p:spPr>
          <a:xfrm>
            <a:off x="12936118" y="8261145"/>
            <a:ext cx="7803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latin typeface="Trebuchet MS" panose="020B0703020202090204" pitchFamily="34" charset="0"/>
              </a:rPr>
              <a:t>,</a:t>
            </a:r>
          </a:p>
        </p:txBody>
      </p:sp>
      <p:sp>
        <p:nvSpPr>
          <p:cNvPr id="493" name="TextBox 492"/>
          <p:cNvSpPr txBox="1"/>
          <p:nvPr/>
        </p:nvSpPr>
        <p:spPr>
          <a:xfrm>
            <a:off x="13062778" y="8261145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703020202090204" pitchFamily="34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Trebuchet MS" panose="020B0703020202090204" pitchFamily="34" charset="0"/>
              </a:rPr>
              <a:t>row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494" name="TextBox 493"/>
          <p:cNvSpPr txBox="1"/>
          <p:nvPr/>
        </p:nvSpPr>
        <p:spPr>
          <a:xfrm>
            <a:off x="13437102" y="8261145"/>
            <a:ext cx="11970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703020202090204" pitchFamily="34" charset="0"/>
              </a:rPr>
              <a:t>):</a:t>
            </a:r>
          </a:p>
        </p:txBody>
      </p:sp>
      <p:sp>
        <p:nvSpPr>
          <p:cNvPr id="495" name="TextBox 494"/>
          <p:cNvSpPr txBox="1"/>
          <p:nvPr/>
        </p:nvSpPr>
        <p:spPr>
          <a:xfrm>
            <a:off x="12450913" y="8533158"/>
            <a:ext cx="187034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AF00DB"/>
                </a:solidFill>
                <a:latin typeface="Trebuchet MS" panose="020B0703020202090204" pitchFamily="34" charset="0"/>
              </a:rPr>
              <a:t>for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496" name="TextBox 495"/>
          <p:cNvSpPr txBox="1"/>
          <p:nvPr/>
        </p:nvSpPr>
        <p:spPr>
          <a:xfrm>
            <a:off x="12722444" y="8533158"/>
            <a:ext cx="140546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703020202090204" pitchFamily="34" charset="0"/>
              </a:rPr>
              <a:t>⌷</a:t>
            </a:r>
            <a:r>
              <a:rPr lang="en-US" sz="900" dirty="0" err="1">
                <a:solidFill>
                  <a:srgbClr val="001080"/>
                </a:solidFill>
                <a:latin typeface="Trebuchet MS" panose="020B0703020202090204" pitchFamily="34" charset="0"/>
              </a:rPr>
              <a:t>i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497" name="TextBox 496"/>
          <p:cNvSpPr txBox="1"/>
          <p:nvPr/>
        </p:nvSpPr>
        <p:spPr>
          <a:xfrm>
            <a:off x="12933061" y="8533158"/>
            <a:ext cx="7803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703020202090204" pitchFamily="34" charset="0"/>
              </a:rPr>
              <a:t>,</a:t>
            </a:r>
          </a:p>
        </p:txBody>
      </p:sp>
      <p:sp>
        <p:nvSpPr>
          <p:cNvPr id="498" name="TextBox 497"/>
          <p:cNvSpPr txBox="1"/>
          <p:nvPr/>
        </p:nvSpPr>
        <p:spPr>
          <a:xfrm>
            <a:off x="13076351" y="8533158"/>
            <a:ext cx="150165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703020202090204" pitchFamily="34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Trebuchet MS" panose="020B0703020202090204" pitchFamily="34" charset="0"/>
              </a:rPr>
              <a:t>f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499" name="TextBox 498"/>
          <p:cNvSpPr txBox="1"/>
          <p:nvPr/>
        </p:nvSpPr>
        <p:spPr>
          <a:xfrm>
            <a:off x="13298190" y="8533158"/>
            <a:ext cx="203064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703020202090204" pitchFamily="34" charset="0"/>
              </a:rPr>
              <a:t>⌷</a:t>
            </a:r>
            <a:r>
              <a:rPr lang="en-US" sz="900" dirty="0">
                <a:solidFill>
                  <a:srgbClr val="AF00DB"/>
                </a:solidFill>
                <a:latin typeface="Trebuchet MS" panose="020B0703020202090204" pitchFamily="34" charset="0"/>
              </a:rPr>
              <a:t>in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500" name="TextBox 499"/>
          <p:cNvSpPr txBox="1"/>
          <p:nvPr/>
        </p:nvSpPr>
        <p:spPr>
          <a:xfrm>
            <a:off x="13590560" y="8533158"/>
            <a:ext cx="65992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Trebuchet MS" panose="020B0703020202090204" pitchFamily="34" charset="0"/>
              </a:rPr>
              <a:t>⌷</a:t>
            </a:r>
            <a:r>
              <a:rPr lang="en-US" sz="900" dirty="0">
                <a:solidFill>
                  <a:srgbClr val="267F99"/>
                </a:solidFill>
                <a:latin typeface="Trebuchet MS" panose="020B0703020202090204" pitchFamily="34" charset="0"/>
              </a:rPr>
              <a:t>enumerate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501" name="TextBox 500"/>
          <p:cNvSpPr txBox="1"/>
          <p:nvPr/>
        </p:nvSpPr>
        <p:spPr>
          <a:xfrm>
            <a:off x="14333374" y="8533158"/>
            <a:ext cx="7803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703020202090204" pitchFamily="34" charset="0"/>
              </a:rPr>
              <a:t>(</a:t>
            </a:r>
          </a:p>
        </p:txBody>
      </p:sp>
      <p:sp>
        <p:nvSpPr>
          <p:cNvPr id="502" name="TextBox 501"/>
          <p:cNvSpPr txBox="1"/>
          <p:nvPr/>
        </p:nvSpPr>
        <p:spPr>
          <a:xfrm>
            <a:off x="14471055" y="8533158"/>
            <a:ext cx="230315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001080"/>
                </a:solidFill>
                <a:latin typeface="Trebuchet MS" panose="020B0703020202090204" pitchFamily="34" charset="0"/>
              </a:rPr>
              <a:t>row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503" name="TextBox 502"/>
          <p:cNvSpPr txBox="1"/>
          <p:nvPr/>
        </p:nvSpPr>
        <p:spPr>
          <a:xfrm>
            <a:off x="14774645" y="8533158"/>
            <a:ext cx="11970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703020202090204" pitchFamily="34" charset="0"/>
              </a:rPr>
              <a:t>):</a:t>
            </a:r>
          </a:p>
        </p:txBody>
      </p:sp>
      <p:sp>
        <p:nvSpPr>
          <p:cNvPr id="504" name="TextBox 503"/>
          <p:cNvSpPr txBox="1"/>
          <p:nvPr/>
        </p:nvSpPr>
        <p:spPr>
          <a:xfrm>
            <a:off x="12763154" y="8810013"/>
            <a:ext cx="113296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AF00DB"/>
                </a:solidFill>
                <a:latin typeface="Trebuchet MS" panose="020B0703020202090204" pitchFamily="34" charset="0"/>
              </a:rPr>
              <a:t>if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505" name="TextBox 504"/>
          <p:cNvSpPr txBox="1"/>
          <p:nvPr/>
        </p:nvSpPr>
        <p:spPr>
          <a:xfrm>
            <a:off x="12960876" y="8810013"/>
            <a:ext cx="26558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703020202090204" pitchFamily="34" charset="0"/>
              </a:rPr>
              <a:t>⌷</a:t>
            </a:r>
            <a:r>
              <a:rPr lang="en-US" sz="900" dirty="0" err="1">
                <a:solidFill>
                  <a:srgbClr val="795E26"/>
                </a:solidFill>
                <a:latin typeface="Trebuchet MS" panose="020B0703020202090204" pitchFamily="34" charset="0"/>
              </a:rPr>
              <a:t>len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506" name="TextBox 505"/>
          <p:cNvSpPr txBox="1"/>
          <p:nvPr/>
        </p:nvSpPr>
        <p:spPr>
          <a:xfrm>
            <a:off x="13294050" y="8810013"/>
            <a:ext cx="7803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CE9178"/>
                </a:solidFill>
                <a:latin typeface="Trebuchet MS" panose="020B0703020202090204" pitchFamily="34" charset="0"/>
              </a:rPr>
              <a:t>(</a:t>
            </a:r>
            <a:endParaRPr lang="en-US" sz="900" dirty="0">
              <a:solidFill>
                <a:srgbClr val="CCCCCC"/>
              </a:solidFill>
              <a:latin typeface="Trebuchet MS" panose="020B0703020202090204" pitchFamily="34" charset="0"/>
            </a:endParaRPr>
          </a:p>
        </p:txBody>
      </p:sp>
      <p:sp>
        <p:nvSpPr>
          <p:cNvPr id="507" name="TextBox 506"/>
          <p:cNvSpPr txBox="1"/>
          <p:nvPr/>
        </p:nvSpPr>
        <p:spPr>
          <a:xfrm>
            <a:off x="13429255" y="8810013"/>
            <a:ext cx="79633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CE9178"/>
                </a:solidFill>
                <a:latin typeface="Trebuchet MS" panose="020B0703020202090204" pitchFamily="34" charset="0"/>
              </a:rPr>
              <a:t>f</a:t>
            </a:r>
            <a:endParaRPr lang="en-US" sz="900" dirty="0">
              <a:solidFill>
                <a:srgbClr val="CCCCCC"/>
              </a:solidFill>
              <a:latin typeface="Trebuchet MS" panose="020B0703020202090204" pitchFamily="34" charset="0"/>
            </a:endParaRPr>
          </a:p>
        </p:txBody>
      </p:sp>
      <p:sp>
        <p:nvSpPr>
          <p:cNvPr id="508" name="TextBox 507"/>
          <p:cNvSpPr txBox="1"/>
          <p:nvPr/>
        </p:nvSpPr>
        <p:spPr>
          <a:xfrm>
            <a:off x="13566062" y="8810013"/>
            <a:ext cx="7803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CE9178"/>
                </a:solidFill>
                <a:latin typeface="Trebuchet MS" panose="020B0703020202090204" pitchFamily="34" charset="0"/>
              </a:rPr>
              <a:t>)</a:t>
            </a:r>
            <a:endParaRPr lang="en-US" sz="900" dirty="0">
              <a:solidFill>
                <a:srgbClr val="CCCCCC"/>
              </a:solidFill>
              <a:latin typeface="Trebuchet MS" panose="020B0703020202090204" pitchFamily="34" charset="0"/>
            </a:endParaRPr>
          </a:p>
        </p:txBody>
      </p:sp>
      <p:sp>
        <p:nvSpPr>
          <p:cNvPr id="509" name="TextBox 508"/>
          <p:cNvSpPr txBox="1"/>
          <p:nvPr/>
        </p:nvSpPr>
        <p:spPr>
          <a:xfrm>
            <a:off x="13688443" y="8810013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703020202090204" pitchFamily="34" charset="0"/>
              </a:rPr>
              <a:t>⌷</a:t>
            </a:r>
            <a:r>
              <a:rPr lang="en-US" sz="900" dirty="0">
                <a:solidFill>
                  <a:srgbClr val="000000"/>
                </a:solidFill>
                <a:latin typeface="Trebuchet MS" panose="020B0703020202090204" pitchFamily="34" charset="0"/>
              </a:rPr>
              <a:t>&gt;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510" name="TextBox 509"/>
          <p:cNvSpPr txBox="1"/>
          <p:nvPr/>
        </p:nvSpPr>
        <p:spPr>
          <a:xfrm>
            <a:off x="13937461" y="8810013"/>
            <a:ext cx="292832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703020202090204" pitchFamily="34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Trebuchet MS" panose="020B0703020202090204" pitchFamily="34" charset="0"/>
              </a:rPr>
              <a:t>self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511" name="TextBox 510"/>
          <p:cNvSpPr txBox="1"/>
          <p:nvPr/>
        </p:nvSpPr>
        <p:spPr>
          <a:xfrm>
            <a:off x="14318726" y="8810013"/>
            <a:ext cx="7803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703020202090204" pitchFamily="34" charset="0"/>
              </a:rPr>
              <a:t>.</a:t>
            </a:r>
          </a:p>
        </p:txBody>
      </p:sp>
      <p:sp>
        <p:nvSpPr>
          <p:cNvPr id="512" name="TextBox 511"/>
          <p:cNvSpPr txBox="1"/>
          <p:nvPr/>
        </p:nvSpPr>
        <p:spPr>
          <a:xfrm>
            <a:off x="14510838" y="8810013"/>
            <a:ext cx="724040" cy="2308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 err="1">
                <a:solidFill>
                  <a:srgbClr val="3B3B3B"/>
                </a:solidFill>
                <a:latin typeface="Trebuchet MS" panose="020B0703020202090204" pitchFamily="34" charset="0"/>
              </a:rPr>
              <a:t>max_col_size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517" name="TextBox 516"/>
          <p:cNvSpPr txBox="1"/>
          <p:nvPr/>
        </p:nvSpPr>
        <p:spPr>
          <a:xfrm>
            <a:off x="15348959" y="8810013"/>
            <a:ext cx="7803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703020202090204" pitchFamily="34" charset="0"/>
              </a:rPr>
              <a:t>[</a:t>
            </a:r>
          </a:p>
        </p:txBody>
      </p:sp>
      <p:sp>
        <p:nvSpPr>
          <p:cNvPr id="518" name="TextBox 517"/>
          <p:cNvSpPr txBox="1"/>
          <p:nvPr/>
        </p:nvSpPr>
        <p:spPr>
          <a:xfrm>
            <a:off x="15488973" y="8810013"/>
            <a:ext cx="70014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 err="1">
                <a:solidFill>
                  <a:srgbClr val="001080"/>
                </a:solidFill>
                <a:latin typeface="Trebuchet MS" panose="020B0703020202090204" pitchFamily="34" charset="0"/>
              </a:rPr>
              <a:t>i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519" name="TextBox 518"/>
          <p:cNvSpPr txBox="1"/>
          <p:nvPr/>
        </p:nvSpPr>
        <p:spPr>
          <a:xfrm>
            <a:off x="15634597" y="8810013"/>
            <a:ext cx="11970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703020202090204" pitchFamily="34" charset="0"/>
              </a:rPr>
              <a:t>]:</a:t>
            </a:r>
          </a:p>
        </p:txBody>
      </p:sp>
      <p:sp>
        <p:nvSpPr>
          <p:cNvPr id="520" name="TextBox 519"/>
          <p:cNvSpPr txBox="1"/>
          <p:nvPr/>
        </p:nvSpPr>
        <p:spPr>
          <a:xfrm>
            <a:off x="14978051" y="8533158"/>
            <a:ext cx="140546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D7BA7D"/>
                </a:solidFill>
                <a:latin typeface="Trebuchet MS" panose="020B0703020202090204" pitchFamily="34" charset="0"/>
              </a:rPr>
              <a:t>\n</a:t>
            </a:r>
          </a:p>
        </p:txBody>
      </p:sp>
      <p:sp>
        <p:nvSpPr>
          <p:cNvPr id="521" name="TextBox 520"/>
          <p:cNvSpPr txBox="1"/>
          <p:nvPr/>
        </p:nvSpPr>
        <p:spPr>
          <a:xfrm>
            <a:off x="15829118" y="8810013"/>
            <a:ext cx="140546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D7BA7D"/>
                </a:solidFill>
                <a:latin typeface="Trebuchet MS" panose="020B0703020202090204" pitchFamily="34" charset="0"/>
              </a:rPr>
              <a:t>\n</a:t>
            </a:r>
          </a:p>
        </p:txBody>
      </p:sp>
      <p:sp>
        <p:nvSpPr>
          <p:cNvPr id="537" name="TextBox 536"/>
          <p:cNvSpPr txBox="1"/>
          <p:nvPr/>
        </p:nvSpPr>
        <p:spPr>
          <a:xfrm>
            <a:off x="12095247" y="8533158"/>
            <a:ext cx="2880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Trebuchet MS" panose="020B0703020202090204" pitchFamily="34" charset="0"/>
              </a:rPr>
              <a:t>⌷⌷⌷⌷</a:t>
            </a:r>
          </a:p>
        </p:txBody>
      </p:sp>
      <p:sp>
        <p:nvSpPr>
          <p:cNvPr id="538" name="TextBox 537"/>
          <p:cNvSpPr txBox="1"/>
          <p:nvPr/>
        </p:nvSpPr>
        <p:spPr>
          <a:xfrm>
            <a:off x="12095247" y="8810013"/>
            <a:ext cx="2880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Trebuchet MS" panose="020B0703020202090204" pitchFamily="34" charset="0"/>
              </a:rPr>
              <a:t>⌷⌷⌷⌷</a:t>
            </a:r>
          </a:p>
        </p:txBody>
      </p:sp>
      <p:sp>
        <p:nvSpPr>
          <p:cNvPr id="539" name="TextBox 538"/>
          <p:cNvSpPr txBox="1"/>
          <p:nvPr/>
        </p:nvSpPr>
        <p:spPr>
          <a:xfrm>
            <a:off x="12413972" y="8810013"/>
            <a:ext cx="2880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Trebuchet MS" panose="020B0703020202090204" pitchFamily="34" charset="0"/>
              </a:rPr>
              <a:t>⌷⌷⌷⌷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11927017" y="8189404"/>
            <a:ext cx="4338047" cy="919360"/>
          </a:xfrm>
          <a:prstGeom prst="roundRect">
            <a:avLst>
              <a:gd name="adj" fmla="val 2712"/>
            </a:avLst>
          </a:prstGeom>
          <a:noFill/>
          <a:ln>
            <a:noFill/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rebuchet MS" panose="020B0703020202090204" pitchFamily="34" charset="0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20097927" y="5315952"/>
            <a:ext cx="36234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Trebuchet MS" panose="020B0703020202090204" pitchFamily="34" charset="0"/>
              </a:rPr>
              <a:t>Getting Conditioned Probabilities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7517797" y="6138373"/>
            <a:ext cx="2099944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795E26"/>
                </a:solidFill>
                <a:latin typeface="Trebuchet MS" panose="020B0703020202090204" pitchFamily="34" charset="0"/>
              </a:rPr>
              <a:t>add(self,</a:t>
            </a:r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703020202090204" pitchFamily="34" charset="0"/>
              </a:rPr>
              <a:t> </a:t>
            </a:r>
            <a:r>
              <a:rPr lang="en-US" sz="900" dirty="0">
                <a:solidFill>
                  <a:srgbClr val="001080"/>
                </a:solidFill>
                <a:latin typeface="Trebuchet MS" panose="020B0703020202090204" pitchFamily="34" charset="0"/>
              </a:rPr>
              <a:t>row</a:t>
            </a:r>
            <a:r>
              <a:rPr lang="en-US" sz="900" dirty="0">
                <a:solidFill>
                  <a:srgbClr val="3B3B3B"/>
                </a:solidFill>
                <a:latin typeface="Trebuchet MS" panose="020B0703020202090204" pitchFamily="34" charset="0"/>
              </a:rPr>
              <a:t>):</a:t>
            </a:r>
            <a:r>
              <a:rPr lang="en-US" sz="900" dirty="0">
                <a:solidFill>
                  <a:srgbClr val="D7BA7D"/>
                </a:solidFill>
                <a:latin typeface="Trebuchet MS" panose="020B0703020202090204" pitchFamily="34" charset="0"/>
              </a:rPr>
              <a:t>\n</a:t>
            </a:r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703020202090204" pitchFamily="34" charset="0"/>
              </a:rPr>
              <a:t> </a:t>
            </a:r>
            <a:r>
              <a:rPr lang="en-US" sz="900" dirty="0">
                <a:solidFill>
                  <a:srgbClr val="AF00DB"/>
                </a:solidFill>
                <a:latin typeface="Trebuchet MS" panose="020B0703020202090204" pitchFamily="34" charset="0"/>
              </a:rPr>
              <a:t>for</a:t>
            </a:r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703020202090204" pitchFamily="34" charset="0"/>
              </a:rPr>
              <a:t> </a:t>
            </a:r>
            <a:r>
              <a:rPr lang="en-US" sz="900" dirty="0" err="1">
                <a:solidFill>
                  <a:srgbClr val="001080"/>
                </a:solidFill>
                <a:latin typeface="Trebuchet MS" panose="020B0703020202090204" pitchFamily="34" charset="0"/>
              </a:rPr>
              <a:t>i</a:t>
            </a:r>
            <a:r>
              <a:rPr lang="en-US" sz="900" dirty="0">
                <a:solidFill>
                  <a:srgbClr val="3B3B3B"/>
                </a:solidFill>
                <a:latin typeface="Trebuchet MS" panose="020B0703020202090204" pitchFamily="34" charset="0"/>
              </a:rPr>
              <a:t>,</a:t>
            </a:r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703020202090204" pitchFamily="34" charset="0"/>
              </a:rPr>
              <a:t> </a:t>
            </a:r>
            <a:r>
              <a:rPr lang="en-US" sz="900" dirty="0">
                <a:solidFill>
                  <a:srgbClr val="001080"/>
                </a:solidFill>
                <a:latin typeface="Trebuchet MS" panose="020B0703020202090204" pitchFamily="34" charset="0"/>
              </a:rPr>
              <a:t>f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449" name="TextBox 448"/>
          <p:cNvSpPr txBox="1"/>
          <p:nvPr/>
        </p:nvSpPr>
        <p:spPr>
          <a:xfrm>
            <a:off x="22173153" y="5873230"/>
            <a:ext cx="37955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703020202090204" pitchFamily="34" charset="0"/>
              </a:rPr>
              <a:t>⌷</a:t>
            </a:r>
            <a:r>
              <a:rPr lang="en-US" sz="900" dirty="0">
                <a:solidFill>
                  <a:srgbClr val="AF00DB"/>
                </a:solidFill>
                <a:latin typeface="Trebuchet MS" panose="020B0703020202090204" pitchFamily="34" charset="0"/>
              </a:rPr>
              <a:t>in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470" name="Arc 469"/>
          <p:cNvSpPr>
            <a:spLocks noChangeAspect="1"/>
          </p:cNvSpPr>
          <p:nvPr/>
        </p:nvSpPr>
        <p:spPr>
          <a:xfrm rot="10800000">
            <a:off x="17377922" y="5980477"/>
            <a:ext cx="288000" cy="288000"/>
          </a:xfrm>
          <a:prstGeom prst="arc">
            <a:avLst>
              <a:gd name="adj1" fmla="val 16200000"/>
              <a:gd name="adj2" fmla="val 10799994"/>
            </a:avLst>
          </a:prstGeom>
          <a:ln w="12700">
            <a:solidFill>
              <a:schemeClr val="tx1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>
              <a:latin typeface="Trebuchet MS" panose="020B0703020202090204" pitchFamily="34" charset="0"/>
            </a:endParaRPr>
          </a:p>
        </p:txBody>
      </p:sp>
      <p:sp>
        <p:nvSpPr>
          <p:cNvPr id="471" name="TextBox 470"/>
          <p:cNvSpPr txBox="1"/>
          <p:nvPr/>
        </p:nvSpPr>
        <p:spPr>
          <a:xfrm>
            <a:off x="22173153" y="6103506"/>
            <a:ext cx="37955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altLang="zh-CN" sz="900" dirty="0">
                <a:solidFill>
                  <a:srgbClr val="3B3B3B"/>
                </a:solidFill>
                <a:latin typeface="Trebuchet MS" panose="020B0703020202090204" pitchFamily="34" charset="0"/>
              </a:rPr>
              <a:t>name</a:t>
            </a:r>
          </a:p>
        </p:txBody>
      </p:sp>
      <p:sp>
        <p:nvSpPr>
          <p:cNvPr id="472" name="TextBox 471"/>
          <p:cNvSpPr txBox="1"/>
          <p:nvPr/>
        </p:nvSpPr>
        <p:spPr>
          <a:xfrm>
            <a:off x="22173153" y="6333782"/>
            <a:ext cx="37955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solidFill>
                  <a:srgbClr val="001080"/>
                </a:solidFill>
                <a:latin typeface="Trebuchet MS" panose="020B0703020202090204" pitchFamily="34" charset="0"/>
              </a:rPr>
              <a:t>Id</a:t>
            </a:r>
          </a:p>
        </p:txBody>
      </p:sp>
      <p:sp>
        <p:nvSpPr>
          <p:cNvPr id="475" name="Rectangle 474"/>
          <p:cNvSpPr/>
          <p:nvPr/>
        </p:nvSpPr>
        <p:spPr>
          <a:xfrm>
            <a:off x="22550352" y="5873230"/>
            <a:ext cx="463826" cy="2340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  <a:latin typeface="Trebuchet MS" panose="020B0703020202090204" pitchFamily="34" charset="0"/>
              </a:rPr>
              <a:t>0.84</a:t>
            </a:r>
          </a:p>
        </p:txBody>
      </p:sp>
      <p:sp>
        <p:nvSpPr>
          <p:cNvPr id="477" name="Rectangle 476"/>
          <p:cNvSpPr/>
          <p:nvPr/>
        </p:nvSpPr>
        <p:spPr>
          <a:xfrm>
            <a:off x="22555894" y="6103506"/>
            <a:ext cx="463826" cy="2340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  <a:latin typeface="Trebuchet MS" panose="020B0703020202090204" pitchFamily="34" charset="0"/>
              </a:rPr>
              <a:t>0.04</a:t>
            </a:r>
          </a:p>
        </p:txBody>
      </p:sp>
      <p:sp>
        <p:nvSpPr>
          <p:cNvPr id="478" name="Rectangle 477"/>
          <p:cNvSpPr/>
          <p:nvPr/>
        </p:nvSpPr>
        <p:spPr>
          <a:xfrm>
            <a:off x="22555894" y="6333782"/>
            <a:ext cx="463826" cy="2340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  <a:latin typeface="Trebuchet MS" panose="020B0703020202090204" pitchFamily="34" charset="0"/>
              </a:rPr>
              <a:t>0.03</a:t>
            </a:r>
          </a:p>
        </p:txBody>
      </p:sp>
      <p:cxnSp>
        <p:nvCxnSpPr>
          <p:cNvPr id="482" name="Straight Arrow Connector 481"/>
          <p:cNvCxnSpPr/>
          <p:nvPr/>
        </p:nvCxnSpPr>
        <p:spPr>
          <a:xfrm flipV="1">
            <a:off x="19854913" y="6253789"/>
            <a:ext cx="2081231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3" name="TextBox 482"/>
          <p:cNvSpPr txBox="1"/>
          <p:nvPr/>
        </p:nvSpPr>
        <p:spPr>
          <a:xfrm>
            <a:off x="20142639" y="5914627"/>
            <a:ext cx="183282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Trebuchet MS" panose="020B0703020202090204" pitchFamily="34" charset="0"/>
              </a:rPr>
              <a:t>Next Token Selection:</a:t>
            </a:r>
          </a:p>
        </p:txBody>
      </p:sp>
      <p:cxnSp>
        <p:nvCxnSpPr>
          <p:cNvPr id="105" name="Straight Arrow Connector 104"/>
          <p:cNvCxnSpPr/>
          <p:nvPr/>
        </p:nvCxnSpPr>
        <p:spPr>
          <a:xfrm>
            <a:off x="19887759" y="7375828"/>
            <a:ext cx="0" cy="503999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6" name="TextBox 105"/>
          <p:cNvSpPr txBox="1"/>
          <p:nvPr/>
        </p:nvSpPr>
        <p:spPr>
          <a:xfrm>
            <a:off x="20097927" y="7438484"/>
            <a:ext cx="33613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Trebuchet MS" panose="020B0703020202090204" pitchFamily="34" charset="0"/>
              </a:rPr>
              <a:t>Syntax-Oriented Token Pruning</a:t>
            </a:r>
          </a:p>
        </p:txBody>
      </p:sp>
      <p:pic>
        <p:nvPicPr>
          <p:cNvPr id="122" name="Picture 121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2070746" y="3673169"/>
            <a:ext cx="608267" cy="608267"/>
          </a:xfrm>
          <a:prstGeom prst="rect">
            <a:avLst/>
          </a:prstGeom>
          <a:noFill/>
        </p:spPr>
      </p:pic>
      <p:sp>
        <p:nvSpPr>
          <p:cNvPr id="126" name="TextBox 125"/>
          <p:cNvSpPr txBox="1"/>
          <p:nvPr/>
        </p:nvSpPr>
        <p:spPr>
          <a:xfrm>
            <a:off x="17418534" y="7858943"/>
            <a:ext cx="176291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Trebuchet MS" panose="020B0703020202090204" pitchFamily="34" charset="0"/>
              </a:rPr>
              <a:t>Retained Tokens</a:t>
            </a:r>
          </a:p>
        </p:txBody>
      </p:sp>
      <p:sp>
        <p:nvSpPr>
          <p:cNvPr id="513" name="TextBox 512"/>
          <p:cNvSpPr txBox="1"/>
          <p:nvPr/>
        </p:nvSpPr>
        <p:spPr>
          <a:xfrm>
            <a:off x="17427351" y="8202566"/>
            <a:ext cx="288024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Trebuchet MS" panose="020B0703020202090204" pitchFamily="34" charset="0"/>
              </a:rPr>
              <a:t>⌷</a:t>
            </a:r>
            <a:r>
              <a:rPr lang="en-US" sz="900" dirty="0">
                <a:solidFill>
                  <a:srgbClr val="795E26"/>
                </a:solidFill>
                <a:latin typeface="Trebuchet MS" panose="020B0703020202090204" pitchFamily="34" charset="0"/>
              </a:rPr>
              <a:t>add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514" name="TextBox 513"/>
          <p:cNvSpPr txBox="1"/>
          <p:nvPr/>
        </p:nvSpPr>
        <p:spPr>
          <a:xfrm>
            <a:off x="17944366" y="8761082"/>
            <a:ext cx="222300" cy="2308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001080"/>
                </a:solidFill>
                <a:latin typeface="Trebuchet MS" panose="020B0703020202090204" pitchFamily="34" charset="0"/>
              </a:rPr>
              <a:t>self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515" name="TextBox 514"/>
          <p:cNvSpPr txBox="1"/>
          <p:nvPr/>
        </p:nvSpPr>
        <p:spPr>
          <a:xfrm>
            <a:off x="17772822" y="8202566"/>
            <a:ext cx="7803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703020202090204" pitchFamily="34" charset="0"/>
              </a:rPr>
              <a:t>(</a:t>
            </a:r>
          </a:p>
        </p:txBody>
      </p:sp>
      <p:sp>
        <p:nvSpPr>
          <p:cNvPr id="524" name="TextBox 523"/>
          <p:cNvSpPr txBox="1"/>
          <p:nvPr/>
        </p:nvSpPr>
        <p:spPr>
          <a:xfrm>
            <a:off x="18959964" y="8761082"/>
            <a:ext cx="140546" cy="2308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D7BA7D"/>
                </a:solidFill>
                <a:latin typeface="Trebuchet MS" panose="020B0703020202090204" pitchFamily="34" charset="0"/>
              </a:rPr>
              <a:t>\n</a:t>
            </a:r>
          </a:p>
        </p:txBody>
      </p:sp>
      <p:sp>
        <p:nvSpPr>
          <p:cNvPr id="525" name="TextBox 524"/>
          <p:cNvSpPr txBox="1"/>
          <p:nvPr/>
        </p:nvSpPr>
        <p:spPr>
          <a:xfrm>
            <a:off x="18260181" y="8202566"/>
            <a:ext cx="7803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latin typeface="Trebuchet MS" panose="020B0703020202090204" pitchFamily="34" charset="0"/>
              </a:rPr>
              <a:t>,</a:t>
            </a:r>
          </a:p>
        </p:txBody>
      </p:sp>
      <p:sp>
        <p:nvSpPr>
          <p:cNvPr id="526" name="TextBox 525"/>
          <p:cNvSpPr txBox="1"/>
          <p:nvPr/>
        </p:nvSpPr>
        <p:spPr>
          <a:xfrm>
            <a:off x="18386841" y="8202566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703020202090204" pitchFamily="34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Trebuchet MS" panose="020B0703020202090204" pitchFamily="34" charset="0"/>
              </a:rPr>
              <a:t>row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527" name="TextBox 526"/>
          <p:cNvSpPr txBox="1"/>
          <p:nvPr/>
        </p:nvSpPr>
        <p:spPr>
          <a:xfrm>
            <a:off x="18761165" y="8761082"/>
            <a:ext cx="119708" cy="2308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703020202090204" pitchFamily="34" charset="0"/>
              </a:rPr>
              <a:t>):</a:t>
            </a:r>
          </a:p>
        </p:txBody>
      </p:sp>
      <p:sp>
        <p:nvSpPr>
          <p:cNvPr id="528" name="TextBox 527"/>
          <p:cNvSpPr txBox="1"/>
          <p:nvPr/>
        </p:nvSpPr>
        <p:spPr>
          <a:xfrm>
            <a:off x="19515597" y="8202566"/>
            <a:ext cx="187034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AF00DB"/>
                </a:solidFill>
                <a:latin typeface="Trebuchet MS" panose="020B0703020202090204" pitchFamily="34" charset="0"/>
              </a:rPr>
              <a:t>for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532" name="TextBox 531"/>
          <p:cNvSpPr txBox="1"/>
          <p:nvPr/>
        </p:nvSpPr>
        <p:spPr>
          <a:xfrm>
            <a:off x="19785329" y="8202566"/>
            <a:ext cx="161386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latin typeface="Trebuchet MS" panose="020B0703020202090204" pitchFamily="34" charset="0"/>
              </a:rPr>
              <a:t>...</a:t>
            </a:r>
          </a:p>
        </p:txBody>
      </p:sp>
      <p:sp>
        <p:nvSpPr>
          <p:cNvPr id="544" name="TextBox 543"/>
          <p:cNvSpPr txBox="1"/>
          <p:nvPr/>
        </p:nvSpPr>
        <p:spPr>
          <a:xfrm>
            <a:off x="20008724" y="8761082"/>
            <a:ext cx="203064" cy="2308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703020202090204" pitchFamily="34" charset="0"/>
              </a:rPr>
              <a:t>⌷</a:t>
            </a:r>
            <a:r>
              <a:rPr lang="en-US" sz="900" dirty="0">
                <a:solidFill>
                  <a:srgbClr val="AF00DB"/>
                </a:solidFill>
                <a:latin typeface="Trebuchet MS" panose="020B0703020202090204" pitchFamily="34" charset="0"/>
              </a:rPr>
              <a:t>in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545" name="TextBox 544"/>
          <p:cNvSpPr txBox="1"/>
          <p:nvPr/>
        </p:nvSpPr>
        <p:spPr>
          <a:xfrm>
            <a:off x="20301094" y="8202566"/>
            <a:ext cx="65992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Trebuchet MS" panose="020B0703020202090204" pitchFamily="34" charset="0"/>
              </a:rPr>
              <a:t>⌷</a:t>
            </a:r>
            <a:r>
              <a:rPr lang="en-US" sz="900" dirty="0">
                <a:solidFill>
                  <a:srgbClr val="267F99"/>
                </a:solidFill>
                <a:latin typeface="Trebuchet MS" panose="020B0703020202090204" pitchFamily="34" charset="0"/>
              </a:rPr>
              <a:t>enumerate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548" name="TextBox 547"/>
          <p:cNvSpPr txBox="1"/>
          <p:nvPr/>
        </p:nvSpPr>
        <p:spPr>
          <a:xfrm>
            <a:off x="21039861" y="8202566"/>
            <a:ext cx="161386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703020202090204" pitchFamily="34" charset="0"/>
              </a:rPr>
              <a:t>...</a:t>
            </a:r>
          </a:p>
        </p:txBody>
      </p:sp>
      <p:sp>
        <p:nvSpPr>
          <p:cNvPr id="549" name="TextBox 548"/>
          <p:cNvSpPr txBox="1"/>
          <p:nvPr/>
        </p:nvSpPr>
        <p:spPr>
          <a:xfrm>
            <a:off x="21282015" y="8202566"/>
            <a:ext cx="292832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703020202090204" pitchFamily="34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Trebuchet MS" panose="020B0703020202090204" pitchFamily="34" charset="0"/>
              </a:rPr>
              <a:t>self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550" name="TextBox 549"/>
          <p:cNvSpPr txBox="1"/>
          <p:nvPr/>
        </p:nvSpPr>
        <p:spPr>
          <a:xfrm>
            <a:off x="21649655" y="8202566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ot"/>
          </a:ln>
        </p:spPr>
        <p:txBody>
          <a:bodyPr wrap="none" lIns="18000" rIns="18000" rtlCol="0" anchor="ctr">
            <a:noAutofit/>
          </a:bodyPr>
          <a:lstStyle/>
          <a:p>
            <a:pPr algn="ctr"/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552" name="TextBox 551"/>
          <p:cNvSpPr txBox="1"/>
          <p:nvPr/>
        </p:nvSpPr>
        <p:spPr>
          <a:xfrm>
            <a:off x="21785661" y="8202566"/>
            <a:ext cx="863502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553" name="TextBox 552"/>
          <p:cNvSpPr txBox="1"/>
          <p:nvPr/>
        </p:nvSpPr>
        <p:spPr>
          <a:xfrm>
            <a:off x="22693513" y="8202566"/>
            <a:ext cx="7803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703020202090204" pitchFamily="34" charset="0"/>
              </a:rPr>
              <a:t>[</a:t>
            </a:r>
          </a:p>
        </p:txBody>
      </p:sp>
      <p:sp>
        <p:nvSpPr>
          <p:cNvPr id="555" name="TextBox 554"/>
          <p:cNvSpPr txBox="1"/>
          <p:nvPr/>
        </p:nvSpPr>
        <p:spPr>
          <a:xfrm>
            <a:off x="22833527" y="8202566"/>
            <a:ext cx="70014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 err="1">
                <a:solidFill>
                  <a:srgbClr val="001080"/>
                </a:solidFill>
                <a:latin typeface="Trebuchet MS" panose="020B0703020202090204" pitchFamily="34" charset="0"/>
              </a:rPr>
              <a:t>i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556" name="TextBox 555"/>
          <p:cNvSpPr txBox="1"/>
          <p:nvPr/>
        </p:nvSpPr>
        <p:spPr>
          <a:xfrm>
            <a:off x="22979151" y="8761082"/>
            <a:ext cx="119708" cy="2308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703020202090204" pitchFamily="34" charset="0"/>
              </a:rPr>
              <a:t>]:</a:t>
            </a:r>
          </a:p>
        </p:txBody>
      </p:sp>
      <p:sp>
        <p:nvSpPr>
          <p:cNvPr id="558" name="TextBox 557"/>
          <p:cNvSpPr txBox="1"/>
          <p:nvPr/>
        </p:nvSpPr>
        <p:spPr>
          <a:xfrm>
            <a:off x="23166808" y="8202566"/>
            <a:ext cx="161386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altLang="zh-CN" sz="900" dirty="0">
                <a:latin typeface="Trebuchet MS" panose="020B0703020202090204" pitchFamily="34" charset="0"/>
              </a:rPr>
              <a:t>...</a:t>
            </a:r>
            <a:endParaRPr lang="en-US" sz="900" dirty="0">
              <a:latin typeface="Trebuchet MS" panose="020B0703020202090204" pitchFamily="34" charset="0"/>
            </a:endParaRPr>
          </a:p>
        </p:txBody>
      </p:sp>
      <p:sp>
        <p:nvSpPr>
          <p:cNvPr id="559" name="TextBox 558"/>
          <p:cNvSpPr txBox="1"/>
          <p:nvPr/>
        </p:nvSpPr>
        <p:spPr>
          <a:xfrm>
            <a:off x="19159931" y="8761082"/>
            <a:ext cx="288000" cy="230400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Trebuchet MS" panose="020B0703020202090204" pitchFamily="34" charset="0"/>
              </a:rPr>
              <a:t>⌷⌷⌷⌷</a:t>
            </a:r>
          </a:p>
        </p:txBody>
      </p:sp>
      <p:sp>
        <p:nvSpPr>
          <p:cNvPr id="561" name="TextBox 560"/>
          <p:cNvSpPr txBox="1"/>
          <p:nvPr/>
        </p:nvSpPr>
        <p:spPr>
          <a:xfrm>
            <a:off x="17370095" y="6822143"/>
            <a:ext cx="288024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Trebuchet MS" panose="020B0703020202090204" pitchFamily="34" charset="0"/>
              </a:rPr>
              <a:t>⌷</a:t>
            </a:r>
            <a:r>
              <a:rPr lang="en-US" sz="900" dirty="0">
                <a:solidFill>
                  <a:srgbClr val="795E26"/>
                </a:solidFill>
                <a:latin typeface="Trebuchet MS" panose="020B0703020202090204" pitchFamily="34" charset="0"/>
              </a:rPr>
              <a:t>add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562" name="TextBox 561"/>
          <p:cNvSpPr txBox="1"/>
          <p:nvPr/>
        </p:nvSpPr>
        <p:spPr>
          <a:xfrm>
            <a:off x="17887110" y="6822143"/>
            <a:ext cx="22230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001080"/>
                </a:solidFill>
                <a:latin typeface="Trebuchet MS" panose="020B0703020202090204" pitchFamily="34" charset="0"/>
              </a:rPr>
              <a:t>self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563" name="TextBox 562"/>
          <p:cNvSpPr txBox="1"/>
          <p:nvPr/>
        </p:nvSpPr>
        <p:spPr>
          <a:xfrm>
            <a:off x="17715566" y="6822143"/>
            <a:ext cx="7803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703020202090204" pitchFamily="34" charset="0"/>
              </a:rPr>
              <a:t>(</a:t>
            </a:r>
          </a:p>
        </p:txBody>
      </p:sp>
      <p:sp>
        <p:nvSpPr>
          <p:cNvPr id="564" name="TextBox 563"/>
          <p:cNvSpPr txBox="1"/>
          <p:nvPr/>
        </p:nvSpPr>
        <p:spPr>
          <a:xfrm>
            <a:off x="18902708" y="6822143"/>
            <a:ext cx="140546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D7BA7D"/>
                </a:solidFill>
                <a:latin typeface="Trebuchet MS" panose="020B0703020202090204" pitchFamily="34" charset="0"/>
              </a:rPr>
              <a:t>\n</a:t>
            </a:r>
          </a:p>
        </p:txBody>
      </p:sp>
      <p:sp>
        <p:nvSpPr>
          <p:cNvPr id="565" name="TextBox 564"/>
          <p:cNvSpPr txBox="1"/>
          <p:nvPr/>
        </p:nvSpPr>
        <p:spPr>
          <a:xfrm>
            <a:off x="18202925" y="6822143"/>
            <a:ext cx="7803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latin typeface="Trebuchet MS" panose="020B0703020202090204" pitchFamily="34" charset="0"/>
              </a:rPr>
              <a:t>,</a:t>
            </a:r>
          </a:p>
        </p:txBody>
      </p:sp>
      <p:sp>
        <p:nvSpPr>
          <p:cNvPr id="566" name="TextBox 565"/>
          <p:cNvSpPr txBox="1"/>
          <p:nvPr/>
        </p:nvSpPr>
        <p:spPr>
          <a:xfrm>
            <a:off x="18329585" y="6822143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703020202090204" pitchFamily="34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Trebuchet MS" panose="020B0703020202090204" pitchFamily="34" charset="0"/>
              </a:rPr>
              <a:t>row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567" name="TextBox 566"/>
          <p:cNvSpPr txBox="1"/>
          <p:nvPr/>
        </p:nvSpPr>
        <p:spPr>
          <a:xfrm>
            <a:off x="18703909" y="6822143"/>
            <a:ext cx="11970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703020202090204" pitchFamily="34" charset="0"/>
              </a:rPr>
              <a:t>):</a:t>
            </a:r>
          </a:p>
        </p:txBody>
      </p:sp>
      <p:sp>
        <p:nvSpPr>
          <p:cNvPr id="568" name="TextBox 567"/>
          <p:cNvSpPr txBox="1"/>
          <p:nvPr/>
        </p:nvSpPr>
        <p:spPr>
          <a:xfrm>
            <a:off x="19458341" y="6822143"/>
            <a:ext cx="187034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AF00DB"/>
                </a:solidFill>
                <a:latin typeface="Trebuchet MS" panose="020B0703020202090204" pitchFamily="34" charset="0"/>
              </a:rPr>
              <a:t>for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569" name="TextBox 568"/>
          <p:cNvSpPr txBox="1"/>
          <p:nvPr/>
        </p:nvSpPr>
        <p:spPr>
          <a:xfrm>
            <a:off x="19728073" y="6822143"/>
            <a:ext cx="161386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latin typeface="Trebuchet MS" panose="020B0703020202090204" pitchFamily="34" charset="0"/>
              </a:rPr>
              <a:t>...</a:t>
            </a:r>
          </a:p>
        </p:txBody>
      </p:sp>
      <p:sp>
        <p:nvSpPr>
          <p:cNvPr id="570" name="TextBox 569"/>
          <p:cNvSpPr txBox="1"/>
          <p:nvPr/>
        </p:nvSpPr>
        <p:spPr>
          <a:xfrm>
            <a:off x="19951468" y="6822143"/>
            <a:ext cx="203064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703020202090204" pitchFamily="34" charset="0"/>
              </a:rPr>
              <a:t>⌷</a:t>
            </a:r>
            <a:r>
              <a:rPr lang="en-US" sz="900" dirty="0">
                <a:solidFill>
                  <a:srgbClr val="AF00DB"/>
                </a:solidFill>
                <a:latin typeface="Trebuchet MS" panose="020B0703020202090204" pitchFamily="34" charset="0"/>
              </a:rPr>
              <a:t>in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571" name="TextBox 570"/>
          <p:cNvSpPr txBox="1"/>
          <p:nvPr/>
        </p:nvSpPr>
        <p:spPr>
          <a:xfrm>
            <a:off x="20243838" y="6822143"/>
            <a:ext cx="65992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Trebuchet MS" panose="020B0703020202090204" pitchFamily="34" charset="0"/>
              </a:rPr>
              <a:t>⌷</a:t>
            </a:r>
            <a:r>
              <a:rPr lang="en-US" sz="900" dirty="0">
                <a:solidFill>
                  <a:srgbClr val="267F99"/>
                </a:solidFill>
                <a:latin typeface="Trebuchet MS" panose="020B0703020202090204" pitchFamily="34" charset="0"/>
              </a:rPr>
              <a:t>enumerate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572" name="TextBox 571"/>
          <p:cNvSpPr txBox="1"/>
          <p:nvPr/>
        </p:nvSpPr>
        <p:spPr>
          <a:xfrm>
            <a:off x="20982605" y="6822143"/>
            <a:ext cx="161386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703020202090204" pitchFamily="34" charset="0"/>
              </a:rPr>
              <a:t>...</a:t>
            </a:r>
          </a:p>
        </p:txBody>
      </p:sp>
      <p:sp>
        <p:nvSpPr>
          <p:cNvPr id="573" name="TextBox 572"/>
          <p:cNvSpPr txBox="1"/>
          <p:nvPr/>
        </p:nvSpPr>
        <p:spPr>
          <a:xfrm>
            <a:off x="21224759" y="6822143"/>
            <a:ext cx="292832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703020202090204" pitchFamily="34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Trebuchet MS" panose="020B0703020202090204" pitchFamily="34" charset="0"/>
              </a:rPr>
              <a:t>self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574" name="TextBox 573"/>
          <p:cNvSpPr txBox="1"/>
          <p:nvPr/>
        </p:nvSpPr>
        <p:spPr>
          <a:xfrm>
            <a:off x="21606024" y="6822143"/>
            <a:ext cx="7803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703020202090204" pitchFamily="34" charset="0"/>
              </a:rPr>
              <a:t>.</a:t>
            </a:r>
          </a:p>
        </p:txBody>
      </p:sp>
      <p:sp>
        <p:nvSpPr>
          <p:cNvPr id="575" name="TextBox 574"/>
          <p:cNvSpPr txBox="1"/>
          <p:nvPr/>
        </p:nvSpPr>
        <p:spPr>
          <a:xfrm>
            <a:off x="21798136" y="6822143"/>
            <a:ext cx="724040" cy="230832"/>
          </a:xfrm>
          <a:prstGeom prst="rect">
            <a:avLst/>
          </a:prstGeom>
          <a:solidFill>
            <a:srgbClr val="FF0000"/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 err="1">
                <a:solidFill>
                  <a:srgbClr val="3B3B3B"/>
                </a:solidFill>
                <a:latin typeface="Trebuchet MS" panose="020B0703020202090204" pitchFamily="34" charset="0"/>
              </a:rPr>
              <a:t>max_col_size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128" name="TextBox 127"/>
          <p:cNvSpPr txBox="1"/>
          <p:nvPr/>
        </p:nvSpPr>
        <p:spPr>
          <a:xfrm>
            <a:off x="22636257" y="6822143"/>
            <a:ext cx="7803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703020202090204" pitchFamily="34" charset="0"/>
              </a:rPr>
              <a:t>[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22776271" y="6822143"/>
            <a:ext cx="70014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 err="1">
                <a:solidFill>
                  <a:srgbClr val="001080"/>
                </a:solidFill>
                <a:latin typeface="Trebuchet MS" panose="020B0703020202090204" pitchFamily="34" charset="0"/>
              </a:rPr>
              <a:t>i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130" name="TextBox 129"/>
          <p:cNvSpPr txBox="1"/>
          <p:nvPr/>
        </p:nvSpPr>
        <p:spPr>
          <a:xfrm>
            <a:off x="22921895" y="6822143"/>
            <a:ext cx="11970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703020202090204" pitchFamily="34" charset="0"/>
              </a:rPr>
              <a:t>]: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23109552" y="6822143"/>
            <a:ext cx="161386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altLang="zh-CN" sz="900" dirty="0">
                <a:latin typeface="Trebuchet MS" panose="020B0703020202090204" pitchFamily="34" charset="0"/>
              </a:rPr>
              <a:t>...</a:t>
            </a:r>
            <a:endParaRPr lang="en-US" sz="900" dirty="0">
              <a:latin typeface="Trebuchet MS" panose="020B0703020202090204" pitchFamily="34" charset="0"/>
            </a:endParaRPr>
          </a:p>
        </p:txBody>
      </p:sp>
      <p:sp>
        <p:nvSpPr>
          <p:cNvPr id="132" name="TextBox 131"/>
          <p:cNvSpPr txBox="1"/>
          <p:nvPr/>
        </p:nvSpPr>
        <p:spPr>
          <a:xfrm>
            <a:off x="19102675" y="6822143"/>
            <a:ext cx="2880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Trebuchet MS" panose="020B0703020202090204" pitchFamily="34" charset="0"/>
              </a:rPr>
              <a:t>⌷⌷⌷⌷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7362296" y="7054433"/>
            <a:ext cx="305656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latin typeface="Trebuchet MS" panose="020B0703020202090204" pitchFamily="34" charset="0"/>
                <a:cs typeface="Consolas" panose="020B0609020204030204" pitchFamily="49" charset="0"/>
              </a:rPr>
              <a:t>p</a:t>
            </a:r>
            <a:endParaRPr lang="en-US" sz="900" dirty="0">
              <a:latin typeface="Trebuchet MS" panose="020B0703020202090204" pitchFamily="34" charset="0"/>
              <a:cs typeface="Consolas" panose="020B0609020204030204" pitchFamily="49" charset="0"/>
            </a:endParaRPr>
          </a:p>
        </p:txBody>
      </p:sp>
      <p:sp>
        <p:nvSpPr>
          <p:cNvPr id="135" name="TextBox 134"/>
          <p:cNvSpPr txBox="1"/>
          <p:nvPr/>
        </p:nvSpPr>
        <p:spPr>
          <a:xfrm>
            <a:off x="17843243" y="7054433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chemeClr val="tx1"/>
                </a:solidFill>
                <a:latin typeface="Trebuchet MS" panose="020B0703020202090204" pitchFamily="34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7702958" y="7054433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chemeClr val="tx1"/>
                </a:solidFill>
                <a:latin typeface="Trebuchet MS" panose="020B0703020202090204" pitchFamily="34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8886893" y="7054433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Trebuchet MS" panose="020B0703020202090204" pitchFamily="34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18190317" y="7054433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chemeClr val="tx1"/>
                </a:solidFill>
                <a:latin typeface="Trebuchet MS" panose="020B0703020202090204" pitchFamily="34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8330602" y="7054433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Trebuchet MS" panose="020B0703020202090204" pitchFamily="34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8677675" y="7054433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chemeClr val="tx1"/>
                </a:solidFill>
                <a:latin typeface="Trebuchet MS" panose="020B0703020202090204" pitchFamily="34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9431306" y="7054433"/>
            <a:ext cx="243139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Trebuchet MS" panose="020B0703020202090204" pitchFamily="34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9688214" y="7054433"/>
            <a:ext cx="243139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Trebuchet MS" panose="020B0703020202090204" pitchFamily="34" charset="0"/>
                <a:cs typeface="Consolas" panose="020B0609020204030204" pitchFamily="49" charset="0"/>
              </a:rPr>
              <a:t>...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9932448" y="7054433"/>
            <a:ext cx="243139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Trebuchet MS" panose="020B0703020202090204" pitchFamily="34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20215200" y="7054433"/>
            <a:ext cx="71923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latin typeface="Trebuchet MS" panose="020B0703020202090204" pitchFamily="34" charset="0"/>
                <a:cs typeface="Consolas" panose="020B0609020204030204" pitchFamily="49" charset="0"/>
              </a:rPr>
              <a:t>p</a:t>
            </a:r>
            <a:endParaRPr lang="en-US" sz="900" dirty="0">
              <a:latin typeface="Trebuchet MS" panose="020B0703020202090204" pitchFamily="34" charset="0"/>
              <a:cs typeface="Consolas" panose="020B0609020204030204" pitchFamily="49" charset="0"/>
            </a:endParaRPr>
          </a:p>
        </p:txBody>
      </p:sp>
      <p:sp>
        <p:nvSpPr>
          <p:cNvPr id="147" name="TextBox 146"/>
          <p:cNvSpPr txBox="1"/>
          <p:nvPr/>
        </p:nvSpPr>
        <p:spPr>
          <a:xfrm>
            <a:off x="20942746" y="7054433"/>
            <a:ext cx="243139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Trebuchet MS" panose="020B0703020202090204" pitchFamily="34" charset="0"/>
                <a:cs typeface="Consolas" panose="020B0609020204030204" pitchFamily="49" charset="0"/>
              </a:rPr>
              <a:t>...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181693" y="7054433"/>
            <a:ext cx="38099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Trebuchet MS" panose="020B0703020202090204" pitchFamily="34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1593416" y="7054433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Trebuchet MS" panose="020B0703020202090204" pitchFamily="34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21729422" y="7054433"/>
            <a:ext cx="863502" cy="230832"/>
          </a:xfrm>
          <a:prstGeom prst="rect">
            <a:avLst/>
          </a:prstGeom>
          <a:solidFill>
            <a:srgbClr val="FF0000"/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Trebuchet MS" panose="020B0703020202090204" pitchFamily="34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2623649" y="7054433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Trebuchet MS" panose="020B0703020202090204" pitchFamily="34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2759655" y="7054433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Trebuchet MS" panose="020B0703020202090204" pitchFamily="34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22895661" y="7054433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Trebuchet MS" panose="020B0703020202090204" pitchFamily="34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23069693" y="7054433"/>
            <a:ext cx="243139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altLang="zh-CN" sz="900" dirty="0">
                <a:latin typeface="Trebuchet MS" panose="020B0703020202090204" pitchFamily="34" charset="0"/>
                <a:cs typeface="Consolas" panose="020B0609020204030204" pitchFamily="49" charset="0"/>
              </a:rPr>
              <a:t>...</a:t>
            </a:r>
            <a:endParaRPr lang="en-US" sz="900" dirty="0">
              <a:latin typeface="Trebuchet MS" panose="020B0703020202090204" pitchFamily="34" charset="0"/>
              <a:cs typeface="Consolas" panose="020B0609020204030204" pitchFamily="49" charset="0"/>
            </a:endParaRPr>
          </a:p>
        </p:txBody>
      </p:sp>
      <p:sp>
        <p:nvSpPr>
          <p:cNvPr id="155" name="TextBox 154"/>
          <p:cNvSpPr txBox="1"/>
          <p:nvPr/>
        </p:nvSpPr>
        <p:spPr>
          <a:xfrm>
            <a:off x="19103692" y="7054433"/>
            <a:ext cx="2880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latin typeface="Trebuchet MS" panose="020B0703020202090204" pitchFamily="34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20187144" y="8696209"/>
            <a:ext cx="149393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latin typeface="Trebuchet MS" panose="020B0703020202090204" pitchFamily="34" charset="0"/>
              </a:rPr>
              <a:t>Pruned Tokens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7900397" y="8202566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ot"/>
          </a:ln>
        </p:spPr>
        <p:txBody>
          <a:bodyPr wrap="none" lIns="18000" rIns="18000" rtlCol="0" anchor="ctr">
            <a:no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endParaRPr lang="en-US" sz="900" dirty="0">
              <a:solidFill>
                <a:schemeClr val="bg1"/>
              </a:solidFill>
              <a:latin typeface="Trebuchet MS" panose="020B0703020202090204" pitchFamily="34" charset="0"/>
            </a:endParaRPr>
          </a:p>
        </p:txBody>
      </p:sp>
      <p:sp>
        <p:nvSpPr>
          <p:cNvPr id="158" name="TextBox 157"/>
          <p:cNvSpPr txBox="1"/>
          <p:nvPr/>
        </p:nvSpPr>
        <p:spPr>
          <a:xfrm>
            <a:off x="18944047" y="8202566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ot"/>
          </a:ln>
        </p:spPr>
        <p:txBody>
          <a:bodyPr wrap="none" lIns="18000" rIns="18000" rtlCol="0" anchor="ctr">
            <a:noAutofit/>
          </a:bodyPr>
          <a:lstStyle/>
          <a:p>
            <a:pPr algn="ctr"/>
            <a:endParaRPr lang="en-US" sz="900" dirty="0">
              <a:solidFill>
                <a:schemeClr val="bg1"/>
              </a:solidFill>
              <a:latin typeface="Trebuchet MS" panose="020B0703020202090204" pitchFamily="34" charset="0"/>
            </a:endParaRPr>
          </a:p>
        </p:txBody>
      </p:sp>
      <p:sp>
        <p:nvSpPr>
          <p:cNvPr id="159" name="TextBox 158"/>
          <p:cNvSpPr txBox="1"/>
          <p:nvPr/>
        </p:nvSpPr>
        <p:spPr>
          <a:xfrm>
            <a:off x="18734829" y="8202566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ot"/>
          </a:ln>
        </p:spPr>
        <p:txBody>
          <a:bodyPr wrap="none" lIns="18000" rIns="18000" rtlCol="0" anchor="ctr">
            <a:no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endParaRPr lang="en-US" sz="900" dirty="0">
              <a:solidFill>
                <a:schemeClr val="bg1"/>
              </a:solidFill>
              <a:latin typeface="Trebuchet MS" panose="020B0703020202090204" pitchFamily="34" charset="0"/>
            </a:endParaRPr>
          </a:p>
        </p:txBody>
      </p:sp>
      <p:sp>
        <p:nvSpPr>
          <p:cNvPr id="160" name="TextBox 159"/>
          <p:cNvSpPr txBox="1"/>
          <p:nvPr/>
        </p:nvSpPr>
        <p:spPr>
          <a:xfrm>
            <a:off x="19989602" y="8202566"/>
            <a:ext cx="243139" cy="230832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ot"/>
          </a:ln>
        </p:spPr>
        <p:txBody>
          <a:bodyPr wrap="none" lIns="18000" rIns="18000" rtlCol="0" anchor="ctr">
            <a:noAutofit/>
          </a:bodyPr>
          <a:lstStyle/>
          <a:p>
            <a:pPr algn="ctr"/>
            <a:endParaRPr lang="en-US" sz="900" dirty="0">
              <a:solidFill>
                <a:schemeClr val="bg1"/>
              </a:solidFill>
              <a:latin typeface="Trebuchet MS" panose="020B0703020202090204" pitchFamily="34" charset="0"/>
            </a:endParaRPr>
          </a:p>
        </p:txBody>
      </p:sp>
      <p:sp>
        <p:nvSpPr>
          <p:cNvPr id="161" name="TextBox 160"/>
          <p:cNvSpPr txBox="1"/>
          <p:nvPr/>
        </p:nvSpPr>
        <p:spPr>
          <a:xfrm>
            <a:off x="22952815" y="8202566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ot"/>
          </a:ln>
        </p:spPr>
        <p:txBody>
          <a:bodyPr wrap="none" lIns="18000" rIns="18000" rtlCol="0" anchor="ctr">
            <a:noAutofit/>
          </a:bodyPr>
          <a:lstStyle/>
          <a:p>
            <a:pPr algn="ctr"/>
            <a:endParaRPr lang="en-US" sz="900" dirty="0">
              <a:solidFill>
                <a:schemeClr val="bg1"/>
              </a:solidFill>
              <a:latin typeface="Trebuchet MS" panose="020B0703020202090204" pitchFamily="34" charset="0"/>
            </a:endParaRPr>
          </a:p>
        </p:txBody>
      </p:sp>
      <p:sp>
        <p:nvSpPr>
          <p:cNvPr id="162" name="TextBox 161"/>
          <p:cNvSpPr txBox="1"/>
          <p:nvPr/>
        </p:nvSpPr>
        <p:spPr>
          <a:xfrm>
            <a:off x="19160846" y="8202566"/>
            <a:ext cx="288000" cy="230400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ot"/>
          </a:ln>
        </p:spPr>
        <p:txBody>
          <a:bodyPr wrap="none" lIns="18000" rIns="18000" rtlCol="0" anchor="ctr">
            <a:noAutofit/>
          </a:bodyPr>
          <a:lstStyle/>
          <a:p>
            <a:pPr algn="ctr"/>
            <a:endParaRPr lang="en-US" sz="800" dirty="0">
              <a:solidFill>
                <a:schemeClr val="bg1"/>
              </a:solidFill>
              <a:latin typeface="Trebuchet MS" panose="020B0703020202090204" pitchFamily="34" charset="0"/>
            </a:endParaRPr>
          </a:p>
        </p:txBody>
      </p:sp>
      <p:cxnSp>
        <p:nvCxnSpPr>
          <p:cNvPr id="164" name="Straight Arrow Connector 163"/>
          <p:cNvCxnSpPr>
            <a:stCxn id="157" idx="2"/>
            <a:endCxn id="514" idx="0"/>
          </p:cNvCxnSpPr>
          <p:nvPr/>
        </p:nvCxnSpPr>
        <p:spPr>
          <a:xfrm flipH="1">
            <a:off x="18055516" y="8433398"/>
            <a:ext cx="915" cy="327684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5" name="Straight Arrow Connector 164"/>
          <p:cNvCxnSpPr>
            <a:stCxn id="159" idx="2"/>
            <a:endCxn id="527" idx="0"/>
          </p:cNvCxnSpPr>
          <p:nvPr/>
        </p:nvCxnSpPr>
        <p:spPr>
          <a:xfrm flipH="1">
            <a:off x="18821019" y="8433398"/>
            <a:ext cx="915" cy="327684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8" name="Straight Arrow Connector 167"/>
          <p:cNvCxnSpPr>
            <a:stCxn id="158" idx="2"/>
            <a:endCxn id="524" idx="0"/>
          </p:cNvCxnSpPr>
          <p:nvPr/>
        </p:nvCxnSpPr>
        <p:spPr>
          <a:xfrm flipH="1">
            <a:off x="19030237" y="8433398"/>
            <a:ext cx="915" cy="327684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1" name="Straight Arrow Connector 170"/>
          <p:cNvCxnSpPr>
            <a:stCxn id="162" idx="2"/>
            <a:endCxn id="559" idx="0"/>
          </p:cNvCxnSpPr>
          <p:nvPr/>
        </p:nvCxnSpPr>
        <p:spPr>
          <a:xfrm flipH="1">
            <a:off x="19303931" y="8432966"/>
            <a:ext cx="915" cy="328116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4" name="Straight Arrow Connector 173"/>
          <p:cNvCxnSpPr>
            <a:stCxn id="160" idx="2"/>
            <a:endCxn id="544" idx="0"/>
          </p:cNvCxnSpPr>
          <p:nvPr/>
        </p:nvCxnSpPr>
        <p:spPr>
          <a:xfrm flipH="1">
            <a:off x="20110256" y="8433398"/>
            <a:ext cx="916" cy="327684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7" name="Straight Arrow Connector 176"/>
          <p:cNvCxnSpPr>
            <a:stCxn id="161" idx="2"/>
            <a:endCxn id="556" idx="0"/>
          </p:cNvCxnSpPr>
          <p:nvPr/>
        </p:nvCxnSpPr>
        <p:spPr>
          <a:xfrm flipH="1">
            <a:off x="23039005" y="8433398"/>
            <a:ext cx="915" cy="327684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2" name="Straight Connector 181"/>
          <p:cNvCxnSpPr/>
          <p:nvPr/>
        </p:nvCxnSpPr>
        <p:spPr>
          <a:xfrm>
            <a:off x="24617800" y="6789328"/>
            <a:ext cx="4176000" cy="0"/>
          </a:xfrm>
          <a:prstGeom prst="line">
            <a:avLst/>
          </a:prstGeom>
          <a:ln w="19050">
            <a:solidFill>
              <a:schemeClr val="tx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3" name="Straight Connector 182"/>
          <p:cNvCxnSpPr/>
          <p:nvPr/>
        </p:nvCxnSpPr>
        <p:spPr>
          <a:xfrm flipV="1">
            <a:off x="24617804" y="4923959"/>
            <a:ext cx="0" cy="1865369"/>
          </a:xfrm>
          <a:prstGeom prst="line">
            <a:avLst/>
          </a:prstGeom>
          <a:ln w="19050">
            <a:solidFill>
              <a:schemeClr val="tx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5" name="TextBox 184"/>
          <p:cNvSpPr txBox="1"/>
          <p:nvPr/>
        </p:nvSpPr>
        <p:spPr>
          <a:xfrm>
            <a:off x="26629684" y="6845629"/>
            <a:ext cx="288024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latin typeface="Trebuchet MS" panose="020B0703020202090204" pitchFamily="34" charset="0"/>
              </a:rPr>
              <a:t>⌷</a:t>
            </a:r>
            <a:r>
              <a:rPr lang="en-US" sz="900" dirty="0">
                <a:latin typeface="Trebuchet MS" panose="020B0703020202090204" pitchFamily="34" charset="0"/>
              </a:rPr>
              <a:t>add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26256369" y="6845629"/>
            <a:ext cx="78030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chemeClr val="tx1"/>
                </a:solidFill>
                <a:latin typeface="Trebuchet MS" panose="020B0703020202090204" pitchFamily="34" charset="0"/>
              </a:rPr>
              <a:t>(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25620253" y="6845629"/>
            <a:ext cx="78030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chemeClr val="tx1"/>
                </a:solidFill>
                <a:latin typeface="Trebuchet MS" panose="020B0703020202090204" pitchFamily="34" charset="0"/>
              </a:rPr>
              <a:t>,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26941376" y="6845629"/>
            <a:ext cx="312068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latin typeface="Trebuchet MS" panose="020B0703020202090204" pitchFamily="34" charset="0"/>
              </a:rPr>
              <a:t>⌷row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26390929" y="6845629"/>
            <a:ext cx="187034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latin typeface="Trebuchet MS" panose="020B0703020202090204" pitchFamily="34" charset="0"/>
              </a:rPr>
              <a:t>for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24782067" y="6845629"/>
            <a:ext cx="659920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latin typeface="Trebuchet MS" panose="020B0703020202090204" pitchFamily="34" charset="0"/>
              </a:rPr>
              <a:t>⌷</a:t>
            </a:r>
            <a:r>
              <a:rPr lang="en-US" sz="900" dirty="0">
                <a:latin typeface="Trebuchet MS" panose="020B0703020202090204" pitchFamily="34" charset="0"/>
              </a:rPr>
              <a:t>enumerate</a:t>
            </a:r>
          </a:p>
        </p:txBody>
      </p:sp>
      <p:sp>
        <p:nvSpPr>
          <p:cNvPr id="577" name="TextBox 576"/>
          <p:cNvSpPr txBox="1"/>
          <p:nvPr/>
        </p:nvSpPr>
        <p:spPr>
          <a:xfrm>
            <a:off x="25890977" y="6845629"/>
            <a:ext cx="292832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latin typeface="Trebuchet MS" panose="020B0703020202090204" pitchFamily="34" charset="0"/>
              </a:rPr>
              <a:t>⌷self</a:t>
            </a:r>
          </a:p>
        </p:txBody>
      </p:sp>
      <p:sp>
        <p:nvSpPr>
          <p:cNvPr id="579" name="TextBox 578"/>
          <p:cNvSpPr txBox="1"/>
          <p:nvPr/>
        </p:nvSpPr>
        <p:spPr>
          <a:xfrm>
            <a:off x="27338026" y="6845629"/>
            <a:ext cx="724040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 err="1">
                <a:latin typeface="Trebuchet MS" panose="020B0703020202090204" pitchFamily="34" charset="0"/>
              </a:rPr>
              <a:t>max_col_size</a:t>
            </a:r>
            <a:endParaRPr lang="en-US" sz="900" dirty="0">
              <a:latin typeface="Trebuchet MS" panose="020B0703020202090204" pitchFamily="34" charset="0"/>
            </a:endParaRPr>
          </a:p>
        </p:txBody>
      </p:sp>
      <p:sp>
        <p:nvSpPr>
          <p:cNvPr id="580" name="TextBox 579"/>
          <p:cNvSpPr txBox="1"/>
          <p:nvPr/>
        </p:nvSpPr>
        <p:spPr>
          <a:xfrm>
            <a:off x="25740386" y="6845629"/>
            <a:ext cx="78030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latin typeface="Trebuchet MS" panose="020B0703020202090204" pitchFamily="34" charset="0"/>
              </a:rPr>
              <a:t>[</a:t>
            </a:r>
          </a:p>
        </p:txBody>
      </p:sp>
      <p:sp>
        <p:nvSpPr>
          <p:cNvPr id="581" name="TextBox 580"/>
          <p:cNvSpPr txBox="1"/>
          <p:nvPr/>
        </p:nvSpPr>
        <p:spPr>
          <a:xfrm>
            <a:off x="25504128" y="6845629"/>
            <a:ext cx="70014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 err="1">
                <a:latin typeface="Trebuchet MS" panose="020B0703020202090204" pitchFamily="34" charset="0"/>
              </a:rPr>
              <a:t>i</a:t>
            </a:r>
            <a:endParaRPr lang="en-US" sz="900" dirty="0">
              <a:latin typeface="Trebuchet MS" panose="020B0703020202090204" pitchFamily="34" charset="0"/>
            </a:endParaRPr>
          </a:p>
        </p:txBody>
      </p:sp>
      <p:sp>
        <p:nvSpPr>
          <p:cNvPr id="590" name="Rectangle 589"/>
          <p:cNvSpPr/>
          <p:nvPr/>
        </p:nvSpPr>
        <p:spPr>
          <a:xfrm>
            <a:off x="24854814" y="5043329"/>
            <a:ext cx="108000" cy="174599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>
              <a:latin typeface="Trebuchet MS" panose="020B0703020202090204" pitchFamily="34" charset="0"/>
            </a:endParaRPr>
          </a:p>
        </p:txBody>
      </p:sp>
      <p:sp>
        <p:nvSpPr>
          <p:cNvPr id="591" name="Rectangle 590"/>
          <p:cNvSpPr/>
          <p:nvPr/>
        </p:nvSpPr>
        <p:spPr>
          <a:xfrm>
            <a:off x="25590502" y="5259328"/>
            <a:ext cx="108000" cy="1530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>
              <a:latin typeface="Trebuchet MS" panose="020B0703020202090204" pitchFamily="34" charset="0"/>
            </a:endParaRPr>
          </a:p>
        </p:txBody>
      </p:sp>
      <p:sp>
        <p:nvSpPr>
          <p:cNvPr id="592" name="Rectangle 591"/>
          <p:cNvSpPr/>
          <p:nvPr/>
        </p:nvSpPr>
        <p:spPr>
          <a:xfrm>
            <a:off x="26443282" y="6555328"/>
            <a:ext cx="108000" cy="23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>
              <a:latin typeface="Trebuchet MS" panose="020B0703020202090204" pitchFamily="34" charset="0"/>
            </a:endParaRPr>
          </a:p>
        </p:txBody>
      </p:sp>
      <p:sp>
        <p:nvSpPr>
          <p:cNvPr id="595" name="Rectangle 594"/>
          <p:cNvSpPr/>
          <p:nvPr/>
        </p:nvSpPr>
        <p:spPr>
          <a:xfrm>
            <a:off x="25200498" y="5205328"/>
            <a:ext cx="108000" cy="158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>
              <a:latin typeface="Trebuchet MS" panose="020B0703020202090204" pitchFamily="34" charset="0"/>
            </a:endParaRPr>
          </a:p>
        </p:txBody>
      </p:sp>
      <p:sp>
        <p:nvSpPr>
          <p:cNvPr id="596" name="Rectangle 595"/>
          <p:cNvSpPr/>
          <p:nvPr/>
        </p:nvSpPr>
        <p:spPr>
          <a:xfrm>
            <a:off x="25360332" y="5223329"/>
            <a:ext cx="108000" cy="156599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>
              <a:latin typeface="Trebuchet MS" panose="020B0703020202090204" pitchFamily="34" charset="0"/>
            </a:endParaRPr>
          </a:p>
        </p:txBody>
      </p:sp>
      <p:sp>
        <p:nvSpPr>
          <p:cNvPr id="597" name="Rectangle 596"/>
          <p:cNvSpPr/>
          <p:nvPr/>
        </p:nvSpPr>
        <p:spPr>
          <a:xfrm>
            <a:off x="25913884" y="5475328"/>
            <a:ext cx="108000" cy="131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>
              <a:latin typeface="Trebuchet MS" panose="020B0703020202090204" pitchFamily="34" charset="0"/>
            </a:endParaRPr>
          </a:p>
        </p:txBody>
      </p:sp>
      <p:sp>
        <p:nvSpPr>
          <p:cNvPr id="598" name="Rectangle 597"/>
          <p:cNvSpPr/>
          <p:nvPr/>
        </p:nvSpPr>
        <p:spPr>
          <a:xfrm>
            <a:off x="26999149" y="6573328"/>
            <a:ext cx="108000" cy="216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>
              <a:latin typeface="Trebuchet MS" panose="020B0703020202090204" pitchFamily="34" charset="0"/>
            </a:endParaRPr>
          </a:p>
        </p:txBody>
      </p:sp>
      <p:sp>
        <p:nvSpPr>
          <p:cNvPr id="600" name="Rectangle 599"/>
          <p:cNvSpPr/>
          <p:nvPr/>
        </p:nvSpPr>
        <p:spPr>
          <a:xfrm>
            <a:off x="27746554" y="4923959"/>
            <a:ext cx="108000" cy="186536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>
              <a:latin typeface="Trebuchet MS" panose="020B0703020202090204" pitchFamily="34" charset="0"/>
            </a:endParaRPr>
          </a:p>
        </p:txBody>
      </p:sp>
      <p:cxnSp>
        <p:nvCxnSpPr>
          <p:cNvPr id="630" name="Elbow Connector 629"/>
          <p:cNvCxnSpPr>
            <a:stCxn id="4" idx="3"/>
            <a:endCxn id="642" idx="1"/>
          </p:cNvCxnSpPr>
          <p:nvPr/>
        </p:nvCxnSpPr>
        <p:spPr>
          <a:xfrm>
            <a:off x="10844683" y="4476603"/>
            <a:ext cx="1095684" cy="2508547"/>
          </a:xfrm>
          <a:prstGeom prst="bentConnector3">
            <a:avLst>
              <a:gd name="adj1" fmla="val 50000"/>
            </a:avLst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7" name="TextBox 556"/>
          <p:cNvSpPr txBox="1"/>
          <p:nvPr/>
        </p:nvSpPr>
        <p:spPr>
          <a:xfrm>
            <a:off x="14035531" y="6148904"/>
            <a:ext cx="1475999" cy="369332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en-US" dirty="0">
                <a:latin typeface="Trebuchet MS" panose="020B0703020202090204" pitchFamily="34" charset="0"/>
              </a:rPr>
              <a:t>Tokenizing</a:t>
            </a:r>
          </a:p>
        </p:txBody>
      </p:sp>
      <p:sp>
        <p:nvSpPr>
          <p:cNvPr id="663" name="TextBox 662"/>
          <p:cNvSpPr txBox="1"/>
          <p:nvPr/>
        </p:nvSpPr>
        <p:spPr>
          <a:xfrm>
            <a:off x="12709210" y="5713212"/>
            <a:ext cx="2640961" cy="369332"/>
          </a:xfrm>
          <a:prstGeom prst="rect">
            <a:avLst/>
          </a:prstGeom>
          <a:solidFill>
            <a:srgbClr val="7030A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  <a:latin typeface="Trebuchet MS" panose="020B0703020202090204" pitchFamily="34" charset="0"/>
              </a:rPr>
              <a:t>Copyright</a:t>
            </a:r>
            <a:r>
              <a:rPr lang="en-US" altLang="zh-CN" dirty="0">
                <a:solidFill>
                  <a:schemeClr val="bg1"/>
                </a:solidFill>
                <a:latin typeface="Trebuchet MS" panose="020B0703020202090204" pitchFamily="34" charset="0"/>
              </a:rPr>
              <a:t>-Owned </a:t>
            </a:r>
            <a:r>
              <a:rPr lang="en-US" dirty="0">
                <a:solidFill>
                  <a:schemeClr val="bg1"/>
                </a:solidFill>
                <a:latin typeface="Trebuchet MS" panose="020B0703020202090204" pitchFamily="34" charset="0"/>
              </a:rPr>
              <a:t>Code</a:t>
            </a:r>
          </a:p>
        </p:txBody>
      </p:sp>
      <p:sp>
        <p:nvSpPr>
          <p:cNvPr id="664" name="TextBox 663"/>
          <p:cNvSpPr txBox="1"/>
          <p:nvPr/>
        </p:nvSpPr>
        <p:spPr>
          <a:xfrm>
            <a:off x="14115075" y="7642101"/>
            <a:ext cx="21534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Trebuchet MS" panose="020B0703020202090204" pitchFamily="34" charset="0"/>
              </a:rPr>
              <a:t>Resuming variables</a:t>
            </a:r>
          </a:p>
        </p:txBody>
      </p:sp>
      <p:cxnSp>
        <p:nvCxnSpPr>
          <p:cNvPr id="665" name="Straight Arrow Connector 664"/>
          <p:cNvCxnSpPr/>
          <p:nvPr/>
        </p:nvCxnSpPr>
        <p:spPr>
          <a:xfrm flipH="1">
            <a:off x="14056321" y="6109794"/>
            <a:ext cx="0" cy="503999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9" name="TextBox 688"/>
          <p:cNvSpPr txBox="1"/>
          <p:nvPr/>
        </p:nvSpPr>
        <p:spPr>
          <a:xfrm>
            <a:off x="19183039" y="9682164"/>
            <a:ext cx="216918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Trebuchet MS" panose="020B0703020202090204" pitchFamily="34" charset="0"/>
              </a:rPr>
              <a:t>Our Solution</a:t>
            </a:r>
          </a:p>
        </p:txBody>
      </p:sp>
      <p:cxnSp>
        <p:nvCxnSpPr>
          <p:cNvPr id="693" name="Straight Arrow Connector 692"/>
          <p:cNvCxnSpPr/>
          <p:nvPr/>
        </p:nvCxnSpPr>
        <p:spPr>
          <a:xfrm flipV="1">
            <a:off x="23748344" y="7062971"/>
            <a:ext cx="427136" cy="1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5" name="Elbow Connector 724"/>
          <p:cNvCxnSpPr>
            <a:stCxn id="9" idx="0"/>
            <a:endCxn id="728" idx="0"/>
          </p:cNvCxnSpPr>
          <p:nvPr/>
        </p:nvCxnSpPr>
        <p:spPr>
          <a:xfrm rot="5400000" flipH="1" flipV="1">
            <a:off x="8788681" y="-1538303"/>
            <a:ext cx="194145" cy="10459330"/>
          </a:xfrm>
          <a:prstGeom prst="bentConnector3">
            <a:avLst>
              <a:gd name="adj1" fmla="val 217747"/>
            </a:avLst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8" name="Rounded Rectangle 727"/>
          <p:cNvSpPr/>
          <p:nvPr/>
        </p:nvSpPr>
        <p:spPr>
          <a:xfrm>
            <a:off x="11927185" y="3594289"/>
            <a:ext cx="4376466" cy="747855"/>
          </a:xfrm>
          <a:prstGeom prst="roundRect">
            <a:avLst>
              <a:gd name="adj" fmla="val 15542"/>
            </a:avLst>
          </a:prstGeom>
          <a:solidFill>
            <a:schemeClr val="accent4">
              <a:lumMod val="60000"/>
              <a:lumOff val="40000"/>
              <a:alpha val="69000"/>
            </a:schemeClr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Trebuchet MS" panose="020B0703020202090204" pitchFamily="34" charset="0"/>
              </a:rPr>
              <a:t>Tokens with High Likelihood</a:t>
            </a:r>
          </a:p>
        </p:txBody>
      </p:sp>
      <p:cxnSp>
        <p:nvCxnSpPr>
          <p:cNvPr id="750" name="Straight Arrow Connector 749"/>
          <p:cNvCxnSpPr/>
          <p:nvPr/>
        </p:nvCxnSpPr>
        <p:spPr>
          <a:xfrm flipH="1">
            <a:off x="20167529" y="6598541"/>
            <a:ext cx="915" cy="18000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2" name="Rounded Rectangle 751"/>
          <p:cNvSpPr/>
          <p:nvPr/>
        </p:nvSpPr>
        <p:spPr>
          <a:xfrm>
            <a:off x="18055136" y="3557879"/>
            <a:ext cx="4545534" cy="487630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i="1" dirty="0">
                <a:solidFill>
                  <a:schemeClr val="bg1"/>
                </a:solidFill>
                <a:latin typeface="Trebuchet MS" panose="020B0703020202090204" pitchFamily="34" charset="0"/>
              </a:rPr>
              <a:t>Syntax-bonding Probability Pruning</a:t>
            </a:r>
          </a:p>
        </p:txBody>
      </p:sp>
      <p:cxnSp>
        <p:nvCxnSpPr>
          <p:cNvPr id="754" name="Straight Arrow Connector 753"/>
          <p:cNvCxnSpPr/>
          <p:nvPr/>
        </p:nvCxnSpPr>
        <p:spPr>
          <a:xfrm>
            <a:off x="16295965" y="3971263"/>
            <a:ext cx="450000" cy="0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6" name="Right Brace 755"/>
          <p:cNvSpPr/>
          <p:nvPr/>
        </p:nvSpPr>
        <p:spPr>
          <a:xfrm rot="5400000">
            <a:off x="20127461" y="1264077"/>
            <a:ext cx="322265" cy="16473610"/>
          </a:xfrm>
          <a:prstGeom prst="rightBrace">
            <a:avLst>
              <a:gd name="adj1" fmla="val 25000"/>
              <a:gd name="adj2" fmla="val 50000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>
              <a:latin typeface="Trebuchet MS" panose="020B0703020202090204" pitchFamily="34" charset="0"/>
            </a:endParaRPr>
          </a:p>
        </p:txBody>
      </p:sp>
      <p:sp>
        <p:nvSpPr>
          <p:cNvPr id="758" name="Rounded Rectangle 757"/>
          <p:cNvSpPr/>
          <p:nvPr/>
        </p:nvSpPr>
        <p:spPr>
          <a:xfrm>
            <a:off x="12612375" y="4719918"/>
            <a:ext cx="2955029" cy="487630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i="1" dirty="0">
                <a:solidFill>
                  <a:schemeClr val="bg1"/>
                </a:solidFill>
                <a:latin typeface="Trebuchet MS" panose="020B0703020202090204" pitchFamily="34" charset="0"/>
              </a:rPr>
              <a:t>Variable</a:t>
            </a:r>
            <a:r>
              <a:rPr lang="zh-CN" altLang="en-US" sz="2000" i="1" dirty="0">
                <a:solidFill>
                  <a:schemeClr val="bg1"/>
                </a:solidFill>
                <a:latin typeface="Trebuchet MS" panose="020B0703020202090204" pitchFamily="34" charset="0"/>
              </a:rPr>
              <a:t> </a:t>
            </a:r>
            <a:r>
              <a:rPr lang="en-US" altLang="zh-CN" sz="2000" i="1" dirty="0">
                <a:solidFill>
                  <a:schemeClr val="bg1"/>
                </a:solidFill>
                <a:latin typeface="Trebuchet MS" panose="020B0703020202090204" pitchFamily="34" charset="0"/>
              </a:rPr>
              <a:t>Resumption</a:t>
            </a:r>
            <a:endParaRPr lang="en-US" sz="2000" i="1" dirty="0">
              <a:solidFill>
                <a:schemeClr val="bg1"/>
              </a:solidFill>
              <a:latin typeface="Trebuchet MS" panose="020B0703020202090204" pitchFamily="34" charset="0"/>
            </a:endParaRPr>
          </a:p>
        </p:txBody>
      </p:sp>
      <p:sp>
        <p:nvSpPr>
          <p:cNvPr id="759" name="TextBox 758"/>
          <p:cNvSpPr txBox="1"/>
          <p:nvPr/>
        </p:nvSpPr>
        <p:spPr>
          <a:xfrm>
            <a:off x="14903651" y="6663496"/>
            <a:ext cx="153886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Trebuchet MS" panose="020B0703020202090204" pitchFamily="34" charset="0"/>
              </a:rPr>
              <a:t>Code Tokens</a:t>
            </a:r>
          </a:p>
        </p:txBody>
      </p:sp>
      <p:sp>
        <p:nvSpPr>
          <p:cNvPr id="760" name="Rounded Rectangle 759"/>
          <p:cNvSpPr/>
          <p:nvPr/>
        </p:nvSpPr>
        <p:spPr>
          <a:xfrm>
            <a:off x="12015660" y="6641692"/>
            <a:ext cx="4248000" cy="902674"/>
          </a:xfrm>
          <a:prstGeom prst="roundRect">
            <a:avLst>
              <a:gd name="adj" fmla="val 2712"/>
            </a:avLst>
          </a:prstGeom>
          <a:solidFill>
            <a:srgbClr val="7030A0">
              <a:alpha val="14000"/>
            </a:srgbClr>
          </a:solidFill>
          <a:ln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rebuchet MS" panose="020B0703020202090204" pitchFamily="34" charset="0"/>
            </a:endParaRPr>
          </a:p>
        </p:txBody>
      </p:sp>
      <p:sp>
        <p:nvSpPr>
          <p:cNvPr id="761" name="TextBox 760"/>
          <p:cNvSpPr txBox="1"/>
          <p:nvPr/>
        </p:nvSpPr>
        <p:spPr>
          <a:xfrm>
            <a:off x="17306728" y="6493142"/>
            <a:ext cx="221318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Trebuchet MS" panose="020B0703020202090204" pitchFamily="34" charset="0"/>
              </a:rPr>
              <a:t>Token</a:t>
            </a:r>
            <a:r>
              <a:rPr lang="zh-CN" altLang="en-US" sz="1600" dirty="0">
                <a:latin typeface="Trebuchet MS" panose="020B0703020202090204" pitchFamily="34" charset="0"/>
              </a:rPr>
              <a:t> </a:t>
            </a:r>
            <a:r>
              <a:rPr lang="en-US" altLang="zh-CN" sz="1600" dirty="0">
                <a:latin typeface="Trebuchet MS" panose="020B0703020202090204" pitchFamily="34" charset="0"/>
              </a:rPr>
              <a:t>Probabilities</a:t>
            </a:r>
            <a:endParaRPr lang="en-US" sz="1600" dirty="0">
              <a:latin typeface="Trebuchet MS" panose="020B0703020202090204" pitchFamily="34" charset="0"/>
            </a:endParaRPr>
          </a:p>
        </p:txBody>
      </p:sp>
      <p:sp>
        <p:nvSpPr>
          <p:cNvPr id="762" name="TextBox 761"/>
          <p:cNvSpPr txBox="1"/>
          <p:nvPr/>
        </p:nvSpPr>
        <p:spPr>
          <a:xfrm>
            <a:off x="24548548" y="4442765"/>
            <a:ext cx="35524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rebuchet MS" panose="020B0703020202090204" pitchFamily="34" charset="0"/>
              </a:rPr>
              <a:t>Ranked</a:t>
            </a:r>
            <a:r>
              <a:rPr lang="zh-CN" altLang="en-US" dirty="0">
                <a:latin typeface="Trebuchet MS" panose="020B0703020202090204" pitchFamily="34" charset="0"/>
              </a:rPr>
              <a:t> </a:t>
            </a:r>
            <a:r>
              <a:rPr lang="en-US" altLang="zh-CN" dirty="0">
                <a:latin typeface="Trebuchet MS" panose="020B0703020202090204" pitchFamily="34" charset="0"/>
              </a:rPr>
              <a:t>Token Probabilities</a:t>
            </a:r>
            <a:endParaRPr lang="en-US" dirty="0">
              <a:latin typeface="Trebuchet MS" panose="020B0703020202090204" pitchFamily="34" charset="0"/>
            </a:endParaRPr>
          </a:p>
        </p:txBody>
      </p:sp>
      <p:sp>
        <p:nvSpPr>
          <p:cNvPr id="765" name="TextBox 764"/>
          <p:cNvSpPr txBox="1"/>
          <p:nvPr/>
        </p:nvSpPr>
        <p:spPr>
          <a:xfrm>
            <a:off x="21663280" y="8761082"/>
            <a:ext cx="78030" cy="2308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703020202090204" pitchFamily="34" charset="0"/>
              </a:rPr>
              <a:t>.</a:t>
            </a:r>
          </a:p>
        </p:txBody>
      </p:sp>
      <p:cxnSp>
        <p:nvCxnSpPr>
          <p:cNvPr id="384" name="Straight Arrow Connector 383"/>
          <p:cNvCxnSpPr>
            <a:stCxn id="550" idx="2"/>
            <a:endCxn id="765" idx="0"/>
          </p:cNvCxnSpPr>
          <p:nvPr/>
        </p:nvCxnSpPr>
        <p:spPr>
          <a:xfrm flipH="1">
            <a:off x="21702295" y="8433398"/>
            <a:ext cx="1" cy="327684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9" name="TextBox 388"/>
          <p:cNvSpPr txBox="1"/>
          <p:nvPr/>
        </p:nvSpPr>
        <p:spPr>
          <a:xfrm rot="16200000">
            <a:off x="24107235" y="4904644"/>
            <a:ext cx="6435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Trebuchet MS" panose="020B0703020202090204" pitchFamily="34" charset="0"/>
              </a:rPr>
              <a:t>Prob</a:t>
            </a:r>
          </a:p>
        </p:txBody>
      </p:sp>
      <p:sp>
        <p:nvSpPr>
          <p:cNvPr id="390" name="Rounded Rectangle 389"/>
          <p:cNvSpPr/>
          <p:nvPr/>
        </p:nvSpPr>
        <p:spPr>
          <a:xfrm>
            <a:off x="24178825" y="3557879"/>
            <a:ext cx="4970244" cy="5691755"/>
          </a:xfrm>
          <a:prstGeom prst="roundRect">
            <a:avLst>
              <a:gd name="adj" fmla="val 2712"/>
            </a:avLst>
          </a:prstGeom>
          <a:solidFill>
            <a:srgbClr val="7030A0">
              <a:alpha val="3000"/>
            </a:srgbClr>
          </a:solidFill>
          <a:ln>
            <a:solidFill>
              <a:srgbClr val="7030A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Trebuchet MS" panose="020B0703020202090204" pitchFamily="34" charset="0"/>
            </a:endParaRPr>
          </a:p>
        </p:txBody>
      </p:sp>
      <p:sp>
        <p:nvSpPr>
          <p:cNvPr id="391" name="TextBox 390"/>
          <p:cNvSpPr txBox="1"/>
          <p:nvPr/>
        </p:nvSpPr>
        <p:spPr>
          <a:xfrm>
            <a:off x="25911283" y="7491067"/>
            <a:ext cx="298612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rebuchet MS" panose="020B0703020202090204" pitchFamily="34" charset="0"/>
              </a:rPr>
              <a:t>Truncating and Averaging Probabilities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4433033" y="3557879"/>
            <a:ext cx="4545534" cy="487630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i="1" dirty="0">
                <a:solidFill>
                  <a:schemeClr val="bg1"/>
                </a:solidFill>
                <a:latin typeface="Trebuchet MS" panose="020B0703020202090204" pitchFamily="34" charset="0"/>
              </a:rPr>
              <a:t>Syntax-bonding Probability Pruning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5760546" y="6169345"/>
            <a:ext cx="1557850" cy="701711"/>
          </a:xfrm>
          <a:prstGeom prst="roundRect">
            <a:avLst>
              <a:gd name="adj" fmla="val 2712"/>
            </a:avLst>
          </a:prstGeom>
          <a:solidFill>
            <a:srgbClr val="7030A0">
              <a:alpha val="14000"/>
            </a:srgbClr>
          </a:solidFill>
          <a:ln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Trebuchet MS" panose="020B0703020202090204" pitchFamily="34" charset="0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21855392" y="8761082"/>
            <a:ext cx="724040" cy="2308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 err="1">
                <a:solidFill>
                  <a:srgbClr val="3B3B3B"/>
                </a:solidFill>
                <a:latin typeface="Trebuchet MS" panose="020B0703020202090204" pitchFamily="34" charset="0"/>
              </a:rPr>
              <a:t>max_col_size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cxnSp>
        <p:nvCxnSpPr>
          <p:cNvPr id="28" name="Straight Arrow Connector 27"/>
          <p:cNvCxnSpPr>
            <a:stCxn id="552" idx="2"/>
            <a:endCxn id="25" idx="0"/>
          </p:cNvCxnSpPr>
          <p:nvPr/>
        </p:nvCxnSpPr>
        <p:spPr>
          <a:xfrm>
            <a:off x="22217412" y="8433398"/>
            <a:ext cx="0" cy="327684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5308305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Rounded Rectangle 99"/>
          <p:cNvSpPr/>
          <p:nvPr/>
        </p:nvSpPr>
        <p:spPr>
          <a:xfrm>
            <a:off x="13312990" y="9033712"/>
            <a:ext cx="5225237" cy="705798"/>
          </a:xfrm>
          <a:prstGeom prst="roundRect">
            <a:avLst>
              <a:gd name="adj" fmla="val 34745"/>
            </a:avLst>
          </a:prstGeom>
          <a:solidFill>
            <a:schemeClr val="bg1">
              <a:lumMod val="95000"/>
            </a:schemeClr>
          </a:solidFill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09938" y="5978703"/>
            <a:ext cx="1302834" cy="130283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37387" y="8710549"/>
            <a:ext cx="180854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Programming Language Syntax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9237" y="6730257"/>
            <a:ext cx="153886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Task Specification</a:t>
            </a:r>
          </a:p>
        </p:txBody>
      </p:sp>
      <p:cxnSp>
        <p:nvCxnSpPr>
          <p:cNvPr id="7" name="Straight Arrow Connector 6"/>
          <p:cNvCxnSpPr/>
          <p:nvPr/>
        </p:nvCxnSpPr>
        <p:spPr>
          <a:xfrm>
            <a:off x="2672531" y="7813144"/>
            <a:ext cx="1819507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4577144" y="7837831"/>
            <a:ext cx="15388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Copyright</a:t>
            </a:r>
            <a:r>
              <a:rPr lang="en-US" altLang="zh-CN" dirty="0"/>
              <a:t>-Protected </a:t>
            </a:r>
            <a:r>
              <a:rPr lang="en-US" dirty="0"/>
              <a:t>Code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99116" y="7654116"/>
            <a:ext cx="1117550" cy="92333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for … in …</a:t>
            </a:r>
          </a:p>
          <a:p>
            <a:r>
              <a:rPr lang="en-US" dirty="0"/>
              <a:t>if …</a:t>
            </a:r>
          </a:p>
          <a:p>
            <a:r>
              <a:rPr lang="en-US" dirty="0"/>
              <a:t>else …</a:t>
            </a:r>
          </a:p>
        </p:txBody>
      </p:sp>
      <p:pic>
        <p:nvPicPr>
          <p:cNvPr id="10" name="Picture 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9884" y="5540246"/>
            <a:ext cx="1016000" cy="10160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2722341" y="7343469"/>
            <a:ext cx="1854803" cy="369332"/>
          </a:xfrm>
          <a:prstGeom prst="rect">
            <a:avLst/>
          </a:prstGeom>
          <a:solidFill>
            <a:schemeClr val="accent1"/>
          </a:solidFill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Developer</a:t>
            </a:r>
            <a:r>
              <a:rPr lang="zh-CN" altLang="en-US" dirty="0">
                <a:solidFill>
                  <a:schemeClr val="bg1"/>
                </a:solidFill>
              </a:rPr>
              <a:t> </a:t>
            </a:r>
            <a:r>
              <a:rPr lang="en-US" dirty="0">
                <a:solidFill>
                  <a:schemeClr val="bg1"/>
                </a:solidFill>
              </a:rPr>
              <a:t>Coding</a:t>
            </a:r>
          </a:p>
        </p:txBody>
      </p:sp>
      <p:cxnSp>
        <p:nvCxnSpPr>
          <p:cNvPr id="13" name="Straight Arrow Connector 12"/>
          <p:cNvCxnSpPr/>
          <p:nvPr/>
        </p:nvCxnSpPr>
        <p:spPr>
          <a:xfrm>
            <a:off x="15864422" y="10507209"/>
            <a:ext cx="0" cy="79200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16193057" y="10554016"/>
            <a:ext cx="3292633" cy="369332"/>
          </a:xfrm>
          <a:prstGeom prst="rect">
            <a:avLst/>
          </a:prstGeom>
          <a:solidFill>
            <a:schemeClr val="accent1"/>
          </a:solidFill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Syntax Knowledge-based Pruning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4193318" y="6861976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0.98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4892171" y="6861976"/>
            <a:ext cx="463826" cy="450574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0.01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5591024" y="6861976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0.08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6289877" y="6861976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0.09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6988730" y="6861976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0.98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7687584" y="6861976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0.78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967409" y="6051642"/>
            <a:ext cx="8844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Tokens: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538091" y="6867811"/>
            <a:ext cx="14120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Probabilities: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2531573" y="11193726"/>
            <a:ext cx="161972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Pruned Probabilities: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4169433" y="11314996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Rectangle 42"/>
          <p:cNvSpPr/>
          <p:nvPr/>
        </p:nvSpPr>
        <p:spPr>
          <a:xfrm>
            <a:off x="14986360" y="11315666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/>
          <p:cNvSpPr/>
          <p:nvPr/>
        </p:nvSpPr>
        <p:spPr>
          <a:xfrm>
            <a:off x="16376294" y="11314996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Rectangle 44"/>
          <p:cNvSpPr/>
          <p:nvPr/>
        </p:nvSpPr>
        <p:spPr>
          <a:xfrm>
            <a:off x="17109390" y="11299209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Rectangle 45"/>
          <p:cNvSpPr/>
          <p:nvPr/>
        </p:nvSpPr>
        <p:spPr>
          <a:xfrm>
            <a:off x="17963148" y="11299209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7" name="Picture 4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73556" y="6080796"/>
            <a:ext cx="950900" cy="950900"/>
          </a:xfrm>
          <a:prstGeom prst="rect">
            <a:avLst/>
          </a:prstGeom>
        </p:spPr>
      </p:pic>
      <p:cxnSp>
        <p:nvCxnSpPr>
          <p:cNvPr id="49" name="Straight Arrow Connector 48"/>
          <p:cNvCxnSpPr/>
          <p:nvPr/>
        </p:nvCxnSpPr>
        <p:spPr>
          <a:xfrm>
            <a:off x="10650317" y="7837831"/>
            <a:ext cx="1663741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Arrow Connector 50"/>
          <p:cNvCxnSpPr/>
          <p:nvPr/>
        </p:nvCxnSpPr>
        <p:spPr>
          <a:xfrm>
            <a:off x="19779920" y="11485090"/>
            <a:ext cx="1647317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19893885" y="10945958"/>
            <a:ext cx="2147832" cy="369332"/>
          </a:xfrm>
          <a:prstGeom prst="rect">
            <a:avLst/>
          </a:prstGeom>
          <a:solidFill>
            <a:schemeClr val="accent1"/>
          </a:solidFill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Ranking</a:t>
            </a:r>
            <a:r>
              <a:rPr lang="zh-CN" altLang="en-US" dirty="0">
                <a:solidFill>
                  <a:schemeClr val="bg1"/>
                </a:solidFill>
              </a:rPr>
              <a:t> </a:t>
            </a:r>
            <a:r>
              <a:rPr lang="en-US" altLang="zh-CN" dirty="0">
                <a:solidFill>
                  <a:schemeClr val="bg1"/>
                </a:solidFill>
              </a:rPr>
              <a:t>Probabilities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54" name="Rectangle 53"/>
          <p:cNvSpPr/>
          <p:nvPr/>
        </p:nvSpPr>
        <p:spPr>
          <a:xfrm>
            <a:off x="15683334" y="7654692"/>
            <a:ext cx="2566055" cy="102896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Syntax-bonding Probabilities</a:t>
            </a:r>
          </a:p>
        </p:txBody>
      </p:sp>
      <p:sp>
        <p:nvSpPr>
          <p:cNvPr id="55" name="Triangle 54"/>
          <p:cNvSpPr/>
          <p:nvPr/>
        </p:nvSpPr>
        <p:spPr>
          <a:xfrm rot="5400000">
            <a:off x="15792628" y="8741275"/>
            <a:ext cx="475963" cy="347804"/>
          </a:xfrm>
          <a:prstGeom prst="triangle">
            <a:avLst>
              <a:gd name="adj" fmla="val 0"/>
            </a:avLst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TextBox 60"/>
          <p:cNvSpPr txBox="1"/>
          <p:nvPr/>
        </p:nvSpPr>
        <p:spPr>
          <a:xfrm>
            <a:off x="10650317" y="7134123"/>
            <a:ext cx="141205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Get token probabilities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858198" y="6819872"/>
            <a:ext cx="1117550" cy="92333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for … in …</a:t>
            </a:r>
          </a:p>
          <a:p>
            <a:r>
              <a:rPr lang="en-US" dirty="0"/>
              <a:t>if …</a:t>
            </a:r>
          </a:p>
          <a:p>
            <a:r>
              <a:rPr lang="en-US" dirty="0"/>
              <a:t>else …</a:t>
            </a:r>
          </a:p>
        </p:txBody>
      </p:sp>
      <p:sp>
        <p:nvSpPr>
          <p:cNvPr id="63" name="Rectangle 62"/>
          <p:cNvSpPr/>
          <p:nvPr/>
        </p:nvSpPr>
        <p:spPr>
          <a:xfrm>
            <a:off x="14172923" y="7727217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TextBox 68"/>
          <p:cNvSpPr txBox="1"/>
          <p:nvPr/>
        </p:nvSpPr>
        <p:spPr>
          <a:xfrm>
            <a:off x="12520367" y="7733052"/>
            <a:ext cx="15852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Token iteration</a:t>
            </a:r>
          </a:p>
        </p:txBody>
      </p:sp>
      <p:sp>
        <p:nvSpPr>
          <p:cNvPr id="70" name="Rectangle 69"/>
          <p:cNvSpPr/>
          <p:nvPr/>
        </p:nvSpPr>
        <p:spPr>
          <a:xfrm>
            <a:off x="14172923" y="8415473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Rectangle 70"/>
          <p:cNvSpPr/>
          <p:nvPr/>
        </p:nvSpPr>
        <p:spPr>
          <a:xfrm>
            <a:off x="14871776" y="8415473"/>
            <a:ext cx="463826" cy="450574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Rectangle 76"/>
          <p:cNvSpPr/>
          <p:nvPr/>
        </p:nvSpPr>
        <p:spPr>
          <a:xfrm>
            <a:off x="14172923" y="9184099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Rectangle 77"/>
          <p:cNvSpPr/>
          <p:nvPr/>
        </p:nvSpPr>
        <p:spPr>
          <a:xfrm>
            <a:off x="14871776" y="9184099"/>
            <a:ext cx="463826" cy="450574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Rectangle 78"/>
          <p:cNvSpPr/>
          <p:nvPr/>
        </p:nvSpPr>
        <p:spPr>
          <a:xfrm>
            <a:off x="15598696" y="9184099"/>
            <a:ext cx="463826" cy="450574"/>
          </a:xfrm>
          <a:prstGeom prst="rect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0" name="Straight Arrow Connector 79"/>
          <p:cNvCxnSpPr/>
          <p:nvPr/>
        </p:nvCxnSpPr>
        <p:spPr>
          <a:xfrm>
            <a:off x="6384691" y="7781510"/>
            <a:ext cx="1663741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TextBox 80"/>
          <p:cNvSpPr txBox="1"/>
          <p:nvPr/>
        </p:nvSpPr>
        <p:spPr>
          <a:xfrm>
            <a:off x="6086027" y="6974158"/>
            <a:ext cx="1970877" cy="646331"/>
          </a:xfrm>
          <a:prstGeom prst="rect">
            <a:avLst/>
          </a:prstGeom>
          <a:solidFill>
            <a:schemeClr val="accent1"/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Copyright-Retained Tokenizer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8171737" y="7377788"/>
            <a:ext cx="452303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for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9461810" y="7377788"/>
            <a:ext cx="359394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in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682729" y="7377788"/>
            <a:ext cx="343364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235077" y="7842020"/>
            <a:ext cx="308098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if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090715" y="7377788"/>
            <a:ext cx="343364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798859" y="7842020"/>
            <a:ext cx="343364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262982" y="7842020"/>
            <a:ext cx="558166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else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076103" y="7842020"/>
            <a:ext cx="343364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462436" y="8248882"/>
            <a:ext cx="15388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Code Tokens</a:t>
            </a:r>
          </a:p>
        </p:txBody>
      </p:sp>
      <p:sp>
        <p:nvSpPr>
          <p:cNvPr id="92" name="Rectangle 91"/>
          <p:cNvSpPr/>
          <p:nvPr/>
        </p:nvSpPr>
        <p:spPr>
          <a:xfrm>
            <a:off x="14172923" y="9939249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Rectangle 92"/>
          <p:cNvSpPr/>
          <p:nvPr/>
        </p:nvSpPr>
        <p:spPr>
          <a:xfrm>
            <a:off x="14871776" y="9939249"/>
            <a:ext cx="463826" cy="450574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" name="Rectangle 93"/>
          <p:cNvSpPr/>
          <p:nvPr/>
        </p:nvSpPr>
        <p:spPr>
          <a:xfrm>
            <a:off x="15598696" y="9939249"/>
            <a:ext cx="463826" cy="450574"/>
          </a:xfrm>
          <a:prstGeom prst="rect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Rectangle 94"/>
          <p:cNvSpPr/>
          <p:nvPr/>
        </p:nvSpPr>
        <p:spPr>
          <a:xfrm>
            <a:off x="16296561" y="9940186"/>
            <a:ext cx="463826" cy="450574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6" name="TextBox 95"/>
          <p:cNvSpPr txBox="1"/>
          <p:nvPr/>
        </p:nvSpPr>
        <p:spPr>
          <a:xfrm>
            <a:off x="13485517" y="8027056"/>
            <a:ext cx="4658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1st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3510737" y="8540236"/>
            <a:ext cx="5453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2nd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3560267" y="9153159"/>
            <a:ext cx="5005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3rd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3585714" y="9973222"/>
            <a:ext cx="5004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4th</a:t>
            </a:r>
          </a:p>
        </p:txBody>
      </p:sp>
      <p:cxnSp>
        <p:nvCxnSpPr>
          <p:cNvPr id="102" name="Elbow Connector 101"/>
          <p:cNvCxnSpPr>
            <a:stCxn id="3" idx="2"/>
            <a:endCxn id="100" idx="1"/>
          </p:cNvCxnSpPr>
          <p:nvPr/>
        </p:nvCxnSpPr>
        <p:spPr>
          <a:xfrm rot="16200000" flipH="1">
            <a:off x="7612460" y="3686081"/>
            <a:ext cx="29733" cy="11371327"/>
          </a:xfrm>
          <a:prstGeom prst="bent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TextBox 102"/>
          <p:cNvSpPr txBox="1"/>
          <p:nvPr/>
        </p:nvSpPr>
        <p:spPr>
          <a:xfrm>
            <a:off x="15218273" y="10402543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4248564" y="6012266"/>
            <a:ext cx="452303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for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5538637" y="6012266"/>
            <a:ext cx="359394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in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4759556" y="6012266"/>
            <a:ext cx="343364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6929112" y="6013537"/>
            <a:ext cx="308098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if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6167542" y="6012266"/>
            <a:ext cx="343364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7492894" y="6013537"/>
            <a:ext cx="343364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7957017" y="6013537"/>
            <a:ext cx="558166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else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18770138" y="6013537"/>
            <a:ext cx="343364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12490303" y="5832549"/>
            <a:ext cx="7134313" cy="6040324"/>
          </a:xfrm>
          <a:prstGeom prst="roundRect">
            <a:avLst>
              <a:gd name="adj" fmla="val 2546"/>
            </a:avLst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2" name="Rectangle 121"/>
          <p:cNvSpPr/>
          <p:nvPr/>
        </p:nvSpPr>
        <p:spPr>
          <a:xfrm>
            <a:off x="22113615" y="9077541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0.98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22130309" y="11614769"/>
            <a:ext cx="463826" cy="450574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0.01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22130309" y="10919205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0.08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22120673" y="10326925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0.09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22113615" y="8485261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0.98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22113615" y="9713962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0.78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22759106" y="8485261"/>
            <a:ext cx="3733442" cy="288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129" name="Rectangle 128"/>
          <p:cNvSpPr/>
          <p:nvPr/>
        </p:nvSpPr>
        <p:spPr>
          <a:xfrm>
            <a:off x="22759106" y="9081337"/>
            <a:ext cx="3733442" cy="288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130" name="Rectangle 129"/>
          <p:cNvSpPr/>
          <p:nvPr/>
        </p:nvSpPr>
        <p:spPr>
          <a:xfrm>
            <a:off x="22759107" y="9707314"/>
            <a:ext cx="3094615" cy="288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131" name="Rectangle 130"/>
          <p:cNvSpPr/>
          <p:nvPr/>
        </p:nvSpPr>
        <p:spPr>
          <a:xfrm>
            <a:off x="22759107" y="10361922"/>
            <a:ext cx="351415" cy="288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133" name="Rectangle 132"/>
          <p:cNvSpPr/>
          <p:nvPr/>
        </p:nvSpPr>
        <p:spPr>
          <a:xfrm>
            <a:off x="22759107" y="10921918"/>
            <a:ext cx="351415" cy="288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134" name="Rectangle 133"/>
          <p:cNvSpPr/>
          <p:nvPr/>
        </p:nvSpPr>
        <p:spPr>
          <a:xfrm>
            <a:off x="22759107" y="11589956"/>
            <a:ext cx="88368" cy="288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pic>
        <p:nvPicPr>
          <p:cNvPr id="135" name="Picture 13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415823" y="10326925"/>
            <a:ext cx="1144358" cy="1144358"/>
          </a:xfrm>
          <a:prstGeom prst="rect">
            <a:avLst/>
          </a:prstGeom>
        </p:spPr>
      </p:pic>
      <p:cxnSp>
        <p:nvCxnSpPr>
          <p:cNvPr id="136" name="Straight Arrow Connector 135"/>
          <p:cNvCxnSpPr/>
          <p:nvPr/>
        </p:nvCxnSpPr>
        <p:spPr>
          <a:xfrm>
            <a:off x="26378583" y="11379718"/>
            <a:ext cx="1647317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7" name="TextBox 136"/>
          <p:cNvSpPr txBox="1"/>
          <p:nvPr/>
        </p:nvSpPr>
        <p:spPr>
          <a:xfrm>
            <a:off x="26658478" y="10722604"/>
            <a:ext cx="1356653" cy="646331"/>
          </a:xfrm>
          <a:prstGeom prst="rect">
            <a:avLst/>
          </a:prstGeom>
          <a:solidFill>
            <a:schemeClr val="accent1"/>
          </a:solidFill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chemeClr val="bg1"/>
                </a:solidFill>
              </a:rPr>
              <a:t>Thresholded</a:t>
            </a:r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Sum</a:t>
            </a:r>
          </a:p>
        </p:txBody>
      </p:sp>
      <p:cxnSp>
        <p:nvCxnSpPr>
          <p:cNvPr id="139" name="Elbow Connector 138"/>
          <p:cNvCxnSpPr>
            <a:stCxn id="62" idx="0"/>
            <a:endCxn id="47" idx="0"/>
          </p:cNvCxnSpPr>
          <p:nvPr/>
        </p:nvCxnSpPr>
        <p:spPr>
          <a:xfrm rot="5400000" flipH="1" flipV="1">
            <a:off x="8013451" y="3484319"/>
            <a:ext cx="739076" cy="5932033"/>
          </a:xfrm>
          <a:prstGeom prst="bentConnector3">
            <a:avLst>
              <a:gd name="adj1" fmla="val 130931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1" name="TextBox 140"/>
          <p:cNvSpPr txBox="1"/>
          <p:nvPr/>
        </p:nvSpPr>
        <p:spPr>
          <a:xfrm>
            <a:off x="7069509" y="5042591"/>
            <a:ext cx="153886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Pretraining Corpus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626430" y="9702703"/>
            <a:ext cx="4357186" cy="236264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/>
              <a:t>def add(self, row):</a:t>
            </a:r>
          </a:p>
          <a:p>
            <a:r>
              <a:rPr lang="en-US" dirty="0"/>
              <a:t>	n = </a:t>
            </a:r>
            <a:r>
              <a:rPr lang="en-US" dirty="0" err="1"/>
              <a:t>len</a:t>
            </a:r>
            <a:r>
              <a:rPr lang="en-US" dirty="0"/>
              <a:t>(row) - </a:t>
            </a:r>
            <a:r>
              <a:rPr lang="en-US" dirty="0" err="1"/>
              <a:t>len</a:t>
            </a:r>
            <a:r>
              <a:rPr lang="en-US" dirty="0"/>
              <a:t>(</a:t>
            </a:r>
            <a:r>
              <a:rPr lang="en-US" dirty="0" err="1"/>
              <a:t>self.max_col_size</a:t>
            </a:r>
            <a:r>
              <a:rPr lang="en-US" dirty="0"/>
              <a:t>)</a:t>
            </a:r>
          </a:p>
          <a:p>
            <a:r>
              <a:rPr lang="en-US" dirty="0"/>
              <a:t>	if n &gt; 0:</a:t>
            </a:r>
          </a:p>
          <a:p>
            <a:r>
              <a:rPr lang="en-US" dirty="0"/>
              <a:t>		</a:t>
            </a:r>
            <a:r>
              <a:rPr lang="en-US" dirty="0" err="1"/>
              <a:t>self.max_col_size</a:t>
            </a:r>
            <a:r>
              <a:rPr lang="en-US" dirty="0"/>
              <a:t> += [0] * n</a:t>
            </a:r>
          </a:p>
          <a:p>
            <a:r>
              <a:rPr lang="en-US" dirty="0"/>
              <a:t>	for </a:t>
            </a:r>
            <a:r>
              <a:rPr lang="en-US" dirty="0" err="1"/>
              <a:t>i</a:t>
            </a:r>
            <a:r>
              <a:rPr lang="en-US" dirty="0"/>
              <a:t>, f in enumerate(row):</a:t>
            </a:r>
          </a:p>
          <a:p>
            <a:r>
              <a:rPr lang="en-US" dirty="0"/>
              <a:t>		if </a:t>
            </a:r>
            <a:r>
              <a:rPr lang="en-US" dirty="0" err="1"/>
              <a:t>len</a:t>
            </a:r>
            <a:r>
              <a:rPr lang="en-US" dirty="0"/>
              <a:t>(f) &gt; </a:t>
            </a:r>
            <a:r>
              <a:rPr lang="en-US" dirty="0" err="1"/>
              <a:t>self.max_col_size</a:t>
            </a:r>
            <a:r>
              <a:rPr lang="en-US" dirty="0"/>
              <a:t>[</a:t>
            </a:r>
            <a:r>
              <a:rPr lang="en-US" dirty="0" err="1"/>
              <a:t>i</a:t>
            </a:r>
            <a:r>
              <a:rPr lang="en-US" dirty="0"/>
              <a:t>]: 	</a:t>
            </a:r>
          </a:p>
          <a:p>
            <a:r>
              <a:rPr lang="en-US" dirty="0"/>
              <a:t>			</a:t>
            </a:r>
            <a:r>
              <a:rPr lang="en-US" dirty="0" err="1"/>
              <a:t>self.max_col_size</a:t>
            </a:r>
            <a:r>
              <a:rPr lang="en-US" dirty="0"/>
              <a:t>[</a:t>
            </a:r>
            <a:r>
              <a:rPr lang="en-US" dirty="0" err="1"/>
              <a:t>i</a:t>
            </a:r>
            <a:r>
              <a:rPr lang="en-US" dirty="0"/>
              <a:t>] = </a:t>
            </a:r>
            <a:r>
              <a:rPr lang="en-US" dirty="0" err="1"/>
              <a:t>len</a:t>
            </a:r>
            <a:r>
              <a:rPr lang="en-US" dirty="0"/>
              <a:t>(f) 	</a:t>
            </a:r>
          </a:p>
          <a:p>
            <a:r>
              <a:rPr lang="en-US" dirty="0"/>
              <a:t>			</a:t>
            </a:r>
            <a:r>
              <a:rPr lang="en-US" dirty="0" err="1"/>
              <a:t>self.rows.append</a:t>
            </a:r>
            <a:r>
              <a:rPr lang="en-US" dirty="0"/>
              <a:t>(row)</a:t>
            </a:r>
          </a:p>
        </p:txBody>
      </p:sp>
    </p:spTree>
  </p:cSld>
  <p:clrMapOvr>
    <a:masterClrMapping/>
  </p:clrMapOvr>
  <p:transition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Rounded Rectangle 99"/>
          <p:cNvSpPr/>
          <p:nvPr/>
        </p:nvSpPr>
        <p:spPr>
          <a:xfrm>
            <a:off x="13312990" y="9033712"/>
            <a:ext cx="5225237" cy="705798"/>
          </a:xfrm>
          <a:prstGeom prst="roundRect">
            <a:avLst>
              <a:gd name="adj" fmla="val 34745"/>
            </a:avLst>
          </a:prstGeom>
          <a:solidFill>
            <a:schemeClr val="bg1">
              <a:lumMod val="95000"/>
            </a:schemeClr>
          </a:solidFill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09938" y="5978703"/>
            <a:ext cx="1302834" cy="130283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37387" y="8710549"/>
            <a:ext cx="180854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Programming Language Syntax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9237" y="6730257"/>
            <a:ext cx="153886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Task Specification</a:t>
            </a:r>
          </a:p>
        </p:txBody>
      </p:sp>
      <p:cxnSp>
        <p:nvCxnSpPr>
          <p:cNvPr id="7" name="Straight Arrow Connector 6"/>
          <p:cNvCxnSpPr/>
          <p:nvPr/>
        </p:nvCxnSpPr>
        <p:spPr>
          <a:xfrm>
            <a:off x="2672531" y="7813144"/>
            <a:ext cx="1819507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4577144" y="7837831"/>
            <a:ext cx="15388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Copyright</a:t>
            </a:r>
            <a:r>
              <a:rPr lang="en-US" altLang="zh-CN" dirty="0"/>
              <a:t>-Protected </a:t>
            </a:r>
            <a:r>
              <a:rPr lang="en-US" dirty="0"/>
              <a:t>Code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99116" y="7654116"/>
            <a:ext cx="1117550" cy="92333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for … in …</a:t>
            </a:r>
          </a:p>
          <a:p>
            <a:r>
              <a:rPr lang="en-US" dirty="0"/>
              <a:t>if …</a:t>
            </a:r>
          </a:p>
          <a:p>
            <a:r>
              <a:rPr lang="en-US" dirty="0"/>
              <a:t>else …</a:t>
            </a:r>
          </a:p>
        </p:txBody>
      </p:sp>
      <p:pic>
        <p:nvPicPr>
          <p:cNvPr id="10" name="Picture 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9884" y="5540246"/>
            <a:ext cx="1016000" cy="10160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2722341" y="7343469"/>
            <a:ext cx="1854803" cy="369332"/>
          </a:xfrm>
          <a:prstGeom prst="rect">
            <a:avLst/>
          </a:prstGeom>
          <a:solidFill>
            <a:schemeClr val="accent1"/>
          </a:solidFill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Developer</a:t>
            </a:r>
            <a:r>
              <a:rPr lang="zh-CN" altLang="en-US" dirty="0">
                <a:solidFill>
                  <a:schemeClr val="bg1"/>
                </a:solidFill>
              </a:rPr>
              <a:t> </a:t>
            </a:r>
            <a:r>
              <a:rPr lang="en-US" dirty="0">
                <a:solidFill>
                  <a:schemeClr val="bg1"/>
                </a:solidFill>
              </a:rPr>
              <a:t>Coding</a:t>
            </a:r>
          </a:p>
        </p:txBody>
      </p:sp>
      <p:cxnSp>
        <p:nvCxnSpPr>
          <p:cNvPr id="13" name="Straight Arrow Connector 12"/>
          <p:cNvCxnSpPr/>
          <p:nvPr/>
        </p:nvCxnSpPr>
        <p:spPr>
          <a:xfrm>
            <a:off x="15864422" y="10507209"/>
            <a:ext cx="0" cy="79200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16193057" y="10554016"/>
            <a:ext cx="3292633" cy="369332"/>
          </a:xfrm>
          <a:prstGeom prst="rect">
            <a:avLst/>
          </a:prstGeom>
          <a:solidFill>
            <a:schemeClr val="accent1"/>
          </a:solidFill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Syntax Knowledge-based Pruning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4193318" y="6861976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0.98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4892171" y="6861976"/>
            <a:ext cx="463826" cy="450574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0.01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5591024" y="6861976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0.08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6289877" y="6861976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0.09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6988730" y="6861976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0.98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7687584" y="6861976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0.78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967409" y="6051642"/>
            <a:ext cx="8844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Tokens: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538091" y="6867811"/>
            <a:ext cx="14120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Probabilities: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2531573" y="11193726"/>
            <a:ext cx="161972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Pruned Probabilities: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4169433" y="11314996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Rectangle 42"/>
          <p:cNvSpPr/>
          <p:nvPr/>
        </p:nvSpPr>
        <p:spPr>
          <a:xfrm>
            <a:off x="14986360" y="11315666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/>
          <p:cNvSpPr/>
          <p:nvPr/>
        </p:nvSpPr>
        <p:spPr>
          <a:xfrm>
            <a:off x="16376294" y="11314996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Rectangle 44"/>
          <p:cNvSpPr/>
          <p:nvPr/>
        </p:nvSpPr>
        <p:spPr>
          <a:xfrm>
            <a:off x="17109390" y="11299209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Rectangle 45"/>
          <p:cNvSpPr/>
          <p:nvPr/>
        </p:nvSpPr>
        <p:spPr>
          <a:xfrm>
            <a:off x="17963148" y="11299209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7" name="Picture 4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73556" y="6080796"/>
            <a:ext cx="950900" cy="950900"/>
          </a:xfrm>
          <a:prstGeom prst="rect">
            <a:avLst/>
          </a:prstGeom>
        </p:spPr>
      </p:pic>
      <p:cxnSp>
        <p:nvCxnSpPr>
          <p:cNvPr id="49" name="Straight Arrow Connector 48"/>
          <p:cNvCxnSpPr/>
          <p:nvPr/>
        </p:nvCxnSpPr>
        <p:spPr>
          <a:xfrm>
            <a:off x="10650317" y="7837831"/>
            <a:ext cx="1663741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Arrow Connector 50"/>
          <p:cNvCxnSpPr/>
          <p:nvPr/>
        </p:nvCxnSpPr>
        <p:spPr>
          <a:xfrm>
            <a:off x="19779920" y="11485090"/>
            <a:ext cx="1647317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19893885" y="10945958"/>
            <a:ext cx="2147832" cy="369332"/>
          </a:xfrm>
          <a:prstGeom prst="rect">
            <a:avLst/>
          </a:prstGeom>
          <a:solidFill>
            <a:schemeClr val="accent1"/>
          </a:solidFill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Ranking</a:t>
            </a:r>
            <a:r>
              <a:rPr lang="zh-CN" altLang="en-US" dirty="0">
                <a:solidFill>
                  <a:schemeClr val="bg1"/>
                </a:solidFill>
              </a:rPr>
              <a:t> </a:t>
            </a:r>
            <a:r>
              <a:rPr lang="en-US" altLang="zh-CN" dirty="0">
                <a:solidFill>
                  <a:schemeClr val="bg1"/>
                </a:solidFill>
              </a:rPr>
              <a:t>Probabilities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54" name="Rectangle 53"/>
          <p:cNvSpPr/>
          <p:nvPr/>
        </p:nvSpPr>
        <p:spPr>
          <a:xfrm>
            <a:off x="15683334" y="7654692"/>
            <a:ext cx="2566055" cy="102896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Syntax-bonding Probabilities</a:t>
            </a:r>
          </a:p>
        </p:txBody>
      </p:sp>
      <p:sp>
        <p:nvSpPr>
          <p:cNvPr id="55" name="Triangle 54"/>
          <p:cNvSpPr/>
          <p:nvPr/>
        </p:nvSpPr>
        <p:spPr>
          <a:xfrm rot="5400000">
            <a:off x="15792628" y="8741275"/>
            <a:ext cx="475963" cy="347804"/>
          </a:xfrm>
          <a:prstGeom prst="triangle">
            <a:avLst>
              <a:gd name="adj" fmla="val 0"/>
            </a:avLst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TextBox 60"/>
          <p:cNvSpPr txBox="1"/>
          <p:nvPr/>
        </p:nvSpPr>
        <p:spPr>
          <a:xfrm>
            <a:off x="10650317" y="7134123"/>
            <a:ext cx="141205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Get token probabilities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858198" y="6819872"/>
            <a:ext cx="1117550" cy="92333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for … in …</a:t>
            </a:r>
          </a:p>
          <a:p>
            <a:r>
              <a:rPr lang="en-US" dirty="0"/>
              <a:t>if …</a:t>
            </a:r>
          </a:p>
          <a:p>
            <a:r>
              <a:rPr lang="en-US" dirty="0"/>
              <a:t>else …</a:t>
            </a:r>
          </a:p>
        </p:txBody>
      </p:sp>
      <p:sp>
        <p:nvSpPr>
          <p:cNvPr id="63" name="Rectangle 62"/>
          <p:cNvSpPr/>
          <p:nvPr/>
        </p:nvSpPr>
        <p:spPr>
          <a:xfrm>
            <a:off x="14172923" y="7727217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TextBox 68"/>
          <p:cNvSpPr txBox="1"/>
          <p:nvPr/>
        </p:nvSpPr>
        <p:spPr>
          <a:xfrm>
            <a:off x="12520367" y="7733052"/>
            <a:ext cx="15852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Token iteration</a:t>
            </a:r>
          </a:p>
        </p:txBody>
      </p:sp>
      <p:sp>
        <p:nvSpPr>
          <p:cNvPr id="70" name="Rectangle 69"/>
          <p:cNvSpPr/>
          <p:nvPr/>
        </p:nvSpPr>
        <p:spPr>
          <a:xfrm>
            <a:off x="14172923" y="8415473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Rectangle 70"/>
          <p:cNvSpPr/>
          <p:nvPr/>
        </p:nvSpPr>
        <p:spPr>
          <a:xfrm>
            <a:off x="14871776" y="8415473"/>
            <a:ext cx="463826" cy="450574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Rectangle 76"/>
          <p:cNvSpPr/>
          <p:nvPr/>
        </p:nvSpPr>
        <p:spPr>
          <a:xfrm>
            <a:off x="14172923" y="9184099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Rectangle 77"/>
          <p:cNvSpPr/>
          <p:nvPr/>
        </p:nvSpPr>
        <p:spPr>
          <a:xfrm>
            <a:off x="14871776" y="9184099"/>
            <a:ext cx="463826" cy="450574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Rectangle 78"/>
          <p:cNvSpPr/>
          <p:nvPr/>
        </p:nvSpPr>
        <p:spPr>
          <a:xfrm>
            <a:off x="15598696" y="9184099"/>
            <a:ext cx="463826" cy="450574"/>
          </a:xfrm>
          <a:prstGeom prst="rect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0" name="Straight Arrow Connector 79"/>
          <p:cNvCxnSpPr/>
          <p:nvPr/>
        </p:nvCxnSpPr>
        <p:spPr>
          <a:xfrm>
            <a:off x="6384691" y="7781510"/>
            <a:ext cx="1663741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TextBox 80"/>
          <p:cNvSpPr txBox="1"/>
          <p:nvPr/>
        </p:nvSpPr>
        <p:spPr>
          <a:xfrm>
            <a:off x="6086027" y="6974158"/>
            <a:ext cx="1970877" cy="646331"/>
          </a:xfrm>
          <a:prstGeom prst="rect">
            <a:avLst/>
          </a:prstGeom>
          <a:solidFill>
            <a:schemeClr val="accent1"/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Copyright-Retained Tokenizer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8171737" y="7377788"/>
            <a:ext cx="452303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for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9461810" y="7377788"/>
            <a:ext cx="359394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in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682729" y="7377788"/>
            <a:ext cx="343364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235077" y="7842020"/>
            <a:ext cx="308098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if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090715" y="7377788"/>
            <a:ext cx="343364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798859" y="7842020"/>
            <a:ext cx="343364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262982" y="7842020"/>
            <a:ext cx="558166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else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076103" y="7842020"/>
            <a:ext cx="343364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462436" y="8248882"/>
            <a:ext cx="15388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Code Tokens</a:t>
            </a:r>
          </a:p>
        </p:txBody>
      </p:sp>
      <p:sp>
        <p:nvSpPr>
          <p:cNvPr id="92" name="Rectangle 91"/>
          <p:cNvSpPr/>
          <p:nvPr/>
        </p:nvSpPr>
        <p:spPr>
          <a:xfrm>
            <a:off x="14172923" y="9939249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Rectangle 92"/>
          <p:cNvSpPr/>
          <p:nvPr/>
        </p:nvSpPr>
        <p:spPr>
          <a:xfrm>
            <a:off x="14871776" y="9939249"/>
            <a:ext cx="463826" cy="450574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" name="Rectangle 93"/>
          <p:cNvSpPr/>
          <p:nvPr/>
        </p:nvSpPr>
        <p:spPr>
          <a:xfrm>
            <a:off x="15598696" y="9939249"/>
            <a:ext cx="463826" cy="450574"/>
          </a:xfrm>
          <a:prstGeom prst="rect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Rectangle 94"/>
          <p:cNvSpPr/>
          <p:nvPr/>
        </p:nvSpPr>
        <p:spPr>
          <a:xfrm>
            <a:off x="16296561" y="9940186"/>
            <a:ext cx="463826" cy="450574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6" name="TextBox 95"/>
          <p:cNvSpPr txBox="1"/>
          <p:nvPr/>
        </p:nvSpPr>
        <p:spPr>
          <a:xfrm>
            <a:off x="13485517" y="8027056"/>
            <a:ext cx="4658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1st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3510737" y="8540236"/>
            <a:ext cx="5453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2nd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3560267" y="9153159"/>
            <a:ext cx="5005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3rd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3585714" y="9973222"/>
            <a:ext cx="5004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4th</a:t>
            </a:r>
          </a:p>
        </p:txBody>
      </p:sp>
      <p:cxnSp>
        <p:nvCxnSpPr>
          <p:cNvPr id="102" name="Elbow Connector 101"/>
          <p:cNvCxnSpPr>
            <a:stCxn id="3" idx="2"/>
            <a:endCxn id="100" idx="1"/>
          </p:cNvCxnSpPr>
          <p:nvPr/>
        </p:nvCxnSpPr>
        <p:spPr>
          <a:xfrm rot="16200000" flipH="1">
            <a:off x="7612460" y="3686081"/>
            <a:ext cx="29733" cy="11371327"/>
          </a:xfrm>
          <a:prstGeom prst="bent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TextBox 102"/>
          <p:cNvSpPr txBox="1"/>
          <p:nvPr/>
        </p:nvSpPr>
        <p:spPr>
          <a:xfrm>
            <a:off x="15218273" y="10402543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4248564" y="6012266"/>
            <a:ext cx="452303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for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5538637" y="6012266"/>
            <a:ext cx="359394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in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4759556" y="6012266"/>
            <a:ext cx="343364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6929112" y="6013537"/>
            <a:ext cx="308098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if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6167542" y="6012266"/>
            <a:ext cx="343364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7492894" y="6013537"/>
            <a:ext cx="343364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7957017" y="6013537"/>
            <a:ext cx="558166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else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18770138" y="6013537"/>
            <a:ext cx="343364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12490303" y="5832549"/>
            <a:ext cx="7134313" cy="6040324"/>
          </a:xfrm>
          <a:prstGeom prst="roundRect">
            <a:avLst>
              <a:gd name="adj" fmla="val 2546"/>
            </a:avLst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2" name="Rectangle 121"/>
          <p:cNvSpPr/>
          <p:nvPr/>
        </p:nvSpPr>
        <p:spPr>
          <a:xfrm>
            <a:off x="22113615" y="9077541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0.98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22130309" y="11614769"/>
            <a:ext cx="463826" cy="450574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0.01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22130309" y="10919205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0.08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22120673" y="10326925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0.09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22113615" y="8485261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0.98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22113615" y="9713962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0.78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22759106" y="8485261"/>
            <a:ext cx="3733442" cy="288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129" name="Rectangle 128"/>
          <p:cNvSpPr/>
          <p:nvPr/>
        </p:nvSpPr>
        <p:spPr>
          <a:xfrm>
            <a:off x="22759106" y="9081337"/>
            <a:ext cx="3733442" cy="288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130" name="Rectangle 129"/>
          <p:cNvSpPr/>
          <p:nvPr/>
        </p:nvSpPr>
        <p:spPr>
          <a:xfrm>
            <a:off x="22759107" y="9707314"/>
            <a:ext cx="3094615" cy="288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131" name="Rectangle 130"/>
          <p:cNvSpPr/>
          <p:nvPr/>
        </p:nvSpPr>
        <p:spPr>
          <a:xfrm>
            <a:off x="22759107" y="10361922"/>
            <a:ext cx="351415" cy="288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133" name="Rectangle 132"/>
          <p:cNvSpPr/>
          <p:nvPr/>
        </p:nvSpPr>
        <p:spPr>
          <a:xfrm>
            <a:off x="22759107" y="10921918"/>
            <a:ext cx="351415" cy="288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134" name="Rectangle 133"/>
          <p:cNvSpPr/>
          <p:nvPr/>
        </p:nvSpPr>
        <p:spPr>
          <a:xfrm>
            <a:off x="22759107" y="11589956"/>
            <a:ext cx="88368" cy="288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pic>
        <p:nvPicPr>
          <p:cNvPr id="135" name="Picture 13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415823" y="10326925"/>
            <a:ext cx="1144358" cy="1144358"/>
          </a:xfrm>
          <a:prstGeom prst="rect">
            <a:avLst/>
          </a:prstGeom>
        </p:spPr>
      </p:pic>
      <p:cxnSp>
        <p:nvCxnSpPr>
          <p:cNvPr id="136" name="Straight Arrow Connector 135"/>
          <p:cNvCxnSpPr/>
          <p:nvPr/>
        </p:nvCxnSpPr>
        <p:spPr>
          <a:xfrm>
            <a:off x="26378583" y="11379718"/>
            <a:ext cx="1647317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7" name="TextBox 136"/>
          <p:cNvSpPr txBox="1"/>
          <p:nvPr/>
        </p:nvSpPr>
        <p:spPr>
          <a:xfrm>
            <a:off x="26658478" y="10722604"/>
            <a:ext cx="1356653" cy="646331"/>
          </a:xfrm>
          <a:prstGeom prst="rect">
            <a:avLst/>
          </a:prstGeom>
          <a:solidFill>
            <a:schemeClr val="accent1"/>
          </a:solidFill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chemeClr val="bg1"/>
                </a:solidFill>
              </a:rPr>
              <a:t>Thresholded</a:t>
            </a:r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Sum</a:t>
            </a:r>
          </a:p>
        </p:txBody>
      </p:sp>
      <p:cxnSp>
        <p:nvCxnSpPr>
          <p:cNvPr id="139" name="Elbow Connector 138"/>
          <p:cNvCxnSpPr>
            <a:stCxn id="62" idx="0"/>
            <a:endCxn id="47" idx="0"/>
          </p:cNvCxnSpPr>
          <p:nvPr/>
        </p:nvCxnSpPr>
        <p:spPr>
          <a:xfrm rot="5400000" flipH="1" flipV="1">
            <a:off x="8013451" y="3484319"/>
            <a:ext cx="739076" cy="5932033"/>
          </a:xfrm>
          <a:prstGeom prst="bentConnector3">
            <a:avLst>
              <a:gd name="adj1" fmla="val 130931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1" name="TextBox 140"/>
          <p:cNvSpPr txBox="1"/>
          <p:nvPr/>
        </p:nvSpPr>
        <p:spPr>
          <a:xfrm>
            <a:off x="7069509" y="5042591"/>
            <a:ext cx="153886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Pretraining Corpus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626430" y="9702703"/>
            <a:ext cx="4357186" cy="236264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/>
              <a:t>def add(self, row):</a:t>
            </a:r>
          </a:p>
          <a:p>
            <a:r>
              <a:rPr lang="en-US" dirty="0"/>
              <a:t>	…</a:t>
            </a:r>
          </a:p>
          <a:p>
            <a:r>
              <a:rPr lang="en-US" dirty="0"/>
              <a:t>	for </a:t>
            </a:r>
            <a:r>
              <a:rPr lang="en-US" dirty="0" err="1"/>
              <a:t>i</a:t>
            </a:r>
            <a:r>
              <a:rPr lang="en-US" dirty="0"/>
              <a:t>, f in enumerate(row):</a:t>
            </a:r>
          </a:p>
          <a:p>
            <a:r>
              <a:rPr lang="en-US" dirty="0"/>
              <a:t>		if </a:t>
            </a:r>
            <a:r>
              <a:rPr lang="en-US" dirty="0" err="1"/>
              <a:t>len</a:t>
            </a:r>
            <a:r>
              <a:rPr lang="en-US" dirty="0"/>
              <a:t>(f) &gt; </a:t>
            </a:r>
            <a:r>
              <a:rPr lang="en-US" dirty="0" err="1"/>
              <a:t>self.max_col_size</a:t>
            </a:r>
            <a:r>
              <a:rPr lang="en-US" dirty="0"/>
              <a:t>[</a:t>
            </a:r>
            <a:r>
              <a:rPr lang="en-US" dirty="0" err="1"/>
              <a:t>i</a:t>
            </a:r>
            <a:r>
              <a:rPr lang="en-US" dirty="0"/>
              <a:t>]: 	</a:t>
            </a:r>
          </a:p>
          <a:p>
            <a:r>
              <a:rPr lang="en-US" dirty="0"/>
              <a:t>			</a:t>
            </a:r>
            <a:r>
              <a:rPr lang="en-US" dirty="0" err="1"/>
              <a:t>self.max_col_size</a:t>
            </a:r>
            <a:r>
              <a:rPr lang="en-US" dirty="0"/>
              <a:t>[</a:t>
            </a:r>
            <a:r>
              <a:rPr lang="en-US" dirty="0" err="1"/>
              <a:t>i</a:t>
            </a:r>
            <a:r>
              <a:rPr lang="en-US" dirty="0"/>
              <a:t>] = </a:t>
            </a:r>
            <a:r>
              <a:rPr lang="en-US" dirty="0" err="1"/>
              <a:t>len</a:t>
            </a:r>
            <a:r>
              <a:rPr lang="en-US" dirty="0"/>
              <a:t>(f) 	</a:t>
            </a:r>
          </a:p>
          <a:p>
            <a:r>
              <a:rPr lang="en-US" dirty="0"/>
              <a:t>			</a:t>
            </a:r>
            <a:r>
              <a:rPr lang="en-US" dirty="0" err="1"/>
              <a:t>self.rows.append</a:t>
            </a:r>
            <a:r>
              <a:rPr lang="en-US" dirty="0"/>
              <a:t>(row)</a:t>
            </a:r>
          </a:p>
        </p:txBody>
      </p:sp>
    </p:spTree>
  </p:cSld>
  <p:clrMapOvr>
    <a:masterClrMapping/>
  </p:clrMapOvr>
  <p:transition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5581899" y="7383650"/>
            <a:ext cx="305656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795E26"/>
                </a:solidFill>
                <a:latin typeface="Menlo" panose="020B0609030804020204" pitchFamily="49" charset="0"/>
              </a:rPr>
              <a:t>add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062846" y="7383650"/>
            <a:ext cx="312068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001080"/>
                </a:solidFill>
              </a:rPr>
              <a:t>self</a:t>
            </a:r>
            <a:endParaRPr lang="en-US" sz="900" dirty="0">
              <a:solidFill>
                <a:srgbClr val="3B3B3B"/>
              </a:solidFill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922561" y="7383650"/>
            <a:ext cx="105281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3B3B3B"/>
                </a:solidFill>
              </a:rPr>
              <a:t>(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06496" y="7383650"/>
            <a:ext cx="174210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D7BA7D"/>
                </a:solidFill>
                <a:latin typeface="Menlo" panose="020B0609030804020204" pitchFamily="49" charset="0"/>
              </a:rPr>
              <a:t>\n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9920" y="7383650"/>
            <a:ext cx="105281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/>
              <a:t>,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50205" y="7383650"/>
            <a:ext cx="312068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row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897278" y="7383650"/>
            <a:ext cx="174210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3B3B3B"/>
                </a:solidFill>
              </a:rPr>
              <a:t>):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10288" y="7655663"/>
            <a:ext cx="243139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AF00DB"/>
                </a:solidFill>
                <a:latin typeface="Menlo" panose="020B0609030804020204" pitchFamily="49" charset="0"/>
              </a:rPr>
              <a:t>for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6193039" y="7655663"/>
            <a:ext cx="174210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 err="1">
                <a:solidFill>
                  <a:srgbClr val="001080"/>
                </a:solidFill>
                <a:latin typeface="Menlo" panose="020B0609030804020204" pitchFamily="49" charset="0"/>
              </a:rPr>
              <a:t>i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6406863" y="7655663"/>
            <a:ext cx="105281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,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51756" y="7655663"/>
            <a:ext cx="174210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f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6765580" y="7655663"/>
            <a:ext cx="243139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AF00DB"/>
                </a:solidFill>
                <a:latin typeface="Menlo" panose="020B0609030804020204" pitchFamily="49" charset="0"/>
              </a:rPr>
              <a:t>in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7048332" y="7655663"/>
            <a:ext cx="719231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267F99"/>
                </a:solidFill>
                <a:latin typeface="Menlo" panose="020B0609030804020204" pitchFamily="49" charset="0"/>
              </a:rPr>
              <a:t>enumerate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7807176" y="7655663"/>
            <a:ext cx="105281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(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52070" y="7655663"/>
            <a:ext cx="243139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row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8234821" y="7655663"/>
            <a:ext cx="174210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):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18946" y="7932518"/>
            <a:ext cx="174210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AF00DB"/>
                </a:solidFill>
                <a:latin typeface="Menlo" panose="020B0609030804020204" pitchFamily="49" charset="0"/>
              </a:rPr>
              <a:t>if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6423292" y="7932518"/>
            <a:ext cx="312068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 err="1">
                <a:solidFill>
                  <a:srgbClr val="795E26"/>
                </a:solidFill>
                <a:latin typeface="Menlo" panose="020B0609030804020204" pitchFamily="49" charset="0"/>
              </a:rPr>
              <a:t>len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6765497" y="7932518"/>
            <a:ext cx="105281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CE9178"/>
                </a:solidFill>
                <a:latin typeface="Menlo" panose="020B0609030804020204" pitchFamily="49" charset="0"/>
              </a:rPr>
              <a:t>(</a:t>
            </a:r>
            <a:endParaRPr lang="en-US" sz="900" dirty="0">
              <a:solidFill>
                <a:srgbClr val="CCCCCC"/>
              </a:solidFill>
              <a:latin typeface="Menlo" panose="020B0609030804020204" pitchFamily="49" charset="0"/>
            </a:endParaRPr>
          </a:p>
        </p:txBody>
      </p:sp>
      <p:sp>
        <p:nvSpPr>
          <p:cNvPr id="41" name="TextBox 40"/>
          <p:cNvSpPr txBox="1"/>
          <p:nvPr/>
        </p:nvSpPr>
        <p:spPr>
          <a:xfrm>
            <a:off x="6900914" y="7932518"/>
            <a:ext cx="105281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CE9178"/>
                </a:solidFill>
                <a:latin typeface="Menlo" panose="020B0609030804020204" pitchFamily="49" charset="0"/>
              </a:rPr>
              <a:t>f</a:t>
            </a:r>
            <a:endParaRPr lang="en-US" sz="900" dirty="0">
              <a:solidFill>
                <a:srgbClr val="CCCCCC"/>
              </a:solidFill>
              <a:latin typeface="Menlo" panose="020B0609030804020204" pitchFamily="49" charset="0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7036331" y="7932518"/>
            <a:ext cx="105281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CE9178"/>
                </a:solidFill>
                <a:latin typeface="Menlo" panose="020B0609030804020204" pitchFamily="49" charset="0"/>
              </a:rPr>
              <a:t>)</a:t>
            </a:r>
            <a:endParaRPr lang="en-US" sz="900" dirty="0">
              <a:solidFill>
                <a:srgbClr val="CCCCCC"/>
              </a:solidFill>
              <a:latin typeface="Menlo" panose="020B0609030804020204" pitchFamily="49" charset="0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7171747" y="7932518"/>
            <a:ext cx="174210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000000"/>
                </a:solidFill>
                <a:latin typeface="Menlo" panose="020B0609030804020204" pitchFamily="49" charset="0"/>
              </a:rPr>
              <a:t>&gt;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4" name="TextBox 43"/>
          <p:cNvSpPr txBox="1"/>
          <p:nvPr/>
        </p:nvSpPr>
        <p:spPr>
          <a:xfrm>
            <a:off x="7376093" y="7932518"/>
            <a:ext cx="380998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self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5" name="TextBox 44"/>
          <p:cNvSpPr txBox="1"/>
          <p:nvPr/>
        </p:nvSpPr>
        <p:spPr>
          <a:xfrm>
            <a:off x="7787228" y="7932518"/>
            <a:ext cx="105281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922645" y="7932518"/>
            <a:ext cx="243139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max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95920" y="7932518"/>
            <a:ext cx="105281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_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331337" y="7932518"/>
            <a:ext cx="243139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col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604612" y="7932518"/>
            <a:ext cx="105281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_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719467" y="8212592"/>
            <a:ext cx="174210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000000"/>
                </a:solidFill>
                <a:latin typeface="Menlo" panose="020B0609030804020204" pitchFamily="49" charset="0"/>
              </a:rPr>
              <a:t>=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2" name="TextBox 51"/>
          <p:cNvSpPr txBox="1"/>
          <p:nvPr/>
        </p:nvSpPr>
        <p:spPr>
          <a:xfrm>
            <a:off x="9082233" y="7932518"/>
            <a:ext cx="105281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[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217650" y="7932518"/>
            <a:ext cx="105281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 err="1">
                <a:solidFill>
                  <a:srgbClr val="001080"/>
                </a:solidFill>
                <a:latin typeface="Menlo" panose="020B0609030804020204" pitchFamily="49" charset="0"/>
              </a:rPr>
              <a:t>i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4" name="TextBox 53"/>
          <p:cNvSpPr txBox="1"/>
          <p:nvPr/>
        </p:nvSpPr>
        <p:spPr>
          <a:xfrm>
            <a:off x="9353066" y="7932518"/>
            <a:ext cx="174210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]: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448646" y="7655663"/>
            <a:ext cx="174210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D7BA7D"/>
                </a:solidFill>
                <a:latin typeface="Menlo" panose="020B0609030804020204" pitchFamily="49" charset="0"/>
              </a:rPr>
              <a:t>\n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557407" y="7932518"/>
            <a:ext cx="174210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D7BA7D"/>
                </a:solidFill>
                <a:latin typeface="Menlo" panose="020B0609030804020204" pitchFamily="49" charset="0"/>
              </a:rPr>
              <a:t>\n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571477" y="8212592"/>
            <a:ext cx="312068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self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61" name="TextBox 60"/>
          <p:cNvSpPr txBox="1"/>
          <p:nvPr/>
        </p:nvSpPr>
        <p:spPr>
          <a:xfrm>
            <a:off x="6924135" y="8212592"/>
            <a:ext cx="105281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.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070005" y="8212592"/>
            <a:ext cx="243139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max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353733" y="8212592"/>
            <a:ext cx="105281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_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499603" y="8212592"/>
            <a:ext cx="243139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col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783331" y="8212592"/>
            <a:ext cx="105281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_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929200" y="8212592"/>
            <a:ext cx="312068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size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281858" y="8212592"/>
            <a:ext cx="105281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[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427728" y="8212592"/>
            <a:ext cx="105281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 err="1">
                <a:solidFill>
                  <a:srgbClr val="001080"/>
                </a:solidFill>
                <a:latin typeface="Menlo" panose="020B0609030804020204" pitchFamily="49" charset="0"/>
              </a:rPr>
              <a:t>i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72" name="TextBox 71"/>
          <p:cNvSpPr txBox="1"/>
          <p:nvPr/>
        </p:nvSpPr>
        <p:spPr>
          <a:xfrm>
            <a:off x="8573598" y="8212592"/>
            <a:ext cx="105281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]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740028" y="7932518"/>
            <a:ext cx="312068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size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934266" y="8212592"/>
            <a:ext cx="312068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 err="1">
                <a:solidFill>
                  <a:srgbClr val="795E26"/>
                </a:solidFill>
                <a:latin typeface="Menlo" panose="020B0609030804020204" pitchFamily="49" charset="0"/>
              </a:rPr>
              <a:t>len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75" name="TextBox 74"/>
          <p:cNvSpPr txBox="1"/>
          <p:nvPr/>
        </p:nvSpPr>
        <p:spPr>
          <a:xfrm>
            <a:off x="9286924" y="8212592"/>
            <a:ext cx="105281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(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9432794" y="8212592"/>
            <a:ext cx="105281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f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77" name="TextBox 76"/>
          <p:cNvSpPr txBox="1"/>
          <p:nvPr/>
        </p:nvSpPr>
        <p:spPr>
          <a:xfrm>
            <a:off x="9578665" y="8212592"/>
            <a:ext cx="105281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)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582674" y="7655663"/>
            <a:ext cx="288000" cy="230400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⌷⌷⌷⌷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5582674" y="7932518"/>
            <a:ext cx="288000" cy="230400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⌷⌷⌷⌷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5900810" y="7932518"/>
            <a:ext cx="288000" cy="230400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⌷⌷⌷⌷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5585710" y="8212592"/>
            <a:ext cx="288000" cy="230400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⌷⌷⌷⌷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914299" y="8212592"/>
            <a:ext cx="288000" cy="230400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⌷⌷⌷⌷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42888" y="8212592"/>
            <a:ext cx="288000" cy="230400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⌷⌷⌷⌷</a:t>
            </a:r>
          </a:p>
        </p:txBody>
      </p:sp>
    </p:spTree>
  </p:cSld>
  <p:clrMapOvr>
    <a:masterClrMapping/>
  </p:clrMapOvr>
  <p:transition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Rounded Rectangle 99"/>
          <p:cNvSpPr/>
          <p:nvPr/>
        </p:nvSpPr>
        <p:spPr>
          <a:xfrm>
            <a:off x="17718903" y="7413683"/>
            <a:ext cx="5968935" cy="436290"/>
          </a:xfrm>
          <a:prstGeom prst="roundRect">
            <a:avLst>
              <a:gd name="adj" fmla="val 34745"/>
            </a:avLst>
          </a:prstGeom>
          <a:solidFill>
            <a:schemeClr val="bg1">
              <a:lumMod val="95000"/>
            </a:schemeClr>
          </a:solidFill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2338" y="5708136"/>
            <a:ext cx="1302834" cy="130283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916853" y="5016268"/>
            <a:ext cx="32182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Language Syntax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6251" y="5016268"/>
            <a:ext cx="20525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Task Specification</a:t>
            </a:r>
          </a:p>
        </p:txBody>
      </p:sp>
      <p:cxnSp>
        <p:nvCxnSpPr>
          <p:cNvPr id="7" name="Straight Arrow Connector 6"/>
          <p:cNvCxnSpPr/>
          <p:nvPr/>
        </p:nvCxnSpPr>
        <p:spPr>
          <a:xfrm>
            <a:off x="4470253" y="4468127"/>
            <a:ext cx="2052000" cy="0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983211" y="5016268"/>
            <a:ext cx="26409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Copyright</a:t>
            </a:r>
            <a:r>
              <a:rPr lang="en-US" altLang="zh-CN" dirty="0"/>
              <a:t>-Protected </a:t>
            </a:r>
            <a:r>
              <a:rPr lang="en-US" dirty="0"/>
              <a:t>Code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57739" y="3788434"/>
            <a:ext cx="1484317" cy="1200329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marL="342900" indent="-342900">
              <a:buAutoNum type="arabicPeriod"/>
            </a:pPr>
            <a:r>
              <a:rPr lang="en-US" dirty="0"/>
              <a:t>For</a:t>
            </a:r>
          </a:p>
          <a:p>
            <a:pPr marL="342900" indent="-342900">
              <a:buAutoNum type="arabicPeriod"/>
            </a:pPr>
            <a:r>
              <a:rPr lang="en-US" dirty="0"/>
              <a:t>If Else</a:t>
            </a:r>
          </a:p>
          <a:p>
            <a:pPr marL="342900" indent="-342900">
              <a:buAutoNum type="arabicPeriod"/>
            </a:pPr>
            <a:r>
              <a:rPr lang="en-US" dirty="0"/>
              <a:t>Try except</a:t>
            </a:r>
          </a:p>
          <a:p>
            <a:pPr marL="342900" indent="-342900">
              <a:buAutoNum type="arabicPeriod"/>
            </a:pPr>
            <a:r>
              <a:rPr lang="en-US" dirty="0"/>
              <a:t>…</a:t>
            </a:r>
          </a:p>
        </p:txBody>
      </p:sp>
      <p:pic>
        <p:nvPicPr>
          <p:cNvPr id="10" name="Picture 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9770" y="3839426"/>
            <a:ext cx="1016000" cy="10160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785424" y="3949260"/>
            <a:ext cx="1475999" cy="369332"/>
          </a:xfrm>
          <a:prstGeom prst="rect">
            <a:avLst/>
          </a:prstGeom>
          <a:solidFill>
            <a:schemeClr val="accent1"/>
          </a:solidFill>
        </p:spPr>
        <p:txBody>
          <a:bodyPr wrap="none" rtlCol="0">
            <a:no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Programming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9362068" y="6133939"/>
            <a:ext cx="463826" cy="23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0.98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7808583" y="5453132"/>
            <a:ext cx="14120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Probabilities:</a:t>
            </a:r>
          </a:p>
        </p:txBody>
      </p:sp>
      <p:pic>
        <p:nvPicPr>
          <p:cNvPr id="47" name="Picture 4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131666" y="7584190"/>
            <a:ext cx="1130986" cy="1130986"/>
          </a:xfrm>
          <a:prstGeom prst="rect">
            <a:avLst/>
          </a:prstGeom>
        </p:spPr>
      </p:pic>
      <p:cxnSp>
        <p:nvCxnSpPr>
          <p:cNvPr id="51" name="Straight Arrow Connector 50"/>
          <p:cNvCxnSpPr/>
          <p:nvPr/>
        </p:nvCxnSpPr>
        <p:spPr>
          <a:xfrm>
            <a:off x="24383245" y="6555398"/>
            <a:ext cx="1647317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24725810" y="6016266"/>
            <a:ext cx="930063" cy="369332"/>
          </a:xfrm>
          <a:prstGeom prst="rect">
            <a:avLst/>
          </a:prstGeom>
          <a:solidFill>
            <a:schemeClr val="accent1"/>
          </a:solidFill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Ranking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1263125" y="5797002"/>
            <a:ext cx="2566055" cy="102896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Syntax-bonding Probabilities</a:t>
            </a:r>
          </a:p>
        </p:txBody>
      </p:sp>
      <p:sp>
        <p:nvSpPr>
          <p:cNvPr id="55" name="Triangle 54"/>
          <p:cNvSpPr/>
          <p:nvPr/>
        </p:nvSpPr>
        <p:spPr>
          <a:xfrm rot="10800000">
            <a:off x="21233887" y="6815372"/>
            <a:ext cx="2094696" cy="683382"/>
          </a:xfrm>
          <a:custGeom>
            <a:avLst/>
            <a:gdLst>
              <a:gd name="connsiteX0" fmla="*/ 0 w 3404751"/>
              <a:gd name="connsiteY0" fmla="*/ 3632919 h 3632919"/>
              <a:gd name="connsiteX1" fmla="*/ 3404751 w 3404751"/>
              <a:gd name="connsiteY1" fmla="*/ 0 h 3632919"/>
              <a:gd name="connsiteX2" fmla="*/ 3404751 w 3404751"/>
              <a:gd name="connsiteY2" fmla="*/ 3632919 h 3632919"/>
              <a:gd name="connsiteX3" fmla="*/ 0 w 3404751"/>
              <a:gd name="connsiteY3" fmla="*/ 3632919 h 3632919"/>
              <a:gd name="connsiteX0-1" fmla="*/ 0 w 3404751"/>
              <a:gd name="connsiteY0-2" fmla="*/ 3632919 h 3632919"/>
              <a:gd name="connsiteX1-3" fmla="*/ 3404751 w 3404751"/>
              <a:gd name="connsiteY1-4" fmla="*/ 0 h 3632919"/>
              <a:gd name="connsiteX2-5" fmla="*/ 1982351 w 3404751"/>
              <a:gd name="connsiteY2-6" fmla="*/ 3632919 h 3632919"/>
              <a:gd name="connsiteX3-7" fmla="*/ 0 w 3404751"/>
              <a:gd name="connsiteY3-8" fmla="*/ 3632919 h 3632919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</a:cxnLst>
            <a:rect l="l" t="t" r="r" b="b"/>
            <a:pathLst>
              <a:path w="3404751" h="3632919">
                <a:moveTo>
                  <a:pt x="0" y="3632919"/>
                </a:moveTo>
                <a:lnTo>
                  <a:pt x="3404751" y="0"/>
                </a:lnTo>
                <a:lnTo>
                  <a:pt x="1982351" y="3632919"/>
                </a:lnTo>
                <a:lnTo>
                  <a:pt x="0" y="3632919"/>
                </a:lnTo>
                <a:close/>
              </a:path>
            </a:pathLst>
          </a:cu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6" name="TextBox 95"/>
          <p:cNvSpPr txBox="1"/>
          <p:nvPr/>
        </p:nvSpPr>
        <p:spPr>
          <a:xfrm>
            <a:off x="17852304" y="6022203"/>
            <a:ext cx="13188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1st</a:t>
            </a:r>
            <a:r>
              <a:rPr lang="zh-CN" altLang="en-US" dirty="0"/>
              <a:t> </a:t>
            </a:r>
            <a:r>
              <a:rPr lang="en-US" altLang="zh-CN" dirty="0"/>
              <a:t>iteration</a:t>
            </a:r>
            <a:endParaRPr lang="en-US" dirty="0"/>
          </a:p>
        </p:txBody>
      </p:sp>
      <p:sp>
        <p:nvSpPr>
          <p:cNvPr id="103" name="TextBox 102"/>
          <p:cNvSpPr txBox="1"/>
          <p:nvPr/>
        </p:nvSpPr>
        <p:spPr>
          <a:xfrm>
            <a:off x="20696897" y="8827555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17728868" y="5334511"/>
            <a:ext cx="6402505" cy="3818241"/>
          </a:xfrm>
          <a:prstGeom prst="roundRect">
            <a:avLst>
              <a:gd name="adj" fmla="val 2546"/>
            </a:avLst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36" name="Straight Arrow Connector 135"/>
          <p:cNvCxnSpPr/>
          <p:nvPr/>
        </p:nvCxnSpPr>
        <p:spPr>
          <a:xfrm>
            <a:off x="27073994" y="7773031"/>
            <a:ext cx="0" cy="87575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7" name="TextBox 136"/>
          <p:cNvSpPr txBox="1"/>
          <p:nvPr/>
        </p:nvSpPr>
        <p:spPr>
          <a:xfrm>
            <a:off x="27389366" y="8054304"/>
            <a:ext cx="3667222" cy="369332"/>
          </a:xfrm>
          <a:prstGeom prst="rect">
            <a:avLst/>
          </a:prstGeom>
          <a:solidFill>
            <a:schemeClr val="accent1"/>
          </a:solidFill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Truncating and </a:t>
            </a:r>
            <a:r>
              <a:rPr lang="en-US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Averaging (Summing?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18136" y="3811155"/>
            <a:ext cx="3996000" cy="1154887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r>
              <a:rPr lang="en-US" sz="1100" dirty="0">
                <a:solidFill>
                  <a:srgbClr val="0000FF"/>
                </a:solidFill>
                <a:latin typeface="Menlo" panose="020B0609030804020204" pitchFamily="49" charset="0"/>
              </a:rPr>
              <a:t>def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 </a:t>
            </a:r>
            <a:r>
              <a:rPr lang="en-US" sz="1100" dirty="0">
                <a:solidFill>
                  <a:srgbClr val="795E26"/>
                </a:solidFill>
                <a:latin typeface="Menlo" panose="020B0609030804020204" pitchFamily="49" charset="0"/>
              </a:rPr>
              <a:t>add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(</a:t>
            </a:r>
            <a:r>
              <a:rPr lang="en-US" sz="1100" dirty="0">
                <a:solidFill>
                  <a:srgbClr val="001080"/>
                </a:solidFill>
                <a:latin typeface="Menlo" panose="020B0609030804020204" pitchFamily="49" charset="0"/>
              </a:rPr>
              <a:t>self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, </a:t>
            </a:r>
            <a:r>
              <a:rPr lang="en-US" sz="1100" dirty="0">
                <a:solidFill>
                  <a:srgbClr val="001080"/>
                </a:solidFill>
                <a:latin typeface="Menlo" panose="020B0609030804020204" pitchFamily="49" charset="0"/>
              </a:rPr>
              <a:t>row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):</a:t>
            </a:r>
          </a:p>
          <a:p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	…</a:t>
            </a:r>
          </a:p>
          <a:p>
            <a:r>
              <a:rPr lang="en-US" sz="1100" dirty="0">
                <a:solidFill>
                  <a:srgbClr val="AF00DB"/>
                </a:solidFill>
                <a:latin typeface="Menlo" panose="020B0609030804020204" pitchFamily="49" charset="0"/>
              </a:rPr>
              <a:t>	for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 </a:t>
            </a:r>
            <a:r>
              <a:rPr lang="en-US" sz="1100" dirty="0" err="1">
                <a:solidFill>
                  <a:srgbClr val="001080"/>
                </a:solidFill>
                <a:latin typeface="Menlo" panose="020B0609030804020204" pitchFamily="49" charset="0"/>
              </a:rPr>
              <a:t>i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, </a:t>
            </a:r>
            <a:r>
              <a:rPr lang="en-US" sz="1100" dirty="0">
                <a:solidFill>
                  <a:srgbClr val="001080"/>
                </a:solidFill>
                <a:latin typeface="Menlo" panose="020B0609030804020204" pitchFamily="49" charset="0"/>
              </a:rPr>
              <a:t>f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 </a:t>
            </a:r>
            <a:r>
              <a:rPr lang="en-US" sz="1100" dirty="0">
                <a:solidFill>
                  <a:srgbClr val="AF00DB"/>
                </a:solidFill>
                <a:latin typeface="Menlo" panose="020B0609030804020204" pitchFamily="49" charset="0"/>
              </a:rPr>
              <a:t>in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 </a:t>
            </a:r>
            <a:r>
              <a:rPr lang="en-US" sz="1100" dirty="0">
                <a:solidFill>
                  <a:srgbClr val="267F99"/>
                </a:solidFill>
                <a:latin typeface="Menlo" panose="020B0609030804020204" pitchFamily="49" charset="0"/>
              </a:rPr>
              <a:t>enumerate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(</a:t>
            </a:r>
            <a:r>
              <a:rPr lang="en-US" sz="1100" dirty="0">
                <a:solidFill>
                  <a:srgbClr val="001080"/>
                </a:solidFill>
                <a:latin typeface="Menlo" panose="020B0609030804020204" pitchFamily="49" charset="0"/>
              </a:rPr>
              <a:t>row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):</a:t>
            </a:r>
          </a:p>
          <a:p>
            <a:r>
              <a:rPr lang="en-US" sz="1100" dirty="0">
                <a:solidFill>
                  <a:srgbClr val="AF00DB"/>
                </a:solidFill>
                <a:latin typeface="Menlo" panose="020B0609030804020204" pitchFamily="49" charset="0"/>
              </a:rPr>
              <a:t>		if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 </a:t>
            </a:r>
            <a:r>
              <a:rPr lang="en-US" sz="1100" dirty="0" err="1">
                <a:solidFill>
                  <a:srgbClr val="795E26"/>
                </a:solidFill>
                <a:latin typeface="Menlo" panose="020B0609030804020204" pitchFamily="49" charset="0"/>
              </a:rPr>
              <a:t>len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(</a:t>
            </a:r>
            <a:r>
              <a:rPr lang="en-US" sz="1100" dirty="0">
                <a:solidFill>
                  <a:srgbClr val="001080"/>
                </a:solidFill>
                <a:latin typeface="Menlo" panose="020B0609030804020204" pitchFamily="49" charset="0"/>
              </a:rPr>
              <a:t>f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) </a:t>
            </a:r>
            <a:r>
              <a:rPr lang="en-US" sz="1100" dirty="0">
                <a:solidFill>
                  <a:srgbClr val="000000"/>
                </a:solidFill>
                <a:latin typeface="Menlo" panose="020B0609030804020204" pitchFamily="49" charset="0"/>
              </a:rPr>
              <a:t>&gt;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 </a:t>
            </a:r>
            <a:r>
              <a:rPr lang="en-US" sz="1100" dirty="0" err="1">
                <a:solidFill>
                  <a:srgbClr val="001080"/>
                </a:solidFill>
                <a:latin typeface="Menlo" panose="020B0609030804020204" pitchFamily="49" charset="0"/>
              </a:rPr>
              <a:t>self</a:t>
            </a:r>
            <a:r>
              <a:rPr lang="en-US" sz="1100" dirty="0" err="1">
                <a:solidFill>
                  <a:srgbClr val="3B3B3B"/>
                </a:solidFill>
                <a:latin typeface="Menlo" panose="020B0609030804020204" pitchFamily="49" charset="0"/>
              </a:rPr>
              <a:t>.max_col_size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[</a:t>
            </a:r>
            <a:r>
              <a:rPr lang="en-US" sz="1100" dirty="0" err="1">
                <a:solidFill>
                  <a:srgbClr val="001080"/>
                </a:solidFill>
                <a:latin typeface="Menlo" panose="020B0609030804020204" pitchFamily="49" charset="0"/>
              </a:rPr>
              <a:t>i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]: </a:t>
            </a:r>
          </a:p>
          <a:p>
            <a:r>
              <a:rPr lang="en-US" sz="1100" dirty="0">
                <a:solidFill>
                  <a:srgbClr val="001080"/>
                </a:solidFill>
                <a:latin typeface="Menlo" panose="020B0609030804020204" pitchFamily="49" charset="0"/>
              </a:rPr>
              <a:t>			</a:t>
            </a:r>
            <a:r>
              <a:rPr lang="en-US" sz="1100" dirty="0" err="1">
                <a:solidFill>
                  <a:srgbClr val="001080"/>
                </a:solidFill>
                <a:latin typeface="Menlo" panose="020B0609030804020204" pitchFamily="49" charset="0"/>
              </a:rPr>
              <a:t>self</a:t>
            </a:r>
            <a:r>
              <a:rPr lang="en-US" sz="1100" dirty="0" err="1">
                <a:solidFill>
                  <a:srgbClr val="3B3B3B"/>
                </a:solidFill>
                <a:latin typeface="Menlo" panose="020B0609030804020204" pitchFamily="49" charset="0"/>
              </a:rPr>
              <a:t>.max_col_size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[</a:t>
            </a:r>
            <a:r>
              <a:rPr lang="en-US" sz="1100" dirty="0" err="1">
                <a:solidFill>
                  <a:srgbClr val="001080"/>
                </a:solidFill>
                <a:latin typeface="Menlo" panose="020B0609030804020204" pitchFamily="49" charset="0"/>
              </a:rPr>
              <a:t>i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] </a:t>
            </a:r>
            <a:r>
              <a:rPr lang="en-US" sz="1100" dirty="0">
                <a:solidFill>
                  <a:srgbClr val="000000"/>
                </a:solidFill>
                <a:latin typeface="Menlo" panose="020B0609030804020204" pitchFamily="49" charset="0"/>
              </a:rPr>
              <a:t>=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 </a:t>
            </a:r>
            <a:r>
              <a:rPr lang="en-US" sz="1100" dirty="0" err="1">
                <a:solidFill>
                  <a:srgbClr val="795E26"/>
                </a:solidFill>
                <a:latin typeface="Menlo" panose="020B0609030804020204" pitchFamily="49" charset="0"/>
              </a:rPr>
              <a:t>len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(</a:t>
            </a:r>
            <a:r>
              <a:rPr lang="en-US" sz="1100" dirty="0">
                <a:solidFill>
                  <a:srgbClr val="001080"/>
                </a:solidFill>
                <a:latin typeface="Menlo" panose="020B0609030804020204" pitchFamily="49" charset="0"/>
              </a:rPr>
              <a:t>f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) </a:t>
            </a:r>
          </a:p>
          <a:p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	… </a:t>
            </a:r>
          </a:p>
        </p:txBody>
      </p:sp>
      <p:pic>
        <p:nvPicPr>
          <p:cNvPr id="463" name="Picture 46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94618" y="7575146"/>
            <a:ext cx="690099" cy="690099"/>
          </a:xfrm>
          <a:prstGeom prst="rect">
            <a:avLst/>
          </a:prstGeom>
        </p:spPr>
      </p:pic>
      <p:pic>
        <p:nvPicPr>
          <p:cNvPr id="464" name="Picture 463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45756" y="7983387"/>
            <a:ext cx="690099" cy="690099"/>
          </a:xfrm>
          <a:prstGeom prst="rect">
            <a:avLst/>
          </a:prstGeom>
        </p:spPr>
      </p:pic>
      <p:pic>
        <p:nvPicPr>
          <p:cNvPr id="465" name="Picture 46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37729" y="7988359"/>
            <a:ext cx="690099" cy="690099"/>
          </a:xfrm>
          <a:prstGeom prst="rect">
            <a:avLst/>
          </a:prstGeom>
        </p:spPr>
      </p:pic>
      <p:sp>
        <p:nvSpPr>
          <p:cNvPr id="468" name="TextBox 467"/>
          <p:cNvSpPr txBox="1"/>
          <p:nvPr/>
        </p:nvSpPr>
        <p:spPr>
          <a:xfrm>
            <a:off x="4844626" y="8013814"/>
            <a:ext cx="1475999" cy="369332"/>
          </a:xfrm>
          <a:prstGeom prst="rect">
            <a:avLst/>
          </a:prstGeom>
          <a:solidFill>
            <a:schemeClr val="accent1"/>
          </a:solidFill>
        </p:spPr>
        <p:txBody>
          <a:bodyPr wrap="none" rtlCol="0">
            <a:no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Collecting</a:t>
            </a:r>
          </a:p>
        </p:txBody>
      </p:sp>
      <p:sp>
        <p:nvSpPr>
          <p:cNvPr id="469" name="TextBox 468"/>
          <p:cNvSpPr txBox="1"/>
          <p:nvPr/>
        </p:nvSpPr>
        <p:spPr>
          <a:xfrm>
            <a:off x="6560038" y="8724771"/>
            <a:ext cx="13235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Codebase</a:t>
            </a:r>
          </a:p>
        </p:txBody>
      </p:sp>
      <p:cxnSp>
        <p:nvCxnSpPr>
          <p:cNvPr id="473" name="Straight Arrow Connector 472"/>
          <p:cNvCxnSpPr/>
          <p:nvPr/>
        </p:nvCxnSpPr>
        <p:spPr>
          <a:xfrm>
            <a:off x="14768139" y="5535668"/>
            <a:ext cx="0" cy="1655999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6" name="Cross 475"/>
          <p:cNvSpPr/>
          <p:nvPr/>
        </p:nvSpPr>
        <p:spPr>
          <a:xfrm>
            <a:off x="1790608" y="4204167"/>
            <a:ext cx="398174" cy="396349"/>
          </a:xfrm>
          <a:prstGeom prst="plus">
            <a:avLst>
              <a:gd name="adj" fmla="val 37729"/>
            </a:avLst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84" name="TextBox 483"/>
          <p:cNvSpPr txBox="1"/>
          <p:nvPr/>
        </p:nvSpPr>
        <p:spPr>
          <a:xfrm>
            <a:off x="15190341" y="6754864"/>
            <a:ext cx="153886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Variable Token Resumption</a:t>
            </a:r>
          </a:p>
        </p:txBody>
      </p:sp>
      <p:pic>
        <p:nvPicPr>
          <p:cNvPr id="486" name="Picture 485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549924" y="13036598"/>
            <a:ext cx="1071702" cy="1071702"/>
          </a:xfrm>
          <a:prstGeom prst="rect">
            <a:avLst/>
          </a:prstGeom>
        </p:spPr>
      </p:pic>
      <p:sp>
        <p:nvSpPr>
          <p:cNvPr id="546" name="TextBox 545"/>
          <p:cNvSpPr txBox="1"/>
          <p:nvPr/>
        </p:nvSpPr>
        <p:spPr>
          <a:xfrm>
            <a:off x="13998901" y="5016268"/>
            <a:ext cx="15388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Code Tokens</a:t>
            </a:r>
          </a:p>
        </p:txBody>
      </p:sp>
      <p:sp>
        <p:nvSpPr>
          <p:cNvPr id="547" name="TextBox 546"/>
          <p:cNvSpPr txBox="1"/>
          <p:nvPr/>
        </p:nvSpPr>
        <p:spPr>
          <a:xfrm>
            <a:off x="14087723" y="8724771"/>
            <a:ext cx="15388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Code Tokens</a:t>
            </a:r>
          </a:p>
        </p:txBody>
      </p:sp>
      <p:cxnSp>
        <p:nvCxnSpPr>
          <p:cNvPr id="551" name="Straight Arrow Connector 550"/>
          <p:cNvCxnSpPr/>
          <p:nvPr/>
        </p:nvCxnSpPr>
        <p:spPr>
          <a:xfrm>
            <a:off x="5955296" y="12239087"/>
            <a:ext cx="4032000" cy="0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4" name="Elbow Connector 553"/>
          <p:cNvCxnSpPr>
            <a:stCxn id="47" idx="3"/>
            <a:endCxn id="48" idx="1"/>
          </p:cNvCxnSpPr>
          <p:nvPr/>
        </p:nvCxnSpPr>
        <p:spPr>
          <a:xfrm flipV="1">
            <a:off x="11262652" y="4387361"/>
            <a:ext cx="1600688" cy="3762322"/>
          </a:xfrm>
          <a:prstGeom prst="bentConnector3">
            <a:avLst>
              <a:gd name="adj1" fmla="val 50000"/>
            </a:avLst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7" name="TextBox 556"/>
          <p:cNvSpPr txBox="1"/>
          <p:nvPr/>
        </p:nvSpPr>
        <p:spPr>
          <a:xfrm>
            <a:off x="11293562" y="5868338"/>
            <a:ext cx="1475999" cy="369332"/>
          </a:xfrm>
          <a:prstGeom prst="rect">
            <a:avLst/>
          </a:prstGeom>
          <a:solidFill>
            <a:schemeClr val="accent1"/>
          </a:solidFill>
        </p:spPr>
        <p:txBody>
          <a:bodyPr wrap="square" rtlCol="0">
            <a:no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Tokenizing</a:t>
            </a:r>
          </a:p>
        </p:txBody>
      </p:sp>
      <p:sp>
        <p:nvSpPr>
          <p:cNvPr id="605" name="TextBox 604"/>
          <p:cNvSpPr txBox="1"/>
          <p:nvPr/>
        </p:nvSpPr>
        <p:spPr>
          <a:xfrm>
            <a:off x="18226883" y="4879711"/>
            <a:ext cx="305656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795E26"/>
                </a:solidFill>
                <a:latin typeface="Menlo" panose="020B0609030804020204" pitchFamily="49" charset="0"/>
              </a:rPr>
              <a:t>add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606" name="TextBox 605"/>
          <p:cNvSpPr txBox="1"/>
          <p:nvPr/>
        </p:nvSpPr>
        <p:spPr>
          <a:xfrm>
            <a:off x="18707830" y="4879711"/>
            <a:ext cx="312068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001080"/>
                </a:solidFill>
              </a:rPr>
              <a:t>self</a:t>
            </a:r>
            <a:endParaRPr lang="en-US" sz="900" dirty="0">
              <a:solidFill>
                <a:srgbClr val="3B3B3B"/>
              </a:solidFill>
            </a:endParaRPr>
          </a:p>
        </p:txBody>
      </p:sp>
      <p:sp>
        <p:nvSpPr>
          <p:cNvPr id="607" name="TextBox 606"/>
          <p:cNvSpPr txBox="1"/>
          <p:nvPr/>
        </p:nvSpPr>
        <p:spPr>
          <a:xfrm>
            <a:off x="18567545" y="4879711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3B3B3B"/>
                </a:solidFill>
              </a:rPr>
              <a:t>(</a:t>
            </a:r>
          </a:p>
        </p:txBody>
      </p:sp>
      <p:sp>
        <p:nvSpPr>
          <p:cNvPr id="608" name="TextBox 607"/>
          <p:cNvSpPr txBox="1"/>
          <p:nvPr/>
        </p:nvSpPr>
        <p:spPr>
          <a:xfrm>
            <a:off x="19751480" y="4879711"/>
            <a:ext cx="174210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D7BA7D"/>
                </a:solidFill>
                <a:latin typeface="Menlo" panose="020B0609030804020204" pitchFamily="49" charset="0"/>
              </a:rPr>
              <a:t>\n</a:t>
            </a:r>
          </a:p>
        </p:txBody>
      </p:sp>
      <p:sp>
        <p:nvSpPr>
          <p:cNvPr id="609" name="TextBox 608"/>
          <p:cNvSpPr txBox="1"/>
          <p:nvPr/>
        </p:nvSpPr>
        <p:spPr>
          <a:xfrm>
            <a:off x="19054904" y="4879711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/>
              <a:t>,</a:t>
            </a:r>
          </a:p>
        </p:txBody>
      </p:sp>
      <p:sp>
        <p:nvSpPr>
          <p:cNvPr id="610" name="TextBox 609"/>
          <p:cNvSpPr txBox="1"/>
          <p:nvPr/>
        </p:nvSpPr>
        <p:spPr>
          <a:xfrm>
            <a:off x="19195189" y="4879711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row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611" name="TextBox 610"/>
          <p:cNvSpPr txBox="1"/>
          <p:nvPr/>
        </p:nvSpPr>
        <p:spPr>
          <a:xfrm>
            <a:off x="19542262" y="4879711"/>
            <a:ext cx="174210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3B3B3B"/>
                </a:solidFill>
              </a:rPr>
              <a:t>):</a:t>
            </a:r>
          </a:p>
        </p:txBody>
      </p:sp>
      <p:sp>
        <p:nvSpPr>
          <p:cNvPr id="612" name="TextBox 611"/>
          <p:cNvSpPr txBox="1"/>
          <p:nvPr/>
        </p:nvSpPr>
        <p:spPr>
          <a:xfrm>
            <a:off x="20340497" y="4879711"/>
            <a:ext cx="243139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AF00DB"/>
                </a:solidFill>
                <a:latin typeface="Menlo" panose="020B0609030804020204" pitchFamily="49" charset="0"/>
              </a:rPr>
              <a:t>for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613" name="TextBox 612"/>
          <p:cNvSpPr txBox="1"/>
          <p:nvPr/>
        </p:nvSpPr>
        <p:spPr>
          <a:xfrm>
            <a:off x="20623248" y="4879711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 err="1">
                <a:solidFill>
                  <a:srgbClr val="001080"/>
                </a:solidFill>
                <a:latin typeface="Menlo" panose="020B0609030804020204" pitchFamily="49" charset="0"/>
              </a:rPr>
              <a:t>i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614" name="TextBox 613"/>
          <p:cNvSpPr txBox="1"/>
          <p:nvPr/>
        </p:nvSpPr>
        <p:spPr>
          <a:xfrm>
            <a:off x="20837072" y="4879711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,</a:t>
            </a:r>
          </a:p>
        </p:txBody>
      </p:sp>
      <p:sp>
        <p:nvSpPr>
          <p:cNvPr id="615" name="TextBox 614"/>
          <p:cNvSpPr txBox="1"/>
          <p:nvPr/>
        </p:nvSpPr>
        <p:spPr>
          <a:xfrm>
            <a:off x="20981965" y="4879711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f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616" name="TextBox 615"/>
          <p:cNvSpPr txBox="1"/>
          <p:nvPr/>
        </p:nvSpPr>
        <p:spPr>
          <a:xfrm>
            <a:off x="21195789" y="4879711"/>
            <a:ext cx="24313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AF00DB"/>
                </a:solidFill>
                <a:latin typeface="Menlo" panose="020B0609030804020204" pitchFamily="49" charset="0"/>
              </a:rPr>
              <a:t>in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617" name="TextBox 616"/>
          <p:cNvSpPr txBox="1"/>
          <p:nvPr/>
        </p:nvSpPr>
        <p:spPr>
          <a:xfrm>
            <a:off x="21478541" y="4879711"/>
            <a:ext cx="71923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267F99"/>
                </a:solidFill>
                <a:latin typeface="Menlo" panose="020B0609030804020204" pitchFamily="49" charset="0"/>
              </a:rPr>
              <a:t>enumerate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618" name="TextBox 617"/>
          <p:cNvSpPr txBox="1"/>
          <p:nvPr/>
        </p:nvSpPr>
        <p:spPr>
          <a:xfrm>
            <a:off x="22237385" y="4879711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(</a:t>
            </a:r>
          </a:p>
        </p:txBody>
      </p:sp>
      <p:sp>
        <p:nvSpPr>
          <p:cNvPr id="619" name="TextBox 618"/>
          <p:cNvSpPr txBox="1"/>
          <p:nvPr/>
        </p:nvSpPr>
        <p:spPr>
          <a:xfrm>
            <a:off x="22382279" y="4879711"/>
            <a:ext cx="243139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row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620" name="TextBox 619"/>
          <p:cNvSpPr txBox="1"/>
          <p:nvPr/>
        </p:nvSpPr>
        <p:spPr>
          <a:xfrm>
            <a:off x="22665030" y="4879711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):</a:t>
            </a:r>
          </a:p>
        </p:txBody>
      </p:sp>
      <p:sp>
        <p:nvSpPr>
          <p:cNvPr id="621" name="TextBox 620"/>
          <p:cNvSpPr txBox="1"/>
          <p:nvPr/>
        </p:nvSpPr>
        <p:spPr>
          <a:xfrm>
            <a:off x="23718563" y="4879711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AF00DB"/>
                </a:solidFill>
                <a:latin typeface="Menlo" panose="020B0609030804020204" pitchFamily="49" charset="0"/>
              </a:rPr>
              <a:t>if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622" name="TextBox 621"/>
          <p:cNvSpPr txBox="1"/>
          <p:nvPr/>
        </p:nvSpPr>
        <p:spPr>
          <a:xfrm>
            <a:off x="23923498" y="4879711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 err="1">
                <a:solidFill>
                  <a:srgbClr val="795E26"/>
                </a:solidFill>
                <a:latin typeface="Menlo" panose="020B0609030804020204" pitchFamily="49" charset="0"/>
              </a:rPr>
              <a:t>len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623" name="TextBox 622"/>
          <p:cNvSpPr txBox="1"/>
          <p:nvPr/>
        </p:nvSpPr>
        <p:spPr>
          <a:xfrm>
            <a:off x="24266291" y="4879711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CE9178"/>
                </a:solidFill>
                <a:latin typeface="Menlo" panose="020B0609030804020204" pitchFamily="49" charset="0"/>
              </a:rPr>
              <a:t>(</a:t>
            </a:r>
            <a:endParaRPr lang="en-US" sz="900" dirty="0">
              <a:solidFill>
                <a:srgbClr val="CCCCCC"/>
              </a:solidFill>
              <a:latin typeface="Menlo" panose="020B0609030804020204" pitchFamily="49" charset="0"/>
            </a:endParaRPr>
          </a:p>
        </p:txBody>
      </p:sp>
      <p:sp>
        <p:nvSpPr>
          <p:cNvPr id="624" name="TextBox 623"/>
          <p:cNvSpPr txBox="1"/>
          <p:nvPr/>
        </p:nvSpPr>
        <p:spPr>
          <a:xfrm>
            <a:off x="24402297" y="4879711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CE9178"/>
                </a:solidFill>
                <a:latin typeface="Menlo" panose="020B0609030804020204" pitchFamily="49" charset="0"/>
              </a:rPr>
              <a:t>f</a:t>
            </a:r>
            <a:endParaRPr lang="en-US" sz="900" dirty="0">
              <a:solidFill>
                <a:srgbClr val="CCCCCC"/>
              </a:solidFill>
              <a:latin typeface="Menlo" panose="020B0609030804020204" pitchFamily="49" charset="0"/>
            </a:endParaRPr>
          </a:p>
        </p:txBody>
      </p:sp>
      <p:sp>
        <p:nvSpPr>
          <p:cNvPr id="625" name="TextBox 624"/>
          <p:cNvSpPr txBox="1"/>
          <p:nvPr/>
        </p:nvSpPr>
        <p:spPr>
          <a:xfrm>
            <a:off x="24538303" y="4879711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CE9178"/>
                </a:solidFill>
                <a:latin typeface="Menlo" panose="020B0609030804020204" pitchFamily="49" charset="0"/>
              </a:rPr>
              <a:t>)</a:t>
            </a:r>
            <a:endParaRPr lang="en-US" sz="900" dirty="0">
              <a:solidFill>
                <a:srgbClr val="CCCCCC"/>
              </a:solidFill>
              <a:latin typeface="Menlo" panose="020B0609030804020204" pitchFamily="49" charset="0"/>
            </a:endParaRPr>
          </a:p>
        </p:txBody>
      </p:sp>
      <p:sp>
        <p:nvSpPr>
          <p:cNvPr id="626" name="TextBox 625"/>
          <p:cNvSpPr txBox="1"/>
          <p:nvPr/>
        </p:nvSpPr>
        <p:spPr>
          <a:xfrm>
            <a:off x="24674309" y="4879711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000000"/>
                </a:solidFill>
                <a:latin typeface="Menlo" panose="020B0609030804020204" pitchFamily="49" charset="0"/>
              </a:rPr>
              <a:t>&gt;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627" name="TextBox 626"/>
          <p:cNvSpPr txBox="1"/>
          <p:nvPr/>
        </p:nvSpPr>
        <p:spPr>
          <a:xfrm>
            <a:off x="24879244" y="4879711"/>
            <a:ext cx="38099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self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628" name="TextBox 627"/>
          <p:cNvSpPr txBox="1"/>
          <p:nvPr/>
        </p:nvSpPr>
        <p:spPr>
          <a:xfrm>
            <a:off x="25290967" y="4879711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.</a:t>
            </a:r>
          </a:p>
        </p:txBody>
      </p:sp>
      <p:sp>
        <p:nvSpPr>
          <p:cNvPr id="629" name="TextBox 628"/>
          <p:cNvSpPr txBox="1"/>
          <p:nvPr/>
        </p:nvSpPr>
        <p:spPr>
          <a:xfrm>
            <a:off x="25426973" y="4879711"/>
            <a:ext cx="863502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 err="1">
                <a:solidFill>
                  <a:srgbClr val="3B3B3B"/>
                </a:solidFill>
                <a:latin typeface="Menlo" panose="020B0609030804020204" pitchFamily="49" charset="0"/>
              </a:rPr>
              <a:t>max_col_size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631" name="TextBox 630"/>
          <p:cNvSpPr txBox="1"/>
          <p:nvPr/>
        </p:nvSpPr>
        <p:spPr>
          <a:xfrm>
            <a:off x="26321200" y="4879711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[</a:t>
            </a:r>
          </a:p>
        </p:txBody>
      </p:sp>
      <p:sp>
        <p:nvSpPr>
          <p:cNvPr id="632" name="TextBox 631"/>
          <p:cNvSpPr txBox="1"/>
          <p:nvPr/>
        </p:nvSpPr>
        <p:spPr>
          <a:xfrm>
            <a:off x="26457206" y="4879711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 err="1">
                <a:solidFill>
                  <a:srgbClr val="001080"/>
                </a:solidFill>
                <a:latin typeface="Menlo" panose="020B0609030804020204" pitchFamily="49" charset="0"/>
              </a:rPr>
              <a:t>i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633" name="TextBox 632"/>
          <p:cNvSpPr txBox="1"/>
          <p:nvPr/>
        </p:nvSpPr>
        <p:spPr>
          <a:xfrm>
            <a:off x="26593212" y="4879711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]:</a:t>
            </a:r>
          </a:p>
        </p:txBody>
      </p:sp>
      <p:sp>
        <p:nvSpPr>
          <p:cNvPr id="634" name="TextBox 633"/>
          <p:cNvSpPr txBox="1"/>
          <p:nvPr/>
        </p:nvSpPr>
        <p:spPr>
          <a:xfrm>
            <a:off x="22878855" y="4879711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D7BA7D"/>
                </a:solidFill>
                <a:latin typeface="Menlo" panose="020B0609030804020204" pitchFamily="49" charset="0"/>
              </a:rPr>
              <a:t>\n</a:t>
            </a:r>
          </a:p>
        </p:txBody>
      </p:sp>
      <p:sp>
        <p:nvSpPr>
          <p:cNvPr id="635" name="TextBox 634"/>
          <p:cNvSpPr txBox="1"/>
          <p:nvPr/>
        </p:nvSpPr>
        <p:spPr>
          <a:xfrm>
            <a:off x="26798152" y="4879711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D7BA7D"/>
                </a:solidFill>
                <a:latin typeface="Menlo" panose="020B0609030804020204" pitchFamily="49" charset="0"/>
              </a:rPr>
              <a:t>\n</a:t>
            </a:r>
          </a:p>
        </p:txBody>
      </p:sp>
      <p:sp>
        <p:nvSpPr>
          <p:cNvPr id="645" name="TextBox 644"/>
          <p:cNvSpPr txBox="1"/>
          <p:nvPr/>
        </p:nvSpPr>
        <p:spPr>
          <a:xfrm>
            <a:off x="20012883" y="4879711"/>
            <a:ext cx="288000" cy="2304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⌷⌷⌷⌷</a:t>
            </a:r>
          </a:p>
        </p:txBody>
      </p:sp>
      <p:sp>
        <p:nvSpPr>
          <p:cNvPr id="646" name="TextBox 645"/>
          <p:cNvSpPr txBox="1"/>
          <p:nvPr/>
        </p:nvSpPr>
        <p:spPr>
          <a:xfrm>
            <a:off x="23081113" y="4879711"/>
            <a:ext cx="2880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⌷⌷⌷⌷</a:t>
            </a:r>
          </a:p>
        </p:txBody>
      </p:sp>
      <p:sp>
        <p:nvSpPr>
          <p:cNvPr id="647" name="TextBox 646"/>
          <p:cNvSpPr txBox="1"/>
          <p:nvPr/>
        </p:nvSpPr>
        <p:spPr>
          <a:xfrm>
            <a:off x="23399838" y="4879711"/>
            <a:ext cx="2880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⌷⌷⌷⌷</a:t>
            </a:r>
          </a:p>
        </p:txBody>
      </p:sp>
      <p:sp>
        <p:nvSpPr>
          <p:cNvPr id="652" name="TextBox 651"/>
          <p:cNvSpPr txBox="1"/>
          <p:nvPr/>
        </p:nvSpPr>
        <p:spPr>
          <a:xfrm>
            <a:off x="17938396" y="4225969"/>
            <a:ext cx="15388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Code Tokens</a:t>
            </a:r>
          </a:p>
        </p:txBody>
      </p:sp>
      <p:sp>
        <p:nvSpPr>
          <p:cNvPr id="653" name="TextBox 652"/>
          <p:cNvSpPr txBox="1"/>
          <p:nvPr/>
        </p:nvSpPr>
        <p:spPr>
          <a:xfrm>
            <a:off x="15009475" y="5868338"/>
            <a:ext cx="2159597" cy="369332"/>
          </a:xfrm>
          <a:prstGeom prst="rect">
            <a:avLst/>
          </a:prstGeom>
          <a:solidFill>
            <a:schemeClr val="accent1"/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Variable</a:t>
            </a:r>
            <a:r>
              <a:rPr lang="zh-CN" altLang="en-US" dirty="0">
                <a:solidFill>
                  <a:schemeClr val="bg1"/>
                </a:solidFill>
              </a:rPr>
              <a:t> </a:t>
            </a:r>
            <a:r>
              <a:rPr lang="en-US" altLang="zh-CN" dirty="0">
                <a:solidFill>
                  <a:schemeClr val="bg1"/>
                </a:solidFill>
              </a:rPr>
              <a:t>Resumption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654" name="Rectangle 653"/>
          <p:cNvSpPr/>
          <p:nvPr/>
        </p:nvSpPr>
        <p:spPr>
          <a:xfrm>
            <a:off x="19362068" y="6605314"/>
            <a:ext cx="463826" cy="23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0.98</a:t>
            </a:r>
          </a:p>
        </p:txBody>
      </p:sp>
      <p:sp>
        <p:nvSpPr>
          <p:cNvPr id="655" name="Rectangle 654"/>
          <p:cNvSpPr/>
          <p:nvPr/>
        </p:nvSpPr>
        <p:spPr>
          <a:xfrm>
            <a:off x="20068718" y="6605314"/>
            <a:ext cx="463826" cy="234000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0.01</a:t>
            </a:r>
          </a:p>
        </p:txBody>
      </p:sp>
      <p:sp>
        <p:nvSpPr>
          <p:cNvPr id="660" name="Rectangle 659"/>
          <p:cNvSpPr/>
          <p:nvPr/>
        </p:nvSpPr>
        <p:spPr>
          <a:xfrm>
            <a:off x="19362068" y="7055424"/>
            <a:ext cx="463826" cy="23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0.98</a:t>
            </a:r>
          </a:p>
        </p:txBody>
      </p:sp>
      <p:sp>
        <p:nvSpPr>
          <p:cNvPr id="661" name="Rectangle 660"/>
          <p:cNvSpPr/>
          <p:nvPr/>
        </p:nvSpPr>
        <p:spPr>
          <a:xfrm>
            <a:off x="20068718" y="7055424"/>
            <a:ext cx="463826" cy="234000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0.01</a:t>
            </a:r>
          </a:p>
        </p:txBody>
      </p:sp>
      <p:sp>
        <p:nvSpPr>
          <p:cNvPr id="662" name="Rectangle 661"/>
          <p:cNvSpPr/>
          <p:nvPr/>
        </p:nvSpPr>
        <p:spPr>
          <a:xfrm>
            <a:off x="20775368" y="7055424"/>
            <a:ext cx="463826" cy="23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0.08</a:t>
            </a:r>
          </a:p>
        </p:txBody>
      </p:sp>
      <p:sp>
        <p:nvSpPr>
          <p:cNvPr id="666" name="Rectangle 665"/>
          <p:cNvSpPr/>
          <p:nvPr/>
        </p:nvSpPr>
        <p:spPr>
          <a:xfrm>
            <a:off x="19362068" y="7526799"/>
            <a:ext cx="463826" cy="23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0.98</a:t>
            </a:r>
          </a:p>
        </p:txBody>
      </p:sp>
      <p:sp>
        <p:nvSpPr>
          <p:cNvPr id="667" name="Rectangle 666"/>
          <p:cNvSpPr/>
          <p:nvPr/>
        </p:nvSpPr>
        <p:spPr>
          <a:xfrm>
            <a:off x="20068718" y="7526799"/>
            <a:ext cx="463826" cy="234000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0.01</a:t>
            </a:r>
          </a:p>
        </p:txBody>
      </p:sp>
      <p:sp>
        <p:nvSpPr>
          <p:cNvPr id="668" name="Rectangle 667"/>
          <p:cNvSpPr/>
          <p:nvPr/>
        </p:nvSpPr>
        <p:spPr>
          <a:xfrm>
            <a:off x="20775368" y="7526799"/>
            <a:ext cx="463826" cy="234000"/>
          </a:xfrm>
          <a:prstGeom prst="rect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0.08</a:t>
            </a:r>
          </a:p>
        </p:txBody>
      </p:sp>
      <p:sp>
        <p:nvSpPr>
          <p:cNvPr id="669" name="Rectangle 668"/>
          <p:cNvSpPr/>
          <p:nvPr/>
        </p:nvSpPr>
        <p:spPr>
          <a:xfrm>
            <a:off x="21482018" y="7526799"/>
            <a:ext cx="463826" cy="23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0.09</a:t>
            </a:r>
          </a:p>
        </p:txBody>
      </p:sp>
      <p:sp>
        <p:nvSpPr>
          <p:cNvPr id="672" name="Rectangle 671"/>
          <p:cNvSpPr/>
          <p:nvPr/>
        </p:nvSpPr>
        <p:spPr>
          <a:xfrm>
            <a:off x="19362068" y="7976909"/>
            <a:ext cx="463826" cy="23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0.98</a:t>
            </a:r>
          </a:p>
        </p:txBody>
      </p:sp>
      <p:sp>
        <p:nvSpPr>
          <p:cNvPr id="673" name="Rectangle 672"/>
          <p:cNvSpPr/>
          <p:nvPr/>
        </p:nvSpPr>
        <p:spPr>
          <a:xfrm>
            <a:off x="20068718" y="7976909"/>
            <a:ext cx="463826" cy="234000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0.01</a:t>
            </a:r>
          </a:p>
        </p:txBody>
      </p:sp>
      <p:sp>
        <p:nvSpPr>
          <p:cNvPr id="674" name="Rectangle 673"/>
          <p:cNvSpPr/>
          <p:nvPr/>
        </p:nvSpPr>
        <p:spPr>
          <a:xfrm>
            <a:off x="20775368" y="7976909"/>
            <a:ext cx="463826" cy="23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0.08</a:t>
            </a:r>
          </a:p>
        </p:txBody>
      </p:sp>
      <p:sp>
        <p:nvSpPr>
          <p:cNvPr id="675" name="Rectangle 674"/>
          <p:cNvSpPr/>
          <p:nvPr/>
        </p:nvSpPr>
        <p:spPr>
          <a:xfrm>
            <a:off x="21482018" y="7976909"/>
            <a:ext cx="463826" cy="23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0.09</a:t>
            </a:r>
          </a:p>
        </p:txBody>
      </p:sp>
      <p:sp>
        <p:nvSpPr>
          <p:cNvPr id="676" name="Rectangle 675"/>
          <p:cNvSpPr/>
          <p:nvPr/>
        </p:nvSpPr>
        <p:spPr>
          <a:xfrm>
            <a:off x="22188668" y="7976909"/>
            <a:ext cx="463826" cy="23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0.98</a:t>
            </a:r>
          </a:p>
        </p:txBody>
      </p:sp>
      <p:sp>
        <p:nvSpPr>
          <p:cNvPr id="678" name="Rectangle 677"/>
          <p:cNvSpPr/>
          <p:nvPr/>
        </p:nvSpPr>
        <p:spPr>
          <a:xfrm>
            <a:off x="19362068" y="8448284"/>
            <a:ext cx="463826" cy="23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0.98</a:t>
            </a:r>
          </a:p>
        </p:txBody>
      </p:sp>
      <p:sp>
        <p:nvSpPr>
          <p:cNvPr id="679" name="Rectangle 678"/>
          <p:cNvSpPr/>
          <p:nvPr/>
        </p:nvSpPr>
        <p:spPr>
          <a:xfrm>
            <a:off x="20068718" y="8448284"/>
            <a:ext cx="463826" cy="234000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0.01</a:t>
            </a:r>
          </a:p>
        </p:txBody>
      </p:sp>
      <p:sp>
        <p:nvSpPr>
          <p:cNvPr id="680" name="Rectangle 679"/>
          <p:cNvSpPr/>
          <p:nvPr/>
        </p:nvSpPr>
        <p:spPr>
          <a:xfrm>
            <a:off x="20775368" y="8448284"/>
            <a:ext cx="463826" cy="234000"/>
          </a:xfrm>
          <a:prstGeom prst="rect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0.08</a:t>
            </a:r>
          </a:p>
        </p:txBody>
      </p:sp>
      <p:sp>
        <p:nvSpPr>
          <p:cNvPr id="681" name="Rectangle 680"/>
          <p:cNvSpPr/>
          <p:nvPr/>
        </p:nvSpPr>
        <p:spPr>
          <a:xfrm>
            <a:off x="21482018" y="8448284"/>
            <a:ext cx="463826" cy="23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0.09</a:t>
            </a:r>
          </a:p>
        </p:txBody>
      </p:sp>
      <p:sp>
        <p:nvSpPr>
          <p:cNvPr id="682" name="Rectangle 681"/>
          <p:cNvSpPr/>
          <p:nvPr/>
        </p:nvSpPr>
        <p:spPr>
          <a:xfrm>
            <a:off x="22188668" y="8448284"/>
            <a:ext cx="463826" cy="23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0.98</a:t>
            </a:r>
          </a:p>
        </p:txBody>
      </p:sp>
      <p:sp>
        <p:nvSpPr>
          <p:cNvPr id="683" name="Rectangle 682"/>
          <p:cNvSpPr/>
          <p:nvPr/>
        </p:nvSpPr>
        <p:spPr>
          <a:xfrm>
            <a:off x="22895319" y="8448284"/>
            <a:ext cx="463826" cy="234000"/>
          </a:xfrm>
          <a:prstGeom prst="rect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0.78</a:t>
            </a:r>
          </a:p>
        </p:txBody>
      </p:sp>
      <p:sp>
        <p:nvSpPr>
          <p:cNvPr id="684" name="TextBox 683"/>
          <p:cNvSpPr txBox="1"/>
          <p:nvPr/>
        </p:nvSpPr>
        <p:spPr>
          <a:xfrm>
            <a:off x="17852304" y="6524632"/>
            <a:ext cx="13983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2nd</a:t>
            </a:r>
            <a:r>
              <a:rPr lang="zh-CN" altLang="en-US" dirty="0"/>
              <a:t> </a:t>
            </a:r>
            <a:r>
              <a:rPr lang="en-US" altLang="zh-CN" dirty="0"/>
              <a:t>iteration</a:t>
            </a:r>
            <a:endParaRPr lang="en-US" dirty="0"/>
          </a:p>
        </p:txBody>
      </p:sp>
      <p:sp>
        <p:nvSpPr>
          <p:cNvPr id="685" name="TextBox 684"/>
          <p:cNvSpPr txBox="1"/>
          <p:nvPr/>
        </p:nvSpPr>
        <p:spPr>
          <a:xfrm>
            <a:off x="17852304" y="7013411"/>
            <a:ext cx="13535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3rd</a:t>
            </a:r>
            <a:r>
              <a:rPr lang="zh-CN" altLang="en-US" dirty="0"/>
              <a:t> </a:t>
            </a:r>
            <a:r>
              <a:rPr lang="en-US" altLang="zh-CN" dirty="0"/>
              <a:t>iteration</a:t>
            </a:r>
            <a:endParaRPr lang="en-US" dirty="0"/>
          </a:p>
        </p:txBody>
      </p:sp>
      <p:sp>
        <p:nvSpPr>
          <p:cNvPr id="686" name="TextBox 685"/>
          <p:cNvSpPr txBox="1"/>
          <p:nvPr/>
        </p:nvSpPr>
        <p:spPr>
          <a:xfrm>
            <a:off x="17852304" y="7459133"/>
            <a:ext cx="13535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4th</a:t>
            </a:r>
            <a:r>
              <a:rPr lang="zh-CN" altLang="en-US" dirty="0"/>
              <a:t> </a:t>
            </a:r>
            <a:r>
              <a:rPr lang="en-US" altLang="zh-CN" dirty="0"/>
              <a:t>iteration</a:t>
            </a:r>
            <a:endParaRPr lang="en-US" dirty="0"/>
          </a:p>
        </p:txBody>
      </p:sp>
      <p:sp>
        <p:nvSpPr>
          <p:cNvPr id="687" name="TextBox 686"/>
          <p:cNvSpPr txBox="1"/>
          <p:nvPr/>
        </p:nvSpPr>
        <p:spPr>
          <a:xfrm>
            <a:off x="17852304" y="7934857"/>
            <a:ext cx="13535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5th</a:t>
            </a:r>
            <a:r>
              <a:rPr lang="zh-CN" altLang="en-US" dirty="0"/>
              <a:t> </a:t>
            </a:r>
            <a:r>
              <a:rPr lang="en-US" altLang="zh-CN" dirty="0"/>
              <a:t>iteration</a:t>
            </a:r>
            <a:endParaRPr lang="en-US" dirty="0"/>
          </a:p>
        </p:txBody>
      </p:sp>
      <p:sp>
        <p:nvSpPr>
          <p:cNvPr id="688" name="TextBox 687"/>
          <p:cNvSpPr txBox="1"/>
          <p:nvPr/>
        </p:nvSpPr>
        <p:spPr>
          <a:xfrm>
            <a:off x="17852304" y="8423636"/>
            <a:ext cx="13535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6th</a:t>
            </a:r>
            <a:r>
              <a:rPr lang="zh-CN" altLang="en-US" dirty="0"/>
              <a:t> </a:t>
            </a:r>
            <a:r>
              <a:rPr lang="en-US" altLang="zh-CN" dirty="0"/>
              <a:t>iteration</a:t>
            </a:r>
            <a:endParaRPr lang="en-US" dirty="0"/>
          </a:p>
        </p:txBody>
      </p:sp>
      <p:sp>
        <p:nvSpPr>
          <p:cNvPr id="690" name="TextBox 689"/>
          <p:cNvSpPr txBox="1"/>
          <p:nvPr/>
        </p:nvSpPr>
        <p:spPr>
          <a:xfrm>
            <a:off x="17779704" y="9949328"/>
            <a:ext cx="21446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Pruned Probabilities:</a:t>
            </a:r>
          </a:p>
        </p:txBody>
      </p:sp>
      <p:sp>
        <p:nvSpPr>
          <p:cNvPr id="691" name="Rectangle 690"/>
          <p:cNvSpPr/>
          <p:nvPr/>
        </p:nvSpPr>
        <p:spPr>
          <a:xfrm>
            <a:off x="19381118" y="10391384"/>
            <a:ext cx="463826" cy="23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0.98</a:t>
            </a:r>
          </a:p>
        </p:txBody>
      </p:sp>
      <p:sp>
        <p:nvSpPr>
          <p:cNvPr id="692" name="Rectangle 691"/>
          <p:cNvSpPr/>
          <p:nvPr/>
        </p:nvSpPr>
        <p:spPr>
          <a:xfrm>
            <a:off x="20087768" y="10391384"/>
            <a:ext cx="463826" cy="234000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0.01</a:t>
            </a:r>
          </a:p>
        </p:txBody>
      </p:sp>
      <p:sp>
        <p:nvSpPr>
          <p:cNvPr id="694" name="Rectangle 693"/>
          <p:cNvSpPr/>
          <p:nvPr/>
        </p:nvSpPr>
        <p:spPr>
          <a:xfrm>
            <a:off x="21501068" y="10391384"/>
            <a:ext cx="463826" cy="23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0.09</a:t>
            </a:r>
          </a:p>
        </p:txBody>
      </p:sp>
      <p:sp>
        <p:nvSpPr>
          <p:cNvPr id="695" name="Rectangle 694"/>
          <p:cNvSpPr/>
          <p:nvPr/>
        </p:nvSpPr>
        <p:spPr>
          <a:xfrm>
            <a:off x="22207718" y="10391384"/>
            <a:ext cx="463826" cy="23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0.98</a:t>
            </a:r>
          </a:p>
        </p:txBody>
      </p:sp>
      <p:cxnSp>
        <p:nvCxnSpPr>
          <p:cNvPr id="698" name="Straight Arrow Connector 697"/>
          <p:cNvCxnSpPr/>
          <p:nvPr/>
        </p:nvCxnSpPr>
        <p:spPr>
          <a:xfrm>
            <a:off x="20589062" y="9270138"/>
            <a:ext cx="0" cy="79200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9" name="TextBox 698"/>
          <p:cNvSpPr txBox="1"/>
          <p:nvPr/>
        </p:nvSpPr>
        <p:spPr>
          <a:xfrm>
            <a:off x="20917697" y="9316945"/>
            <a:ext cx="3292633" cy="369332"/>
          </a:xfrm>
          <a:prstGeom prst="rect">
            <a:avLst/>
          </a:prstGeom>
          <a:solidFill>
            <a:schemeClr val="accent1"/>
          </a:solidFill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Syntax Knowledge-based Pruning</a:t>
            </a:r>
          </a:p>
        </p:txBody>
      </p:sp>
      <p:cxnSp>
        <p:nvCxnSpPr>
          <p:cNvPr id="700" name="Elbow Connector 699"/>
          <p:cNvCxnSpPr>
            <a:stCxn id="60" idx="3"/>
            <a:endCxn id="652" idx="1"/>
          </p:cNvCxnSpPr>
          <p:nvPr/>
        </p:nvCxnSpPr>
        <p:spPr>
          <a:xfrm flipV="1">
            <a:off x="17175898" y="4410635"/>
            <a:ext cx="762498" cy="3638454"/>
          </a:xfrm>
          <a:prstGeom prst="bentConnector3">
            <a:avLst>
              <a:gd name="adj1" fmla="val 31065"/>
            </a:avLst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5" name="Rectangle 704"/>
          <p:cNvSpPr/>
          <p:nvPr/>
        </p:nvSpPr>
        <p:spPr>
          <a:xfrm>
            <a:off x="26367606" y="6033787"/>
            <a:ext cx="463826" cy="234000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0.98</a:t>
            </a:r>
          </a:p>
        </p:txBody>
      </p:sp>
      <p:sp>
        <p:nvSpPr>
          <p:cNvPr id="706" name="Rectangle 705"/>
          <p:cNvSpPr/>
          <p:nvPr/>
        </p:nvSpPr>
        <p:spPr>
          <a:xfrm>
            <a:off x="26367606" y="6403904"/>
            <a:ext cx="463826" cy="234000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0.48</a:t>
            </a:r>
          </a:p>
        </p:txBody>
      </p:sp>
      <p:sp>
        <p:nvSpPr>
          <p:cNvPr id="707" name="Rectangle 706"/>
          <p:cNvSpPr/>
          <p:nvPr/>
        </p:nvSpPr>
        <p:spPr>
          <a:xfrm>
            <a:off x="26367606" y="6774022"/>
            <a:ext cx="463826" cy="234000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0.38</a:t>
            </a:r>
          </a:p>
        </p:txBody>
      </p:sp>
      <p:sp>
        <p:nvSpPr>
          <p:cNvPr id="710" name="Rectangle 709"/>
          <p:cNvSpPr/>
          <p:nvPr/>
        </p:nvSpPr>
        <p:spPr>
          <a:xfrm>
            <a:off x="26367606" y="5663670"/>
            <a:ext cx="463826" cy="234000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0.98</a:t>
            </a:r>
          </a:p>
        </p:txBody>
      </p:sp>
      <p:sp>
        <p:nvSpPr>
          <p:cNvPr id="711" name="Rectangle 710"/>
          <p:cNvSpPr/>
          <p:nvPr/>
        </p:nvSpPr>
        <p:spPr>
          <a:xfrm>
            <a:off x="27052268" y="5663670"/>
            <a:ext cx="3499514" cy="234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712" name="Rectangle 711"/>
          <p:cNvSpPr/>
          <p:nvPr/>
        </p:nvSpPr>
        <p:spPr>
          <a:xfrm>
            <a:off x="27052268" y="6033787"/>
            <a:ext cx="3499514" cy="234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713" name="Rectangle 712"/>
          <p:cNvSpPr/>
          <p:nvPr/>
        </p:nvSpPr>
        <p:spPr>
          <a:xfrm>
            <a:off x="27052268" y="6403904"/>
            <a:ext cx="1636744" cy="234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716" name="Rectangle 715"/>
          <p:cNvSpPr/>
          <p:nvPr/>
        </p:nvSpPr>
        <p:spPr>
          <a:xfrm>
            <a:off x="27052268" y="6774022"/>
            <a:ext cx="1292445" cy="234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719" name="TextBox 718"/>
          <p:cNvSpPr txBox="1"/>
          <p:nvPr/>
        </p:nvSpPr>
        <p:spPr>
          <a:xfrm>
            <a:off x="26787120" y="9032088"/>
            <a:ext cx="7617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latin typeface="Bradley Hand" pitchFamily="2" charset="77"/>
              </a:rPr>
              <a:t>P()</a:t>
            </a:r>
          </a:p>
        </p:txBody>
      </p:sp>
      <p:cxnSp>
        <p:nvCxnSpPr>
          <p:cNvPr id="13" name="Straight Arrow Connector 12"/>
          <p:cNvCxnSpPr/>
          <p:nvPr/>
        </p:nvCxnSpPr>
        <p:spPr>
          <a:xfrm>
            <a:off x="4530474" y="8612170"/>
            <a:ext cx="1944000" cy="0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/>
          <p:cNvCxnSpPr/>
          <p:nvPr/>
        </p:nvCxnSpPr>
        <p:spPr>
          <a:xfrm>
            <a:off x="8039628" y="8684895"/>
            <a:ext cx="1944000" cy="0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10081563" y="8724771"/>
            <a:ext cx="11057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LLMs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97302" y="8035489"/>
            <a:ext cx="1475999" cy="369332"/>
          </a:xfrm>
          <a:prstGeom prst="rect">
            <a:avLst/>
          </a:prstGeom>
          <a:solidFill>
            <a:schemeClr val="accent1"/>
          </a:solidFill>
        </p:spPr>
        <p:txBody>
          <a:bodyPr wrap="none" rtlCol="0">
            <a:no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Training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19306" y="6186517"/>
            <a:ext cx="816447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Developer Accomplishing Tasks Using Prior Knowlledge</a:t>
            </a:r>
          </a:p>
        </p:txBody>
      </p:sp>
      <p:pic>
        <p:nvPicPr>
          <p:cNvPr id="18" name="Picture 17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5436" y="9467155"/>
            <a:ext cx="1040112" cy="1040112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2526960" y="9724934"/>
            <a:ext cx="562724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LLM Trained Using Open Source Code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0922" y="3594290"/>
            <a:ext cx="11412000" cy="1980000"/>
          </a:xfrm>
          <a:prstGeom prst="roundRect">
            <a:avLst>
              <a:gd name="adj" fmla="val 2712"/>
            </a:avLst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ounded Rectangle 22"/>
          <p:cNvSpPr/>
          <p:nvPr/>
        </p:nvSpPr>
        <p:spPr>
          <a:xfrm>
            <a:off x="100922" y="7270382"/>
            <a:ext cx="11412000" cy="1980000"/>
          </a:xfrm>
          <a:prstGeom prst="roundRect">
            <a:avLst>
              <a:gd name="adj" fmla="val 2712"/>
            </a:avLst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1027008" y="8448584"/>
            <a:ext cx="3276000" cy="252000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r>
              <a:rPr lang="en-US" sz="110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def</a:t>
            </a:r>
            <a:r>
              <a:rPr lang="en-US" sz="11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100" b="0" dirty="0" err="1">
                <a:solidFill>
                  <a:srgbClr val="795E26"/>
                </a:solidFill>
                <a:effectLst/>
                <a:latin typeface="Menlo" panose="020B0609030804020204" pitchFamily="49" charset="0"/>
              </a:rPr>
              <a:t>check_metadata</a:t>
            </a:r>
            <a:r>
              <a:rPr lang="en-US" sz="11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US" sz="1100" b="0" dirty="0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self</a:t>
            </a:r>
            <a:r>
              <a:rPr lang="en-US" sz="11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):…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27008" y="8149683"/>
            <a:ext cx="3276000" cy="252000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r>
              <a:rPr lang="en-US" sz="110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def</a:t>
            </a:r>
            <a:r>
              <a:rPr lang="en-US" sz="11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100" b="0" dirty="0" err="1">
                <a:solidFill>
                  <a:srgbClr val="795E26"/>
                </a:solidFill>
                <a:effectLst/>
                <a:latin typeface="Menlo" panose="020B0609030804020204" pitchFamily="49" charset="0"/>
              </a:rPr>
              <a:t>match_hostname</a:t>
            </a:r>
            <a:r>
              <a:rPr lang="en-US" sz="11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US" sz="1100" b="0" dirty="0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cert</a:t>
            </a:r>
            <a:r>
              <a:rPr lang="en-US" sz="11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, </a:t>
            </a:r>
            <a:r>
              <a:rPr lang="en-US" sz="1100" b="0" dirty="0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hostname</a:t>
            </a:r>
            <a:r>
              <a:rPr lang="en-US" sz="11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):…</a:t>
            </a:r>
          </a:p>
          <a:p>
            <a:endParaRPr lang="en-US" sz="11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1027008" y="7846204"/>
            <a:ext cx="3276000" cy="252000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r>
              <a:rPr lang="en-US" sz="1100" dirty="0">
                <a:solidFill>
                  <a:srgbClr val="0000FF"/>
                </a:solidFill>
                <a:latin typeface="Menlo" panose="020B0609030804020204" pitchFamily="49" charset="0"/>
              </a:rPr>
              <a:t>def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 </a:t>
            </a:r>
            <a:r>
              <a:rPr lang="en-US" sz="1100" dirty="0">
                <a:solidFill>
                  <a:srgbClr val="795E26"/>
                </a:solidFill>
                <a:latin typeface="Menlo" panose="020B0609030804020204" pitchFamily="49" charset="0"/>
              </a:rPr>
              <a:t>add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(</a:t>
            </a:r>
            <a:r>
              <a:rPr lang="en-US" sz="1100" dirty="0">
                <a:solidFill>
                  <a:srgbClr val="001080"/>
                </a:solidFill>
                <a:latin typeface="Menlo" panose="020B0609030804020204" pitchFamily="49" charset="0"/>
              </a:rPr>
              <a:t>self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, </a:t>
            </a:r>
            <a:r>
              <a:rPr lang="en-US" sz="1100" dirty="0">
                <a:solidFill>
                  <a:srgbClr val="001080"/>
                </a:solidFill>
                <a:latin typeface="Menlo" panose="020B0609030804020204" pitchFamily="49" charset="0"/>
              </a:rPr>
              <a:t>row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):…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81869" y="8055802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</a:p>
        </p:txBody>
      </p:sp>
      <p:pic>
        <p:nvPicPr>
          <p:cNvPr id="31" name="Picture 30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45368" y="7627419"/>
            <a:ext cx="447148" cy="447148"/>
          </a:xfrm>
          <a:prstGeom prst="rect">
            <a:avLst/>
          </a:prstGeom>
        </p:spPr>
      </p:pic>
      <p:sp>
        <p:nvSpPr>
          <p:cNvPr id="36" name="Right Brace 35"/>
          <p:cNvSpPr/>
          <p:nvPr/>
        </p:nvSpPr>
        <p:spPr>
          <a:xfrm>
            <a:off x="805436" y="7802515"/>
            <a:ext cx="164474" cy="952240"/>
          </a:xfrm>
          <a:prstGeom prst="rightBrace">
            <a:avLst>
              <a:gd name="adj1" fmla="val 25000"/>
              <a:gd name="adj2" fmla="val 50000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8" name="Graphic 37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32958" y="8030475"/>
            <a:ext cx="871012" cy="435506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323835" y="8452807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593761" y="8724771"/>
            <a:ext cx="21391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Code Resources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5027665" y="11491845"/>
            <a:ext cx="26409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Copyright</a:t>
            </a:r>
            <a:r>
              <a:rPr lang="en-US" altLang="zh-CN" dirty="0"/>
              <a:t>-Protected </a:t>
            </a:r>
            <a:r>
              <a:rPr lang="en-US" dirty="0"/>
              <a:t>Code</a:t>
            </a:r>
          </a:p>
        </p:txBody>
      </p:sp>
      <p:pic>
        <p:nvPicPr>
          <p:cNvPr id="44" name="Picture 4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59910" y="11996486"/>
            <a:ext cx="1040112" cy="1040112"/>
          </a:xfrm>
          <a:prstGeom prst="rect">
            <a:avLst/>
          </a:prstGeom>
        </p:spPr>
      </p:pic>
      <p:sp>
        <p:nvSpPr>
          <p:cNvPr id="406" name="TextBox 405"/>
          <p:cNvSpPr txBox="1"/>
          <p:nvPr/>
        </p:nvSpPr>
        <p:spPr>
          <a:xfrm>
            <a:off x="12980042" y="3855617"/>
            <a:ext cx="305656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795E26"/>
                </a:solidFill>
                <a:latin typeface="Menlo" panose="020B0609030804020204" pitchFamily="49" charset="0"/>
              </a:rPr>
              <a:t>add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07" name="TextBox 406"/>
          <p:cNvSpPr txBox="1"/>
          <p:nvPr/>
        </p:nvSpPr>
        <p:spPr>
          <a:xfrm>
            <a:off x="13460989" y="3855617"/>
            <a:ext cx="312068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001080"/>
                </a:solidFill>
              </a:rPr>
              <a:t>self</a:t>
            </a:r>
            <a:endParaRPr lang="en-US" sz="900" dirty="0">
              <a:solidFill>
                <a:srgbClr val="3B3B3B"/>
              </a:solidFill>
            </a:endParaRPr>
          </a:p>
        </p:txBody>
      </p:sp>
      <p:sp>
        <p:nvSpPr>
          <p:cNvPr id="408" name="TextBox 407"/>
          <p:cNvSpPr txBox="1"/>
          <p:nvPr/>
        </p:nvSpPr>
        <p:spPr>
          <a:xfrm>
            <a:off x="13320704" y="3855617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3B3B3B"/>
                </a:solidFill>
              </a:rPr>
              <a:t>(</a:t>
            </a:r>
          </a:p>
        </p:txBody>
      </p:sp>
      <p:sp>
        <p:nvSpPr>
          <p:cNvPr id="409" name="TextBox 408"/>
          <p:cNvSpPr txBox="1"/>
          <p:nvPr/>
        </p:nvSpPr>
        <p:spPr>
          <a:xfrm>
            <a:off x="14504639" y="3855617"/>
            <a:ext cx="174210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D7BA7D"/>
                </a:solidFill>
                <a:latin typeface="Menlo" panose="020B0609030804020204" pitchFamily="49" charset="0"/>
              </a:rPr>
              <a:t>\n</a:t>
            </a:r>
          </a:p>
        </p:txBody>
      </p:sp>
      <p:sp>
        <p:nvSpPr>
          <p:cNvPr id="410" name="TextBox 409"/>
          <p:cNvSpPr txBox="1"/>
          <p:nvPr/>
        </p:nvSpPr>
        <p:spPr>
          <a:xfrm>
            <a:off x="13808063" y="3855617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/>
              <a:t>,</a:t>
            </a:r>
          </a:p>
        </p:txBody>
      </p:sp>
      <p:sp>
        <p:nvSpPr>
          <p:cNvPr id="411" name="TextBox 410"/>
          <p:cNvSpPr txBox="1"/>
          <p:nvPr/>
        </p:nvSpPr>
        <p:spPr>
          <a:xfrm>
            <a:off x="13948348" y="3855617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row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12" name="TextBox 411"/>
          <p:cNvSpPr txBox="1"/>
          <p:nvPr/>
        </p:nvSpPr>
        <p:spPr>
          <a:xfrm>
            <a:off x="14295421" y="3855617"/>
            <a:ext cx="174210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3B3B3B"/>
                </a:solidFill>
              </a:rPr>
              <a:t>):</a:t>
            </a:r>
          </a:p>
        </p:txBody>
      </p:sp>
      <p:sp>
        <p:nvSpPr>
          <p:cNvPr id="413" name="TextBox 412"/>
          <p:cNvSpPr txBox="1"/>
          <p:nvPr/>
        </p:nvSpPr>
        <p:spPr>
          <a:xfrm>
            <a:off x="13308431" y="4127630"/>
            <a:ext cx="243139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AF00DB"/>
                </a:solidFill>
                <a:latin typeface="Menlo" panose="020B0609030804020204" pitchFamily="49" charset="0"/>
              </a:rPr>
              <a:t>for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14" name="TextBox 413"/>
          <p:cNvSpPr txBox="1"/>
          <p:nvPr/>
        </p:nvSpPr>
        <p:spPr>
          <a:xfrm>
            <a:off x="13591182" y="4127630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 err="1">
                <a:solidFill>
                  <a:srgbClr val="001080"/>
                </a:solidFill>
                <a:latin typeface="Menlo" panose="020B0609030804020204" pitchFamily="49" charset="0"/>
              </a:rPr>
              <a:t>i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15" name="TextBox 414"/>
          <p:cNvSpPr txBox="1"/>
          <p:nvPr/>
        </p:nvSpPr>
        <p:spPr>
          <a:xfrm>
            <a:off x="13805006" y="4127630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,</a:t>
            </a:r>
          </a:p>
        </p:txBody>
      </p:sp>
      <p:sp>
        <p:nvSpPr>
          <p:cNvPr id="416" name="TextBox 415"/>
          <p:cNvSpPr txBox="1"/>
          <p:nvPr/>
        </p:nvSpPr>
        <p:spPr>
          <a:xfrm>
            <a:off x="13949899" y="4127630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f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17" name="TextBox 416"/>
          <p:cNvSpPr txBox="1"/>
          <p:nvPr/>
        </p:nvSpPr>
        <p:spPr>
          <a:xfrm>
            <a:off x="14163723" y="4127630"/>
            <a:ext cx="24313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AF00DB"/>
                </a:solidFill>
                <a:latin typeface="Menlo" panose="020B0609030804020204" pitchFamily="49" charset="0"/>
              </a:rPr>
              <a:t>in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18" name="TextBox 417"/>
          <p:cNvSpPr txBox="1"/>
          <p:nvPr/>
        </p:nvSpPr>
        <p:spPr>
          <a:xfrm>
            <a:off x="14446475" y="4127630"/>
            <a:ext cx="71923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267F99"/>
                </a:solidFill>
                <a:latin typeface="Menlo" panose="020B0609030804020204" pitchFamily="49" charset="0"/>
              </a:rPr>
              <a:t>enumerate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19" name="TextBox 418"/>
          <p:cNvSpPr txBox="1"/>
          <p:nvPr/>
        </p:nvSpPr>
        <p:spPr>
          <a:xfrm>
            <a:off x="15205319" y="4127630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(</a:t>
            </a:r>
          </a:p>
        </p:txBody>
      </p:sp>
      <p:sp>
        <p:nvSpPr>
          <p:cNvPr id="420" name="TextBox 419"/>
          <p:cNvSpPr txBox="1"/>
          <p:nvPr/>
        </p:nvSpPr>
        <p:spPr>
          <a:xfrm>
            <a:off x="15350213" y="4127630"/>
            <a:ext cx="243139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row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21" name="TextBox 420"/>
          <p:cNvSpPr txBox="1"/>
          <p:nvPr/>
        </p:nvSpPr>
        <p:spPr>
          <a:xfrm>
            <a:off x="15632964" y="4127630"/>
            <a:ext cx="174210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):</a:t>
            </a:r>
          </a:p>
        </p:txBody>
      </p:sp>
      <p:sp>
        <p:nvSpPr>
          <p:cNvPr id="422" name="TextBox 421"/>
          <p:cNvSpPr txBox="1"/>
          <p:nvPr/>
        </p:nvSpPr>
        <p:spPr>
          <a:xfrm>
            <a:off x="13617089" y="4404485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AF00DB"/>
                </a:solidFill>
                <a:latin typeface="Menlo" panose="020B0609030804020204" pitchFamily="49" charset="0"/>
              </a:rPr>
              <a:t>if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23" name="TextBox 422"/>
          <p:cNvSpPr txBox="1"/>
          <p:nvPr/>
        </p:nvSpPr>
        <p:spPr>
          <a:xfrm>
            <a:off x="13821435" y="4404485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 err="1">
                <a:solidFill>
                  <a:srgbClr val="795E26"/>
                </a:solidFill>
                <a:latin typeface="Menlo" panose="020B0609030804020204" pitchFamily="49" charset="0"/>
              </a:rPr>
              <a:t>len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24" name="TextBox 423"/>
          <p:cNvSpPr txBox="1"/>
          <p:nvPr/>
        </p:nvSpPr>
        <p:spPr>
          <a:xfrm>
            <a:off x="14163640" y="4404485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CE9178"/>
                </a:solidFill>
                <a:latin typeface="Menlo" panose="020B0609030804020204" pitchFamily="49" charset="0"/>
              </a:rPr>
              <a:t>(</a:t>
            </a:r>
            <a:endParaRPr lang="en-US" sz="900" dirty="0">
              <a:solidFill>
                <a:srgbClr val="CCCCCC"/>
              </a:solidFill>
              <a:latin typeface="Menlo" panose="020B0609030804020204" pitchFamily="49" charset="0"/>
            </a:endParaRPr>
          </a:p>
        </p:txBody>
      </p:sp>
      <p:sp>
        <p:nvSpPr>
          <p:cNvPr id="425" name="TextBox 424"/>
          <p:cNvSpPr txBox="1"/>
          <p:nvPr/>
        </p:nvSpPr>
        <p:spPr>
          <a:xfrm>
            <a:off x="14299057" y="4404485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CE9178"/>
                </a:solidFill>
                <a:latin typeface="Menlo" panose="020B0609030804020204" pitchFamily="49" charset="0"/>
              </a:rPr>
              <a:t>f</a:t>
            </a:r>
            <a:endParaRPr lang="en-US" sz="900" dirty="0">
              <a:solidFill>
                <a:srgbClr val="CCCCCC"/>
              </a:solidFill>
              <a:latin typeface="Menlo" panose="020B0609030804020204" pitchFamily="49" charset="0"/>
            </a:endParaRPr>
          </a:p>
        </p:txBody>
      </p:sp>
      <p:sp>
        <p:nvSpPr>
          <p:cNvPr id="426" name="TextBox 425"/>
          <p:cNvSpPr txBox="1"/>
          <p:nvPr/>
        </p:nvSpPr>
        <p:spPr>
          <a:xfrm>
            <a:off x="14434474" y="4404485"/>
            <a:ext cx="105281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CE9178"/>
                </a:solidFill>
                <a:latin typeface="Menlo" panose="020B0609030804020204" pitchFamily="49" charset="0"/>
              </a:rPr>
              <a:t>)</a:t>
            </a:r>
            <a:endParaRPr lang="en-US" sz="900" dirty="0">
              <a:solidFill>
                <a:srgbClr val="CCCCCC"/>
              </a:solidFill>
              <a:latin typeface="Menlo" panose="020B0609030804020204" pitchFamily="49" charset="0"/>
            </a:endParaRPr>
          </a:p>
        </p:txBody>
      </p:sp>
      <p:sp>
        <p:nvSpPr>
          <p:cNvPr id="427" name="TextBox 426"/>
          <p:cNvSpPr txBox="1"/>
          <p:nvPr/>
        </p:nvSpPr>
        <p:spPr>
          <a:xfrm>
            <a:off x="14569890" y="4404485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000000"/>
                </a:solidFill>
                <a:latin typeface="Menlo" panose="020B0609030804020204" pitchFamily="49" charset="0"/>
              </a:rPr>
              <a:t>&gt;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28" name="TextBox 427"/>
          <p:cNvSpPr txBox="1"/>
          <p:nvPr/>
        </p:nvSpPr>
        <p:spPr>
          <a:xfrm>
            <a:off x="14774236" y="4404485"/>
            <a:ext cx="38099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self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29" name="TextBox 428"/>
          <p:cNvSpPr txBox="1"/>
          <p:nvPr/>
        </p:nvSpPr>
        <p:spPr>
          <a:xfrm>
            <a:off x="15185371" y="4404485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.</a:t>
            </a:r>
          </a:p>
        </p:txBody>
      </p:sp>
      <p:sp>
        <p:nvSpPr>
          <p:cNvPr id="430" name="TextBox 429"/>
          <p:cNvSpPr txBox="1"/>
          <p:nvPr/>
        </p:nvSpPr>
        <p:spPr>
          <a:xfrm>
            <a:off x="15320788" y="4404485"/>
            <a:ext cx="243139" cy="23083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max</a:t>
            </a:r>
          </a:p>
        </p:txBody>
      </p:sp>
      <p:sp>
        <p:nvSpPr>
          <p:cNvPr id="431" name="TextBox 430"/>
          <p:cNvSpPr txBox="1"/>
          <p:nvPr/>
        </p:nvSpPr>
        <p:spPr>
          <a:xfrm>
            <a:off x="15594063" y="4404485"/>
            <a:ext cx="105281" cy="23083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_</a:t>
            </a:r>
          </a:p>
        </p:txBody>
      </p:sp>
      <p:sp>
        <p:nvSpPr>
          <p:cNvPr id="432" name="TextBox 431"/>
          <p:cNvSpPr txBox="1"/>
          <p:nvPr/>
        </p:nvSpPr>
        <p:spPr>
          <a:xfrm>
            <a:off x="15729480" y="4404485"/>
            <a:ext cx="243139" cy="23083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col</a:t>
            </a:r>
          </a:p>
        </p:txBody>
      </p:sp>
      <p:sp>
        <p:nvSpPr>
          <p:cNvPr id="433" name="TextBox 432"/>
          <p:cNvSpPr txBox="1"/>
          <p:nvPr/>
        </p:nvSpPr>
        <p:spPr>
          <a:xfrm>
            <a:off x="16002755" y="4404485"/>
            <a:ext cx="105281" cy="23083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_</a:t>
            </a:r>
          </a:p>
        </p:txBody>
      </p:sp>
      <p:sp>
        <p:nvSpPr>
          <p:cNvPr id="435" name="TextBox 434"/>
          <p:cNvSpPr txBox="1"/>
          <p:nvPr/>
        </p:nvSpPr>
        <p:spPr>
          <a:xfrm>
            <a:off x="16480376" y="4404485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[</a:t>
            </a:r>
          </a:p>
        </p:txBody>
      </p:sp>
      <p:sp>
        <p:nvSpPr>
          <p:cNvPr id="436" name="TextBox 435"/>
          <p:cNvSpPr txBox="1"/>
          <p:nvPr/>
        </p:nvSpPr>
        <p:spPr>
          <a:xfrm>
            <a:off x="16615793" y="4404485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 err="1">
                <a:solidFill>
                  <a:srgbClr val="001080"/>
                </a:solidFill>
                <a:latin typeface="Menlo" panose="020B0609030804020204" pitchFamily="49" charset="0"/>
              </a:rPr>
              <a:t>i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37" name="TextBox 436"/>
          <p:cNvSpPr txBox="1"/>
          <p:nvPr/>
        </p:nvSpPr>
        <p:spPr>
          <a:xfrm>
            <a:off x="16751209" y="4404485"/>
            <a:ext cx="174210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]:</a:t>
            </a:r>
          </a:p>
        </p:txBody>
      </p:sp>
      <p:sp>
        <p:nvSpPr>
          <p:cNvPr id="438" name="TextBox 437"/>
          <p:cNvSpPr txBox="1"/>
          <p:nvPr/>
        </p:nvSpPr>
        <p:spPr>
          <a:xfrm>
            <a:off x="15846789" y="4127630"/>
            <a:ext cx="174210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D7BA7D"/>
                </a:solidFill>
                <a:latin typeface="Menlo" panose="020B0609030804020204" pitchFamily="49" charset="0"/>
              </a:rPr>
              <a:t>\n</a:t>
            </a:r>
          </a:p>
        </p:txBody>
      </p:sp>
      <p:sp>
        <p:nvSpPr>
          <p:cNvPr id="439" name="TextBox 438"/>
          <p:cNvSpPr txBox="1"/>
          <p:nvPr/>
        </p:nvSpPr>
        <p:spPr>
          <a:xfrm>
            <a:off x="16955550" y="4404485"/>
            <a:ext cx="174210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D7BA7D"/>
                </a:solidFill>
                <a:latin typeface="Menlo" panose="020B0609030804020204" pitchFamily="49" charset="0"/>
              </a:rPr>
              <a:t>\n</a:t>
            </a:r>
          </a:p>
        </p:txBody>
      </p:sp>
      <p:sp>
        <p:nvSpPr>
          <p:cNvPr id="450" name="TextBox 449"/>
          <p:cNvSpPr txBox="1"/>
          <p:nvPr/>
        </p:nvSpPr>
        <p:spPr>
          <a:xfrm>
            <a:off x="16138171" y="4404485"/>
            <a:ext cx="312068" cy="23083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size</a:t>
            </a:r>
          </a:p>
        </p:txBody>
      </p:sp>
      <p:sp>
        <p:nvSpPr>
          <p:cNvPr id="455" name="TextBox 454"/>
          <p:cNvSpPr txBox="1"/>
          <p:nvPr/>
        </p:nvSpPr>
        <p:spPr>
          <a:xfrm>
            <a:off x="12980817" y="4127630"/>
            <a:ext cx="2880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⌷⌷⌷⌷</a:t>
            </a:r>
          </a:p>
        </p:txBody>
      </p:sp>
      <p:sp>
        <p:nvSpPr>
          <p:cNvPr id="456" name="TextBox 455"/>
          <p:cNvSpPr txBox="1"/>
          <p:nvPr/>
        </p:nvSpPr>
        <p:spPr>
          <a:xfrm>
            <a:off x="12980817" y="4404485"/>
            <a:ext cx="2880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⌷⌷⌷⌷</a:t>
            </a:r>
          </a:p>
        </p:txBody>
      </p:sp>
      <p:sp>
        <p:nvSpPr>
          <p:cNvPr id="457" name="TextBox 456"/>
          <p:cNvSpPr txBox="1"/>
          <p:nvPr/>
        </p:nvSpPr>
        <p:spPr>
          <a:xfrm>
            <a:off x="13298953" y="4404485"/>
            <a:ext cx="2880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⌷⌷⌷⌷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2863340" y="3773444"/>
            <a:ext cx="4338047" cy="1227834"/>
          </a:xfrm>
          <a:prstGeom prst="roundRect">
            <a:avLst>
              <a:gd name="adj" fmla="val 2712"/>
            </a:avLst>
          </a:prstGeom>
          <a:noFill/>
          <a:ln>
            <a:solidFill>
              <a:schemeClr val="bg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7" name="Straight Arrow Connector 56"/>
          <p:cNvCxnSpPr>
            <a:stCxn id="4" idx="3"/>
            <a:endCxn id="48" idx="1"/>
          </p:cNvCxnSpPr>
          <p:nvPr/>
        </p:nvCxnSpPr>
        <p:spPr>
          <a:xfrm flipV="1">
            <a:off x="11214136" y="4387361"/>
            <a:ext cx="1649204" cy="1238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1" name="Group 60"/>
          <p:cNvGrpSpPr/>
          <p:nvPr/>
        </p:nvGrpSpPr>
        <p:grpSpPr>
          <a:xfrm>
            <a:off x="12837851" y="7435172"/>
            <a:ext cx="4338047" cy="1227834"/>
            <a:chOff x="12661458" y="7114474"/>
            <a:chExt cx="4338047" cy="1227834"/>
          </a:xfrm>
        </p:grpSpPr>
        <p:sp>
          <p:nvSpPr>
            <p:cNvPr id="488" name="TextBox 487"/>
            <p:cNvSpPr txBox="1"/>
            <p:nvPr/>
          </p:nvSpPr>
          <p:spPr>
            <a:xfrm>
              <a:off x="12828913" y="7186215"/>
              <a:ext cx="305656" cy="2308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800" dirty="0">
                  <a:solidFill>
                    <a:schemeClr val="bg1">
                      <a:lumMod val="50000"/>
                    </a:schemeClr>
                  </a:solidFill>
                  <a:latin typeface="Menlo" panose="020B0609030804020204" pitchFamily="49" charset="0"/>
                </a:rPr>
                <a:t>⌷</a:t>
              </a:r>
              <a:r>
                <a:rPr lang="en-US" sz="900" dirty="0">
                  <a:solidFill>
                    <a:srgbClr val="795E26"/>
                  </a:solidFill>
                  <a:latin typeface="Menlo" panose="020B0609030804020204" pitchFamily="49" charset="0"/>
                </a:rPr>
                <a:t>add</a:t>
              </a:r>
              <a:endParaRPr lang="en-US" sz="900" dirty="0">
                <a:solidFill>
                  <a:srgbClr val="3B3B3B"/>
                </a:solidFill>
                <a:latin typeface="Menlo" panose="020B0609030804020204" pitchFamily="49" charset="0"/>
              </a:endParaRPr>
            </a:p>
          </p:txBody>
        </p:sp>
        <p:sp>
          <p:nvSpPr>
            <p:cNvPr id="489" name="TextBox 488"/>
            <p:cNvSpPr txBox="1"/>
            <p:nvPr/>
          </p:nvSpPr>
          <p:spPr>
            <a:xfrm>
              <a:off x="13309860" y="7186215"/>
              <a:ext cx="312068" cy="230832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>
              <a:defPPr>
                <a:defRPr lang="en-US"/>
              </a:defPPr>
              <a:lvl1pPr>
                <a:defRPr>
                  <a:solidFill>
                    <a:srgbClr val="CE9178"/>
                  </a:solidFill>
                  <a:latin typeface="Menlo" panose="020B0609030804020204" pitchFamily="49" charset="0"/>
                </a:defRPr>
              </a:lvl1pPr>
            </a:lstStyle>
            <a:p>
              <a:pPr algn="ctr"/>
              <a:r>
                <a:rPr lang="en-US" sz="900" dirty="0">
                  <a:solidFill>
                    <a:srgbClr val="001080"/>
                  </a:solidFill>
                </a:rPr>
                <a:t>self</a:t>
              </a:r>
              <a:endParaRPr lang="en-US" sz="900" dirty="0">
                <a:solidFill>
                  <a:srgbClr val="3B3B3B"/>
                </a:solidFill>
              </a:endParaRPr>
            </a:p>
          </p:txBody>
        </p:sp>
        <p:sp>
          <p:nvSpPr>
            <p:cNvPr id="490" name="TextBox 489"/>
            <p:cNvSpPr txBox="1"/>
            <p:nvPr/>
          </p:nvSpPr>
          <p:spPr>
            <a:xfrm>
              <a:off x="13169575" y="7186215"/>
              <a:ext cx="105281" cy="2308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>
              <a:defPPr>
                <a:defRPr lang="en-US"/>
              </a:defPPr>
              <a:lvl1pPr>
                <a:defRPr>
                  <a:solidFill>
                    <a:srgbClr val="CE9178"/>
                  </a:solidFill>
                  <a:latin typeface="Menlo" panose="020B0609030804020204" pitchFamily="49" charset="0"/>
                </a:defRPr>
              </a:lvl1pPr>
            </a:lstStyle>
            <a:p>
              <a:pPr algn="ctr"/>
              <a:r>
                <a:rPr lang="en-US" sz="900" dirty="0">
                  <a:solidFill>
                    <a:srgbClr val="3B3B3B"/>
                  </a:solidFill>
                </a:rPr>
                <a:t>(</a:t>
              </a:r>
            </a:p>
          </p:txBody>
        </p:sp>
        <p:sp>
          <p:nvSpPr>
            <p:cNvPr id="491" name="TextBox 490"/>
            <p:cNvSpPr txBox="1"/>
            <p:nvPr/>
          </p:nvSpPr>
          <p:spPr>
            <a:xfrm>
              <a:off x="14353510" y="7186215"/>
              <a:ext cx="174210" cy="230832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>
                  <a:solidFill>
                    <a:srgbClr val="D7BA7D"/>
                  </a:solidFill>
                  <a:latin typeface="Menlo" panose="020B0609030804020204" pitchFamily="49" charset="0"/>
                </a:rPr>
                <a:t>\n</a:t>
              </a:r>
            </a:p>
          </p:txBody>
        </p:sp>
        <p:sp>
          <p:nvSpPr>
            <p:cNvPr id="492" name="TextBox 491"/>
            <p:cNvSpPr txBox="1"/>
            <p:nvPr/>
          </p:nvSpPr>
          <p:spPr>
            <a:xfrm>
              <a:off x="13656934" y="7186215"/>
              <a:ext cx="105281" cy="2308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>
              <a:defPPr>
                <a:defRPr lang="en-US"/>
              </a:defPPr>
              <a:lvl1pPr>
                <a:defRPr>
                  <a:solidFill>
                    <a:srgbClr val="CE9178"/>
                  </a:solidFill>
                  <a:latin typeface="Menlo" panose="020B0609030804020204" pitchFamily="49" charset="0"/>
                </a:defRPr>
              </a:lvl1pPr>
            </a:lstStyle>
            <a:p>
              <a:pPr algn="ctr"/>
              <a:r>
                <a:rPr lang="en-US" sz="900" dirty="0"/>
                <a:t>,</a:t>
              </a:r>
            </a:p>
          </p:txBody>
        </p:sp>
        <p:sp>
          <p:nvSpPr>
            <p:cNvPr id="493" name="TextBox 492"/>
            <p:cNvSpPr txBox="1"/>
            <p:nvPr/>
          </p:nvSpPr>
          <p:spPr>
            <a:xfrm>
              <a:off x="13797219" y="7186215"/>
              <a:ext cx="312068" cy="2308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>
                  <a:solidFill>
                    <a:schemeClr val="bg1">
                      <a:lumMod val="50000"/>
                    </a:schemeClr>
                  </a:solidFill>
                  <a:latin typeface="Menlo" panose="020B0609030804020204" pitchFamily="49" charset="0"/>
                </a:rPr>
                <a:t>⌷</a:t>
              </a:r>
              <a:r>
                <a:rPr lang="en-US" sz="900" dirty="0">
                  <a:solidFill>
                    <a:srgbClr val="001080"/>
                  </a:solidFill>
                  <a:latin typeface="Menlo" panose="020B0609030804020204" pitchFamily="49" charset="0"/>
                </a:rPr>
                <a:t>row</a:t>
              </a:r>
              <a:endParaRPr lang="en-US" sz="900" dirty="0">
                <a:solidFill>
                  <a:srgbClr val="3B3B3B"/>
                </a:solidFill>
                <a:latin typeface="Menlo" panose="020B0609030804020204" pitchFamily="49" charset="0"/>
              </a:endParaRPr>
            </a:p>
          </p:txBody>
        </p:sp>
        <p:sp>
          <p:nvSpPr>
            <p:cNvPr id="494" name="TextBox 493"/>
            <p:cNvSpPr txBox="1"/>
            <p:nvPr/>
          </p:nvSpPr>
          <p:spPr>
            <a:xfrm>
              <a:off x="14144292" y="7186215"/>
              <a:ext cx="174210" cy="230832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>
              <a:defPPr>
                <a:defRPr lang="en-US"/>
              </a:defPPr>
              <a:lvl1pPr>
                <a:defRPr>
                  <a:solidFill>
                    <a:srgbClr val="CE9178"/>
                  </a:solidFill>
                  <a:latin typeface="Menlo" panose="020B0609030804020204" pitchFamily="49" charset="0"/>
                </a:defRPr>
              </a:lvl1pPr>
            </a:lstStyle>
            <a:p>
              <a:pPr algn="ctr"/>
              <a:r>
                <a:rPr lang="en-US" sz="900" dirty="0">
                  <a:solidFill>
                    <a:srgbClr val="3B3B3B"/>
                  </a:solidFill>
                </a:rPr>
                <a:t>):</a:t>
              </a:r>
            </a:p>
          </p:txBody>
        </p:sp>
        <p:sp>
          <p:nvSpPr>
            <p:cNvPr id="495" name="TextBox 494"/>
            <p:cNvSpPr txBox="1"/>
            <p:nvPr/>
          </p:nvSpPr>
          <p:spPr>
            <a:xfrm>
              <a:off x="13157302" y="7458228"/>
              <a:ext cx="243139" cy="2308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>
                  <a:solidFill>
                    <a:srgbClr val="AF00DB"/>
                  </a:solidFill>
                  <a:latin typeface="Menlo" panose="020B0609030804020204" pitchFamily="49" charset="0"/>
                </a:rPr>
                <a:t>for</a:t>
              </a:r>
              <a:endParaRPr lang="en-US" sz="900" dirty="0">
                <a:solidFill>
                  <a:srgbClr val="3B3B3B"/>
                </a:solidFill>
                <a:latin typeface="Menlo" panose="020B0609030804020204" pitchFamily="49" charset="0"/>
              </a:endParaRPr>
            </a:p>
          </p:txBody>
        </p:sp>
        <p:sp>
          <p:nvSpPr>
            <p:cNvPr id="496" name="TextBox 495"/>
            <p:cNvSpPr txBox="1"/>
            <p:nvPr/>
          </p:nvSpPr>
          <p:spPr>
            <a:xfrm>
              <a:off x="13440053" y="7458228"/>
              <a:ext cx="174210" cy="2308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>
                  <a:solidFill>
                    <a:schemeClr val="bg1">
                      <a:lumMod val="50000"/>
                    </a:schemeClr>
                  </a:solidFill>
                  <a:latin typeface="Menlo" panose="020B0609030804020204" pitchFamily="49" charset="0"/>
                </a:rPr>
                <a:t>⌷</a:t>
              </a:r>
              <a:r>
                <a:rPr lang="en-US" sz="900" dirty="0" err="1">
                  <a:solidFill>
                    <a:srgbClr val="001080"/>
                  </a:solidFill>
                  <a:latin typeface="Menlo" panose="020B0609030804020204" pitchFamily="49" charset="0"/>
                </a:rPr>
                <a:t>i</a:t>
              </a:r>
              <a:endParaRPr lang="en-US" sz="900" dirty="0">
                <a:solidFill>
                  <a:srgbClr val="3B3B3B"/>
                </a:solidFill>
                <a:latin typeface="Menlo" panose="020B0609030804020204" pitchFamily="49" charset="0"/>
              </a:endParaRPr>
            </a:p>
          </p:txBody>
        </p:sp>
        <p:sp>
          <p:nvSpPr>
            <p:cNvPr id="497" name="TextBox 496"/>
            <p:cNvSpPr txBox="1"/>
            <p:nvPr/>
          </p:nvSpPr>
          <p:spPr>
            <a:xfrm>
              <a:off x="13653877" y="7458228"/>
              <a:ext cx="105281" cy="2308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>
                  <a:solidFill>
                    <a:srgbClr val="3B3B3B"/>
                  </a:solidFill>
                  <a:latin typeface="Menlo" panose="020B0609030804020204" pitchFamily="49" charset="0"/>
                </a:rPr>
                <a:t>,</a:t>
              </a:r>
            </a:p>
          </p:txBody>
        </p:sp>
        <p:sp>
          <p:nvSpPr>
            <p:cNvPr id="498" name="TextBox 497"/>
            <p:cNvSpPr txBox="1"/>
            <p:nvPr/>
          </p:nvSpPr>
          <p:spPr>
            <a:xfrm>
              <a:off x="13798770" y="7458228"/>
              <a:ext cx="174210" cy="2308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>
                  <a:solidFill>
                    <a:schemeClr val="bg1">
                      <a:lumMod val="50000"/>
                    </a:schemeClr>
                  </a:solidFill>
                  <a:latin typeface="Menlo" panose="020B0609030804020204" pitchFamily="49" charset="0"/>
                </a:rPr>
                <a:t>⌷</a:t>
              </a:r>
              <a:r>
                <a:rPr lang="en-US" sz="900" dirty="0">
                  <a:solidFill>
                    <a:srgbClr val="001080"/>
                  </a:solidFill>
                  <a:latin typeface="Menlo" panose="020B0609030804020204" pitchFamily="49" charset="0"/>
                </a:rPr>
                <a:t>f</a:t>
              </a:r>
              <a:endParaRPr lang="en-US" sz="900" dirty="0">
                <a:solidFill>
                  <a:srgbClr val="3B3B3B"/>
                </a:solidFill>
                <a:latin typeface="Menlo" panose="020B0609030804020204" pitchFamily="49" charset="0"/>
              </a:endParaRPr>
            </a:p>
          </p:txBody>
        </p:sp>
        <p:sp>
          <p:nvSpPr>
            <p:cNvPr id="499" name="TextBox 498"/>
            <p:cNvSpPr txBox="1"/>
            <p:nvPr/>
          </p:nvSpPr>
          <p:spPr>
            <a:xfrm>
              <a:off x="14012594" y="7458228"/>
              <a:ext cx="243139" cy="230832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>
                  <a:solidFill>
                    <a:schemeClr val="bg1">
                      <a:lumMod val="50000"/>
                    </a:schemeClr>
                  </a:solidFill>
                  <a:latin typeface="Menlo" panose="020B0609030804020204" pitchFamily="49" charset="0"/>
                </a:rPr>
                <a:t>⌷</a:t>
              </a:r>
              <a:r>
                <a:rPr lang="en-US" sz="900" dirty="0">
                  <a:solidFill>
                    <a:srgbClr val="AF00DB"/>
                  </a:solidFill>
                  <a:latin typeface="Menlo" panose="020B0609030804020204" pitchFamily="49" charset="0"/>
                </a:rPr>
                <a:t>in</a:t>
              </a:r>
              <a:endParaRPr lang="en-US" sz="900" dirty="0">
                <a:solidFill>
                  <a:srgbClr val="3B3B3B"/>
                </a:solidFill>
                <a:latin typeface="Menlo" panose="020B0609030804020204" pitchFamily="49" charset="0"/>
              </a:endParaRPr>
            </a:p>
          </p:txBody>
        </p:sp>
        <p:sp>
          <p:nvSpPr>
            <p:cNvPr id="500" name="TextBox 499"/>
            <p:cNvSpPr txBox="1"/>
            <p:nvPr/>
          </p:nvSpPr>
          <p:spPr>
            <a:xfrm>
              <a:off x="14295346" y="7458228"/>
              <a:ext cx="719231" cy="2308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800" dirty="0">
                  <a:solidFill>
                    <a:schemeClr val="bg1">
                      <a:lumMod val="50000"/>
                    </a:schemeClr>
                  </a:solidFill>
                  <a:latin typeface="Menlo" panose="020B0609030804020204" pitchFamily="49" charset="0"/>
                </a:rPr>
                <a:t>⌷</a:t>
              </a:r>
              <a:r>
                <a:rPr lang="en-US" sz="900" dirty="0">
                  <a:solidFill>
                    <a:srgbClr val="267F99"/>
                  </a:solidFill>
                  <a:latin typeface="Menlo" panose="020B0609030804020204" pitchFamily="49" charset="0"/>
                </a:rPr>
                <a:t>enumerate</a:t>
              </a:r>
              <a:endParaRPr lang="en-US" sz="900" dirty="0">
                <a:solidFill>
                  <a:srgbClr val="3B3B3B"/>
                </a:solidFill>
                <a:latin typeface="Menlo" panose="020B0609030804020204" pitchFamily="49" charset="0"/>
              </a:endParaRPr>
            </a:p>
          </p:txBody>
        </p:sp>
        <p:sp>
          <p:nvSpPr>
            <p:cNvPr id="501" name="TextBox 500"/>
            <p:cNvSpPr txBox="1"/>
            <p:nvPr/>
          </p:nvSpPr>
          <p:spPr>
            <a:xfrm>
              <a:off x="15054190" y="7458228"/>
              <a:ext cx="105281" cy="2308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>
                  <a:solidFill>
                    <a:srgbClr val="3B3B3B"/>
                  </a:solidFill>
                  <a:latin typeface="Menlo" panose="020B0609030804020204" pitchFamily="49" charset="0"/>
                </a:rPr>
                <a:t>(</a:t>
              </a:r>
            </a:p>
          </p:txBody>
        </p:sp>
        <p:sp>
          <p:nvSpPr>
            <p:cNvPr id="502" name="TextBox 501"/>
            <p:cNvSpPr txBox="1"/>
            <p:nvPr/>
          </p:nvSpPr>
          <p:spPr>
            <a:xfrm>
              <a:off x="15199084" y="7458228"/>
              <a:ext cx="243139" cy="2308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>
                  <a:solidFill>
                    <a:srgbClr val="001080"/>
                  </a:solidFill>
                  <a:latin typeface="Menlo" panose="020B0609030804020204" pitchFamily="49" charset="0"/>
                </a:rPr>
                <a:t>row</a:t>
              </a:r>
              <a:endParaRPr lang="en-US" sz="900" dirty="0">
                <a:solidFill>
                  <a:srgbClr val="3B3B3B"/>
                </a:solidFill>
                <a:latin typeface="Menlo" panose="020B0609030804020204" pitchFamily="49" charset="0"/>
              </a:endParaRPr>
            </a:p>
          </p:txBody>
        </p:sp>
        <p:sp>
          <p:nvSpPr>
            <p:cNvPr id="503" name="TextBox 502"/>
            <p:cNvSpPr txBox="1"/>
            <p:nvPr/>
          </p:nvSpPr>
          <p:spPr>
            <a:xfrm>
              <a:off x="15481835" y="7458228"/>
              <a:ext cx="174210" cy="230832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>
                  <a:solidFill>
                    <a:srgbClr val="3B3B3B"/>
                  </a:solidFill>
                  <a:latin typeface="Menlo" panose="020B0609030804020204" pitchFamily="49" charset="0"/>
                </a:rPr>
                <a:t>):</a:t>
              </a:r>
            </a:p>
          </p:txBody>
        </p:sp>
        <p:sp>
          <p:nvSpPr>
            <p:cNvPr id="504" name="TextBox 503"/>
            <p:cNvSpPr txBox="1"/>
            <p:nvPr/>
          </p:nvSpPr>
          <p:spPr>
            <a:xfrm>
              <a:off x="13467138" y="7735083"/>
              <a:ext cx="174210" cy="2308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>
                  <a:solidFill>
                    <a:srgbClr val="AF00DB"/>
                  </a:solidFill>
                  <a:latin typeface="Menlo" panose="020B0609030804020204" pitchFamily="49" charset="0"/>
                </a:rPr>
                <a:t>if</a:t>
              </a:r>
              <a:endParaRPr lang="en-US" sz="900" dirty="0">
                <a:solidFill>
                  <a:srgbClr val="3B3B3B"/>
                </a:solidFill>
                <a:latin typeface="Menlo" panose="020B0609030804020204" pitchFamily="49" charset="0"/>
              </a:endParaRPr>
            </a:p>
          </p:txBody>
        </p:sp>
        <p:sp>
          <p:nvSpPr>
            <p:cNvPr id="505" name="TextBox 504"/>
            <p:cNvSpPr txBox="1"/>
            <p:nvPr/>
          </p:nvSpPr>
          <p:spPr>
            <a:xfrm>
              <a:off x="13672073" y="7735083"/>
              <a:ext cx="312068" cy="2308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>
                  <a:solidFill>
                    <a:schemeClr val="bg1">
                      <a:lumMod val="50000"/>
                    </a:schemeClr>
                  </a:solidFill>
                  <a:latin typeface="Menlo" panose="020B0609030804020204" pitchFamily="49" charset="0"/>
                </a:rPr>
                <a:t>⌷</a:t>
              </a:r>
              <a:r>
                <a:rPr lang="en-US" sz="900" dirty="0" err="1">
                  <a:solidFill>
                    <a:srgbClr val="795E26"/>
                  </a:solidFill>
                  <a:latin typeface="Menlo" panose="020B0609030804020204" pitchFamily="49" charset="0"/>
                </a:rPr>
                <a:t>len</a:t>
              </a:r>
              <a:endParaRPr lang="en-US" sz="900" dirty="0">
                <a:solidFill>
                  <a:srgbClr val="3B3B3B"/>
                </a:solidFill>
                <a:latin typeface="Menlo" panose="020B0609030804020204" pitchFamily="49" charset="0"/>
              </a:endParaRPr>
            </a:p>
          </p:txBody>
        </p:sp>
        <p:sp>
          <p:nvSpPr>
            <p:cNvPr id="506" name="TextBox 505"/>
            <p:cNvSpPr txBox="1"/>
            <p:nvPr/>
          </p:nvSpPr>
          <p:spPr>
            <a:xfrm>
              <a:off x="14014866" y="7735083"/>
              <a:ext cx="105281" cy="2308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>
                  <a:solidFill>
                    <a:srgbClr val="CE9178"/>
                  </a:solidFill>
                  <a:latin typeface="Menlo" panose="020B0609030804020204" pitchFamily="49" charset="0"/>
                </a:rPr>
                <a:t>(</a:t>
              </a:r>
              <a:endParaRPr lang="en-US" sz="900" dirty="0">
                <a:solidFill>
                  <a:srgbClr val="CCCCCC"/>
                </a:solidFill>
                <a:latin typeface="Menlo" panose="020B0609030804020204" pitchFamily="49" charset="0"/>
              </a:endParaRPr>
            </a:p>
          </p:txBody>
        </p:sp>
        <p:sp>
          <p:nvSpPr>
            <p:cNvPr id="507" name="TextBox 506"/>
            <p:cNvSpPr txBox="1"/>
            <p:nvPr/>
          </p:nvSpPr>
          <p:spPr>
            <a:xfrm>
              <a:off x="14150872" y="7735083"/>
              <a:ext cx="105281" cy="2308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>
                  <a:solidFill>
                    <a:srgbClr val="CE9178"/>
                  </a:solidFill>
                  <a:latin typeface="Menlo" panose="020B0609030804020204" pitchFamily="49" charset="0"/>
                </a:rPr>
                <a:t>f</a:t>
              </a:r>
              <a:endParaRPr lang="en-US" sz="900" dirty="0">
                <a:solidFill>
                  <a:srgbClr val="CCCCCC"/>
                </a:solidFill>
                <a:latin typeface="Menlo" panose="020B0609030804020204" pitchFamily="49" charset="0"/>
              </a:endParaRPr>
            </a:p>
          </p:txBody>
        </p:sp>
        <p:sp>
          <p:nvSpPr>
            <p:cNvPr id="508" name="TextBox 507"/>
            <p:cNvSpPr txBox="1"/>
            <p:nvPr/>
          </p:nvSpPr>
          <p:spPr>
            <a:xfrm>
              <a:off x="14286878" y="7735083"/>
              <a:ext cx="105281" cy="230832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>
                  <a:solidFill>
                    <a:srgbClr val="CE9178"/>
                  </a:solidFill>
                  <a:latin typeface="Menlo" panose="020B0609030804020204" pitchFamily="49" charset="0"/>
                </a:rPr>
                <a:t>)</a:t>
              </a:r>
              <a:endParaRPr lang="en-US" sz="900" dirty="0">
                <a:solidFill>
                  <a:srgbClr val="CCCCCC"/>
                </a:solidFill>
                <a:latin typeface="Menlo" panose="020B0609030804020204" pitchFamily="49" charset="0"/>
              </a:endParaRPr>
            </a:p>
          </p:txBody>
        </p:sp>
        <p:sp>
          <p:nvSpPr>
            <p:cNvPr id="509" name="TextBox 508"/>
            <p:cNvSpPr txBox="1"/>
            <p:nvPr/>
          </p:nvSpPr>
          <p:spPr>
            <a:xfrm>
              <a:off x="14422884" y="7735083"/>
              <a:ext cx="174210" cy="2308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>
                  <a:solidFill>
                    <a:schemeClr val="bg1">
                      <a:lumMod val="50000"/>
                    </a:schemeClr>
                  </a:solidFill>
                  <a:latin typeface="Menlo" panose="020B0609030804020204" pitchFamily="49" charset="0"/>
                </a:rPr>
                <a:t>⌷</a:t>
              </a:r>
              <a:r>
                <a:rPr lang="en-US" sz="900" dirty="0">
                  <a:solidFill>
                    <a:srgbClr val="000000"/>
                  </a:solidFill>
                  <a:latin typeface="Menlo" panose="020B0609030804020204" pitchFamily="49" charset="0"/>
                </a:rPr>
                <a:t>&gt;</a:t>
              </a:r>
              <a:endParaRPr lang="en-US" sz="900" dirty="0">
                <a:solidFill>
                  <a:srgbClr val="3B3B3B"/>
                </a:solidFill>
                <a:latin typeface="Menlo" panose="020B0609030804020204" pitchFamily="49" charset="0"/>
              </a:endParaRPr>
            </a:p>
          </p:txBody>
        </p:sp>
        <p:sp>
          <p:nvSpPr>
            <p:cNvPr id="510" name="TextBox 509"/>
            <p:cNvSpPr txBox="1"/>
            <p:nvPr/>
          </p:nvSpPr>
          <p:spPr>
            <a:xfrm>
              <a:off x="14627819" y="7735083"/>
              <a:ext cx="380998" cy="2308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>
                  <a:solidFill>
                    <a:schemeClr val="bg1">
                      <a:lumMod val="50000"/>
                    </a:schemeClr>
                  </a:solidFill>
                  <a:latin typeface="Menlo" panose="020B0609030804020204" pitchFamily="49" charset="0"/>
                </a:rPr>
                <a:t>⌷</a:t>
              </a:r>
              <a:r>
                <a:rPr lang="en-US" sz="900" dirty="0">
                  <a:solidFill>
                    <a:srgbClr val="001080"/>
                  </a:solidFill>
                  <a:latin typeface="Menlo" panose="020B0609030804020204" pitchFamily="49" charset="0"/>
                </a:rPr>
                <a:t>self</a:t>
              </a:r>
              <a:endParaRPr lang="en-US" sz="900" dirty="0">
                <a:solidFill>
                  <a:srgbClr val="3B3B3B"/>
                </a:solidFill>
                <a:latin typeface="Menlo" panose="020B0609030804020204" pitchFamily="49" charset="0"/>
              </a:endParaRPr>
            </a:p>
          </p:txBody>
        </p:sp>
        <p:sp>
          <p:nvSpPr>
            <p:cNvPr id="511" name="TextBox 510"/>
            <p:cNvSpPr txBox="1"/>
            <p:nvPr/>
          </p:nvSpPr>
          <p:spPr>
            <a:xfrm>
              <a:off x="15039542" y="7735083"/>
              <a:ext cx="105281" cy="2308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>
                  <a:solidFill>
                    <a:srgbClr val="3B3B3B"/>
                  </a:solidFill>
                  <a:latin typeface="Menlo" panose="020B0609030804020204" pitchFamily="49" charset="0"/>
                </a:rPr>
                <a:t>.</a:t>
              </a:r>
            </a:p>
          </p:txBody>
        </p:sp>
        <p:sp>
          <p:nvSpPr>
            <p:cNvPr id="512" name="TextBox 511"/>
            <p:cNvSpPr txBox="1"/>
            <p:nvPr/>
          </p:nvSpPr>
          <p:spPr>
            <a:xfrm>
              <a:off x="15175548" y="7735083"/>
              <a:ext cx="863502" cy="230832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 err="1">
                  <a:solidFill>
                    <a:srgbClr val="3B3B3B"/>
                  </a:solidFill>
                  <a:latin typeface="Menlo" panose="020B0609030804020204" pitchFamily="49" charset="0"/>
                </a:rPr>
                <a:t>max_col_size</a:t>
              </a:r>
              <a:endParaRPr lang="en-US" sz="900" dirty="0">
                <a:solidFill>
                  <a:srgbClr val="3B3B3B"/>
                </a:solidFill>
                <a:latin typeface="Menlo" panose="020B0609030804020204" pitchFamily="49" charset="0"/>
              </a:endParaRPr>
            </a:p>
          </p:txBody>
        </p:sp>
        <p:sp>
          <p:nvSpPr>
            <p:cNvPr id="516" name="TextBox 515"/>
            <p:cNvSpPr txBox="1"/>
            <p:nvPr/>
          </p:nvSpPr>
          <p:spPr>
            <a:xfrm>
              <a:off x="15641583" y="8011496"/>
              <a:ext cx="174210" cy="2308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>
                  <a:solidFill>
                    <a:schemeClr val="bg1">
                      <a:lumMod val="50000"/>
                    </a:schemeClr>
                  </a:solidFill>
                  <a:latin typeface="Menlo" panose="020B0609030804020204" pitchFamily="49" charset="0"/>
                </a:rPr>
                <a:t>⌷</a:t>
              </a:r>
              <a:r>
                <a:rPr lang="en-US" sz="900" dirty="0">
                  <a:solidFill>
                    <a:srgbClr val="000000"/>
                  </a:solidFill>
                  <a:latin typeface="Menlo" panose="020B0609030804020204" pitchFamily="49" charset="0"/>
                </a:rPr>
                <a:t>=</a:t>
              </a:r>
              <a:endParaRPr lang="en-US" sz="900" dirty="0">
                <a:solidFill>
                  <a:srgbClr val="3B3B3B"/>
                </a:solidFill>
                <a:latin typeface="Menlo" panose="020B0609030804020204" pitchFamily="49" charset="0"/>
              </a:endParaRPr>
            </a:p>
          </p:txBody>
        </p:sp>
        <p:sp>
          <p:nvSpPr>
            <p:cNvPr id="517" name="TextBox 516"/>
            <p:cNvSpPr txBox="1"/>
            <p:nvPr/>
          </p:nvSpPr>
          <p:spPr>
            <a:xfrm>
              <a:off x="16069775" y="7735083"/>
              <a:ext cx="105281" cy="2308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>
                  <a:solidFill>
                    <a:srgbClr val="3B3B3B"/>
                  </a:solidFill>
                  <a:latin typeface="Menlo" panose="020B0609030804020204" pitchFamily="49" charset="0"/>
                </a:rPr>
                <a:t>[</a:t>
              </a:r>
            </a:p>
          </p:txBody>
        </p:sp>
        <p:sp>
          <p:nvSpPr>
            <p:cNvPr id="518" name="TextBox 517"/>
            <p:cNvSpPr txBox="1"/>
            <p:nvPr/>
          </p:nvSpPr>
          <p:spPr>
            <a:xfrm>
              <a:off x="16205781" y="7735083"/>
              <a:ext cx="105281" cy="2308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 err="1">
                  <a:solidFill>
                    <a:srgbClr val="001080"/>
                  </a:solidFill>
                  <a:latin typeface="Menlo" panose="020B0609030804020204" pitchFamily="49" charset="0"/>
                </a:rPr>
                <a:t>i</a:t>
              </a:r>
              <a:endParaRPr lang="en-US" sz="900" dirty="0">
                <a:solidFill>
                  <a:srgbClr val="3B3B3B"/>
                </a:solidFill>
                <a:latin typeface="Menlo" panose="020B0609030804020204" pitchFamily="49" charset="0"/>
              </a:endParaRPr>
            </a:p>
          </p:txBody>
        </p:sp>
        <p:sp>
          <p:nvSpPr>
            <p:cNvPr id="519" name="TextBox 518"/>
            <p:cNvSpPr txBox="1"/>
            <p:nvPr/>
          </p:nvSpPr>
          <p:spPr>
            <a:xfrm>
              <a:off x="16341787" y="7735083"/>
              <a:ext cx="174210" cy="230832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>
                  <a:solidFill>
                    <a:srgbClr val="3B3B3B"/>
                  </a:solidFill>
                  <a:latin typeface="Menlo" panose="020B0609030804020204" pitchFamily="49" charset="0"/>
                </a:rPr>
                <a:t>]:</a:t>
              </a:r>
            </a:p>
          </p:txBody>
        </p:sp>
        <p:sp>
          <p:nvSpPr>
            <p:cNvPr id="520" name="TextBox 519"/>
            <p:cNvSpPr txBox="1"/>
            <p:nvPr/>
          </p:nvSpPr>
          <p:spPr>
            <a:xfrm>
              <a:off x="15695660" y="7458228"/>
              <a:ext cx="174210" cy="230832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>
                  <a:solidFill>
                    <a:srgbClr val="D7BA7D"/>
                  </a:solidFill>
                  <a:latin typeface="Menlo" panose="020B0609030804020204" pitchFamily="49" charset="0"/>
                </a:rPr>
                <a:t>\n</a:t>
              </a:r>
            </a:p>
          </p:txBody>
        </p:sp>
        <p:sp>
          <p:nvSpPr>
            <p:cNvPr id="521" name="TextBox 520"/>
            <p:cNvSpPr txBox="1"/>
            <p:nvPr/>
          </p:nvSpPr>
          <p:spPr>
            <a:xfrm>
              <a:off x="16546727" y="7735083"/>
              <a:ext cx="174210" cy="230832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>
                  <a:solidFill>
                    <a:srgbClr val="D7BA7D"/>
                  </a:solidFill>
                  <a:latin typeface="Menlo" panose="020B0609030804020204" pitchFamily="49" charset="0"/>
                </a:rPr>
                <a:t>\n</a:t>
              </a:r>
            </a:p>
          </p:txBody>
        </p:sp>
        <p:sp>
          <p:nvSpPr>
            <p:cNvPr id="522" name="TextBox 521"/>
            <p:cNvSpPr txBox="1"/>
            <p:nvPr/>
          </p:nvSpPr>
          <p:spPr>
            <a:xfrm>
              <a:off x="13812779" y="8011496"/>
              <a:ext cx="312068" cy="2308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>
                  <a:solidFill>
                    <a:srgbClr val="001080"/>
                  </a:solidFill>
                  <a:latin typeface="Menlo" panose="020B0609030804020204" pitchFamily="49" charset="0"/>
                </a:rPr>
                <a:t>self</a:t>
              </a:r>
              <a:endParaRPr lang="en-US" sz="900" dirty="0">
                <a:solidFill>
                  <a:srgbClr val="3B3B3B"/>
                </a:solidFill>
                <a:latin typeface="Menlo" panose="020B0609030804020204" pitchFamily="49" charset="0"/>
              </a:endParaRPr>
            </a:p>
          </p:txBody>
        </p:sp>
        <p:sp>
          <p:nvSpPr>
            <p:cNvPr id="523" name="TextBox 522"/>
            <p:cNvSpPr txBox="1"/>
            <p:nvPr/>
          </p:nvSpPr>
          <p:spPr>
            <a:xfrm>
              <a:off x="14163532" y="8011496"/>
              <a:ext cx="105281" cy="2308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>
                  <a:solidFill>
                    <a:srgbClr val="3B3B3B"/>
                  </a:solidFill>
                  <a:latin typeface="Menlo" panose="020B0609030804020204" pitchFamily="49" charset="0"/>
                </a:rPr>
                <a:t>.</a:t>
              </a:r>
            </a:p>
          </p:txBody>
        </p:sp>
        <p:sp>
          <p:nvSpPr>
            <p:cNvPr id="529" name="TextBox 528"/>
            <p:cNvSpPr txBox="1"/>
            <p:nvPr/>
          </p:nvSpPr>
          <p:spPr>
            <a:xfrm>
              <a:off x="15209685" y="8011496"/>
              <a:ext cx="105281" cy="2308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>
                  <a:solidFill>
                    <a:srgbClr val="3B3B3B"/>
                  </a:solidFill>
                  <a:latin typeface="Menlo" panose="020B0609030804020204" pitchFamily="49" charset="0"/>
                </a:rPr>
                <a:t>[</a:t>
              </a:r>
            </a:p>
          </p:txBody>
        </p:sp>
        <p:sp>
          <p:nvSpPr>
            <p:cNvPr id="530" name="TextBox 529"/>
            <p:cNvSpPr txBox="1"/>
            <p:nvPr/>
          </p:nvSpPr>
          <p:spPr>
            <a:xfrm>
              <a:off x="15353651" y="8011496"/>
              <a:ext cx="105281" cy="2308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 err="1">
                  <a:solidFill>
                    <a:srgbClr val="001080"/>
                  </a:solidFill>
                  <a:latin typeface="Menlo" panose="020B0609030804020204" pitchFamily="49" charset="0"/>
                </a:rPr>
                <a:t>i</a:t>
              </a:r>
              <a:endParaRPr lang="en-US" sz="900" dirty="0">
                <a:solidFill>
                  <a:srgbClr val="3B3B3B"/>
                </a:solidFill>
                <a:latin typeface="Menlo" panose="020B0609030804020204" pitchFamily="49" charset="0"/>
              </a:endParaRPr>
            </a:p>
          </p:txBody>
        </p:sp>
        <p:sp>
          <p:nvSpPr>
            <p:cNvPr id="531" name="TextBox 530"/>
            <p:cNvSpPr txBox="1"/>
            <p:nvPr/>
          </p:nvSpPr>
          <p:spPr>
            <a:xfrm>
              <a:off x="15497617" y="8011496"/>
              <a:ext cx="105281" cy="230832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>
                  <a:solidFill>
                    <a:srgbClr val="3B3B3B"/>
                  </a:solidFill>
                  <a:latin typeface="Menlo" panose="020B0609030804020204" pitchFamily="49" charset="0"/>
                </a:rPr>
                <a:t>]</a:t>
              </a:r>
            </a:p>
          </p:txBody>
        </p:sp>
        <p:sp>
          <p:nvSpPr>
            <p:cNvPr id="533" name="TextBox 532"/>
            <p:cNvSpPr txBox="1"/>
            <p:nvPr/>
          </p:nvSpPr>
          <p:spPr>
            <a:xfrm>
              <a:off x="15854478" y="8011496"/>
              <a:ext cx="312068" cy="2308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>
                  <a:solidFill>
                    <a:schemeClr val="bg1">
                      <a:lumMod val="50000"/>
                    </a:schemeClr>
                  </a:solidFill>
                  <a:latin typeface="Menlo" panose="020B0609030804020204" pitchFamily="49" charset="0"/>
                </a:rPr>
                <a:t>⌷</a:t>
              </a:r>
              <a:r>
                <a:rPr lang="en-US" sz="900" dirty="0" err="1">
                  <a:solidFill>
                    <a:srgbClr val="795E26"/>
                  </a:solidFill>
                  <a:latin typeface="Menlo" panose="020B0609030804020204" pitchFamily="49" charset="0"/>
                </a:rPr>
                <a:t>len</a:t>
              </a:r>
              <a:endParaRPr lang="en-US" sz="900" dirty="0">
                <a:solidFill>
                  <a:srgbClr val="3B3B3B"/>
                </a:solidFill>
                <a:latin typeface="Menlo" panose="020B0609030804020204" pitchFamily="49" charset="0"/>
              </a:endParaRPr>
            </a:p>
          </p:txBody>
        </p:sp>
        <p:sp>
          <p:nvSpPr>
            <p:cNvPr id="534" name="TextBox 533"/>
            <p:cNvSpPr txBox="1"/>
            <p:nvPr/>
          </p:nvSpPr>
          <p:spPr>
            <a:xfrm>
              <a:off x="16205231" y="8011496"/>
              <a:ext cx="105281" cy="2308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>
                  <a:solidFill>
                    <a:srgbClr val="3B3B3B"/>
                  </a:solidFill>
                  <a:latin typeface="Menlo" panose="020B0609030804020204" pitchFamily="49" charset="0"/>
                </a:rPr>
                <a:t>(</a:t>
              </a:r>
            </a:p>
          </p:txBody>
        </p:sp>
        <p:sp>
          <p:nvSpPr>
            <p:cNvPr id="535" name="TextBox 534"/>
            <p:cNvSpPr txBox="1"/>
            <p:nvPr/>
          </p:nvSpPr>
          <p:spPr>
            <a:xfrm>
              <a:off x="16349197" y="8011496"/>
              <a:ext cx="105281" cy="2308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>
                  <a:solidFill>
                    <a:srgbClr val="001080"/>
                  </a:solidFill>
                  <a:latin typeface="Menlo" panose="020B0609030804020204" pitchFamily="49" charset="0"/>
                </a:rPr>
                <a:t>f</a:t>
              </a:r>
              <a:endParaRPr lang="en-US" sz="900" dirty="0">
                <a:solidFill>
                  <a:srgbClr val="3B3B3B"/>
                </a:solidFill>
                <a:latin typeface="Menlo" panose="020B0609030804020204" pitchFamily="49" charset="0"/>
              </a:endParaRPr>
            </a:p>
          </p:txBody>
        </p:sp>
        <p:sp>
          <p:nvSpPr>
            <p:cNvPr id="536" name="TextBox 535"/>
            <p:cNvSpPr txBox="1"/>
            <p:nvPr/>
          </p:nvSpPr>
          <p:spPr>
            <a:xfrm>
              <a:off x="16493169" y="8011496"/>
              <a:ext cx="105281" cy="230832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>
                  <a:solidFill>
                    <a:srgbClr val="3B3B3B"/>
                  </a:solidFill>
                  <a:latin typeface="Menlo" panose="020B0609030804020204" pitchFamily="49" charset="0"/>
                </a:rPr>
                <a:t>)</a:t>
              </a:r>
            </a:p>
          </p:txBody>
        </p:sp>
        <p:sp>
          <p:nvSpPr>
            <p:cNvPr id="537" name="TextBox 536"/>
            <p:cNvSpPr txBox="1"/>
            <p:nvPr/>
          </p:nvSpPr>
          <p:spPr>
            <a:xfrm>
              <a:off x="12829688" y="7458228"/>
              <a:ext cx="288000" cy="230400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noAutofit/>
            </a:bodyPr>
            <a:lstStyle/>
            <a:p>
              <a:pPr algn="ctr"/>
              <a:r>
                <a:rPr lang="en-US" sz="800" dirty="0">
                  <a:solidFill>
                    <a:schemeClr val="bg1">
                      <a:lumMod val="50000"/>
                    </a:schemeClr>
                  </a:solidFill>
                  <a:latin typeface="Menlo" panose="020B0609030804020204" pitchFamily="49" charset="0"/>
                </a:rPr>
                <a:t>⌷⌷⌷⌷</a:t>
              </a:r>
            </a:p>
          </p:txBody>
        </p:sp>
        <p:sp>
          <p:nvSpPr>
            <p:cNvPr id="538" name="TextBox 537"/>
            <p:cNvSpPr txBox="1"/>
            <p:nvPr/>
          </p:nvSpPr>
          <p:spPr>
            <a:xfrm>
              <a:off x="12829688" y="7735083"/>
              <a:ext cx="288000" cy="230400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noAutofit/>
            </a:bodyPr>
            <a:lstStyle/>
            <a:p>
              <a:pPr algn="ctr"/>
              <a:r>
                <a:rPr lang="en-US" sz="800" dirty="0">
                  <a:solidFill>
                    <a:schemeClr val="bg1">
                      <a:lumMod val="50000"/>
                    </a:schemeClr>
                  </a:solidFill>
                  <a:latin typeface="Menlo" panose="020B0609030804020204" pitchFamily="49" charset="0"/>
                </a:rPr>
                <a:t>⌷⌷⌷⌷</a:t>
              </a:r>
            </a:p>
          </p:txBody>
        </p:sp>
        <p:sp>
          <p:nvSpPr>
            <p:cNvPr id="539" name="TextBox 538"/>
            <p:cNvSpPr txBox="1"/>
            <p:nvPr/>
          </p:nvSpPr>
          <p:spPr>
            <a:xfrm>
              <a:off x="13148413" y="7735083"/>
              <a:ext cx="288000" cy="230400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noAutofit/>
            </a:bodyPr>
            <a:lstStyle/>
            <a:p>
              <a:pPr algn="ctr"/>
              <a:r>
                <a:rPr lang="en-US" sz="800" dirty="0">
                  <a:solidFill>
                    <a:schemeClr val="bg1">
                      <a:lumMod val="50000"/>
                    </a:schemeClr>
                  </a:solidFill>
                  <a:latin typeface="Menlo" panose="020B0609030804020204" pitchFamily="49" charset="0"/>
                </a:rPr>
                <a:t>⌷⌷⌷⌷</a:t>
              </a:r>
            </a:p>
          </p:txBody>
        </p:sp>
        <p:sp>
          <p:nvSpPr>
            <p:cNvPr id="540" name="TextBox 539"/>
            <p:cNvSpPr txBox="1"/>
            <p:nvPr/>
          </p:nvSpPr>
          <p:spPr>
            <a:xfrm>
              <a:off x="12832724" y="8011496"/>
              <a:ext cx="288000" cy="230400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noAutofit/>
            </a:bodyPr>
            <a:lstStyle/>
            <a:p>
              <a:pPr algn="ctr"/>
              <a:r>
                <a:rPr lang="en-US" sz="800" dirty="0">
                  <a:solidFill>
                    <a:schemeClr val="bg1">
                      <a:lumMod val="50000"/>
                    </a:schemeClr>
                  </a:solidFill>
                  <a:latin typeface="Menlo" panose="020B0609030804020204" pitchFamily="49" charset="0"/>
                </a:rPr>
                <a:t>⌷⌷⌷⌷</a:t>
              </a:r>
            </a:p>
          </p:txBody>
        </p:sp>
        <p:sp>
          <p:nvSpPr>
            <p:cNvPr id="541" name="TextBox 540"/>
            <p:cNvSpPr txBox="1"/>
            <p:nvPr/>
          </p:nvSpPr>
          <p:spPr>
            <a:xfrm>
              <a:off x="13159409" y="8011496"/>
              <a:ext cx="288000" cy="230400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noAutofit/>
            </a:bodyPr>
            <a:lstStyle/>
            <a:p>
              <a:pPr algn="ctr"/>
              <a:r>
                <a:rPr lang="en-US" sz="800" dirty="0">
                  <a:solidFill>
                    <a:schemeClr val="bg1">
                      <a:lumMod val="50000"/>
                    </a:schemeClr>
                  </a:solidFill>
                  <a:latin typeface="Menlo" panose="020B0609030804020204" pitchFamily="49" charset="0"/>
                </a:rPr>
                <a:t>⌷⌷⌷⌷</a:t>
              </a:r>
            </a:p>
          </p:txBody>
        </p:sp>
        <p:sp>
          <p:nvSpPr>
            <p:cNvPr id="542" name="TextBox 541"/>
            <p:cNvSpPr txBox="1"/>
            <p:nvPr/>
          </p:nvSpPr>
          <p:spPr>
            <a:xfrm>
              <a:off x="13486094" y="8011496"/>
              <a:ext cx="288000" cy="230400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noAutofit/>
            </a:bodyPr>
            <a:lstStyle/>
            <a:p>
              <a:pPr algn="ctr"/>
              <a:r>
                <a:rPr lang="en-US" sz="800" dirty="0">
                  <a:solidFill>
                    <a:schemeClr val="bg1">
                      <a:lumMod val="50000"/>
                    </a:schemeClr>
                  </a:solidFill>
                  <a:latin typeface="Menlo" panose="020B0609030804020204" pitchFamily="49" charset="0"/>
                </a:rPr>
                <a:t>⌷⌷⌷⌷</a:t>
              </a:r>
            </a:p>
          </p:txBody>
        </p:sp>
        <p:sp>
          <p:nvSpPr>
            <p:cNvPr id="543" name="TextBox 542"/>
            <p:cNvSpPr txBox="1"/>
            <p:nvPr/>
          </p:nvSpPr>
          <p:spPr>
            <a:xfrm>
              <a:off x="14307498" y="8011496"/>
              <a:ext cx="863502" cy="230832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 err="1">
                  <a:solidFill>
                    <a:srgbClr val="3B3B3B"/>
                  </a:solidFill>
                  <a:latin typeface="Menlo" panose="020B0609030804020204" pitchFamily="49" charset="0"/>
                </a:rPr>
                <a:t>max_col_size</a:t>
              </a:r>
              <a:endParaRPr lang="en-US" sz="900" dirty="0">
                <a:solidFill>
                  <a:srgbClr val="3B3B3B"/>
                </a:solidFill>
                <a:latin typeface="Menlo" panose="020B0609030804020204" pitchFamily="49" charset="0"/>
              </a:endParaRPr>
            </a:p>
          </p:txBody>
        </p:sp>
        <p:sp>
          <p:nvSpPr>
            <p:cNvPr id="60" name="Rounded Rectangle 59"/>
            <p:cNvSpPr/>
            <p:nvPr/>
          </p:nvSpPr>
          <p:spPr>
            <a:xfrm>
              <a:off x="12661458" y="7114474"/>
              <a:ext cx="4338047" cy="1227834"/>
            </a:xfrm>
            <a:prstGeom prst="roundRect">
              <a:avLst>
                <a:gd name="adj" fmla="val 2712"/>
              </a:avLst>
            </a:prstGeom>
            <a:noFill/>
            <a:ln>
              <a:solidFill>
                <a:schemeClr val="bg1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</p:cSld>
  <p:clrMapOvr>
    <a:masterClrMapping/>
  </p:clrMapOvr>
  <p:transition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3" name="Rounded Rectangle 602"/>
          <p:cNvSpPr/>
          <p:nvPr/>
        </p:nvSpPr>
        <p:spPr>
          <a:xfrm>
            <a:off x="17263014" y="8660392"/>
            <a:ext cx="6219319" cy="377899"/>
          </a:xfrm>
          <a:prstGeom prst="roundRect">
            <a:avLst>
              <a:gd name="adj" fmla="val 2712"/>
            </a:avLst>
          </a:prstGeom>
          <a:solidFill>
            <a:srgbClr val="7030A0">
              <a:alpha val="14000"/>
            </a:srgbClr>
          </a:solidFill>
          <a:ln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2" name="Rounded Rectangle 601"/>
          <p:cNvSpPr/>
          <p:nvPr/>
        </p:nvSpPr>
        <p:spPr>
          <a:xfrm>
            <a:off x="17263014" y="7908965"/>
            <a:ext cx="6219319" cy="575982"/>
          </a:xfrm>
          <a:prstGeom prst="roundRect">
            <a:avLst>
              <a:gd name="adj" fmla="val 2712"/>
            </a:avLst>
          </a:prstGeom>
          <a:solidFill>
            <a:srgbClr val="7030A0">
              <a:alpha val="13620"/>
            </a:srgbClr>
          </a:solidFill>
          <a:ln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4" name="Rounded Rectangle 643"/>
          <p:cNvSpPr/>
          <p:nvPr/>
        </p:nvSpPr>
        <p:spPr>
          <a:xfrm>
            <a:off x="16733705" y="3557879"/>
            <a:ext cx="7014639" cy="5691755"/>
          </a:xfrm>
          <a:prstGeom prst="roundRect">
            <a:avLst>
              <a:gd name="adj" fmla="val 2712"/>
            </a:avLst>
          </a:prstGeom>
          <a:solidFill>
            <a:srgbClr val="7030A0">
              <a:alpha val="3000"/>
            </a:srgbClr>
          </a:solidFill>
          <a:ln>
            <a:solidFill>
              <a:srgbClr val="7030A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51" name="Rounded Rectangle 750"/>
          <p:cNvSpPr/>
          <p:nvPr/>
        </p:nvSpPr>
        <p:spPr>
          <a:xfrm>
            <a:off x="17240127" y="4554357"/>
            <a:ext cx="6230322" cy="701711"/>
          </a:xfrm>
          <a:prstGeom prst="roundRect">
            <a:avLst>
              <a:gd name="adj" fmla="val 2712"/>
            </a:avLst>
          </a:prstGeom>
          <a:solidFill>
            <a:srgbClr val="7030A0">
              <a:alpha val="14000"/>
            </a:srgbClr>
          </a:solidFill>
          <a:ln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42" name="Rounded Rectangle 641"/>
          <p:cNvSpPr/>
          <p:nvPr/>
        </p:nvSpPr>
        <p:spPr>
          <a:xfrm>
            <a:off x="11940367" y="4719918"/>
            <a:ext cx="4393854" cy="4530464"/>
          </a:xfrm>
          <a:prstGeom prst="roundRect">
            <a:avLst>
              <a:gd name="adj" fmla="val 2712"/>
            </a:avLst>
          </a:prstGeom>
          <a:solidFill>
            <a:srgbClr val="7030A0">
              <a:alpha val="3000"/>
            </a:srgbClr>
          </a:solidFill>
          <a:ln>
            <a:solidFill>
              <a:srgbClr val="7030A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7" name="Rounded Rectangle 756"/>
          <p:cNvSpPr/>
          <p:nvPr/>
        </p:nvSpPr>
        <p:spPr>
          <a:xfrm>
            <a:off x="12015660" y="8182111"/>
            <a:ext cx="4248000" cy="902674"/>
          </a:xfrm>
          <a:prstGeom prst="roundRect">
            <a:avLst>
              <a:gd name="adj" fmla="val 2712"/>
            </a:avLst>
          </a:prstGeom>
          <a:solidFill>
            <a:srgbClr val="7030A0">
              <a:alpha val="14000"/>
            </a:srgbClr>
          </a:solidFill>
          <a:ln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ounded Rectangle 22"/>
          <p:cNvSpPr/>
          <p:nvPr/>
        </p:nvSpPr>
        <p:spPr>
          <a:xfrm>
            <a:off x="391871" y="7270382"/>
            <a:ext cx="10754570" cy="1980000"/>
          </a:xfrm>
          <a:prstGeom prst="roundRect">
            <a:avLst>
              <a:gd name="adj" fmla="val 2712"/>
            </a:avLst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ounded Rectangle 21"/>
          <p:cNvSpPr/>
          <p:nvPr/>
        </p:nvSpPr>
        <p:spPr>
          <a:xfrm>
            <a:off x="391870" y="3594290"/>
            <a:ext cx="10735527" cy="1980000"/>
          </a:xfrm>
          <a:prstGeom prst="roundRect">
            <a:avLst>
              <a:gd name="adj" fmla="val 2712"/>
            </a:avLst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9" name="Rounded Rectangle 748"/>
          <p:cNvSpPr/>
          <p:nvPr/>
        </p:nvSpPr>
        <p:spPr>
          <a:xfrm>
            <a:off x="17240126" y="5805255"/>
            <a:ext cx="6219319" cy="1565504"/>
          </a:xfrm>
          <a:prstGeom prst="roundRect">
            <a:avLst>
              <a:gd name="adj" fmla="val 2712"/>
            </a:avLst>
          </a:prstGeom>
          <a:solidFill>
            <a:srgbClr val="7030A0">
              <a:alpha val="14000"/>
            </a:srgbClr>
          </a:solidFill>
          <a:ln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15961" y="4570229"/>
            <a:ext cx="895664" cy="89566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009018" y="5016268"/>
            <a:ext cx="32182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Language Syntax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7199" y="5016268"/>
            <a:ext cx="20525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Task Specification</a:t>
            </a:r>
          </a:p>
        </p:txBody>
      </p:sp>
      <p:cxnSp>
        <p:nvCxnSpPr>
          <p:cNvPr id="7" name="Straight Arrow Connector 6"/>
          <p:cNvCxnSpPr/>
          <p:nvPr/>
        </p:nvCxnSpPr>
        <p:spPr>
          <a:xfrm>
            <a:off x="4490268" y="4468127"/>
            <a:ext cx="2052000" cy="0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427495" y="5016268"/>
            <a:ext cx="26409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Copyright</a:t>
            </a:r>
            <a:r>
              <a:rPr lang="en-US" altLang="zh-CN" dirty="0"/>
              <a:t>-Owned </a:t>
            </a:r>
            <a:r>
              <a:rPr lang="en-US" dirty="0"/>
              <a:t>Code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48687" y="3788434"/>
            <a:ext cx="1484317" cy="1200329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marL="342900" indent="-342900">
              <a:buAutoNum type="arabicPeriod"/>
            </a:pPr>
            <a:r>
              <a:rPr lang="en-US" dirty="0"/>
              <a:t>For</a:t>
            </a:r>
          </a:p>
          <a:p>
            <a:pPr marL="342900" indent="-342900">
              <a:buAutoNum type="arabicPeriod"/>
            </a:pPr>
            <a:r>
              <a:rPr lang="en-US" dirty="0"/>
              <a:t>If Else</a:t>
            </a:r>
          </a:p>
          <a:p>
            <a:pPr marL="342900" indent="-342900">
              <a:buAutoNum type="arabicPeriod"/>
            </a:pPr>
            <a:r>
              <a:rPr lang="en-US" dirty="0"/>
              <a:t>Try except</a:t>
            </a:r>
          </a:p>
          <a:p>
            <a:pPr marL="342900" indent="-342900">
              <a:buAutoNum type="arabicPeriod"/>
            </a:pPr>
            <a:r>
              <a:rPr lang="en-US" dirty="0"/>
              <a:t>…</a:t>
            </a:r>
          </a:p>
        </p:txBody>
      </p:sp>
      <p:pic>
        <p:nvPicPr>
          <p:cNvPr id="10" name="Picture 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0718" y="3839426"/>
            <a:ext cx="1016000" cy="10160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05439" y="3949260"/>
            <a:ext cx="1475999" cy="369332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none" rtlCol="0">
            <a:no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Programming</a:t>
            </a:r>
          </a:p>
        </p:txBody>
      </p:sp>
      <p:pic>
        <p:nvPicPr>
          <p:cNvPr id="47" name="Picture 4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19986" y="7584190"/>
            <a:ext cx="1130986" cy="1130986"/>
          </a:xfrm>
          <a:prstGeom prst="rect">
            <a:avLst/>
          </a:prstGeom>
        </p:spPr>
      </p:pic>
      <p:sp>
        <p:nvSpPr>
          <p:cNvPr id="96" name="TextBox 95"/>
          <p:cNvSpPr txBox="1"/>
          <p:nvPr/>
        </p:nvSpPr>
        <p:spPr>
          <a:xfrm>
            <a:off x="17595976" y="5799288"/>
            <a:ext cx="1636987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/>
              <a:t>Enumerating each tokens</a:t>
            </a:r>
          </a:p>
        </p:txBody>
      </p:sp>
      <p:cxnSp>
        <p:nvCxnSpPr>
          <p:cNvPr id="136" name="Straight Arrow Connector 135"/>
          <p:cNvCxnSpPr/>
          <p:nvPr/>
        </p:nvCxnSpPr>
        <p:spPr>
          <a:xfrm>
            <a:off x="25762972" y="7263015"/>
            <a:ext cx="0" cy="87575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848683" y="3987164"/>
            <a:ext cx="3996000" cy="978878"/>
          </a:xfrm>
          <a:prstGeom prst="rect">
            <a:avLst/>
          </a:prstGeom>
          <a:solidFill>
            <a:schemeClr val="bg1">
              <a:lumMod val="85000"/>
            </a:schemeClr>
          </a:solidFill>
          <a:ln w="12700"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r>
              <a:rPr lang="en-US" sz="1100" dirty="0">
                <a:solidFill>
                  <a:srgbClr val="0000FF"/>
                </a:solidFill>
                <a:latin typeface="Menlo" panose="020B0609030804020204" pitchFamily="49" charset="0"/>
              </a:rPr>
              <a:t>def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 </a:t>
            </a:r>
            <a:r>
              <a:rPr lang="en-US" sz="1100" dirty="0">
                <a:solidFill>
                  <a:srgbClr val="795E26"/>
                </a:solidFill>
                <a:latin typeface="Menlo" panose="020B0609030804020204" pitchFamily="49" charset="0"/>
              </a:rPr>
              <a:t>add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(</a:t>
            </a:r>
            <a:r>
              <a:rPr lang="en-US" sz="1100" dirty="0">
                <a:solidFill>
                  <a:srgbClr val="001080"/>
                </a:solidFill>
                <a:latin typeface="Menlo" panose="020B0609030804020204" pitchFamily="49" charset="0"/>
              </a:rPr>
              <a:t>self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, </a:t>
            </a:r>
            <a:r>
              <a:rPr lang="en-US" sz="1100" dirty="0">
                <a:solidFill>
                  <a:srgbClr val="001080"/>
                </a:solidFill>
                <a:latin typeface="Menlo" panose="020B0609030804020204" pitchFamily="49" charset="0"/>
              </a:rPr>
              <a:t>row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):</a:t>
            </a:r>
          </a:p>
          <a:p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	…</a:t>
            </a:r>
          </a:p>
          <a:p>
            <a:r>
              <a:rPr lang="en-US" sz="1100" dirty="0">
                <a:solidFill>
                  <a:srgbClr val="AF00DB"/>
                </a:solidFill>
                <a:latin typeface="Menlo" panose="020B0609030804020204" pitchFamily="49" charset="0"/>
              </a:rPr>
              <a:t>	for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 </a:t>
            </a:r>
            <a:r>
              <a:rPr lang="en-US" sz="1100" dirty="0" err="1">
                <a:solidFill>
                  <a:srgbClr val="001080"/>
                </a:solidFill>
                <a:latin typeface="Menlo" panose="020B0609030804020204" pitchFamily="49" charset="0"/>
              </a:rPr>
              <a:t>i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, </a:t>
            </a:r>
            <a:r>
              <a:rPr lang="en-US" sz="1100" dirty="0">
                <a:solidFill>
                  <a:srgbClr val="001080"/>
                </a:solidFill>
                <a:latin typeface="Menlo" panose="020B0609030804020204" pitchFamily="49" charset="0"/>
              </a:rPr>
              <a:t>f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 </a:t>
            </a:r>
            <a:r>
              <a:rPr lang="en-US" sz="1100" dirty="0">
                <a:solidFill>
                  <a:srgbClr val="AF00DB"/>
                </a:solidFill>
                <a:latin typeface="Menlo" panose="020B0609030804020204" pitchFamily="49" charset="0"/>
              </a:rPr>
              <a:t>in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 </a:t>
            </a:r>
            <a:r>
              <a:rPr lang="en-US" sz="1100" dirty="0">
                <a:solidFill>
                  <a:srgbClr val="267F99"/>
                </a:solidFill>
                <a:latin typeface="Menlo" panose="020B0609030804020204" pitchFamily="49" charset="0"/>
              </a:rPr>
              <a:t>enumerate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(</a:t>
            </a:r>
            <a:r>
              <a:rPr lang="en-US" sz="1100" dirty="0">
                <a:solidFill>
                  <a:srgbClr val="001080"/>
                </a:solidFill>
                <a:latin typeface="Menlo" panose="020B0609030804020204" pitchFamily="49" charset="0"/>
              </a:rPr>
              <a:t>row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):</a:t>
            </a:r>
          </a:p>
          <a:p>
            <a:r>
              <a:rPr lang="en-US" sz="1100" dirty="0">
                <a:solidFill>
                  <a:srgbClr val="AF00DB"/>
                </a:solidFill>
                <a:latin typeface="Menlo" panose="020B0609030804020204" pitchFamily="49" charset="0"/>
              </a:rPr>
              <a:t>		if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 </a:t>
            </a:r>
            <a:r>
              <a:rPr lang="en-US" sz="1100" dirty="0" err="1">
                <a:solidFill>
                  <a:srgbClr val="795E26"/>
                </a:solidFill>
                <a:latin typeface="Menlo" panose="020B0609030804020204" pitchFamily="49" charset="0"/>
              </a:rPr>
              <a:t>len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(</a:t>
            </a:r>
            <a:r>
              <a:rPr lang="en-US" sz="1100" dirty="0">
                <a:solidFill>
                  <a:srgbClr val="001080"/>
                </a:solidFill>
                <a:latin typeface="Menlo" panose="020B0609030804020204" pitchFamily="49" charset="0"/>
              </a:rPr>
              <a:t>f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) </a:t>
            </a:r>
            <a:r>
              <a:rPr lang="en-US" sz="1100" dirty="0">
                <a:solidFill>
                  <a:srgbClr val="000000"/>
                </a:solidFill>
                <a:latin typeface="Menlo" panose="020B0609030804020204" pitchFamily="49" charset="0"/>
              </a:rPr>
              <a:t>&gt;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 </a:t>
            </a:r>
            <a:r>
              <a:rPr lang="en-US" sz="1100" dirty="0" err="1">
                <a:solidFill>
                  <a:srgbClr val="001080"/>
                </a:solidFill>
                <a:latin typeface="Menlo" panose="020B0609030804020204" pitchFamily="49" charset="0"/>
              </a:rPr>
              <a:t>self</a:t>
            </a:r>
            <a:r>
              <a:rPr lang="en-US" sz="1100" dirty="0" err="1">
                <a:solidFill>
                  <a:srgbClr val="3B3B3B"/>
                </a:solidFill>
                <a:latin typeface="Menlo" panose="020B0609030804020204" pitchFamily="49" charset="0"/>
              </a:rPr>
              <a:t>.max_col_size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[</a:t>
            </a:r>
            <a:r>
              <a:rPr lang="en-US" sz="1100" dirty="0" err="1">
                <a:solidFill>
                  <a:srgbClr val="001080"/>
                </a:solidFill>
                <a:latin typeface="Menlo" panose="020B0609030804020204" pitchFamily="49" charset="0"/>
              </a:rPr>
              <a:t>i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]: </a:t>
            </a:r>
          </a:p>
          <a:p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	… </a:t>
            </a:r>
          </a:p>
        </p:txBody>
      </p:sp>
      <p:pic>
        <p:nvPicPr>
          <p:cNvPr id="463" name="Picture 46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89730" y="7575146"/>
            <a:ext cx="690099" cy="690099"/>
          </a:xfrm>
          <a:prstGeom prst="rect">
            <a:avLst/>
          </a:prstGeom>
        </p:spPr>
      </p:pic>
      <p:pic>
        <p:nvPicPr>
          <p:cNvPr id="464" name="Picture 463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91667" y="7983387"/>
            <a:ext cx="690099" cy="690099"/>
          </a:xfrm>
          <a:prstGeom prst="rect">
            <a:avLst/>
          </a:prstGeom>
        </p:spPr>
      </p:pic>
      <p:pic>
        <p:nvPicPr>
          <p:cNvPr id="465" name="Picture 46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65109" y="7988359"/>
            <a:ext cx="690099" cy="690099"/>
          </a:xfrm>
          <a:prstGeom prst="rect">
            <a:avLst/>
          </a:prstGeom>
        </p:spPr>
      </p:pic>
      <p:sp>
        <p:nvSpPr>
          <p:cNvPr id="468" name="TextBox 467"/>
          <p:cNvSpPr txBox="1"/>
          <p:nvPr/>
        </p:nvSpPr>
        <p:spPr>
          <a:xfrm>
            <a:off x="4839738" y="8013814"/>
            <a:ext cx="1475999" cy="369332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none" rtlCol="0">
            <a:no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Collecting</a:t>
            </a:r>
          </a:p>
        </p:txBody>
      </p:sp>
      <p:sp>
        <p:nvSpPr>
          <p:cNvPr id="469" name="TextBox 468"/>
          <p:cNvSpPr txBox="1"/>
          <p:nvPr/>
        </p:nvSpPr>
        <p:spPr>
          <a:xfrm>
            <a:off x="6555150" y="8724771"/>
            <a:ext cx="13235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Codebase</a:t>
            </a:r>
          </a:p>
        </p:txBody>
      </p:sp>
      <p:cxnSp>
        <p:nvCxnSpPr>
          <p:cNvPr id="473" name="Straight Arrow Connector 472"/>
          <p:cNvCxnSpPr/>
          <p:nvPr/>
        </p:nvCxnSpPr>
        <p:spPr>
          <a:xfrm flipH="1">
            <a:off x="14056321" y="7622142"/>
            <a:ext cx="0" cy="503999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6" name="Cross 475"/>
          <p:cNvSpPr/>
          <p:nvPr/>
        </p:nvSpPr>
        <p:spPr>
          <a:xfrm>
            <a:off x="2081556" y="4204167"/>
            <a:ext cx="398174" cy="396349"/>
          </a:xfrm>
          <a:prstGeom prst="plus">
            <a:avLst>
              <a:gd name="adj" fmla="val 37729"/>
            </a:avLst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47" name="TextBox 546"/>
          <p:cNvSpPr txBox="1"/>
          <p:nvPr/>
        </p:nvSpPr>
        <p:spPr>
          <a:xfrm>
            <a:off x="14692682" y="8190079"/>
            <a:ext cx="153886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600" dirty="0"/>
              <a:t>Code Tokens</a:t>
            </a:r>
          </a:p>
        </p:txBody>
      </p:sp>
      <p:cxnSp>
        <p:nvCxnSpPr>
          <p:cNvPr id="551" name="Straight Arrow Connector 550"/>
          <p:cNvCxnSpPr/>
          <p:nvPr/>
        </p:nvCxnSpPr>
        <p:spPr>
          <a:xfrm>
            <a:off x="19887759" y="5256144"/>
            <a:ext cx="0" cy="503999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4" name="Elbow Connector 553"/>
          <p:cNvCxnSpPr>
            <a:stCxn id="47" idx="3"/>
            <a:endCxn id="642" idx="1"/>
          </p:cNvCxnSpPr>
          <p:nvPr/>
        </p:nvCxnSpPr>
        <p:spPr>
          <a:xfrm flipV="1">
            <a:off x="10950972" y="6985150"/>
            <a:ext cx="989395" cy="1164533"/>
          </a:xfrm>
          <a:prstGeom prst="bentConnector3">
            <a:avLst>
              <a:gd name="adj1" fmla="val 45301"/>
            </a:avLst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5" name="TextBox 604"/>
          <p:cNvSpPr txBox="1"/>
          <p:nvPr/>
        </p:nvSpPr>
        <p:spPr>
          <a:xfrm>
            <a:off x="17325949" y="4944971"/>
            <a:ext cx="305656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795E26"/>
                </a:solidFill>
                <a:latin typeface="Menlo" panose="020B0609030804020204" pitchFamily="49" charset="0"/>
              </a:rPr>
              <a:t>add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606" name="TextBox 605"/>
          <p:cNvSpPr txBox="1"/>
          <p:nvPr/>
        </p:nvSpPr>
        <p:spPr>
          <a:xfrm>
            <a:off x="17806896" y="4944971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001080"/>
                </a:solidFill>
              </a:rPr>
              <a:t>self</a:t>
            </a:r>
            <a:endParaRPr lang="en-US" sz="900" dirty="0">
              <a:solidFill>
                <a:srgbClr val="3B3B3B"/>
              </a:solidFill>
            </a:endParaRPr>
          </a:p>
        </p:txBody>
      </p:sp>
      <p:sp>
        <p:nvSpPr>
          <p:cNvPr id="607" name="TextBox 606"/>
          <p:cNvSpPr txBox="1"/>
          <p:nvPr/>
        </p:nvSpPr>
        <p:spPr>
          <a:xfrm>
            <a:off x="17666611" y="4944971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3B3B3B"/>
                </a:solidFill>
              </a:rPr>
              <a:t>(</a:t>
            </a:r>
          </a:p>
        </p:txBody>
      </p:sp>
      <p:sp>
        <p:nvSpPr>
          <p:cNvPr id="608" name="TextBox 607"/>
          <p:cNvSpPr txBox="1"/>
          <p:nvPr/>
        </p:nvSpPr>
        <p:spPr>
          <a:xfrm>
            <a:off x="18850546" y="4944971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D7BA7D"/>
                </a:solidFill>
                <a:latin typeface="Menlo" panose="020B0609030804020204" pitchFamily="49" charset="0"/>
              </a:rPr>
              <a:t>\n</a:t>
            </a:r>
          </a:p>
        </p:txBody>
      </p:sp>
      <p:sp>
        <p:nvSpPr>
          <p:cNvPr id="609" name="TextBox 608"/>
          <p:cNvSpPr txBox="1"/>
          <p:nvPr/>
        </p:nvSpPr>
        <p:spPr>
          <a:xfrm>
            <a:off x="18153970" y="4944971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/>
              <a:t>,</a:t>
            </a:r>
          </a:p>
        </p:txBody>
      </p:sp>
      <p:sp>
        <p:nvSpPr>
          <p:cNvPr id="610" name="TextBox 609"/>
          <p:cNvSpPr txBox="1"/>
          <p:nvPr/>
        </p:nvSpPr>
        <p:spPr>
          <a:xfrm>
            <a:off x="18294255" y="4944971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row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611" name="TextBox 610"/>
          <p:cNvSpPr txBox="1"/>
          <p:nvPr/>
        </p:nvSpPr>
        <p:spPr>
          <a:xfrm>
            <a:off x="18641328" y="4944971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3B3B3B"/>
                </a:solidFill>
              </a:rPr>
              <a:t>):</a:t>
            </a:r>
          </a:p>
        </p:txBody>
      </p:sp>
      <p:sp>
        <p:nvSpPr>
          <p:cNvPr id="612" name="TextBox 611"/>
          <p:cNvSpPr txBox="1"/>
          <p:nvPr/>
        </p:nvSpPr>
        <p:spPr>
          <a:xfrm>
            <a:off x="19394959" y="4944971"/>
            <a:ext cx="243139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AF00DB"/>
                </a:solidFill>
                <a:latin typeface="Menlo" panose="020B0609030804020204" pitchFamily="49" charset="0"/>
              </a:rPr>
              <a:t>for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613" name="TextBox 612"/>
          <p:cNvSpPr txBox="1"/>
          <p:nvPr/>
        </p:nvSpPr>
        <p:spPr>
          <a:xfrm>
            <a:off x="19651867" y="4944971"/>
            <a:ext cx="243139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latin typeface="Menlo" panose="020B0609030804020204" pitchFamily="49" charset="0"/>
              </a:rPr>
              <a:t>...</a:t>
            </a:r>
          </a:p>
        </p:txBody>
      </p:sp>
      <p:sp>
        <p:nvSpPr>
          <p:cNvPr id="616" name="TextBox 615"/>
          <p:cNvSpPr txBox="1"/>
          <p:nvPr/>
        </p:nvSpPr>
        <p:spPr>
          <a:xfrm>
            <a:off x="19896101" y="4944971"/>
            <a:ext cx="243139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AF00DB"/>
                </a:solidFill>
                <a:latin typeface="Menlo" panose="020B0609030804020204" pitchFamily="49" charset="0"/>
              </a:rPr>
              <a:t>in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617" name="TextBox 616"/>
          <p:cNvSpPr txBox="1"/>
          <p:nvPr/>
        </p:nvSpPr>
        <p:spPr>
          <a:xfrm>
            <a:off x="20178853" y="4944971"/>
            <a:ext cx="71923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267F99"/>
                </a:solidFill>
                <a:latin typeface="Menlo" panose="020B0609030804020204" pitchFamily="49" charset="0"/>
              </a:rPr>
              <a:t>enumerate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618" name="TextBox 617"/>
          <p:cNvSpPr txBox="1"/>
          <p:nvPr/>
        </p:nvSpPr>
        <p:spPr>
          <a:xfrm>
            <a:off x="20906399" y="4944971"/>
            <a:ext cx="243139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...</a:t>
            </a:r>
          </a:p>
        </p:txBody>
      </p:sp>
      <p:sp>
        <p:nvSpPr>
          <p:cNvPr id="627" name="TextBox 626"/>
          <p:cNvSpPr txBox="1"/>
          <p:nvPr/>
        </p:nvSpPr>
        <p:spPr>
          <a:xfrm>
            <a:off x="21145346" y="4944971"/>
            <a:ext cx="38099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self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628" name="TextBox 627"/>
          <p:cNvSpPr txBox="1"/>
          <p:nvPr/>
        </p:nvSpPr>
        <p:spPr>
          <a:xfrm>
            <a:off x="21557069" y="4944971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.</a:t>
            </a:r>
          </a:p>
        </p:txBody>
      </p:sp>
      <p:sp>
        <p:nvSpPr>
          <p:cNvPr id="629" name="TextBox 628"/>
          <p:cNvSpPr txBox="1"/>
          <p:nvPr/>
        </p:nvSpPr>
        <p:spPr>
          <a:xfrm>
            <a:off x="21693075" y="4944971"/>
            <a:ext cx="863502" cy="2308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 err="1">
                <a:solidFill>
                  <a:srgbClr val="3B3B3B"/>
                </a:solidFill>
                <a:latin typeface="Menlo" panose="020B0609030804020204" pitchFamily="49" charset="0"/>
              </a:rPr>
              <a:t>max_col_size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631" name="TextBox 630"/>
          <p:cNvSpPr txBox="1"/>
          <p:nvPr/>
        </p:nvSpPr>
        <p:spPr>
          <a:xfrm>
            <a:off x="22587302" y="4944971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[</a:t>
            </a:r>
          </a:p>
        </p:txBody>
      </p:sp>
      <p:sp>
        <p:nvSpPr>
          <p:cNvPr id="632" name="TextBox 631"/>
          <p:cNvSpPr txBox="1"/>
          <p:nvPr/>
        </p:nvSpPr>
        <p:spPr>
          <a:xfrm>
            <a:off x="22723308" y="4944971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 err="1">
                <a:solidFill>
                  <a:srgbClr val="001080"/>
                </a:solidFill>
                <a:latin typeface="Menlo" panose="020B0609030804020204" pitchFamily="49" charset="0"/>
              </a:rPr>
              <a:t>i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633" name="TextBox 632"/>
          <p:cNvSpPr txBox="1"/>
          <p:nvPr/>
        </p:nvSpPr>
        <p:spPr>
          <a:xfrm>
            <a:off x="22859314" y="4944971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]:</a:t>
            </a:r>
          </a:p>
        </p:txBody>
      </p:sp>
      <p:sp>
        <p:nvSpPr>
          <p:cNvPr id="635" name="TextBox 634"/>
          <p:cNvSpPr txBox="1"/>
          <p:nvPr/>
        </p:nvSpPr>
        <p:spPr>
          <a:xfrm>
            <a:off x="23033346" y="4944971"/>
            <a:ext cx="243139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altLang="zh-CN" sz="900" dirty="0">
                <a:latin typeface="Menlo" panose="020B0609030804020204" pitchFamily="49" charset="0"/>
              </a:rPr>
              <a:t>...</a:t>
            </a:r>
            <a:endParaRPr lang="en-US" sz="900" dirty="0">
              <a:latin typeface="Menlo" panose="020B0609030804020204" pitchFamily="49" charset="0"/>
            </a:endParaRPr>
          </a:p>
        </p:txBody>
      </p:sp>
      <p:sp>
        <p:nvSpPr>
          <p:cNvPr id="645" name="TextBox 644"/>
          <p:cNvSpPr txBox="1"/>
          <p:nvPr/>
        </p:nvSpPr>
        <p:spPr>
          <a:xfrm>
            <a:off x="19067345" y="4944971"/>
            <a:ext cx="2880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⌷⌷⌷⌷</a:t>
            </a:r>
          </a:p>
        </p:txBody>
      </p:sp>
      <p:sp>
        <p:nvSpPr>
          <p:cNvPr id="652" name="TextBox 651"/>
          <p:cNvSpPr txBox="1"/>
          <p:nvPr/>
        </p:nvSpPr>
        <p:spPr>
          <a:xfrm>
            <a:off x="17332377" y="4557777"/>
            <a:ext cx="17417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Original Tokens</a:t>
            </a:r>
          </a:p>
        </p:txBody>
      </p:sp>
      <p:cxnSp>
        <p:nvCxnSpPr>
          <p:cNvPr id="700" name="Elbow Connector 699"/>
          <p:cNvCxnSpPr>
            <a:stCxn id="642" idx="3"/>
            <a:endCxn id="644" idx="1"/>
          </p:cNvCxnSpPr>
          <p:nvPr/>
        </p:nvCxnSpPr>
        <p:spPr>
          <a:xfrm flipV="1">
            <a:off x="16334221" y="6403757"/>
            <a:ext cx="399484" cy="581393"/>
          </a:xfrm>
          <a:prstGeom prst="bentConnector3">
            <a:avLst>
              <a:gd name="adj1" fmla="val 50000"/>
            </a:avLst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9" name="TextBox 718"/>
          <p:cNvSpPr txBox="1"/>
          <p:nvPr/>
        </p:nvSpPr>
        <p:spPr>
          <a:xfrm>
            <a:off x="25340281" y="8586982"/>
            <a:ext cx="7617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latin typeface="Bradley Hand" pitchFamily="2" charset="77"/>
              </a:rPr>
              <a:t>P()</a:t>
            </a:r>
          </a:p>
        </p:txBody>
      </p:sp>
      <p:cxnSp>
        <p:nvCxnSpPr>
          <p:cNvPr id="13" name="Straight Arrow Connector 12"/>
          <p:cNvCxnSpPr/>
          <p:nvPr/>
        </p:nvCxnSpPr>
        <p:spPr>
          <a:xfrm>
            <a:off x="4525586" y="8612170"/>
            <a:ext cx="1944000" cy="0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/>
          <p:cNvCxnSpPr/>
          <p:nvPr/>
        </p:nvCxnSpPr>
        <p:spPr>
          <a:xfrm>
            <a:off x="7880349" y="8684895"/>
            <a:ext cx="1944000" cy="0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9769883" y="8724771"/>
            <a:ext cx="11057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LLMs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38023" y="8035489"/>
            <a:ext cx="1475999" cy="369332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none" rtlCol="0">
            <a:no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Training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410254" y="5773019"/>
            <a:ext cx="676031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Developer Accomplishing Programming Tasks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89308" y="9353459"/>
            <a:ext cx="561166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Training LLMs Using Accesible Corpus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17956" y="8249081"/>
            <a:ext cx="3168000" cy="252000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</a:ln>
        </p:spPr>
        <p:txBody>
          <a:bodyPr wrap="square" rIns="36000" rtlCol="0">
            <a:noAutofit/>
          </a:bodyPr>
          <a:lstStyle/>
          <a:p>
            <a:r>
              <a:rPr lang="en-US" sz="110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def</a:t>
            </a:r>
            <a:r>
              <a:rPr lang="en-US" sz="11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100" b="0" dirty="0" err="1">
                <a:solidFill>
                  <a:srgbClr val="795E26"/>
                </a:solidFill>
                <a:effectLst/>
                <a:latin typeface="Menlo" panose="020B0609030804020204" pitchFamily="49" charset="0"/>
              </a:rPr>
              <a:t>check_metadata</a:t>
            </a:r>
            <a:r>
              <a:rPr lang="en-US" sz="11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US" sz="1100" b="0" dirty="0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self</a:t>
            </a:r>
            <a:r>
              <a:rPr lang="en-US" sz="11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):…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17956" y="7950180"/>
            <a:ext cx="3168000" cy="252000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</a:ln>
        </p:spPr>
        <p:txBody>
          <a:bodyPr wrap="square" rIns="36000" rtlCol="0">
            <a:noAutofit/>
          </a:bodyPr>
          <a:lstStyle/>
          <a:p>
            <a:r>
              <a:rPr lang="en-US" sz="110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def</a:t>
            </a:r>
            <a:r>
              <a:rPr lang="en-US" sz="11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100" b="0" dirty="0" err="1">
                <a:solidFill>
                  <a:srgbClr val="795E26"/>
                </a:solidFill>
                <a:effectLst/>
                <a:latin typeface="Menlo" panose="020B0609030804020204" pitchFamily="49" charset="0"/>
              </a:rPr>
              <a:t>match_hostname</a:t>
            </a:r>
            <a:r>
              <a:rPr lang="en-US" sz="11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US" sz="1100" b="0" dirty="0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cert</a:t>
            </a:r>
            <a:r>
              <a:rPr lang="en-US" sz="11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, </a:t>
            </a:r>
            <a:r>
              <a:rPr lang="en-US" sz="1100" b="0" dirty="0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hostname</a:t>
            </a:r>
            <a:r>
              <a:rPr lang="en-US" sz="11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):…</a:t>
            </a:r>
          </a:p>
          <a:p>
            <a:endParaRPr lang="en-US" sz="11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1317956" y="7646701"/>
            <a:ext cx="3168000" cy="252000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</a:ln>
        </p:spPr>
        <p:txBody>
          <a:bodyPr wrap="square" rIns="36000" rtlCol="0">
            <a:noAutofit/>
          </a:bodyPr>
          <a:lstStyle/>
          <a:p>
            <a:r>
              <a:rPr lang="en-US" sz="1100" dirty="0">
                <a:solidFill>
                  <a:srgbClr val="0000FF"/>
                </a:solidFill>
                <a:latin typeface="Menlo" panose="020B0609030804020204" pitchFamily="49" charset="0"/>
              </a:rPr>
              <a:t>def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 </a:t>
            </a:r>
            <a:r>
              <a:rPr lang="en-US" sz="1100" dirty="0">
                <a:solidFill>
                  <a:srgbClr val="795E26"/>
                </a:solidFill>
                <a:latin typeface="Menlo" panose="020B0609030804020204" pitchFamily="49" charset="0"/>
              </a:rPr>
              <a:t>add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(</a:t>
            </a:r>
            <a:r>
              <a:rPr lang="en-US" sz="1100" dirty="0">
                <a:solidFill>
                  <a:srgbClr val="001080"/>
                </a:solidFill>
                <a:latin typeface="Menlo" panose="020B0609030804020204" pitchFamily="49" charset="0"/>
              </a:rPr>
              <a:t>self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, </a:t>
            </a:r>
            <a:r>
              <a:rPr lang="en-US" sz="1100" dirty="0">
                <a:solidFill>
                  <a:srgbClr val="001080"/>
                </a:solidFill>
                <a:latin typeface="Menlo" panose="020B0609030804020204" pitchFamily="49" charset="0"/>
              </a:rPr>
              <a:t>row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):…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10769" y="8471438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</a:p>
        </p:txBody>
      </p:sp>
      <p:pic>
        <p:nvPicPr>
          <p:cNvPr id="31" name="Picture 30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36316" y="7627419"/>
            <a:ext cx="447148" cy="447148"/>
          </a:xfrm>
          <a:prstGeom prst="rect">
            <a:avLst/>
          </a:prstGeom>
        </p:spPr>
      </p:pic>
      <p:sp>
        <p:nvSpPr>
          <p:cNvPr id="36" name="Right Brace 35"/>
          <p:cNvSpPr/>
          <p:nvPr/>
        </p:nvSpPr>
        <p:spPr>
          <a:xfrm>
            <a:off x="1096384" y="7802515"/>
            <a:ext cx="164474" cy="952240"/>
          </a:xfrm>
          <a:prstGeom prst="rightBrace">
            <a:avLst>
              <a:gd name="adj1" fmla="val 25000"/>
              <a:gd name="adj2" fmla="val 50000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8" name="Graphic 37"/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23906" y="8030475"/>
            <a:ext cx="871012" cy="435506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614783" y="8452807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884709" y="8724771"/>
            <a:ext cx="21391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Code Resources</a:t>
            </a:r>
          </a:p>
        </p:txBody>
      </p:sp>
      <p:sp>
        <p:nvSpPr>
          <p:cNvPr id="406" name="TextBox 405"/>
          <p:cNvSpPr txBox="1"/>
          <p:nvPr/>
        </p:nvSpPr>
        <p:spPr>
          <a:xfrm>
            <a:off x="12051790" y="6710646"/>
            <a:ext cx="305656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795E26"/>
                </a:solidFill>
                <a:latin typeface="Menlo" panose="020B0609030804020204" pitchFamily="49" charset="0"/>
              </a:rPr>
              <a:t>add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07" name="TextBox 406"/>
          <p:cNvSpPr txBox="1"/>
          <p:nvPr/>
        </p:nvSpPr>
        <p:spPr>
          <a:xfrm>
            <a:off x="12532737" y="6710646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001080"/>
                </a:solidFill>
              </a:rPr>
              <a:t>self</a:t>
            </a:r>
            <a:endParaRPr lang="en-US" sz="900" dirty="0">
              <a:solidFill>
                <a:srgbClr val="3B3B3B"/>
              </a:solidFill>
            </a:endParaRPr>
          </a:p>
        </p:txBody>
      </p:sp>
      <p:sp>
        <p:nvSpPr>
          <p:cNvPr id="408" name="TextBox 407"/>
          <p:cNvSpPr txBox="1"/>
          <p:nvPr/>
        </p:nvSpPr>
        <p:spPr>
          <a:xfrm>
            <a:off x="12392452" y="6710646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3B3B3B"/>
                </a:solidFill>
              </a:rPr>
              <a:t>(</a:t>
            </a:r>
          </a:p>
        </p:txBody>
      </p:sp>
      <p:sp>
        <p:nvSpPr>
          <p:cNvPr id="409" name="TextBox 408"/>
          <p:cNvSpPr txBox="1"/>
          <p:nvPr/>
        </p:nvSpPr>
        <p:spPr>
          <a:xfrm>
            <a:off x="13576387" y="6710646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D7BA7D"/>
                </a:solidFill>
                <a:latin typeface="Menlo" panose="020B0609030804020204" pitchFamily="49" charset="0"/>
              </a:rPr>
              <a:t>\n</a:t>
            </a:r>
          </a:p>
        </p:txBody>
      </p:sp>
      <p:sp>
        <p:nvSpPr>
          <p:cNvPr id="410" name="TextBox 409"/>
          <p:cNvSpPr txBox="1"/>
          <p:nvPr/>
        </p:nvSpPr>
        <p:spPr>
          <a:xfrm>
            <a:off x="12879811" y="6710646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/>
              <a:t>,</a:t>
            </a:r>
          </a:p>
        </p:txBody>
      </p:sp>
      <p:sp>
        <p:nvSpPr>
          <p:cNvPr id="411" name="TextBox 410"/>
          <p:cNvSpPr txBox="1"/>
          <p:nvPr/>
        </p:nvSpPr>
        <p:spPr>
          <a:xfrm>
            <a:off x="13020096" y="6710646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row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12" name="TextBox 411"/>
          <p:cNvSpPr txBox="1"/>
          <p:nvPr/>
        </p:nvSpPr>
        <p:spPr>
          <a:xfrm>
            <a:off x="13367169" y="6710646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3B3B3B"/>
                </a:solidFill>
              </a:rPr>
              <a:t>):</a:t>
            </a:r>
          </a:p>
        </p:txBody>
      </p:sp>
      <p:sp>
        <p:nvSpPr>
          <p:cNvPr id="413" name="TextBox 412"/>
          <p:cNvSpPr txBox="1"/>
          <p:nvPr/>
        </p:nvSpPr>
        <p:spPr>
          <a:xfrm>
            <a:off x="12380179" y="6982659"/>
            <a:ext cx="243139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AF00DB"/>
                </a:solidFill>
                <a:latin typeface="Menlo" panose="020B0609030804020204" pitchFamily="49" charset="0"/>
              </a:rPr>
              <a:t>for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14" name="TextBox 413"/>
          <p:cNvSpPr txBox="1"/>
          <p:nvPr/>
        </p:nvSpPr>
        <p:spPr>
          <a:xfrm>
            <a:off x="12662930" y="6982659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 err="1">
                <a:solidFill>
                  <a:srgbClr val="001080"/>
                </a:solidFill>
                <a:latin typeface="Menlo" panose="020B0609030804020204" pitchFamily="49" charset="0"/>
              </a:rPr>
              <a:t>i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15" name="TextBox 414"/>
          <p:cNvSpPr txBox="1"/>
          <p:nvPr/>
        </p:nvSpPr>
        <p:spPr>
          <a:xfrm>
            <a:off x="12876754" y="6982659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,</a:t>
            </a:r>
          </a:p>
        </p:txBody>
      </p:sp>
      <p:sp>
        <p:nvSpPr>
          <p:cNvPr id="416" name="TextBox 415"/>
          <p:cNvSpPr txBox="1"/>
          <p:nvPr/>
        </p:nvSpPr>
        <p:spPr>
          <a:xfrm>
            <a:off x="13021647" y="6982659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f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17" name="TextBox 416"/>
          <p:cNvSpPr txBox="1"/>
          <p:nvPr/>
        </p:nvSpPr>
        <p:spPr>
          <a:xfrm>
            <a:off x="13235471" y="6982659"/>
            <a:ext cx="243139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AF00DB"/>
                </a:solidFill>
                <a:latin typeface="Menlo" panose="020B0609030804020204" pitchFamily="49" charset="0"/>
              </a:rPr>
              <a:t>in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18" name="TextBox 417"/>
          <p:cNvSpPr txBox="1"/>
          <p:nvPr/>
        </p:nvSpPr>
        <p:spPr>
          <a:xfrm>
            <a:off x="13518223" y="6982659"/>
            <a:ext cx="71923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267F99"/>
                </a:solidFill>
                <a:latin typeface="Menlo" panose="020B0609030804020204" pitchFamily="49" charset="0"/>
              </a:rPr>
              <a:t>enumerate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19" name="TextBox 418"/>
          <p:cNvSpPr txBox="1"/>
          <p:nvPr/>
        </p:nvSpPr>
        <p:spPr>
          <a:xfrm>
            <a:off x="14277067" y="6982659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(</a:t>
            </a:r>
          </a:p>
        </p:txBody>
      </p:sp>
      <p:sp>
        <p:nvSpPr>
          <p:cNvPr id="420" name="TextBox 419"/>
          <p:cNvSpPr txBox="1"/>
          <p:nvPr/>
        </p:nvSpPr>
        <p:spPr>
          <a:xfrm>
            <a:off x="14421961" y="6982659"/>
            <a:ext cx="243139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row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21" name="TextBox 420"/>
          <p:cNvSpPr txBox="1"/>
          <p:nvPr/>
        </p:nvSpPr>
        <p:spPr>
          <a:xfrm>
            <a:off x="14704712" y="6982659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):</a:t>
            </a:r>
          </a:p>
        </p:txBody>
      </p:sp>
      <p:sp>
        <p:nvSpPr>
          <p:cNvPr id="422" name="TextBox 421"/>
          <p:cNvSpPr txBox="1"/>
          <p:nvPr/>
        </p:nvSpPr>
        <p:spPr>
          <a:xfrm>
            <a:off x="12688837" y="7259514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AF00DB"/>
                </a:solidFill>
                <a:latin typeface="Menlo" panose="020B0609030804020204" pitchFamily="49" charset="0"/>
              </a:rPr>
              <a:t>if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23" name="TextBox 422"/>
          <p:cNvSpPr txBox="1"/>
          <p:nvPr/>
        </p:nvSpPr>
        <p:spPr>
          <a:xfrm>
            <a:off x="12893183" y="7259514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 err="1">
                <a:solidFill>
                  <a:srgbClr val="795E26"/>
                </a:solidFill>
                <a:latin typeface="Menlo" panose="020B0609030804020204" pitchFamily="49" charset="0"/>
              </a:rPr>
              <a:t>len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24" name="TextBox 423"/>
          <p:cNvSpPr txBox="1"/>
          <p:nvPr/>
        </p:nvSpPr>
        <p:spPr>
          <a:xfrm>
            <a:off x="13235388" y="7259514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CE9178"/>
                </a:solidFill>
                <a:latin typeface="Menlo" panose="020B0609030804020204" pitchFamily="49" charset="0"/>
              </a:rPr>
              <a:t>(</a:t>
            </a:r>
            <a:endParaRPr lang="en-US" sz="900" dirty="0">
              <a:solidFill>
                <a:srgbClr val="CCCCCC"/>
              </a:solidFill>
              <a:latin typeface="Menlo" panose="020B0609030804020204" pitchFamily="49" charset="0"/>
            </a:endParaRPr>
          </a:p>
        </p:txBody>
      </p:sp>
      <p:sp>
        <p:nvSpPr>
          <p:cNvPr id="425" name="TextBox 424"/>
          <p:cNvSpPr txBox="1"/>
          <p:nvPr/>
        </p:nvSpPr>
        <p:spPr>
          <a:xfrm>
            <a:off x="13370805" y="7259514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CE9178"/>
                </a:solidFill>
                <a:latin typeface="Menlo" panose="020B0609030804020204" pitchFamily="49" charset="0"/>
              </a:rPr>
              <a:t>f</a:t>
            </a:r>
            <a:endParaRPr lang="en-US" sz="900" dirty="0">
              <a:solidFill>
                <a:srgbClr val="CCCCCC"/>
              </a:solidFill>
              <a:latin typeface="Menlo" panose="020B0609030804020204" pitchFamily="49" charset="0"/>
            </a:endParaRPr>
          </a:p>
        </p:txBody>
      </p:sp>
      <p:sp>
        <p:nvSpPr>
          <p:cNvPr id="426" name="TextBox 425"/>
          <p:cNvSpPr txBox="1"/>
          <p:nvPr/>
        </p:nvSpPr>
        <p:spPr>
          <a:xfrm>
            <a:off x="13506222" y="7259514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CE9178"/>
                </a:solidFill>
                <a:latin typeface="Menlo" panose="020B0609030804020204" pitchFamily="49" charset="0"/>
              </a:rPr>
              <a:t>)</a:t>
            </a:r>
            <a:endParaRPr lang="en-US" sz="900" dirty="0">
              <a:solidFill>
                <a:srgbClr val="CCCCCC"/>
              </a:solidFill>
              <a:latin typeface="Menlo" panose="020B0609030804020204" pitchFamily="49" charset="0"/>
            </a:endParaRPr>
          </a:p>
        </p:txBody>
      </p:sp>
      <p:sp>
        <p:nvSpPr>
          <p:cNvPr id="427" name="TextBox 426"/>
          <p:cNvSpPr txBox="1"/>
          <p:nvPr/>
        </p:nvSpPr>
        <p:spPr>
          <a:xfrm>
            <a:off x="13641638" y="7259514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000000"/>
                </a:solidFill>
                <a:latin typeface="Menlo" panose="020B0609030804020204" pitchFamily="49" charset="0"/>
              </a:rPr>
              <a:t>&gt;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28" name="TextBox 427"/>
          <p:cNvSpPr txBox="1"/>
          <p:nvPr/>
        </p:nvSpPr>
        <p:spPr>
          <a:xfrm>
            <a:off x="13845984" y="7259514"/>
            <a:ext cx="38099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self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29" name="TextBox 428"/>
          <p:cNvSpPr txBox="1"/>
          <p:nvPr/>
        </p:nvSpPr>
        <p:spPr>
          <a:xfrm>
            <a:off x="14257119" y="7259514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.</a:t>
            </a:r>
          </a:p>
        </p:txBody>
      </p:sp>
      <p:sp>
        <p:nvSpPr>
          <p:cNvPr id="430" name="TextBox 429"/>
          <p:cNvSpPr txBox="1"/>
          <p:nvPr/>
        </p:nvSpPr>
        <p:spPr>
          <a:xfrm>
            <a:off x="14392536" y="7259514"/>
            <a:ext cx="243139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max</a:t>
            </a:r>
          </a:p>
        </p:txBody>
      </p:sp>
      <p:sp>
        <p:nvSpPr>
          <p:cNvPr id="431" name="TextBox 430"/>
          <p:cNvSpPr txBox="1"/>
          <p:nvPr/>
        </p:nvSpPr>
        <p:spPr>
          <a:xfrm>
            <a:off x="14665811" y="7259514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_</a:t>
            </a:r>
          </a:p>
        </p:txBody>
      </p:sp>
      <p:sp>
        <p:nvSpPr>
          <p:cNvPr id="432" name="TextBox 431"/>
          <p:cNvSpPr txBox="1"/>
          <p:nvPr/>
        </p:nvSpPr>
        <p:spPr>
          <a:xfrm>
            <a:off x="14801228" y="7259514"/>
            <a:ext cx="243139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col</a:t>
            </a:r>
          </a:p>
        </p:txBody>
      </p:sp>
      <p:sp>
        <p:nvSpPr>
          <p:cNvPr id="433" name="TextBox 432"/>
          <p:cNvSpPr txBox="1"/>
          <p:nvPr/>
        </p:nvSpPr>
        <p:spPr>
          <a:xfrm>
            <a:off x="15074503" y="7259514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_</a:t>
            </a:r>
          </a:p>
        </p:txBody>
      </p:sp>
      <p:sp>
        <p:nvSpPr>
          <p:cNvPr id="435" name="TextBox 434"/>
          <p:cNvSpPr txBox="1"/>
          <p:nvPr/>
        </p:nvSpPr>
        <p:spPr>
          <a:xfrm>
            <a:off x="15552124" y="7259514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[</a:t>
            </a:r>
          </a:p>
        </p:txBody>
      </p:sp>
      <p:sp>
        <p:nvSpPr>
          <p:cNvPr id="436" name="TextBox 435"/>
          <p:cNvSpPr txBox="1"/>
          <p:nvPr/>
        </p:nvSpPr>
        <p:spPr>
          <a:xfrm>
            <a:off x="15687541" y="7259514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 err="1">
                <a:solidFill>
                  <a:srgbClr val="001080"/>
                </a:solidFill>
                <a:latin typeface="Menlo" panose="020B0609030804020204" pitchFamily="49" charset="0"/>
              </a:rPr>
              <a:t>i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37" name="TextBox 436"/>
          <p:cNvSpPr txBox="1"/>
          <p:nvPr/>
        </p:nvSpPr>
        <p:spPr>
          <a:xfrm>
            <a:off x="15822957" y="7259514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]:</a:t>
            </a:r>
          </a:p>
        </p:txBody>
      </p:sp>
      <p:sp>
        <p:nvSpPr>
          <p:cNvPr id="438" name="TextBox 437"/>
          <p:cNvSpPr txBox="1"/>
          <p:nvPr/>
        </p:nvSpPr>
        <p:spPr>
          <a:xfrm>
            <a:off x="14918537" y="6982659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D7BA7D"/>
                </a:solidFill>
                <a:latin typeface="Menlo" panose="020B0609030804020204" pitchFamily="49" charset="0"/>
              </a:rPr>
              <a:t>\n</a:t>
            </a:r>
          </a:p>
        </p:txBody>
      </p:sp>
      <p:sp>
        <p:nvSpPr>
          <p:cNvPr id="439" name="TextBox 438"/>
          <p:cNvSpPr txBox="1"/>
          <p:nvPr/>
        </p:nvSpPr>
        <p:spPr>
          <a:xfrm>
            <a:off x="16027298" y="7259514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D7BA7D"/>
                </a:solidFill>
                <a:latin typeface="Menlo" panose="020B0609030804020204" pitchFamily="49" charset="0"/>
              </a:rPr>
              <a:t>\n</a:t>
            </a:r>
          </a:p>
        </p:txBody>
      </p:sp>
      <p:sp>
        <p:nvSpPr>
          <p:cNvPr id="450" name="TextBox 449"/>
          <p:cNvSpPr txBox="1"/>
          <p:nvPr/>
        </p:nvSpPr>
        <p:spPr>
          <a:xfrm>
            <a:off x="15209919" y="7259514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size</a:t>
            </a:r>
          </a:p>
        </p:txBody>
      </p:sp>
      <p:sp>
        <p:nvSpPr>
          <p:cNvPr id="455" name="TextBox 454"/>
          <p:cNvSpPr txBox="1"/>
          <p:nvPr/>
        </p:nvSpPr>
        <p:spPr>
          <a:xfrm>
            <a:off x="12052565" y="6982659"/>
            <a:ext cx="2880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⌷⌷⌷⌷</a:t>
            </a:r>
          </a:p>
        </p:txBody>
      </p:sp>
      <p:sp>
        <p:nvSpPr>
          <p:cNvPr id="456" name="TextBox 455"/>
          <p:cNvSpPr txBox="1"/>
          <p:nvPr/>
        </p:nvSpPr>
        <p:spPr>
          <a:xfrm>
            <a:off x="12052565" y="7259514"/>
            <a:ext cx="2880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⌷⌷⌷⌷</a:t>
            </a:r>
          </a:p>
        </p:txBody>
      </p:sp>
      <p:sp>
        <p:nvSpPr>
          <p:cNvPr id="457" name="TextBox 456"/>
          <p:cNvSpPr txBox="1"/>
          <p:nvPr/>
        </p:nvSpPr>
        <p:spPr>
          <a:xfrm>
            <a:off x="12370701" y="7259514"/>
            <a:ext cx="2880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⌷⌷⌷⌷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1935088" y="6695379"/>
            <a:ext cx="4338047" cy="882273"/>
          </a:xfrm>
          <a:prstGeom prst="roundRect">
            <a:avLst>
              <a:gd name="adj" fmla="val 2712"/>
            </a:avLst>
          </a:prstGeom>
          <a:noFill/>
          <a:ln>
            <a:noFill/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8" name="TextBox 487"/>
          <p:cNvSpPr txBox="1"/>
          <p:nvPr/>
        </p:nvSpPr>
        <p:spPr>
          <a:xfrm>
            <a:off x="12094472" y="8261145"/>
            <a:ext cx="305656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795E26"/>
                </a:solidFill>
                <a:latin typeface="Menlo" panose="020B0609030804020204" pitchFamily="49" charset="0"/>
              </a:rPr>
              <a:t>add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89" name="TextBox 488"/>
          <p:cNvSpPr txBox="1"/>
          <p:nvPr/>
        </p:nvSpPr>
        <p:spPr>
          <a:xfrm>
            <a:off x="12575419" y="8261145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001080"/>
                </a:solidFill>
              </a:rPr>
              <a:t>self</a:t>
            </a:r>
            <a:endParaRPr lang="en-US" sz="900" dirty="0">
              <a:solidFill>
                <a:srgbClr val="3B3B3B"/>
              </a:solidFill>
            </a:endParaRPr>
          </a:p>
        </p:txBody>
      </p:sp>
      <p:sp>
        <p:nvSpPr>
          <p:cNvPr id="490" name="TextBox 489"/>
          <p:cNvSpPr txBox="1"/>
          <p:nvPr/>
        </p:nvSpPr>
        <p:spPr>
          <a:xfrm>
            <a:off x="12435134" y="8261145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3B3B3B"/>
                </a:solidFill>
              </a:rPr>
              <a:t>(</a:t>
            </a:r>
          </a:p>
        </p:txBody>
      </p:sp>
      <p:sp>
        <p:nvSpPr>
          <p:cNvPr id="491" name="TextBox 490"/>
          <p:cNvSpPr txBox="1"/>
          <p:nvPr/>
        </p:nvSpPr>
        <p:spPr>
          <a:xfrm>
            <a:off x="13619069" y="8261145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D7BA7D"/>
                </a:solidFill>
                <a:latin typeface="Menlo" panose="020B0609030804020204" pitchFamily="49" charset="0"/>
              </a:rPr>
              <a:t>\n</a:t>
            </a:r>
          </a:p>
        </p:txBody>
      </p:sp>
      <p:sp>
        <p:nvSpPr>
          <p:cNvPr id="492" name="TextBox 491"/>
          <p:cNvSpPr txBox="1"/>
          <p:nvPr/>
        </p:nvSpPr>
        <p:spPr>
          <a:xfrm>
            <a:off x="12922493" y="8261145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/>
              <a:t>,</a:t>
            </a:r>
          </a:p>
        </p:txBody>
      </p:sp>
      <p:sp>
        <p:nvSpPr>
          <p:cNvPr id="493" name="TextBox 492"/>
          <p:cNvSpPr txBox="1"/>
          <p:nvPr/>
        </p:nvSpPr>
        <p:spPr>
          <a:xfrm>
            <a:off x="13062778" y="8261145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row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94" name="TextBox 493"/>
          <p:cNvSpPr txBox="1"/>
          <p:nvPr/>
        </p:nvSpPr>
        <p:spPr>
          <a:xfrm>
            <a:off x="13409851" y="8261145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3B3B3B"/>
                </a:solidFill>
              </a:rPr>
              <a:t>):</a:t>
            </a:r>
          </a:p>
        </p:txBody>
      </p:sp>
      <p:sp>
        <p:nvSpPr>
          <p:cNvPr id="495" name="TextBox 494"/>
          <p:cNvSpPr txBox="1"/>
          <p:nvPr/>
        </p:nvSpPr>
        <p:spPr>
          <a:xfrm>
            <a:off x="12422861" y="8533158"/>
            <a:ext cx="243139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AF00DB"/>
                </a:solidFill>
                <a:latin typeface="Menlo" panose="020B0609030804020204" pitchFamily="49" charset="0"/>
              </a:rPr>
              <a:t>for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96" name="TextBox 495"/>
          <p:cNvSpPr txBox="1"/>
          <p:nvPr/>
        </p:nvSpPr>
        <p:spPr>
          <a:xfrm>
            <a:off x="12705612" y="8533158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 err="1">
                <a:solidFill>
                  <a:srgbClr val="001080"/>
                </a:solidFill>
                <a:latin typeface="Menlo" panose="020B0609030804020204" pitchFamily="49" charset="0"/>
              </a:rPr>
              <a:t>i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97" name="TextBox 496"/>
          <p:cNvSpPr txBox="1"/>
          <p:nvPr/>
        </p:nvSpPr>
        <p:spPr>
          <a:xfrm>
            <a:off x="12919436" y="8533158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,</a:t>
            </a:r>
          </a:p>
        </p:txBody>
      </p:sp>
      <p:sp>
        <p:nvSpPr>
          <p:cNvPr id="498" name="TextBox 497"/>
          <p:cNvSpPr txBox="1"/>
          <p:nvPr/>
        </p:nvSpPr>
        <p:spPr>
          <a:xfrm>
            <a:off x="13064329" y="8533158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f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99" name="TextBox 498"/>
          <p:cNvSpPr txBox="1"/>
          <p:nvPr/>
        </p:nvSpPr>
        <p:spPr>
          <a:xfrm>
            <a:off x="13278153" y="8533158"/>
            <a:ext cx="243139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AF00DB"/>
                </a:solidFill>
                <a:latin typeface="Menlo" panose="020B0609030804020204" pitchFamily="49" charset="0"/>
              </a:rPr>
              <a:t>in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00" name="TextBox 499"/>
          <p:cNvSpPr txBox="1"/>
          <p:nvPr/>
        </p:nvSpPr>
        <p:spPr>
          <a:xfrm>
            <a:off x="13560905" y="8533158"/>
            <a:ext cx="71923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267F99"/>
                </a:solidFill>
                <a:latin typeface="Menlo" panose="020B0609030804020204" pitchFamily="49" charset="0"/>
              </a:rPr>
              <a:t>enumerate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01" name="TextBox 500"/>
          <p:cNvSpPr txBox="1"/>
          <p:nvPr/>
        </p:nvSpPr>
        <p:spPr>
          <a:xfrm>
            <a:off x="14319749" y="8533158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(</a:t>
            </a:r>
          </a:p>
        </p:txBody>
      </p:sp>
      <p:sp>
        <p:nvSpPr>
          <p:cNvPr id="502" name="TextBox 501"/>
          <p:cNvSpPr txBox="1"/>
          <p:nvPr/>
        </p:nvSpPr>
        <p:spPr>
          <a:xfrm>
            <a:off x="14464643" y="8533158"/>
            <a:ext cx="243139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row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03" name="TextBox 502"/>
          <p:cNvSpPr txBox="1"/>
          <p:nvPr/>
        </p:nvSpPr>
        <p:spPr>
          <a:xfrm>
            <a:off x="14747394" y="8533158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):</a:t>
            </a:r>
          </a:p>
        </p:txBody>
      </p:sp>
      <p:sp>
        <p:nvSpPr>
          <p:cNvPr id="504" name="TextBox 503"/>
          <p:cNvSpPr txBox="1"/>
          <p:nvPr/>
        </p:nvSpPr>
        <p:spPr>
          <a:xfrm>
            <a:off x="12732697" y="8810013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AF00DB"/>
                </a:solidFill>
                <a:latin typeface="Menlo" panose="020B0609030804020204" pitchFamily="49" charset="0"/>
              </a:rPr>
              <a:t>if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05" name="TextBox 504"/>
          <p:cNvSpPr txBox="1"/>
          <p:nvPr/>
        </p:nvSpPr>
        <p:spPr>
          <a:xfrm>
            <a:off x="12937632" y="8810013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 err="1">
                <a:solidFill>
                  <a:srgbClr val="795E26"/>
                </a:solidFill>
                <a:latin typeface="Menlo" panose="020B0609030804020204" pitchFamily="49" charset="0"/>
              </a:rPr>
              <a:t>len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06" name="TextBox 505"/>
          <p:cNvSpPr txBox="1"/>
          <p:nvPr/>
        </p:nvSpPr>
        <p:spPr>
          <a:xfrm>
            <a:off x="13280425" y="8810013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CE9178"/>
                </a:solidFill>
                <a:latin typeface="Menlo" panose="020B0609030804020204" pitchFamily="49" charset="0"/>
              </a:rPr>
              <a:t>(</a:t>
            </a:r>
            <a:endParaRPr lang="en-US" sz="900" dirty="0">
              <a:solidFill>
                <a:srgbClr val="CCCCCC"/>
              </a:solidFill>
              <a:latin typeface="Menlo" panose="020B0609030804020204" pitchFamily="49" charset="0"/>
            </a:endParaRPr>
          </a:p>
        </p:txBody>
      </p:sp>
      <p:sp>
        <p:nvSpPr>
          <p:cNvPr id="507" name="TextBox 506"/>
          <p:cNvSpPr txBox="1"/>
          <p:nvPr/>
        </p:nvSpPr>
        <p:spPr>
          <a:xfrm>
            <a:off x="13416431" y="8810013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CE9178"/>
                </a:solidFill>
                <a:latin typeface="Menlo" panose="020B0609030804020204" pitchFamily="49" charset="0"/>
              </a:rPr>
              <a:t>f</a:t>
            </a:r>
            <a:endParaRPr lang="en-US" sz="900" dirty="0">
              <a:solidFill>
                <a:srgbClr val="CCCCCC"/>
              </a:solidFill>
              <a:latin typeface="Menlo" panose="020B0609030804020204" pitchFamily="49" charset="0"/>
            </a:endParaRPr>
          </a:p>
        </p:txBody>
      </p:sp>
      <p:sp>
        <p:nvSpPr>
          <p:cNvPr id="508" name="TextBox 507"/>
          <p:cNvSpPr txBox="1"/>
          <p:nvPr/>
        </p:nvSpPr>
        <p:spPr>
          <a:xfrm>
            <a:off x="13552437" y="8810013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CE9178"/>
                </a:solidFill>
                <a:latin typeface="Menlo" panose="020B0609030804020204" pitchFamily="49" charset="0"/>
              </a:rPr>
              <a:t>)</a:t>
            </a:r>
            <a:endParaRPr lang="en-US" sz="900" dirty="0">
              <a:solidFill>
                <a:srgbClr val="CCCCCC"/>
              </a:solidFill>
              <a:latin typeface="Menlo" panose="020B0609030804020204" pitchFamily="49" charset="0"/>
            </a:endParaRPr>
          </a:p>
        </p:txBody>
      </p:sp>
      <p:sp>
        <p:nvSpPr>
          <p:cNvPr id="509" name="TextBox 508"/>
          <p:cNvSpPr txBox="1"/>
          <p:nvPr/>
        </p:nvSpPr>
        <p:spPr>
          <a:xfrm>
            <a:off x="13688443" y="8810013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000000"/>
                </a:solidFill>
                <a:latin typeface="Menlo" panose="020B0609030804020204" pitchFamily="49" charset="0"/>
              </a:rPr>
              <a:t>&gt;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10" name="TextBox 509"/>
          <p:cNvSpPr txBox="1"/>
          <p:nvPr/>
        </p:nvSpPr>
        <p:spPr>
          <a:xfrm>
            <a:off x="13893378" y="8810013"/>
            <a:ext cx="38099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self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11" name="TextBox 510"/>
          <p:cNvSpPr txBox="1"/>
          <p:nvPr/>
        </p:nvSpPr>
        <p:spPr>
          <a:xfrm>
            <a:off x="14305101" y="8810013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.</a:t>
            </a:r>
          </a:p>
        </p:txBody>
      </p:sp>
      <p:sp>
        <p:nvSpPr>
          <p:cNvPr id="512" name="TextBox 511"/>
          <p:cNvSpPr txBox="1"/>
          <p:nvPr/>
        </p:nvSpPr>
        <p:spPr>
          <a:xfrm>
            <a:off x="14441107" y="8810013"/>
            <a:ext cx="863502" cy="2308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 err="1">
                <a:solidFill>
                  <a:srgbClr val="3B3B3B"/>
                </a:solidFill>
                <a:latin typeface="Menlo" panose="020B0609030804020204" pitchFamily="49" charset="0"/>
              </a:rPr>
              <a:t>max_col_size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17" name="TextBox 516"/>
          <p:cNvSpPr txBox="1"/>
          <p:nvPr/>
        </p:nvSpPr>
        <p:spPr>
          <a:xfrm>
            <a:off x="15335334" y="8810013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[</a:t>
            </a:r>
          </a:p>
        </p:txBody>
      </p:sp>
      <p:sp>
        <p:nvSpPr>
          <p:cNvPr id="518" name="TextBox 517"/>
          <p:cNvSpPr txBox="1"/>
          <p:nvPr/>
        </p:nvSpPr>
        <p:spPr>
          <a:xfrm>
            <a:off x="15471340" y="8810013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 err="1">
                <a:solidFill>
                  <a:srgbClr val="001080"/>
                </a:solidFill>
                <a:latin typeface="Menlo" panose="020B0609030804020204" pitchFamily="49" charset="0"/>
              </a:rPr>
              <a:t>i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19" name="TextBox 518"/>
          <p:cNvSpPr txBox="1"/>
          <p:nvPr/>
        </p:nvSpPr>
        <p:spPr>
          <a:xfrm>
            <a:off x="15607346" y="8810013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]:</a:t>
            </a:r>
          </a:p>
        </p:txBody>
      </p:sp>
      <p:sp>
        <p:nvSpPr>
          <p:cNvPr id="520" name="TextBox 519"/>
          <p:cNvSpPr txBox="1"/>
          <p:nvPr/>
        </p:nvSpPr>
        <p:spPr>
          <a:xfrm>
            <a:off x="14961219" y="8533158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D7BA7D"/>
                </a:solidFill>
                <a:latin typeface="Menlo" panose="020B0609030804020204" pitchFamily="49" charset="0"/>
              </a:rPr>
              <a:t>\n</a:t>
            </a:r>
          </a:p>
        </p:txBody>
      </p:sp>
      <p:sp>
        <p:nvSpPr>
          <p:cNvPr id="521" name="TextBox 520"/>
          <p:cNvSpPr txBox="1"/>
          <p:nvPr/>
        </p:nvSpPr>
        <p:spPr>
          <a:xfrm>
            <a:off x="15812286" y="8810013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D7BA7D"/>
                </a:solidFill>
                <a:latin typeface="Menlo" panose="020B0609030804020204" pitchFamily="49" charset="0"/>
              </a:rPr>
              <a:t>\n</a:t>
            </a:r>
          </a:p>
        </p:txBody>
      </p:sp>
      <p:sp>
        <p:nvSpPr>
          <p:cNvPr id="537" name="TextBox 536"/>
          <p:cNvSpPr txBox="1"/>
          <p:nvPr/>
        </p:nvSpPr>
        <p:spPr>
          <a:xfrm>
            <a:off x="12095247" y="8533158"/>
            <a:ext cx="2880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⌷⌷⌷⌷</a:t>
            </a:r>
          </a:p>
        </p:txBody>
      </p:sp>
      <p:sp>
        <p:nvSpPr>
          <p:cNvPr id="538" name="TextBox 537"/>
          <p:cNvSpPr txBox="1"/>
          <p:nvPr/>
        </p:nvSpPr>
        <p:spPr>
          <a:xfrm>
            <a:off x="12095247" y="8810013"/>
            <a:ext cx="2880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⌷⌷⌷⌷</a:t>
            </a:r>
          </a:p>
        </p:txBody>
      </p:sp>
      <p:sp>
        <p:nvSpPr>
          <p:cNvPr id="539" name="TextBox 538"/>
          <p:cNvSpPr txBox="1"/>
          <p:nvPr/>
        </p:nvSpPr>
        <p:spPr>
          <a:xfrm>
            <a:off x="12413972" y="8810013"/>
            <a:ext cx="2880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⌷⌷⌷⌷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11927017" y="8189404"/>
            <a:ext cx="4338047" cy="919360"/>
          </a:xfrm>
          <a:prstGeom prst="roundRect">
            <a:avLst>
              <a:gd name="adj" fmla="val 2712"/>
            </a:avLst>
          </a:prstGeom>
          <a:noFill/>
          <a:ln>
            <a:noFill/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/>
          <p:cNvSpPr txBox="1"/>
          <p:nvPr/>
        </p:nvSpPr>
        <p:spPr>
          <a:xfrm>
            <a:off x="20097927" y="5315952"/>
            <a:ext cx="33023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Getting Conditioned Probabilities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7517797" y="6138373"/>
            <a:ext cx="2099944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795E26"/>
                </a:solidFill>
                <a:latin typeface="Menlo" panose="020B0609030804020204" pitchFamily="49" charset="0"/>
              </a:rPr>
              <a:t>add(self,</a:t>
            </a:r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 </a:t>
            </a:r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row</a:t>
            </a:r>
            <a:r>
              <a:rPr lang="en-US" sz="900" dirty="0">
                <a:solidFill>
                  <a:srgbClr val="3B3B3B"/>
                </a:solidFill>
              </a:rPr>
              <a:t>):</a:t>
            </a:r>
            <a:r>
              <a:rPr lang="en-US" sz="900" dirty="0">
                <a:solidFill>
                  <a:srgbClr val="D7BA7D"/>
                </a:solidFill>
                <a:latin typeface="Menlo" panose="020B0609030804020204" pitchFamily="49" charset="0"/>
              </a:rPr>
              <a:t>\n</a:t>
            </a:r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 </a:t>
            </a:r>
            <a:r>
              <a:rPr lang="en-US" sz="900" dirty="0">
                <a:solidFill>
                  <a:srgbClr val="AF00DB"/>
                </a:solidFill>
                <a:latin typeface="Menlo" panose="020B0609030804020204" pitchFamily="49" charset="0"/>
              </a:rPr>
              <a:t>for</a:t>
            </a:r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 </a:t>
            </a:r>
            <a:r>
              <a:rPr lang="en-US" sz="900" dirty="0" err="1">
                <a:solidFill>
                  <a:srgbClr val="001080"/>
                </a:solidFill>
                <a:latin typeface="Menlo" panose="020B0609030804020204" pitchFamily="49" charset="0"/>
              </a:rPr>
              <a:t>i</a:t>
            </a:r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,</a:t>
            </a:r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 </a:t>
            </a:r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f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49" name="TextBox 448"/>
          <p:cNvSpPr txBox="1"/>
          <p:nvPr/>
        </p:nvSpPr>
        <p:spPr>
          <a:xfrm>
            <a:off x="22309565" y="5873230"/>
            <a:ext cx="243139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AF00DB"/>
                </a:solidFill>
                <a:latin typeface="Menlo" panose="020B0609030804020204" pitchFamily="49" charset="0"/>
              </a:rPr>
              <a:t>in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70" name="Arc 469"/>
          <p:cNvSpPr>
            <a:spLocks noChangeAspect="1"/>
          </p:cNvSpPr>
          <p:nvPr/>
        </p:nvSpPr>
        <p:spPr>
          <a:xfrm rot="10800000">
            <a:off x="17377922" y="5980477"/>
            <a:ext cx="288000" cy="288000"/>
          </a:xfrm>
          <a:prstGeom prst="arc">
            <a:avLst>
              <a:gd name="adj1" fmla="val 16200000"/>
              <a:gd name="adj2" fmla="val 10799994"/>
            </a:avLst>
          </a:prstGeom>
          <a:ln w="12700">
            <a:solidFill>
              <a:schemeClr val="tx1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1" name="TextBox 470"/>
          <p:cNvSpPr txBox="1"/>
          <p:nvPr/>
        </p:nvSpPr>
        <p:spPr>
          <a:xfrm>
            <a:off x="22309565" y="6103506"/>
            <a:ext cx="243139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?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72" name="TextBox 471"/>
          <p:cNvSpPr txBox="1"/>
          <p:nvPr/>
        </p:nvSpPr>
        <p:spPr>
          <a:xfrm>
            <a:off x="22309565" y="6333782"/>
            <a:ext cx="243139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?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75" name="Rectangle 474"/>
          <p:cNvSpPr/>
          <p:nvPr/>
        </p:nvSpPr>
        <p:spPr>
          <a:xfrm>
            <a:off x="22550352" y="5873230"/>
            <a:ext cx="463826" cy="2340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0.98</a:t>
            </a:r>
          </a:p>
        </p:txBody>
      </p:sp>
      <p:sp>
        <p:nvSpPr>
          <p:cNvPr id="477" name="Rectangle 476"/>
          <p:cNvSpPr/>
          <p:nvPr/>
        </p:nvSpPr>
        <p:spPr>
          <a:xfrm>
            <a:off x="22555894" y="6103506"/>
            <a:ext cx="463826" cy="2340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?</a:t>
            </a:r>
          </a:p>
        </p:txBody>
      </p:sp>
      <p:sp>
        <p:nvSpPr>
          <p:cNvPr id="478" name="Rectangle 477"/>
          <p:cNvSpPr/>
          <p:nvPr/>
        </p:nvSpPr>
        <p:spPr>
          <a:xfrm>
            <a:off x="22555894" y="6333782"/>
            <a:ext cx="463826" cy="2340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?</a:t>
            </a:r>
          </a:p>
        </p:txBody>
      </p:sp>
      <p:cxnSp>
        <p:nvCxnSpPr>
          <p:cNvPr id="482" name="Straight Arrow Connector 481"/>
          <p:cNvCxnSpPr/>
          <p:nvPr/>
        </p:nvCxnSpPr>
        <p:spPr>
          <a:xfrm flipV="1">
            <a:off x="19854913" y="6253789"/>
            <a:ext cx="2081231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3" name="TextBox 482"/>
          <p:cNvSpPr txBox="1"/>
          <p:nvPr/>
        </p:nvSpPr>
        <p:spPr>
          <a:xfrm>
            <a:off x="20142639" y="5914627"/>
            <a:ext cx="183282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Next Token Selection:</a:t>
            </a:r>
          </a:p>
        </p:txBody>
      </p:sp>
      <p:cxnSp>
        <p:nvCxnSpPr>
          <p:cNvPr id="105" name="Straight Arrow Connector 104"/>
          <p:cNvCxnSpPr/>
          <p:nvPr/>
        </p:nvCxnSpPr>
        <p:spPr>
          <a:xfrm>
            <a:off x="19887759" y="7375828"/>
            <a:ext cx="0" cy="503999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6" name="TextBox 105"/>
          <p:cNvSpPr txBox="1"/>
          <p:nvPr/>
        </p:nvSpPr>
        <p:spPr>
          <a:xfrm>
            <a:off x="20097927" y="7438484"/>
            <a:ext cx="30687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Syntax-Oriented Token Pruning</a:t>
            </a:r>
          </a:p>
        </p:txBody>
      </p:sp>
      <p:pic>
        <p:nvPicPr>
          <p:cNvPr id="122" name="Picture 121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2070746" y="3673169"/>
            <a:ext cx="608267" cy="608267"/>
          </a:xfrm>
          <a:prstGeom prst="rect">
            <a:avLst/>
          </a:prstGeom>
          <a:noFill/>
        </p:spPr>
      </p:pic>
      <p:sp>
        <p:nvSpPr>
          <p:cNvPr id="126" name="TextBox 125"/>
          <p:cNvSpPr txBox="1"/>
          <p:nvPr/>
        </p:nvSpPr>
        <p:spPr>
          <a:xfrm>
            <a:off x="17418534" y="7858943"/>
            <a:ext cx="176291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Retained Tokens</a:t>
            </a:r>
          </a:p>
        </p:txBody>
      </p:sp>
      <p:sp>
        <p:nvSpPr>
          <p:cNvPr id="513" name="TextBox 512"/>
          <p:cNvSpPr txBox="1"/>
          <p:nvPr/>
        </p:nvSpPr>
        <p:spPr>
          <a:xfrm>
            <a:off x="17418535" y="8202566"/>
            <a:ext cx="305656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795E26"/>
                </a:solidFill>
                <a:latin typeface="Menlo" panose="020B0609030804020204" pitchFamily="49" charset="0"/>
              </a:rPr>
              <a:t>add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14" name="TextBox 513"/>
          <p:cNvSpPr txBox="1"/>
          <p:nvPr/>
        </p:nvSpPr>
        <p:spPr>
          <a:xfrm>
            <a:off x="17899482" y="8761082"/>
            <a:ext cx="312068" cy="2308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001080"/>
                </a:solidFill>
              </a:rPr>
              <a:t>self</a:t>
            </a:r>
            <a:endParaRPr lang="en-US" sz="900" dirty="0">
              <a:solidFill>
                <a:srgbClr val="3B3B3B"/>
              </a:solidFill>
            </a:endParaRPr>
          </a:p>
        </p:txBody>
      </p:sp>
      <p:sp>
        <p:nvSpPr>
          <p:cNvPr id="515" name="TextBox 514"/>
          <p:cNvSpPr txBox="1"/>
          <p:nvPr/>
        </p:nvSpPr>
        <p:spPr>
          <a:xfrm>
            <a:off x="17759197" y="8202566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3B3B3B"/>
                </a:solidFill>
              </a:rPr>
              <a:t>(</a:t>
            </a:r>
          </a:p>
        </p:txBody>
      </p:sp>
      <p:sp>
        <p:nvSpPr>
          <p:cNvPr id="524" name="TextBox 523"/>
          <p:cNvSpPr txBox="1"/>
          <p:nvPr/>
        </p:nvSpPr>
        <p:spPr>
          <a:xfrm>
            <a:off x="18943132" y="8761082"/>
            <a:ext cx="174210" cy="2308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D7BA7D"/>
                </a:solidFill>
                <a:latin typeface="Menlo" panose="020B0609030804020204" pitchFamily="49" charset="0"/>
              </a:rPr>
              <a:t>\n</a:t>
            </a:r>
          </a:p>
        </p:txBody>
      </p:sp>
      <p:sp>
        <p:nvSpPr>
          <p:cNvPr id="525" name="TextBox 524"/>
          <p:cNvSpPr txBox="1"/>
          <p:nvPr/>
        </p:nvSpPr>
        <p:spPr>
          <a:xfrm>
            <a:off x="18246556" y="8202566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/>
              <a:t>,</a:t>
            </a:r>
          </a:p>
        </p:txBody>
      </p:sp>
      <p:sp>
        <p:nvSpPr>
          <p:cNvPr id="526" name="TextBox 525"/>
          <p:cNvSpPr txBox="1"/>
          <p:nvPr/>
        </p:nvSpPr>
        <p:spPr>
          <a:xfrm>
            <a:off x="18386841" y="8202566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row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27" name="TextBox 526"/>
          <p:cNvSpPr txBox="1"/>
          <p:nvPr/>
        </p:nvSpPr>
        <p:spPr>
          <a:xfrm>
            <a:off x="18733914" y="8761082"/>
            <a:ext cx="174210" cy="2308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3B3B3B"/>
                </a:solidFill>
              </a:rPr>
              <a:t>):</a:t>
            </a:r>
          </a:p>
        </p:txBody>
      </p:sp>
      <p:sp>
        <p:nvSpPr>
          <p:cNvPr id="528" name="TextBox 527"/>
          <p:cNvSpPr txBox="1"/>
          <p:nvPr/>
        </p:nvSpPr>
        <p:spPr>
          <a:xfrm>
            <a:off x="19487545" y="8202566"/>
            <a:ext cx="243139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AF00DB"/>
                </a:solidFill>
                <a:latin typeface="Menlo" panose="020B0609030804020204" pitchFamily="49" charset="0"/>
              </a:rPr>
              <a:t>for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32" name="TextBox 531"/>
          <p:cNvSpPr txBox="1"/>
          <p:nvPr/>
        </p:nvSpPr>
        <p:spPr>
          <a:xfrm>
            <a:off x="19744453" y="8202566"/>
            <a:ext cx="243139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latin typeface="Menlo" panose="020B0609030804020204" pitchFamily="49" charset="0"/>
              </a:rPr>
              <a:t>...</a:t>
            </a:r>
          </a:p>
        </p:txBody>
      </p:sp>
      <p:sp>
        <p:nvSpPr>
          <p:cNvPr id="544" name="TextBox 543"/>
          <p:cNvSpPr txBox="1"/>
          <p:nvPr/>
        </p:nvSpPr>
        <p:spPr>
          <a:xfrm>
            <a:off x="19988687" y="8761082"/>
            <a:ext cx="243139" cy="2308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AF00DB"/>
                </a:solidFill>
                <a:latin typeface="Menlo" panose="020B0609030804020204" pitchFamily="49" charset="0"/>
              </a:rPr>
              <a:t>in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45" name="TextBox 544"/>
          <p:cNvSpPr txBox="1"/>
          <p:nvPr/>
        </p:nvSpPr>
        <p:spPr>
          <a:xfrm>
            <a:off x="20271439" y="8202566"/>
            <a:ext cx="71923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267F99"/>
                </a:solidFill>
                <a:latin typeface="Menlo" panose="020B0609030804020204" pitchFamily="49" charset="0"/>
              </a:rPr>
              <a:t>enumerate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48" name="TextBox 547"/>
          <p:cNvSpPr txBox="1"/>
          <p:nvPr/>
        </p:nvSpPr>
        <p:spPr>
          <a:xfrm>
            <a:off x="20998985" y="8202566"/>
            <a:ext cx="243139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...</a:t>
            </a:r>
          </a:p>
        </p:txBody>
      </p:sp>
      <p:sp>
        <p:nvSpPr>
          <p:cNvPr id="549" name="TextBox 548"/>
          <p:cNvSpPr txBox="1"/>
          <p:nvPr/>
        </p:nvSpPr>
        <p:spPr>
          <a:xfrm>
            <a:off x="21237932" y="8202566"/>
            <a:ext cx="38099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self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50" name="TextBox 549"/>
          <p:cNvSpPr txBox="1"/>
          <p:nvPr/>
        </p:nvSpPr>
        <p:spPr>
          <a:xfrm>
            <a:off x="21649655" y="8202566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ot"/>
          </a:ln>
        </p:spPr>
        <p:txBody>
          <a:bodyPr wrap="none" lIns="18000" rIns="18000" rtlCol="0" anchor="ctr">
            <a:noAutofit/>
          </a:bodyPr>
          <a:lstStyle/>
          <a:p>
            <a:pPr algn="ctr"/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52" name="TextBox 551"/>
          <p:cNvSpPr txBox="1"/>
          <p:nvPr/>
        </p:nvSpPr>
        <p:spPr>
          <a:xfrm>
            <a:off x="21785661" y="8202566"/>
            <a:ext cx="863502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53" name="TextBox 552"/>
          <p:cNvSpPr txBox="1"/>
          <p:nvPr/>
        </p:nvSpPr>
        <p:spPr>
          <a:xfrm>
            <a:off x="22679888" y="8202566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[</a:t>
            </a:r>
          </a:p>
        </p:txBody>
      </p:sp>
      <p:sp>
        <p:nvSpPr>
          <p:cNvPr id="555" name="TextBox 554"/>
          <p:cNvSpPr txBox="1"/>
          <p:nvPr/>
        </p:nvSpPr>
        <p:spPr>
          <a:xfrm>
            <a:off x="22815894" y="8202566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 err="1">
                <a:solidFill>
                  <a:srgbClr val="001080"/>
                </a:solidFill>
                <a:latin typeface="Menlo" panose="020B0609030804020204" pitchFamily="49" charset="0"/>
              </a:rPr>
              <a:t>i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56" name="TextBox 555"/>
          <p:cNvSpPr txBox="1"/>
          <p:nvPr/>
        </p:nvSpPr>
        <p:spPr>
          <a:xfrm>
            <a:off x="22951900" y="8761082"/>
            <a:ext cx="174210" cy="2308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]:</a:t>
            </a:r>
          </a:p>
        </p:txBody>
      </p:sp>
      <p:sp>
        <p:nvSpPr>
          <p:cNvPr id="558" name="TextBox 557"/>
          <p:cNvSpPr txBox="1"/>
          <p:nvPr/>
        </p:nvSpPr>
        <p:spPr>
          <a:xfrm>
            <a:off x="23125932" y="8202566"/>
            <a:ext cx="243139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altLang="zh-CN" sz="900" dirty="0">
                <a:latin typeface="Menlo" panose="020B0609030804020204" pitchFamily="49" charset="0"/>
              </a:rPr>
              <a:t>...</a:t>
            </a:r>
            <a:endParaRPr lang="en-US" sz="900" dirty="0">
              <a:latin typeface="Menlo" panose="020B0609030804020204" pitchFamily="49" charset="0"/>
            </a:endParaRPr>
          </a:p>
        </p:txBody>
      </p:sp>
      <p:sp>
        <p:nvSpPr>
          <p:cNvPr id="559" name="TextBox 558"/>
          <p:cNvSpPr txBox="1"/>
          <p:nvPr/>
        </p:nvSpPr>
        <p:spPr>
          <a:xfrm>
            <a:off x="19159931" y="8761082"/>
            <a:ext cx="288000" cy="230400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⌷⌷⌷⌷</a:t>
            </a:r>
          </a:p>
        </p:txBody>
      </p:sp>
      <p:sp>
        <p:nvSpPr>
          <p:cNvPr id="561" name="TextBox 560"/>
          <p:cNvSpPr txBox="1"/>
          <p:nvPr/>
        </p:nvSpPr>
        <p:spPr>
          <a:xfrm>
            <a:off x="17361279" y="6822143"/>
            <a:ext cx="305656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795E26"/>
                </a:solidFill>
                <a:latin typeface="Menlo" panose="020B0609030804020204" pitchFamily="49" charset="0"/>
              </a:rPr>
              <a:t>add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62" name="TextBox 561"/>
          <p:cNvSpPr txBox="1"/>
          <p:nvPr/>
        </p:nvSpPr>
        <p:spPr>
          <a:xfrm>
            <a:off x="17842226" y="6822143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001080"/>
                </a:solidFill>
              </a:rPr>
              <a:t>self</a:t>
            </a:r>
            <a:endParaRPr lang="en-US" sz="900" dirty="0">
              <a:solidFill>
                <a:srgbClr val="3B3B3B"/>
              </a:solidFill>
            </a:endParaRPr>
          </a:p>
        </p:txBody>
      </p:sp>
      <p:sp>
        <p:nvSpPr>
          <p:cNvPr id="563" name="TextBox 562"/>
          <p:cNvSpPr txBox="1"/>
          <p:nvPr/>
        </p:nvSpPr>
        <p:spPr>
          <a:xfrm>
            <a:off x="17701941" y="6822143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3B3B3B"/>
                </a:solidFill>
              </a:rPr>
              <a:t>(</a:t>
            </a:r>
          </a:p>
        </p:txBody>
      </p:sp>
      <p:sp>
        <p:nvSpPr>
          <p:cNvPr id="564" name="TextBox 563"/>
          <p:cNvSpPr txBox="1"/>
          <p:nvPr/>
        </p:nvSpPr>
        <p:spPr>
          <a:xfrm>
            <a:off x="18885876" y="6822143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D7BA7D"/>
                </a:solidFill>
                <a:latin typeface="Menlo" panose="020B0609030804020204" pitchFamily="49" charset="0"/>
              </a:rPr>
              <a:t>\n</a:t>
            </a:r>
          </a:p>
        </p:txBody>
      </p:sp>
      <p:sp>
        <p:nvSpPr>
          <p:cNvPr id="565" name="TextBox 564"/>
          <p:cNvSpPr txBox="1"/>
          <p:nvPr/>
        </p:nvSpPr>
        <p:spPr>
          <a:xfrm>
            <a:off x="18189300" y="6822143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/>
              <a:t>,</a:t>
            </a:r>
          </a:p>
        </p:txBody>
      </p:sp>
      <p:sp>
        <p:nvSpPr>
          <p:cNvPr id="566" name="TextBox 565"/>
          <p:cNvSpPr txBox="1"/>
          <p:nvPr/>
        </p:nvSpPr>
        <p:spPr>
          <a:xfrm>
            <a:off x="18329585" y="6822143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row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67" name="TextBox 566"/>
          <p:cNvSpPr txBox="1"/>
          <p:nvPr/>
        </p:nvSpPr>
        <p:spPr>
          <a:xfrm>
            <a:off x="18676658" y="6822143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3B3B3B"/>
                </a:solidFill>
              </a:rPr>
              <a:t>):</a:t>
            </a:r>
          </a:p>
        </p:txBody>
      </p:sp>
      <p:sp>
        <p:nvSpPr>
          <p:cNvPr id="568" name="TextBox 567"/>
          <p:cNvSpPr txBox="1"/>
          <p:nvPr/>
        </p:nvSpPr>
        <p:spPr>
          <a:xfrm>
            <a:off x="19430289" y="6822143"/>
            <a:ext cx="243139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AF00DB"/>
                </a:solidFill>
                <a:latin typeface="Menlo" panose="020B0609030804020204" pitchFamily="49" charset="0"/>
              </a:rPr>
              <a:t>for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69" name="TextBox 568"/>
          <p:cNvSpPr txBox="1"/>
          <p:nvPr/>
        </p:nvSpPr>
        <p:spPr>
          <a:xfrm>
            <a:off x="19687197" y="6822143"/>
            <a:ext cx="243139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latin typeface="Menlo" panose="020B0609030804020204" pitchFamily="49" charset="0"/>
              </a:rPr>
              <a:t>...</a:t>
            </a:r>
          </a:p>
        </p:txBody>
      </p:sp>
      <p:sp>
        <p:nvSpPr>
          <p:cNvPr id="570" name="TextBox 569"/>
          <p:cNvSpPr txBox="1"/>
          <p:nvPr/>
        </p:nvSpPr>
        <p:spPr>
          <a:xfrm>
            <a:off x="19931431" y="6822143"/>
            <a:ext cx="243139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AF00DB"/>
                </a:solidFill>
                <a:latin typeface="Menlo" panose="020B0609030804020204" pitchFamily="49" charset="0"/>
              </a:rPr>
              <a:t>in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71" name="TextBox 570"/>
          <p:cNvSpPr txBox="1"/>
          <p:nvPr/>
        </p:nvSpPr>
        <p:spPr>
          <a:xfrm>
            <a:off x="20214183" y="6822143"/>
            <a:ext cx="71923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267F99"/>
                </a:solidFill>
                <a:latin typeface="Menlo" panose="020B0609030804020204" pitchFamily="49" charset="0"/>
              </a:rPr>
              <a:t>enumerate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72" name="TextBox 571"/>
          <p:cNvSpPr txBox="1"/>
          <p:nvPr/>
        </p:nvSpPr>
        <p:spPr>
          <a:xfrm>
            <a:off x="20941729" y="6822143"/>
            <a:ext cx="243139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...</a:t>
            </a:r>
          </a:p>
        </p:txBody>
      </p:sp>
      <p:sp>
        <p:nvSpPr>
          <p:cNvPr id="573" name="TextBox 572"/>
          <p:cNvSpPr txBox="1"/>
          <p:nvPr/>
        </p:nvSpPr>
        <p:spPr>
          <a:xfrm>
            <a:off x="21180676" y="6822143"/>
            <a:ext cx="38099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self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74" name="TextBox 573"/>
          <p:cNvSpPr txBox="1"/>
          <p:nvPr/>
        </p:nvSpPr>
        <p:spPr>
          <a:xfrm>
            <a:off x="21592399" y="6822143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.</a:t>
            </a:r>
          </a:p>
        </p:txBody>
      </p:sp>
      <p:sp>
        <p:nvSpPr>
          <p:cNvPr id="575" name="TextBox 574"/>
          <p:cNvSpPr txBox="1"/>
          <p:nvPr/>
        </p:nvSpPr>
        <p:spPr>
          <a:xfrm>
            <a:off x="21728405" y="6822143"/>
            <a:ext cx="863502" cy="230832"/>
          </a:xfrm>
          <a:prstGeom prst="rect">
            <a:avLst/>
          </a:prstGeom>
          <a:solidFill>
            <a:srgbClr val="FF0000"/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 err="1">
                <a:solidFill>
                  <a:srgbClr val="3B3B3B"/>
                </a:solidFill>
                <a:latin typeface="Menlo" panose="020B0609030804020204" pitchFamily="49" charset="0"/>
              </a:rPr>
              <a:t>max_col_size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128" name="TextBox 127"/>
          <p:cNvSpPr txBox="1"/>
          <p:nvPr/>
        </p:nvSpPr>
        <p:spPr>
          <a:xfrm>
            <a:off x="22622632" y="6822143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[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22758638" y="6822143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 err="1">
                <a:solidFill>
                  <a:srgbClr val="001080"/>
                </a:solidFill>
                <a:latin typeface="Menlo" panose="020B0609030804020204" pitchFamily="49" charset="0"/>
              </a:rPr>
              <a:t>i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130" name="TextBox 129"/>
          <p:cNvSpPr txBox="1"/>
          <p:nvPr/>
        </p:nvSpPr>
        <p:spPr>
          <a:xfrm>
            <a:off x="22894644" y="6822143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]: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23068676" y="6822143"/>
            <a:ext cx="243139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altLang="zh-CN" sz="900" dirty="0">
                <a:latin typeface="Menlo" panose="020B0609030804020204" pitchFamily="49" charset="0"/>
              </a:rPr>
              <a:t>...</a:t>
            </a:r>
            <a:endParaRPr lang="en-US" sz="900" dirty="0">
              <a:latin typeface="Menlo" panose="020B0609030804020204" pitchFamily="49" charset="0"/>
            </a:endParaRPr>
          </a:p>
        </p:txBody>
      </p:sp>
      <p:sp>
        <p:nvSpPr>
          <p:cNvPr id="132" name="TextBox 131"/>
          <p:cNvSpPr txBox="1"/>
          <p:nvPr/>
        </p:nvSpPr>
        <p:spPr>
          <a:xfrm>
            <a:off x="19102675" y="6822143"/>
            <a:ext cx="2880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⌷⌷⌷⌷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7362296" y="7054433"/>
            <a:ext cx="305656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  <a:endParaRPr lang="en-US" sz="9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35" name="TextBox 134"/>
          <p:cNvSpPr txBox="1"/>
          <p:nvPr/>
        </p:nvSpPr>
        <p:spPr>
          <a:xfrm>
            <a:off x="17843243" y="7054433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7702958" y="7054433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8886893" y="7054433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18190317" y="7054433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8330602" y="7054433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8677675" y="7054433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9431306" y="7054433"/>
            <a:ext cx="243139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9688214" y="7054433"/>
            <a:ext cx="243139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Consolas" panose="020B0609020204030204" pitchFamily="49" charset="0"/>
                <a:cs typeface="Consolas" panose="020B0609020204030204" pitchFamily="49" charset="0"/>
              </a:rPr>
              <a:t>...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9932448" y="7054433"/>
            <a:ext cx="243139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20215200" y="7054433"/>
            <a:ext cx="71923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  <a:endParaRPr lang="en-US" sz="9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47" name="TextBox 146"/>
          <p:cNvSpPr txBox="1"/>
          <p:nvPr/>
        </p:nvSpPr>
        <p:spPr>
          <a:xfrm>
            <a:off x="20942746" y="7054433"/>
            <a:ext cx="243139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Consolas" panose="020B0609020204030204" pitchFamily="49" charset="0"/>
                <a:cs typeface="Consolas" panose="020B0609020204030204" pitchFamily="49" charset="0"/>
              </a:rPr>
              <a:t>...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181693" y="7054433"/>
            <a:ext cx="38099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1593416" y="7054433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21729422" y="7054433"/>
            <a:ext cx="863502" cy="230832"/>
          </a:xfrm>
          <a:prstGeom prst="rect">
            <a:avLst/>
          </a:prstGeom>
          <a:solidFill>
            <a:srgbClr val="FF0000"/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2623649" y="7054433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2759655" y="7054433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22895661" y="7054433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23069693" y="7054433"/>
            <a:ext cx="243139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altLang="zh-CN" sz="900" dirty="0">
                <a:latin typeface="Consolas" panose="020B0609020204030204" pitchFamily="49" charset="0"/>
                <a:cs typeface="Consolas" panose="020B0609020204030204" pitchFamily="49" charset="0"/>
              </a:rPr>
              <a:t>...</a:t>
            </a:r>
            <a:endParaRPr lang="en-US" sz="9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55" name="TextBox 154"/>
          <p:cNvSpPr txBox="1"/>
          <p:nvPr/>
        </p:nvSpPr>
        <p:spPr>
          <a:xfrm>
            <a:off x="19103692" y="7054433"/>
            <a:ext cx="2880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20187144" y="8696209"/>
            <a:ext cx="140057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Pruned Tokens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7900397" y="8202566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ot"/>
          </a:ln>
        </p:spPr>
        <p:txBody>
          <a:bodyPr wrap="none" lIns="18000" rIns="18000" rtlCol="0" anchor="ctr">
            <a:no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endParaRPr lang="en-US" sz="900" dirty="0">
              <a:solidFill>
                <a:schemeClr val="bg1"/>
              </a:solidFill>
            </a:endParaRPr>
          </a:p>
        </p:txBody>
      </p:sp>
      <p:sp>
        <p:nvSpPr>
          <p:cNvPr id="158" name="TextBox 157"/>
          <p:cNvSpPr txBox="1"/>
          <p:nvPr/>
        </p:nvSpPr>
        <p:spPr>
          <a:xfrm>
            <a:off x="18944047" y="8202566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ot"/>
          </a:ln>
        </p:spPr>
        <p:txBody>
          <a:bodyPr wrap="none" lIns="18000" rIns="18000" rtlCol="0" anchor="ctr">
            <a:noAutofit/>
          </a:bodyPr>
          <a:lstStyle/>
          <a:p>
            <a:pPr algn="ctr"/>
            <a:endParaRPr lang="en-US" sz="900" dirty="0">
              <a:solidFill>
                <a:schemeClr val="bg1"/>
              </a:solidFill>
              <a:latin typeface="Menlo" panose="020B0609030804020204" pitchFamily="49" charset="0"/>
            </a:endParaRPr>
          </a:p>
        </p:txBody>
      </p:sp>
      <p:sp>
        <p:nvSpPr>
          <p:cNvPr id="159" name="TextBox 158"/>
          <p:cNvSpPr txBox="1"/>
          <p:nvPr/>
        </p:nvSpPr>
        <p:spPr>
          <a:xfrm>
            <a:off x="18734829" y="8202566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ot"/>
          </a:ln>
        </p:spPr>
        <p:txBody>
          <a:bodyPr wrap="none" lIns="18000" rIns="18000" rtlCol="0" anchor="ctr">
            <a:no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endParaRPr lang="en-US" sz="900" dirty="0">
              <a:solidFill>
                <a:schemeClr val="bg1"/>
              </a:solidFill>
            </a:endParaRPr>
          </a:p>
        </p:txBody>
      </p:sp>
      <p:sp>
        <p:nvSpPr>
          <p:cNvPr id="160" name="TextBox 159"/>
          <p:cNvSpPr txBox="1"/>
          <p:nvPr/>
        </p:nvSpPr>
        <p:spPr>
          <a:xfrm>
            <a:off x="19989602" y="8202566"/>
            <a:ext cx="243139" cy="230832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ot"/>
          </a:ln>
        </p:spPr>
        <p:txBody>
          <a:bodyPr wrap="none" lIns="18000" rIns="18000" rtlCol="0" anchor="ctr">
            <a:noAutofit/>
          </a:bodyPr>
          <a:lstStyle/>
          <a:p>
            <a:pPr algn="ctr"/>
            <a:endParaRPr lang="en-US" sz="900" dirty="0">
              <a:solidFill>
                <a:schemeClr val="bg1"/>
              </a:solidFill>
              <a:latin typeface="Menlo" panose="020B0609030804020204" pitchFamily="49" charset="0"/>
            </a:endParaRPr>
          </a:p>
        </p:txBody>
      </p:sp>
      <p:sp>
        <p:nvSpPr>
          <p:cNvPr id="161" name="TextBox 160"/>
          <p:cNvSpPr txBox="1"/>
          <p:nvPr/>
        </p:nvSpPr>
        <p:spPr>
          <a:xfrm>
            <a:off x="22952815" y="8202566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ot"/>
          </a:ln>
        </p:spPr>
        <p:txBody>
          <a:bodyPr wrap="none" lIns="18000" rIns="18000" rtlCol="0" anchor="ctr">
            <a:noAutofit/>
          </a:bodyPr>
          <a:lstStyle/>
          <a:p>
            <a:pPr algn="ctr"/>
            <a:endParaRPr lang="en-US" sz="900" dirty="0">
              <a:solidFill>
                <a:schemeClr val="bg1"/>
              </a:solidFill>
              <a:latin typeface="Menlo" panose="020B0609030804020204" pitchFamily="49" charset="0"/>
            </a:endParaRPr>
          </a:p>
        </p:txBody>
      </p:sp>
      <p:sp>
        <p:nvSpPr>
          <p:cNvPr id="162" name="TextBox 161"/>
          <p:cNvSpPr txBox="1"/>
          <p:nvPr/>
        </p:nvSpPr>
        <p:spPr>
          <a:xfrm>
            <a:off x="19160846" y="8202566"/>
            <a:ext cx="288000" cy="230400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ot"/>
          </a:ln>
        </p:spPr>
        <p:txBody>
          <a:bodyPr wrap="none" lIns="18000" rIns="18000" rtlCol="0" anchor="ctr">
            <a:noAutofit/>
          </a:bodyPr>
          <a:lstStyle/>
          <a:p>
            <a:pPr algn="ctr"/>
            <a:endParaRPr lang="en-US" sz="800" dirty="0">
              <a:solidFill>
                <a:schemeClr val="bg1"/>
              </a:solidFill>
              <a:latin typeface="Menlo" panose="020B0609030804020204" pitchFamily="49" charset="0"/>
            </a:endParaRPr>
          </a:p>
        </p:txBody>
      </p:sp>
      <p:cxnSp>
        <p:nvCxnSpPr>
          <p:cNvPr id="164" name="Straight Arrow Connector 163"/>
          <p:cNvCxnSpPr>
            <a:stCxn id="157" idx="2"/>
            <a:endCxn id="514" idx="0"/>
          </p:cNvCxnSpPr>
          <p:nvPr/>
        </p:nvCxnSpPr>
        <p:spPr>
          <a:xfrm flipH="1">
            <a:off x="18055516" y="8433398"/>
            <a:ext cx="915" cy="327684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5" name="Straight Arrow Connector 164"/>
          <p:cNvCxnSpPr>
            <a:stCxn id="159" idx="2"/>
            <a:endCxn id="527" idx="0"/>
          </p:cNvCxnSpPr>
          <p:nvPr/>
        </p:nvCxnSpPr>
        <p:spPr>
          <a:xfrm flipH="1">
            <a:off x="18821019" y="8433398"/>
            <a:ext cx="915" cy="327684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8" name="Straight Arrow Connector 167"/>
          <p:cNvCxnSpPr>
            <a:stCxn id="158" idx="2"/>
            <a:endCxn id="524" idx="0"/>
          </p:cNvCxnSpPr>
          <p:nvPr/>
        </p:nvCxnSpPr>
        <p:spPr>
          <a:xfrm flipH="1">
            <a:off x="19030237" y="8433398"/>
            <a:ext cx="915" cy="327684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1" name="Straight Arrow Connector 170"/>
          <p:cNvCxnSpPr>
            <a:stCxn id="162" idx="2"/>
            <a:endCxn id="559" idx="0"/>
          </p:cNvCxnSpPr>
          <p:nvPr/>
        </p:nvCxnSpPr>
        <p:spPr>
          <a:xfrm flipH="1">
            <a:off x="19303931" y="8432966"/>
            <a:ext cx="915" cy="328116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4" name="Straight Arrow Connector 173"/>
          <p:cNvCxnSpPr>
            <a:stCxn id="160" idx="2"/>
            <a:endCxn id="544" idx="0"/>
          </p:cNvCxnSpPr>
          <p:nvPr/>
        </p:nvCxnSpPr>
        <p:spPr>
          <a:xfrm flipH="1">
            <a:off x="20110257" y="8433398"/>
            <a:ext cx="915" cy="327684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7" name="Straight Arrow Connector 176"/>
          <p:cNvCxnSpPr>
            <a:stCxn id="161" idx="2"/>
            <a:endCxn id="556" idx="0"/>
          </p:cNvCxnSpPr>
          <p:nvPr/>
        </p:nvCxnSpPr>
        <p:spPr>
          <a:xfrm flipH="1">
            <a:off x="23039005" y="8433398"/>
            <a:ext cx="915" cy="327684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2" name="Straight Connector 181"/>
          <p:cNvCxnSpPr/>
          <p:nvPr/>
        </p:nvCxnSpPr>
        <p:spPr>
          <a:xfrm>
            <a:off x="24617800" y="6789328"/>
            <a:ext cx="4176000" cy="0"/>
          </a:xfrm>
          <a:prstGeom prst="line">
            <a:avLst/>
          </a:prstGeom>
          <a:ln w="19050">
            <a:solidFill>
              <a:schemeClr val="tx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3" name="Straight Connector 182"/>
          <p:cNvCxnSpPr/>
          <p:nvPr/>
        </p:nvCxnSpPr>
        <p:spPr>
          <a:xfrm flipV="1">
            <a:off x="24617804" y="4923959"/>
            <a:ext cx="0" cy="1865369"/>
          </a:xfrm>
          <a:prstGeom prst="line">
            <a:avLst/>
          </a:prstGeom>
          <a:ln w="19050">
            <a:solidFill>
              <a:schemeClr val="tx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5" name="TextBox 184"/>
          <p:cNvSpPr txBox="1"/>
          <p:nvPr/>
        </p:nvSpPr>
        <p:spPr>
          <a:xfrm>
            <a:off x="26620868" y="6845629"/>
            <a:ext cx="305656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latin typeface="Menlo" panose="020B0609030804020204" pitchFamily="49" charset="0"/>
              </a:rPr>
              <a:t>⌷</a:t>
            </a:r>
            <a:r>
              <a:rPr lang="en-US" sz="900" dirty="0">
                <a:latin typeface="Menlo" panose="020B0609030804020204" pitchFamily="49" charset="0"/>
              </a:rPr>
              <a:t>add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26242744" y="6845629"/>
            <a:ext cx="105281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chemeClr val="tx1"/>
                </a:solidFill>
              </a:rPr>
              <a:t>(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25606628" y="6845629"/>
            <a:ext cx="105281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chemeClr val="tx1"/>
                </a:solidFill>
              </a:rPr>
              <a:t>,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26941376" y="6845629"/>
            <a:ext cx="312068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latin typeface="Menlo" panose="020B0609030804020204" pitchFamily="49" charset="0"/>
              </a:rPr>
              <a:t>⌷row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26362877" y="6845629"/>
            <a:ext cx="243139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latin typeface="Menlo" panose="020B0609030804020204" pitchFamily="49" charset="0"/>
              </a:rPr>
              <a:t>for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24752412" y="6845629"/>
            <a:ext cx="719231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latin typeface="Menlo" panose="020B0609030804020204" pitchFamily="49" charset="0"/>
              </a:rPr>
              <a:t>⌷</a:t>
            </a:r>
            <a:r>
              <a:rPr lang="en-US" sz="900" dirty="0">
                <a:latin typeface="Menlo" panose="020B0609030804020204" pitchFamily="49" charset="0"/>
              </a:rPr>
              <a:t>enumerate</a:t>
            </a:r>
          </a:p>
        </p:txBody>
      </p:sp>
      <p:sp>
        <p:nvSpPr>
          <p:cNvPr id="577" name="TextBox 576"/>
          <p:cNvSpPr txBox="1"/>
          <p:nvPr/>
        </p:nvSpPr>
        <p:spPr>
          <a:xfrm>
            <a:off x="25846894" y="6845629"/>
            <a:ext cx="380998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latin typeface="Menlo" panose="020B0609030804020204" pitchFamily="49" charset="0"/>
              </a:rPr>
              <a:t>⌷self</a:t>
            </a:r>
          </a:p>
        </p:txBody>
      </p:sp>
      <p:sp>
        <p:nvSpPr>
          <p:cNvPr id="579" name="TextBox 578"/>
          <p:cNvSpPr txBox="1"/>
          <p:nvPr/>
        </p:nvSpPr>
        <p:spPr>
          <a:xfrm>
            <a:off x="27268295" y="6845629"/>
            <a:ext cx="863502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 err="1">
                <a:latin typeface="Menlo" panose="020B0609030804020204" pitchFamily="49" charset="0"/>
              </a:rPr>
              <a:t>max_col_size</a:t>
            </a:r>
            <a:endParaRPr lang="en-US" sz="900" dirty="0">
              <a:latin typeface="Menlo" panose="020B0609030804020204" pitchFamily="49" charset="0"/>
            </a:endParaRPr>
          </a:p>
        </p:txBody>
      </p:sp>
      <p:sp>
        <p:nvSpPr>
          <p:cNvPr id="580" name="TextBox 579"/>
          <p:cNvSpPr txBox="1"/>
          <p:nvPr/>
        </p:nvSpPr>
        <p:spPr>
          <a:xfrm>
            <a:off x="25726761" y="6845629"/>
            <a:ext cx="105281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latin typeface="Menlo" panose="020B0609030804020204" pitchFamily="49" charset="0"/>
              </a:rPr>
              <a:t>[</a:t>
            </a:r>
          </a:p>
        </p:txBody>
      </p:sp>
      <p:sp>
        <p:nvSpPr>
          <p:cNvPr id="581" name="TextBox 580"/>
          <p:cNvSpPr txBox="1"/>
          <p:nvPr/>
        </p:nvSpPr>
        <p:spPr>
          <a:xfrm>
            <a:off x="25486495" y="6845629"/>
            <a:ext cx="105281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 err="1">
                <a:latin typeface="Menlo" panose="020B0609030804020204" pitchFamily="49" charset="0"/>
              </a:rPr>
              <a:t>i</a:t>
            </a:r>
            <a:endParaRPr lang="en-US" sz="900" dirty="0">
              <a:latin typeface="Menlo" panose="020B0609030804020204" pitchFamily="49" charset="0"/>
            </a:endParaRPr>
          </a:p>
        </p:txBody>
      </p:sp>
      <p:sp>
        <p:nvSpPr>
          <p:cNvPr id="590" name="Rectangle 589"/>
          <p:cNvSpPr/>
          <p:nvPr/>
        </p:nvSpPr>
        <p:spPr>
          <a:xfrm>
            <a:off x="24854814" y="5043329"/>
            <a:ext cx="108000" cy="174599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591" name="Rectangle 590"/>
          <p:cNvSpPr/>
          <p:nvPr/>
        </p:nvSpPr>
        <p:spPr>
          <a:xfrm>
            <a:off x="25590502" y="5259328"/>
            <a:ext cx="108000" cy="1530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592" name="Rectangle 591"/>
          <p:cNvSpPr/>
          <p:nvPr/>
        </p:nvSpPr>
        <p:spPr>
          <a:xfrm>
            <a:off x="26443282" y="6555328"/>
            <a:ext cx="108000" cy="23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595" name="Rectangle 594"/>
          <p:cNvSpPr/>
          <p:nvPr/>
        </p:nvSpPr>
        <p:spPr>
          <a:xfrm>
            <a:off x="25200498" y="5205328"/>
            <a:ext cx="108000" cy="158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596" name="Rectangle 595"/>
          <p:cNvSpPr/>
          <p:nvPr/>
        </p:nvSpPr>
        <p:spPr>
          <a:xfrm>
            <a:off x="25360332" y="5223329"/>
            <a:ext cx="108000" cy="156599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597" name="Rectangle 596"/>
          <p:cNvSpPr/>
          <p:nvPr/>
        </p:nvSpPr>
        <p:spPr>
          <a:xfrm>
            <a:off x="25913884" y="5475328"/>
            <a:ext cx="108000" cy="131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598" name="Rectangle 597"/>
          <p:cNvSpPr/>
          <p:nvPr/>
        </p:nvSpPr>
        <p:spPr>
          <a:xfrm>
            <a:off x="26999149" y="6573328"/>
            <a:ext cx="108000" cy="216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600" name="Rectangle 599"/>
          <p:cNvSpPr/>
          <p:nvPr/>
        </p:nvSpPr>
        <p:spPr>
          <a:xfrm>
            <a:off x="27746554" y="4923959"/>
            <a:ext cx="108000" cy="186536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cxnSp>
        <p:nvCxnSpPr>
          <p:cNvPr id="630" name="Elbow Connector 629"/>
          <p:cNvCxnSpPr>
            <a:stCxn id="4" idx="3"/>
            <a:endCxn id="642" idx="1"/>
          </p:cNvCxnSpPr>
          <p:nvPr/>
        </p:nvCxnSpPr>
        <p:spPr>
          <a:xfrm>
            <a:off x="10844683" y="4476603"/>
            <a:ext cx="1095684" cy="2508547"/>
          </a:xfrm>
          <a:prstGeom prst="bentConnector3">
            <a:avLst>
              <a:gd name="adj1" fmla="val 50000"/>
            </a:avLst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7" name="TextBox 556"/>
          <p:cNvSpPr txBox="1"/>
          <p:nvPr/>
        </p:nvSpPr>
        <p:spPr>
          <a:xfrm>
            <a:off x="14035531" y="6148904"/>
            <a:ext cx="1475999" cy="369332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en-US" dirty="0"/>
              <a:t>Tokenizing</a:t>
            </a:r>
          </a:p>
        </p:txBody>
      </p:sp>
      <p:sp>
        <p:nvSpPr>
          <p:cNvPr id="663" name="TextBox 662"/>
          <p:cNvSpPr txBox="1"/>
          <p:nvPr/>
        </p:nvSpPr>
        <p:spPr>
          <a:xfrm>
            <a:off x="12709210" y="5713212"/>
            <a:ext cx="2640961" cy="369332"/>
          </a:xfrm>
          <a:prstGeom prst="rect">
            <a:avLst/>
          </a:prstGeom>
          <a:solidFill>
            <a:srgbClr val="7030A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Copyright</a:t>
            </a:r>
            <a:r>
              <a:rPr lang="en-US" altLang="zh-CN" dirty="0">
                <a:solidFill>
                  <a:schemeClr val="bg1"/>
                </a:solidFill>
              </a:rPr>
              <a:t>-Owned </a:t>
            </a:r>
            <a:r>
              <a:rPr lang="en-US" dirty="0">
                <a:solidFill>
                  <a:schemeClr val="bg1"/>
                </a:solidFill>
              </a:rPr>
              <a:t>Code</a:t>
            </a:r>
          </a:p>
        </p:txBody>
      </p:sp>
      <p:sp>
        <p:nvSpPr>
          <p:cNvPr id="664" name="TextBox 663"/>
          <p:cNvSpPr txBox="1"/>
          <p:nvPr/>
        </p:nvSpPr>
        <p:spPr>
          <a:xfrm>
            <a:off x="14115075" y="7642101"/>
            <a:ext cx="19886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Resuming variables</a:t>
            </a:r>
          </a:p>
        </p:txBody>
      </p:sp>
      <p:cxnSp>
        <p:nvCxnSpPr>
          <p:cNvPr id="665" name="Straight Arrow Connector 664"/>
          <p:cNvCxnSpPr/>
          <p:nvPr/>
        </p:nvCxnSpPr>
        <p:spPr>
          <a:xfrm flipH="1">
            <a:off x="14056321" y="6109794"/>
            <a:ext cx="0" cy="503999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9" name="TextBox 688"/>
          <p:cNvSpPr txBox="1"/>
          <p:nvPr/>
        </p:nvSpPr>
        <p:spPr>
          <a:xfrm>
            <a:off x="19183039" y="9682164"/>
            <a:ext cx="20233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Our Solution</a:t>
            </a:r>
          </a:p>
        </p:txBody>
      </p:sp>
      <p:cxnSp>
        <p:nvCxnSpPr>
          <p:cNvPr id="693" name="Straight Arrow Connector 692"/>
          <p:cNvCxnSpPr/>
          <p:nvPr/>
        </p:nvCxnSpPr>
        <p:spPr>
          <a:xfrm flipV="1">
            <a:off x="23748344" y="7062971"/>
            <a:ext cx="427136" cy="1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5" name="Elbow Connector 724"/>
          <p:cNvCxnSpPr>
            <a:stCxn id="9" idx="0"/>
            <a:endCxn id="728" idx="0"/>
          </p:cNvCxnSpPr>
          <p:nvPr/>
        </p:nvCxnSpPr>
        <p:spPr>
          <a:xfrm rot="5400000" flipH="1" flipV="1">
            <a:off x="8756060" y="-1570924"/>
            <a:ext cx="194145" cy="10524572"/>
          </a:xfrm>
          <a:prstGeom prst="bentConnector3">
            <a:avLst>
              <a:gd name="adj1" fmla="val 217747"/>
            </a:avLst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8" name="Rounded Rectangle 727"/>
          <p:cNvSpPr/>
          <p:nvPr/>
        </p:nvSpPr>
        <p:spPr>
          <a:xfrm>
            <a:off x="11927185" y="3594289"/>
            <a:ext cx="4376466" cy="747855"/>
          </a:xfrm>
          <a:prstGeom prst="roundRect">
            <a:avLst>
              <a:gd name="adj" fmla="val 15542"/>
            </a:avLst>
          </a:prstGeom>
          <a:solidFill>
            <a:schemeClr val="accent4">
              <a:lumMod val="60000"/>
              <a:lumOff val="40000"/>
              <a:alpha val="69000"/>
            </a:schemeClr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Tokens with High Likelihood</a:t>
            </a:r>
          </a:p>
        </p:txBody>
      </p:sp>
      <p:cxnSp>
        <p:nvCxnSpPr>
          <p:cNvPr id="750" name="Straight Arrow Connector 749"/>
          <p:cNvCxnSpPr/>
          <p:nvPr/>
        </p:nvCxnSpPr>
        <p:spPr>
          <a:xfrm flipH="1">
            <a:off x="20167529" y="6598541"/>
            <a:ext cx="915" cy="18000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2" name="Rounded Rectangle 751"/>
          <p:cNvSpPr/>
          <p:nvPr/>
        </p:nvSpPr>
        <p:spPr>
          <a:xfrm>
            <a:off x="18055136" y="3557879"/>
            <a:ext cx="4545534" cy="487630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200" i="1" dirty="0">
                <a:solidFill>
                  <a:schemeClr val="bg1"/>
                </a:solidFill>
              </a:rPr>
              <a:t>Syntax-bonding Probability Pruning</a:t>
            </a:r>
          </a:p>
        </p:txBody>
      </p:sp>
      <p:cxnSp>
        <p:nvCxnSpPr>
          <p:cNvPr id="754" name="Straight Arrow Connector 753"/>
          <p:cNvCxnSpPr/>
          <p:nvPr/>
        </p:nvCxnSpPr>
        <p:spPr>
          <a:xfrm>
            <a:off x="16295965" y="3971263"/>
            <a:ext cx="450000" cy="0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6" name="Right Brace 755"/>
          <p:cNvSpPr/>
          <p:nvPr/>
        </p:nvSpPr>
        <p:spPr>
          <a:xfrm rot="5400000">
            <a:off x="20127461" y="1264077"/>
            <a:ext cx="322265" cy="16473610"/>
          </a:xfrm>
          <a:prstGeom prst="rightBrace">
            <a:avLst>
              <a:gd name="adj1" fmla="val 25000"/>
              <a:gd name="adj2" fmla="val 50000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8" name="Rounded Rectangle 757"/>
          <p:cNvSpPr/>
          <p:nvPr/>
        </p:nvSpPr>
        <p:spPr>
          <a:xfrm>
            <a:off x="12612375" y="4719918"/>
            <a:ext cx="2955029" cy="487630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400" i="1" dirty="0">
                <a:solidFill>
                  <a:schemeClr val="bg1"/>
                </a:solidFill>
              </a:rPr>
              <a:t>Variable</a:t>
            </a:r>
            <a:r>
              <a:rPr lang="zh-CN" altLang="en-US" sz="2400" i="1" dirty="0">
                <a:solidFill>
                  <a:schemeClr val="bg1"/>
                </a:solidFill>
              </a:rPr>
              <a:t> </a:t>
            </a:r>
            <a:r>
              <a:rPr lang="en-US" altLang="zh-CN" sz="2400" i="1" dirty="0">
                <a:solidFill>
                  <a:schemeClr val="bg1"/>
                </a:solidFill>
              </a:rPr>
              <a:t>Resumption</a:t>
            </a:r>
            <a:endParaRPr lang="en-US" sz="2400" i="1" dirty="0">
              <a:solidFill>
                <a:schemeClr val="bg1"/>
              </a:solidFill>
            </a:endParaRPr>
          </a:p>
        </p:txBody>
      </p:sp>
      <p:sp>
        <p:nvSpPr>
          <p:cNvPr id="759" name="TextBox 758"/>
          <p:cNvSpPr txBox="1"/>
          <p:nvPr/>
        </p:nvSpPr>
        <p:spPr>
          <a:xfrm>
            <a:off x="14903651" y="6663496"/>
            <a:ext cx="153886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Code Tokens</a:t>
            </a:r>
          </a:p>
        </p:txBody>
      </p:sp>
      <p:sp>
        <p:nvSpPr>
          <p:cNvPr id="760" name="Rounded Rectangle 759"/>
          <p:cNvSpPr/>
          <p:nvPr/>
        </p:nvSpPr>
        <p:spPr>
          <a:xfrm>
            <a:off x="12015660" y="6641692"/>
            <a:ext cx="4248000" cy="902674"/>
          </a:xfrm>
          <a:prstGeom prst="roundRect">
            <a:avLst>
              <a:gd name="adj" fmla="val 2712"/>
            </a:avLst>
          </a:prstGeom>
          <a:solidFill>
            <a:srgbClr val="7030A0">
              <a:alpha val="14000"/>
            </a:srgbClr>
          </a:solidFill>
          <a:ln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1" name="TextBox 760"/>
          <p:cNvSpPr txBox="1"/>
          <p:nvPr/>
        </p:nvSpPr>
        <p:spPr>
          <a:xfrm>
            <a:off x="17306728" y="6493142"/>
            <a:ext cx="221318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Token</a:t>
            </a:r>
            <a:r>
              <a:rPr lang="zh-CN" altLang="en-US" sz="1600" dirty="0"/>
              <a:t> </a:t>
            </a:r>
            <a:r>
              <a:rPr lang="en-US" altLang="zh-CN" sz="1600" dirty="0"/>
              <a:t>Probabilities</a:t>
            </a:r>
            <a:endParaRPr lang="en-US" sz="1600" dirty="0"/>
          </a:p>
        </p:txBody>
      </p:sp>
      <p:sp>
        <p:nvSpPr>
          <p:cNvPr id="762" name="TextBox 761"/>
          <p:cNvSpPr txBox="1"/>
          <p:nvPr/>
        </p:nvSpPr>
        <p:spPr>
          <a:xfrm>
            <a:off x="24548548" y="4442765"/>
            <a:ext cx="35524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Ranked</a:t>
            </a:r>
            <a:r>
              <a:rPr lang="zh-CN" altLang="en-US" dirty="0"/>
              <a:t> </a:t>
            </a:r>
            <a:r>
              <a:rPr lang="en-US" altLang="zh-CN" dirty="0"/>
              <a:t>Token Probabilities</a:t>
            </a:r>
            <a:endParaRPr lang="en-US" dirty="0"/>
          </a:p>
        </p:txBody>
      </p:sp>
      <p:sp>
        <p:nvSpPr>
          <p:cNvPr id="765" name="TextBox 764"/>
          <p:cNvSpPr txBox="1"/>
          <p:nvPr/>
        </p:nvSpPr>
        <p:spPr>
          <a:xfrm>
            <a:off x="21649655" y="8761082"/>
            <a:ext cx="105281" cy="2308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.</a:t>
            </a:r>
          </a:p>
        </p:txBody>
      </p:sp>
      <p:cxnSp>
        <p:nvCxnSpPr>
          <p:cNvPr id="384" name="Straight Arrow Connector 383"/>
          <p:cNvCxnSpPr>
            <a:stCxn id="550" idx="2"/>
            <a:endCxn id="765" idx="0"/>
          </p:cNvCxnSpPr>
          <p:nvPr/>
        </p:nvCxnSpPr>
        <p:spPr>
          <a:xfrm>
            <a:off x="21702296" y="8433398"/>
            <a:ext cx="0" cy="327684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9" name="TextBox 388"/>
          <p:cNvSpPr txBox="1"/>
          <p:nvPr/>
        </p:nvSpPr>
        <p:spPr>
          <a:xfrm rot="16200000">
            <a:off x="24117301" y="4904644"/>
            <a:ext cx="6233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Prob</a:t>
            </a:r>
          </a:p>
        </p:txBody>
      </p:sp>
      <p:sp>
        <p:nvSpPr>
          <p:cNvPr id="390" name="Rounded Rectangle 389"/>
          <p:cNvSpPr/>
          <p:nvPr/>
        </p:nvSpPr>
        <p:spPr>
          <a:xfrm>
            <a:off x="24178825" y="3557879"/>
            <a:ext cx="4970244" cy="5691755"/>
          </a:xfrm>
          <a:prstGeom prst="roundRect">
            <a:avLst>
              <a:gd name="adj" fmla="val 2712"/>
            </a:avLst>
          </a:prstGeom>
          <a:solidFill>
            <a:srgbClr val="7030A0">
              <a:alpha val="3000"/>
            </a:srgbClr>
          </a:solidFill>
          <a:ln>
            <a:solidFill>
              <a:srgbClr val="7030A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91" name="TextBox 390"/>
          <p:cNvSpPr txBox="1"/>
          <p:nvPr/>
        </p:nvSpPr>
        <p:spPr>
          <a:xfrm>
            <a:off x="25911283" y="7491067"/>
            <a:ext cx="298612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Truncating and Averaging Probabilities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4433033" y="3557879"/>
            <a:ext cx="4545534" cy="487630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200" i="1" dirty="0">
                <a:solidFill>
                  <a:schemeClr val="bg1"/>
                </a:solidFill>
              </a:rPr>
              <a:t>Syntax-bonding Probability Pruning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5760546" y="6169345"/>
            <a:ext cx="1557850" cy="701711"/>
          </a:xfrm>
          <a:prstGeom prst="roundRect">
            <a:avLst>
              <a:gd name="adj" fmla="val 2712"/>
            </a:avLst>
          </a:prstGeom>
          <a:solidFill>
            <a:srgbClr val="7030A0">
              <a:alpha val="14000"/>
            </a:srgbClr>
          </a:solidFill>
          <a:ln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TextBox 17"/>
          <p:cNvSpPr txBox="1"/>
          <p:nvPr/>
        </p:nvSpPr>
        <p:spPr>
          <a:xfrm>
            <a:off x="16299543" y="10972800"/>
            <a:ext cx="150233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Member </a:t>
            </a:r>
          </a:p>
          <a:p>
            <a:r>
              <a:rPr lang="en-US" dirty="0"/>
              <a:t>Non-member 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1785661" y="8761082"/>
            <a:ext cx="863502" cy="2308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 err="1">
                <a:solidFill>
                  <a:srgbClr val="3B3B3B"/>
                </a:solidFill>
                <a:latin typeface="Menlo" panose="020B0609030804020204" pitchFamily="49" charset="0"/>
              </a:rPr>
              <a:t>max_col_size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cxnSp>
        <p:nvCxnSpPr>
          <p:cNvPr id="28" name="Straight Arrow Connector 27"/>
          <p:cNvCxnSpPr>
            <a:stCxn id="552" idx="2"/>
            <a:endCxn id="25" idx="0"/>
          </p:cNvCxnSpPr>
          <p:nvPr/>
        </p:nvCxnSpPr>
        <p:spPr>
          <a:xfrm>
            <a:off x="22217412" y="8433398"/>
            <a:ext cx="0" cy="327684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14721840" y="10241280"/>
            <a:ext cx="310976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Self.max -&gt; self . max</a:t>
            </a:r>
          </a:p>
          <a:p>
            <a:r>
              <a:rPr lang="en-US" dirty="0"/>
              <a:t>Self.max_size -&gt; self. Max _ size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2242800" y="9895840"/>
            <a:ext cx="222278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AST</a:t>
            </a:r>
            <a:r>
              <a:rPr lang="zh-CN" altLang="en-US" dirty="0"/>
              <a:t>：完整</a:t>
            </a:r>
            <a:r>
              <a:rPr lang="en-US" altLang="zh-CN" dirty="0"/>
              <a:t>variable </a:t>
            </a:r>
          </a:p>
          <a:p>
            <a:r>
              <a:rPr lang="en-US" dirty="0"/>
              <a:t>Token</a:t>
            </a:r>
            <a:r>
              <a:rPr lang="zh-CN" altLang="en-US" dirty="0"/>
              <a:t>：</a:t>
            </a:r>
            <a:r>
              <a:rPr lang="en-US" altLang="zh-CN" dirty="0"/>
              <a:t> variable</a:t>
            </a:r>
            <a:r>
              <a:rPr lang="zh-CN" altLang="en-US" dirty="0"/>
              <a:t>拆分</a:t>
            </a:r>
            <a:endParaRPr lang="en-US" dirty="0"/>
          </a:p>
        </p:txBody>
      </p:sp>
    </p:spTree>
  </p:cSld>
  <p:clrMapOvr>
    <a:masterClrMapping/>
  </p:clrMapOvr>
  <p:transition/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COMMONDATA" val="eyJoZGlkIjoiMTFmMWJmZjM1MTUzOGJhZGQ2YzVjZTI0ZGVkOTAwZTkifQ=="/>
</p:tagLst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17CBF7FC-AB80-834B-9699-04AEF3BB5597}">
  <we:reference id="wa104381909" version="3.18.2.0" store="en-001" storeType="OMEX"/>
  <we:alternateReferences>
    <we:reference id="wa104381909" version="3.18.2.0" store="en-001" storeType="OMEX"/>
  </we:alternateReferences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312</TotalTime>
  <Words>1868</Words>
  <Application>Microsoft Macintosh PowerPoint</Application>
  <PresentationFormat>Custom</PresentationFormat>
  <Paragraphs>979</Paragraphs>
  <Slides>7</Slides>
  <Notes>5</Notes>
  <HiddenSlides>6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Arial</vt:lpstr>
      <vt:lpstr>Bradley Hand</vt:lpstr>
      <vt:lpstr>Calibri</vt:lpstr>
      <vt:lpstr>Calibri Light</vt:lpstr>
      <vt:lpstr>Consolas</vt:lpstr>
      <vt:lpstr>Menlo</vt:lpstr>
      <vt:lpstr>Trebuchet MS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Kaifeng Huang</dc:creator>
  <cp:lastModifiedBy>Kaifeng Huang</cp:lastModifiedBy>
  <cp:revision>41</cp:revision>
  <dcterms:created xsi:type="dcterms:W3CDTF">2025-06-02T15:22:00Z</dcterms:created>
  <dcterms:modified xsi:type="dcterms:W3CDTF">2025-07-27T14:56:00Z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493A1395599146C3BE4DF5A32EBEC8B3_12</vt:lpwstr>
  </property>
  <property fmtid="{D5CDD505-2E9C-101B-9397-08002B2CF9AE}" pid="3" name="KSOProductBuildVer">
    <vt:lpwstr>2052-12.1.0.16929</vt:lpwstr>
  </property>
</Properties>
</file>