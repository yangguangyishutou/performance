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9" r:id="rId5"/>
    <p:sldId id="258" r:id="rId6"/>
    <p:sldId id="260" r:id="rId7"/>
  </p:sldIdLst>
  <p:sldSz cx="30192663" cy="17657763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6"/>
    <p:restoredTop sz="89915"/>
  </p:normalViewPr>
  <p:slideViewPr>
    <p:cSldViewPr snapToGrid="0">
      <p:cViewPr>
        <p:scale>
          <a:sx n="103" d="100"/>
          <a:sy n="103" d="100"/>
        </p:scale>
        <p:origin x="-7528" y="-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24B96-F7A0-634D-924D-D34EE602F0F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90575" y="1143000"/>
            <a:ext cx="5276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D576B-21C6-B14A-910C-AADE6C8F183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D576B-21C6-B14A-910C-AADE6C8F183E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90575" y="1143000"/>
            <a:ext cx="52768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D576B-21C6-B14A-910C-AADE6C8F183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D576B-21C6-B14A-910C-AADE6C8F183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D576B-21C6-B14A-910C-AADE6C8F183E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4083" y="2889825"/>
            <a:ext cx="22644497" cy="6147517"/>
          </a:xfrm>
        </p:spPr>
        <p:txBody>
          <a:bodyPr anchor="b"/>
          <a:lstStyle>
            <a:lvl1pPr algn="ctr">
              <a:defRPr sz="148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4083" y="9274414"/>
            <a:ext cx="22644497" cy="4263204"/>
          </a:xfrm>
        </p:spPr>
        <p:txBody>
          <a:bodyPr/>
          <a:lstStyle>
            <a:lvl1pPr marL="0" indent="0" algn="ctr">
              <a:buNone/>
              <a:defRPr sz="5945"/>
            </a:lvl1pPr>
            <a:lvl2pPr marL="1132205" indent="0" algn="ctr">
              <a:buNone/>
              <a:defRPr sz="4955"/>
            </a:lvl2pPr>
            <a:lvl3pPr marL="2264410" indent="0" algn="ctr">
              <a:buNone/>
              <a:defRPr sz="4460"/>
            </a:lvl3pPr>
            <a:lvl4pPr marL="3396615" indent="0" algn="ctr">
              <a:buNone/>
              <a:defRPr sz="3960"/>
            </a:lvl4pPr>
            <a:lvl5pPr marL="4528820" indent="0" algn="ctr">
              <a:buNone/>
              <a:defRPr sz="3960"/>
            </a:lvl5pPr>
            <a:lvl6pPr marL="5661025" indent="0" algn="ctr">
              <a:buNone/>
              <a:defRPr sz="3960"/>
            </a:lvl6pPr>
            <a:lvl7pPr marL="6793230" indent="0" algn="ctr">
              <a:buNone/>
              <a:defRPr sz="3960"/>
            </a:lvl7pPr>
            <a:lvl8pPr marL="7925435" indent="0" algn="ctr">
              <a:buNone/>
              <a:defRPr sz="3960"/>
            </a:lvl8pPr>
            <a:lvl9pPr marL="9057640" indent="0" algn="ctr">
              <a:buNone/>
              <a:defRPr sz="3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020" y="4402181"/>
            <a:ext cx="26041172" cy="7345138"/>
          </a:xfrm>
        </p:spPr>
        <p:txBody>
          <a:bodyPr anchor="b"/>
          <a:lstStyle>
            <a:lvl1pPr>
              <a:defRPr sz="148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0020" y="11816807"/>
            <a:ext cx="26041172" cy="3862634"/>
          </a:xfrm>
        </p:spPr>
        <p:txBody>
          <a:bodyPr/>
          <a:lstStyle>
            <a:lvl1pPr marL="0" indent="0">
              <a:buNone/>
              <a:defRPr sz="5945">
                <a:solidFill>
                  <a:schemeClr val="tx1">
                    <a:tint val="75000"/>
                  </a:schemeClr>
                </a:solidFill>
              </a:defRPr>
            </a:lvl1pPr>
            <a:lvl2pPr marL="1132205" indent="0">
              <a:buNone/>
              <a:defRPr sz="4955">
                <a:solidFill>
                  <a:schemeClr val="tx1">
                    <a:tint val="75000"/>
                  </a:schemeClr>
                </a:solidFill>
              </a:defRPr>
            </a:lvl2pPr>
            <a:lvl3pPr marL="2264410" indent="0">
              <a:buNone/>
              <a:defRPr sz="4460">
                <a:solidFill>
                  <a:schemeClr val="tx1">
                    <a:tint val="75000"/>
                  </a:schemeClr>
                </a:solidFill>
              </a:defRPr>
            </a:lvl3pPr>
            <a:lvl4pPr marL="3396615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4pPr>
            <a:lvl5pPr marL="452882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5pPr>
            <a:lvl6pPr marL="5661025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6pPr>
            <a:lvl7pPr marL="679323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7pPr>
            <a:lvl8pPr marL="7925435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8pPr>
            <a:lvl9pPr marL="905764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5745" y="4700562"/>
            <a:ext cx="12831882" cy="11203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85036" y="4700562"/>
            <a:ext cx="12831882" cy="11203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678" y="940114"/>
            <a:ext cx="26041172" cy="3413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680" y="4328606"/>
            <a:ext cx="12772910" cy="2121383"/>
          </a:xfrm>
        </p:spPr>
        <p:txBody>
          <a:bodyPr anchor="b"/>
          <a:lstStyle>
            <a:lvl1pPr marL="0" indent="0">
              <a:buNone/>
              <a:defRPr sz="5945" b="1"/>
            </a:lvl1pPr>
            <a:lvl2pPr marL="1132205" indent="0">
              <a:buNone/>
              <a:defRPr sz="4955" b="1"/>
            </a:lvl2pPr>
            <a:lvl3pPr marL="2264410" indent="0">
              <a:buNone/>
              <a:defRPr sz="4460" b="1"/>
            </a:lvl3pPr>
            <a:lvl4pPr marL="3396615" indent="0">
              <a:buNone/>
              <a:defRPr sz="3960" b="1"/>
            </a:lvl4pPr>
            <a:lvl5pPr marL="4528820" indent="0">
              <a:buNone/>
              <a:defRPr sz="3960" b="1"/>
            </a:lvl5pPr>
            <a:lvl6pPr marL="5661025" indent="0">
              <a:buNone/>
              <a:defRPr sz="3960" b="1"/>
            </a:lvl6pPr>
            <a:lvl7pPr marL="6793230" indent="0">
              <a:buNone/>
              <a:defRPr sz="3960" b="1"/>
            </a:lvl7pPr>
            <a:lvl8pPr marL="7925435" indent="0">
              <a:buNone/>
              <a:defRPr sz="3960" b="1"/>
            </a:lvl8pPr>
            <a:lvl9pPr marL="9057640" indent="0">
              <a:buNone/>
              <a:defRPr sz="3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9680" y="6449989"/>
            <a:ext cx="12772910" cy="94869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85036" y="4328606"/>
            <a:ext cx="12835814" cy="2121383"/>
          </a:xfrm>
        </p:spPr>
        <p:txBody>
          <a:bodyPr anchor="b"/>
          <a:lstStyle>
            <a:lvl1pPr marL="0" indent="0">
              <a:buNone/>
              <a:defRPr sz="5945" b="1"/>
            </a:lvl1pPr>
            <a:lvl2pPr marL="1132205" indent="0">
              <a:buNone/>
              <a:defRPr sz="4955" b="1"/>
            </a:lvl2pPr>
            <a:lvl3pPr marL="2264410" indent="0">
              <a:buNone/>
              <a:defRPr sz="4460" b="1"/>
            </a:lvl3pPr>
            <a:lvl4pPr marL="3396615" indent="0">
              <a:buNone/>
              <a:defRPr sz="3960" b="1"/>
            </a:lvl4pPr>
            <a:lvl5pPr marL="4528820" indent="0">
              <a:buNone/>
              <a:defRPr sz="3960" b="1"/>
            </a:lvl5pPr>
            <a:lvl6pPr marL="5661025" indent="0">
              <a:buNone/>
              <a:defRPr sz="3960" b="1"/>
            </a:lvl6pPr>
            <a:lvl7pPr marL="6793230" indent="0">
              <a:buNone/>
              <a:defRPr sz="3960" b="1"/>
            </a:lvl7pPr>
            <a:lvl8pPr marL="7925435" indent="0">
              <a:buNone/>
              <a:defRPr sz="3960" b="1"/>
            </a:lvl8pPr>
            <a:lvl9pPr marL="9057640" indent="0">
              <a:buNone/>
              <a:defRPr sz="3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85036" y="6449989"/>
            <a:ext cx="12835814" cy="94869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679" y="1177184"/>
            <a:ext cx="9737919" cy="4120145"/>
          </a:xfrm>
        </p:spPr>
        <p:txBody>
          <a:bodyPr anchor="b"/>
          <a:lstStyle>
            <a:lvl1pPr>
              <a:defRPr sz="79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35814" y="2542392"/>
            <a:ext cx="15285036" cy="12548457"/>
          </a:xfrm>
        </p:spPr>
        <p:txBody>
          <a:bodyPr/>
          <a:lstStyle>
            <a:lvl1pPr>
              <a:defRPr sz="7925"/>
            </a:lvl1pPr>
            <a:lvl2pPr>
              <a:defRPr sz="6935"/>
            </a:lvl2pPr>
            <a:lvl3pPr>
              <a:defRPr sz="5945"/>
            </a:lvl3pPr>
            <a:lvl4pPr>
              <a:defRPr sz="4955"/>
            </a:lvl4pPr>
            <a:lvl5pPr>
              <a:defRPr sz="4955"/>
            </a:lvl5pPr>
            <a:lvl6pPr>
              <a:defRPr sz="4955"/>
            </a:lvl6pPr>
            <a:lvl7pPr>
              <a:defRPr sz="4955"/>
            </a:lvl7pPr>
            <a:lvl8pPr>
              <a:defRPr sz="4955"/>
            </a:lvl8pPr>
            <a:lvl9pPr>
              <a:defRPr sz="49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9679" y="5297329"/>
            <a:ext cx="9737919" cy="9813957"/>
          </a:xfrm>
        </p:spPr>
        <p:txBody>
          <a:bodyPr/>
          <a:lstStyle>
            <a:lvl1pPr marL="0" indent="0">
              <a:buNone/>
              <a:defRPr sz="3960"/>
            </a:lvl1pPr>
            <a:lvl2pPr marL="1132205" indent="0">
              <a:buNone/>
              <a:defRPr sz="3465"/>
            </a:lvl2pPr>
            <a:lvl3pPr marL="2264410" indent="0">
              <a:buNone/>
              <a:defRPr sz="2970"/>
            </a:lvl3pPr>
            <a:lvl4pPr marL="3396615" indent="0">
              <a:buNone/>
              <a:defRPr sz="2475"/>
            </a:lvl4pPr>
            <a:lvl5pPr marL="4528820" indent="0">
              <a:buNone/>
              <a:defRPr sz="2475"/>
            </a:lvl5pPr>
            <a:lvl6pPr marL="5661025" indent="0">
              <a:buNone/>
              <a:defRPr sz="2475"/>
            </a:lvl6pPr>
            <a:lvl7pPr marL="6793230" indent="0">
              <a:buNone/>
              <a:defRPr sz="2475"/>
            </a:lvl7pPr>
            <a:lvl8pPr marL="7925435" indent="0">
              <a:buNone/>
              <a:defRPr sz="2475"/>
            </a:lvl8pPr>
            <a:lvl9pPr marL="9057640" indent="0">
              <a:buNone/>
              <a:defRPr sz="24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679" y="1177184"/>
            <a:ext cx="9737919" cy="4120145"/>
          </a:xfrm>
        </p:spPr>
        <p:txBody>
          <a:bodyPr anchor="b"/>
          <a:lstStyle>
            <a:lvl1pPr>
              <a:defRPr sz="79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35814" y="2542392"/>
            <a:ext cx="15285036" cy="12548457"/>
          </a:xfrm>
        </p:spPr>
        <p:txBody>
          <a:bodyPr anchor="t"/>
          <a:lstStyle>
            <a:lvl1pPr marL="0" indent="0">
              <a:buNone/>
              <a:defRPr sz="7925"/>
            </a:lvl1pPr>
            <a:lvl2pPr marL="1132205" indent="0">
              <a:buNone/>
              <a:defRPr sz="6935"/>
            </a:lvl2pPr>
            <a:lvl3pPr marL="2264410" indent="0">
              <a:buNone/>
              <a:defRPr sz="5945"/>
            </a:lvl3pPr>
            <a:lvl4pPr marL="3396615" indent="0">
              <a:buNone/>
              <a:defRPr sz="4955"/>
            </a:lvl4pPr>
            <a:lvl5pPr marL="4528820" indent="0">
              <a:buNone/>
              <a:defRPr sz="4955"/>
            </a:lvl5pPr>
            <a:lvl6pPr marL="5661025" indent="0">
              <a:buNone/>
              <a:defRPr sz="4955"/>
            </a:lvl6pPr>
            <a:lvl7pPr marL="6793230" indent="0">
              <a:buNone/>
              <a:defRPr sz="4955"/>
            </a:lvl7pPr>
            <a:lvl8pPr marL="7925435" indent="0">
              <a:buNone/>
              <a:defRPr sz="4955"/>
            </a:lvl8pPr>
            <a:lvl9pPr marL="9057640" indent="0">
              <a:buNone/>
              <a:defRPr sz="49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9679" y="5297329"/>
            <a:ext cx="9737919" cy="9813957"/>
          </a:xfrm>
        </p:spPr>
        <p:txBody>
          <a:bodyPr/>
          <a:lstStyle>
            <a:lvl1pPr marL="0" indent="0">
              <a:buNone/>
              <a:defRPr sz="3960"/>
            </a:lvl1pPr>
            <a:lvl2pPr marL="1132205" indent="0">
              <a:buNone/>
              <a:defRPr sz="3465"/>
            </a:lvl2pPr>
            <a:lvl3pPr marL="2264410" indent="0">
              <a:buNone/>
              <a:defRPr sz="2970"/>
            </a:lvl3pPr>
            <a:lvl4pPr marL="3396615" indent="0">
              <a:buNone/>
              <a:defRPr sz="2475"/>
            </a:lvl4pPr>
            <a:lvl5pPr marL="4528820" indent="0">
              <a:buNone/>
              <a:defRPr sz="2475"/>
            </a:lvl5pPr>
            <a:lvl6pPr marL="5661025" indent="0">
              <a:buNone/>
              <a:defRPr sz="2475"/>
            </a:lvl6pPr>
            <a:lvl7pPr marL="6793230" indent="0">
              <a:buNone/>
              <a:defRPr sz="2475"/>
            </a:lvl7pPr>
            <a:lvl8pPr marL="7925435" indent="0">
              <a:buNone/>
              <a:defRPr sz="2475"/>
            </a:lvl8pPr>
            <a:lvl9pPr marL="9057640" indent="0">
              <a:buNone/>
              <a:defRPr sz="24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06624" y="940112"/>
            <a:ext cx="6510293" cy="149641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5745" y="940112"/>
            <a:ext cx="19153471" cy="149641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5746" y="940114"/>
            <a:ext cx="26041172" cy="3413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5746" y="4700562"/>
            <a:ext cx="26041172" cy="11203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5746" y="16366132"/>
            <a:ext cx="6793349" cy="940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CF0D1-8A85-2640-8DAD-57E451814062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01320" y="16366132"/>
            <a:ext cx="10190024" cy="940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23568" y="16366132"/>
            <a:ext cx="6793349" cy="940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C47F7-C7C0-2445-994E-6F5509F3FC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264410" rtl="0" eaLnBrk="1" latinLnBrk="0" hangingPunct="1">
        <a:lnSpc>
          <a:spcPct val="90000"/>
        </a:lnSpc>
        <a:spcBef>
          <a:spcPct val="0"/>
        </a:spcBef>
        <a:buNone/>
        <a:defRPr sz="108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6420" indent="-566420" algn="l" defTabSz="2264410" rtl="0" eaLnBrk="1" latinLnBrk="0" hangingPunct="1">
        <a:lnSpc>
          <a:spcPct val="90000"/>
        </a:lnSpc>
        <a:spcBef>
          <a:spcPts val="2475"/>
        </a:spcBef>
        <a:buFont typeface="Arial" panose="020B0604020202020204" pitchFamily="34" charset="0"/>
        <a:buChar char="•"/>
        <a:defRPr sz="6935" kern="1200">
          <a:solidFill>
            <a:schemeClr val="tx1"/>
          </a:solidFill>
          <a:latin typeface="+mn-lt"/>
          <a:ea typeface="+mn-ea"/>
          <a:cs typeface="+mn-cs"/>
        </a:defRPr>
      </a:lvl1pPr>
      <a:lvl2pPr marL="1698625" indent="-566420" algn="l" defTabSz="2264410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5945" kern="1200">
          <a:solidFill>
            <a:schemeClr val="tx1"/>
          </a:solidFill>
          <a:latin typeface="+mn-lt"/>
          <a:ea typeface="+mn-ea"/>
          <a:cs typeface="+mn-cs"/>
        </a:defRPr>
      </a:lvl2pPr>
      <a:lvl3pPr marL="2830830" indent="-566420" algn="l" defTabSz="2264410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955" kern="1200">
          <a:solidFill>
            <a:schemeClr val="tx1"/>
          </a:solidFill>
          <a:latin typeface="+mn-lt"/>
          <a:ea typeface="+mn-ea"/>
          <a:cs typeface="+mn-cs"/>
        </a:defRPr>
      </a:lvl3pPr>
      <a:lvl4pPr marL="3963035" indent="-566420" algn="l" defTabSz="2264410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0" kern="1200">
          <a:solidFill>
            <a:schemeClr val="tx1"/>
          </a:solidFill>
          <a:latin typeface="+mn-lt"/>
          <a:ea typeface="+mn-ea"/>
          <a:cs typeface="+mn-cs"/>
        </a:defRPr>
      </a:lvl4pPr>
      <a:lvl5pPr marL="5095240" indent="-566420" algn="l" defTabSz="2264410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0" kern="1200">
          <a:solidFill>
            <a:schemeClr val="tx1"/>
          </a:solidFill>
          <a:latin typeface="+mn-lt"/>
          <a:ea typeface="+mn-ea"/>
          <a:cs typeface="+mn-cs"/>
        </a:defRPr>
      </a:lvl5pPr>
      <a:lvl6pPr marL="6227445" indent="-566420" algn="l" defTabSz="2264410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0" kern="1200">
          <a:solidFill>
            <a:schemeClr val="tx1"/>
          </a:solidFill>
          <a:latin typeface="+mn-lt"/>
          <a:ea typeface="+mn-ea"/>
          <a:cs typeface="+mn-cs"/>
        </a:defRPr>
      </a:lvl6pPr>
      <a:lvl7pPr marL="7359650" indent="-566420" algn="l" defTabSz="2264410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0" kern="1200">
          <a:solidFill>
            <a:schemeClr val="tx1"/>
          </a:solidFill>
          <a:latin typeface="+mn-lt"/>
          <a:ea typeface="+mn-ea"/>
          <a:cs typeface="+mn-cs"/>
        </a:defRPr>
      </a:lvl7pPr>
      <a:lvl8pPr marL="8491855" indent="-566420" algn="l" defTabSz="2264410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0" kern="1200">
          <a:solidFill>
            <a:schemeClr val="tx1"/>
          </a:solidFill>
          <a:latin typeface="+mn-lt"/>
          <a:ea typeface="+mn-ea"/>
          <a:cs typeface="+mn-cs"/>
        </a:defRPr>
      </a:lvl8pPr>
      <a:lvl9pPr marL="9624060" indent="-566420" algn="l" defTabSz="2264410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44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64410" rtl="0" eaLnBrk="1" latinLnBrk="0" hangingPunct="1">
        <a:defRPr sz="4460" kern="1200">
          <a:solidFill>
            <a:schemeClr val="tx1"/>
          </a:solidFill>
          <a:latin typeface="+mn-lt"/>
          <a:ea typeface="+mn-ea"/>
          <a:cs typeface="+mn-cs"/>
        </a:defRPr>
      </a:lvl1pPr>
      <a:lvl2pPr marL="1132205" algn="l" defTabSz="2264410" rtl="0" eaLnBrk="1" latinLnBrk="0" hangingPunct="1">
        <a:defRPr sz="4460" kern="1200">
          <a:solidFill>
            <a:schemeClr val="tx1"/>
          </a:solidFill>
          <a:latin typeface="+mn-lt"/>
          <a:ea typeface="+mn-ea"/>
          <a:cs typeface="+mn-cs"/>
        </a:defRPr>
      </a:lvl2pPr>
      <a:lvl3pPr marL="2264410" algn="l" defTabSz="2264410" rtl="0" eaLnBrk="1" latinLnBrk="0" hangingPunct="1">
        <a:defRPr sz="4460" kern="1200">
          <a:solidFill>
            <a:schemeClr val="tx1"/>
          </a:solidFill>
          <a:latin typeface="+mn-lt"/>
          <a:ea typeface="+mn-ea"/>
          <a:cs typeface="+mn-cs"/>
        </a:defRPr>
      </a:lvl3pPr>
      <a:lvl4pPr marL="3396615" algn="l" defTabSz="2264410" rtl="0" eaLnBrk="1" latinLnBrk="0" hangingPunct="1">
        <a:defRPr sz="4460" kern="1200">
          <a:solidFill>
            <a:schemeClr val="tx1"/>
          </a:solidFill>
          <a:latin typeface="+mn-lt"/>
          <a:ea typeface="+mn-ea"/>
          <a:cs typeface="+mn-cs"/>
        </a:defRPr>
      </a:lvl4pPr>
      <a:lvl5pPr marL="4528820" algn="l" defTabSz="2264410" rtl="0" eaLnBrk="1" latinLnBrk="0" hangingPunct="1">
        <a:defRPr sz="4460" kern="1200">
          <a:solidFill>
            <a:schemeClr val="tx1"/>
          </a:solidFill>
          <a:latin typeface="+mn-lt"/>
          <a:ea typeface="+mn-ea"/>
          <a:cs typeface="+mn-cs"/>
        </a:defRPr>
      </a:lvl5pPr>
      <a:lvl6pPr marL="5661025" algn="l" defTabSz="2264410" rtl="0" eaLnBrk="1" latinLnBrk="0" hangingPunct="1">
        <a:defRPr sz="4460" kern="1200">
          <a:solidFill>
            <a:schemeClr val="tx1"/>
          </a:solidFill>
          <a:latin typeface="+mn-lt"/>
          <a:ea typeface="+mn-ea"/>
          <a:cs typeface="+mn-cs"/>
        </a:defRPr>
      </a:lvl6pPr>
      <a:lvl7pPr marL="6793230" algn="l" defTabSz="2264410" rtl="0" eaLnBrk="1" latinLnBrk="0" hangingPunct="1">
        <a:defRPr sz="4460" kern="1200">
          <a:solidFill>
            <a:schemeClr val="tx1"/>
          </a:solidFill>
          <a:latin typeface="+mn-lt"/>
          <a:ea typeface="+mn-ea"/>
          <a:cs typeface="+mn-cs"/>
        </a:defRPr>
      </a:lvl7pPr>
      <a:lvl8pPr marL="7925435" algn="l" defTabSz="2264410" rtl="0" eaLnBrk="1" latinLnBrk="0" hangingPunct="1">
        <a:defRPr sz="4460" kern="1200">
          <a:solidFill>
            <a:schemeClr val="tx1"/>
          </a:solidFill>
          <a:latin typeface="+mn-lt"/>
          <a:ea typeface="+mn-ea"/>
          <a:cs typeface="+mn-cs"/>
        </a:defRPr>
      </a:lvl8pPr>
      <a:lvl9pPr marL="9057640" algn="l" defTabSz="2264410" rtl="0" eaLnBrk="1" latinLnBrk="0" hangingPunct="1">
        <a:defRPr sz="44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sv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Rounded Rectangle 602"/>
          <p:cNvSpPr/>
          <p:nvPr/>
        </p:nvSpPr>
        <p:spPr>
          <a:xfrm>
            <a:off x="17263014" y="8660392"/>
            <a:ext cx="6219319" cy="377899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602" name="Rounded Rectangle 601"/>
          <p:cNvSpPr/>
          <p:nvPr/>
        </p:nvSpPr>
        <p:spPr>
          <a:xfrm>
            <a:off x="17263014" y="7908965"/>
            <a:ext cx="6219319" cy="575982"/>
          </a:xfrm>
          <a:prstGeom prst="roundRect">
            <a:avLst>
              <a:gd name="adj" fmla="val 2712"/>
            </a:avLst>
          </a:prstGeom>
          <a:solidFill>
            <a:srgbClr val="7030A0">
              <a:alpha val="1362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644" name="Rounded Rectangle 643"/>
          <p:cNvSpPr/>
          <p:nvPr/>
        </p:nvSpPr>
        <p:spPr>
          <a:xfrm>
            <a:off x="16733705" y="3557879"/>
            <a:ext cx="7014639" cy="5691755"/>
          </a:xfrm>
          <a:prstGeom prst="roundRect">
            <a:avLst>
              <a:gd name="adj" fmla="val 2712"/>
            </a:avLst>
          </a:prstGeom>
          <a:solidFill>
            <a:srgbClr val="7030A0">
              <a:alpha val="3000"/>
            </a:srgbClr>
          </a:solidFill>
          <a:ln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rebuchet MS" panose="020B0703020202090204" pitchFamily="34" charset="0"/>
            </a:endParaRPr>
          </a:p>
        </p:txBody>
      </p:sp>
      <p:sp>
        <p:nvSpPr>
          <p:cNvPr id="751" name="Rounded Rectangle 750"/>
          <p:cNvSpPr/>
          <p:nvPr/>
        </p:nvSpPr>
        <p:spPr>
          <a:xfrm>
            <a:off x="17240127" y="4554357"/>
            <a:ext cx="6230322" cy="701711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rebuchet MS" panose="020B0703020202090204" pitchFamily="34" charset="0"/>
            </a:endParaRPr>
          </a:p>
        </p:txBody>
      </p:sp>
      <p:sp>
        <p:nvSpPr>
          <p:cNvPr id="642" name="Rounded Rectangle 641"/>
          <p:cNvSpPr/>
          <p:nvPr/>
        </p:nvSpPr>
        <p:spPr>
          <a:xfrm>
            <a:off x="11940367" y="4719918"/>
            <a:ext cx="4393854" cy="4530464"/>
          </a:xfrm>
          <a:prstGeom prst="roundRect">
            <a:avLst>
              <a:gd name="adj" fmla="val 2712"/>
            </a:avLst>
          </a:prstGeom>
          <a:solidFill>
            <a:srgbClr val="7030A0">
              <a:alpha val="3000"/>
            </a:srgbClr>
          </a:solidFill>
          <a:ln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757" name="Rounded Rectangle 756"/>
          <p:cNvSpPr/>
          <p:nvPr/>
        </p:nvSpPr>
        <p:spPr>
          <a:xfrm>
            <a:off x="12015660" y="8182111"/>
            <a:ext cx="4248000" cy="902674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91871" y="7270382"/>
            <a:ext cx="10754570" cy="1980000"/>
          </a:xfrm>
          <a:prstGeom prst="roundRect">
            <a:avLst>
              <a:gd name="adj" fmla="val 2712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91870" y="3594290"/>
            <a:ext cx="10735527" cy="1980000"/>
          </a:xfrm>
          <a:prstGeom prst="roundRect">
            <a:avLst>
              <a:gd name="adj" fmla="val 2712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749" name="Rounded Rectangle 748"/>
          <p:cNvSpPr/>
          <p:nvPr/>
        </p:nvSpPr>
        <p:spPr>
          <a:xfrm>
            <a:off x="17240126" y="5805255"/>
            <a:ext cx="6219319" cy="1565504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Trebuchet MS" panose="020B070302020209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961" y="4570229"/>
            <a:ext cx="895664" cy="8956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9018" y="5016268"/>
            <a:ext cx="32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Language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199" y="5016268"/>
            <a:ext cx="205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Task Specification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90268" y="4468127"/>
            <a:ext cx="2052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27495" y="5016268"/>
            <a:ext cx="264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Copyright</a:t>
            </a:r>
            <a:r>
              <a:rPr lang="en-US" altLang="zh-CN" dirty="0">
                <a:latin typeface="Trebuchet MS" panose="020B0703020202090204" pitchFamily="34" charset="0"/>
              </a:rPr>
              <a:t>-Owned </a:t>
            </a:r>
            <a:r>
              <a:rPr lang="en-US" dirty="0">
                <a:latin typeface="Trebuchet MS" panose="020B0703020202090204" pitchFamily="34" charset="0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8687" y="3788434"/>
            <a:ext cx="1614801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rebuchet MS" panose="020B0703020202090204" pitchFamily="34" charset="0"/>
              </a:rPr>
              <a:t>For</a:t>
            </a:r>
          </a:p>
          <a:p>
            <a:pPr marL="342900" indent="-342900">
              <a:buAutoNum type="arabicPeriod"/>
            </a:pPr>
            <a:r>
              <a:rPr lang="en-US" dirty="0">
                <a:latin typeface="Trebuchet MS" panose="020B0703020202090204" pitchFamily="34" charset="0"/>
              </a:rPr>
              <a:t>If Else</a:t>
            </a:r>
          </a:p>
          <a:p>
            <a:pPr marL="342900" indent="-342900">
              <a:buAutoNum type="arabicPeriod"/>
            </a:pPr>
            <a:r>
              <a:rPr lang="en-US" dirty="0">
                <a:latin typeface="Trebuchet MS" panose="020B0703020202090204" pitchFamily="34" charset="0"/>
              </a:rPr>
              <a:t>Try except</a:t>
            </a:r>
          </a:p>
          <a:p>
            <a:pPr marL="342900" indent="-342900">
              <a:buAutoNum type="arabicPeriod"/>
            </a:pPr>
            <a:r>
              <a:rPr lang="en-US" dirty="0">
                <a:latin typeface="Trebuchet MS" panose="020B0703020202090204" pitchFamily="34" charset="0"/>
              </a:rPr>
              <a:t>…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18" y="3839426"/>
            <a:ext cx="1016000" cy="101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5439" y="3949260"/>
            <a:ext cx="1475999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rebuchet MS" panose="020B0703020202090204" pitchFamily="34" charset="0"/>
              </a:rPr>
              <a:t>Programming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9986" y="7584190"/>
            <a:ext cx="1130986" cy="1130986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7595976" y="5799288"/>
            <a:ext cx="1778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rebuchet MS" panose="020B0703020202090204" pitchFamily="34" charset="0"/>
              </a:rPr>
              <a:t>Enumerating each tokens</a:t>
            </a:r>
          </a:p>
        </p:txBody>
      </p:sp>
      <p:cxnSp>
        <p:nvCxnSpPr>
          <p:cNvPr id="136" name="Straight Arrow Connector 135"/>
          <p:cNvCxnSpPr/>
          <p:nvPr/>
        </p:nvCxnSpPr>
        <p:spPr>
          <a:xfrm>
            <a:off x="25762972" y="7263015"/>
            <a:ext cx="0" cy="875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48683" y="3987164"/>
            <a:ext cx="3996000" cy="97887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Trebuchet MS" panose="020B0703020202090204" pitchFamily="34" charset="0"/>
              </a:rPr>
              <a:t>def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 </a:t>
            </a:r>
            <a:r>
              <a:rPr lang="en-US" sz="1100" dirty="0">
                <a:solidFill>
                  <a:srgbClr val="795E26"/>
                </a:solidFill>
                <a:latin typeface="Trebuchet MS" panose="020B0703020202090204" pitchFamily="34" charset="0"/>
              </a:rPr>
              <a:t>add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, </a:t>
            </a:r>
            <a:r>
              <a:rPr lang="en-US" sz="11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</a:p>
          <a:p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	…</a:t>
            </a:r>
          </a:p>
          <a:p>
            <a:r>
              <a:rPr lang="en-US" sz="1100" dirty="0">
                <a:solidFill>
                  <a:srgbClr val="AF00DB"/>
                </a:solidFill>
                <a:latin typeface="Trebuchet MS" panose="020B0703020202090204" pitchFamily="34" charset="0"/>
              </a:rPr>
              <a:t>	for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 </a:t>
            </a:r>
            <a:r>
              <a:rPr lang="en-US" sz="11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, </a:t>
            </a:r>
            <a:r>
              <a:rPr lang="en-US" sz="1100" dirty="0">
                <a:solidFill>
                  <a:srgbClr val="001080"/>
                </a:solidFill>
                <a:latin typeface="Trebuchet MS" panose="020B0703020202090204" pitchFamily="34" charset="0"/>
              </a:rPr>
              <a:t>f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 </a:t>
            </a:r>
            <a:r>
              <a:rPr lang="en-US" sz="1100" dirty="0">
                <a:solidFill>
                  <a:srgbClr val="AF00DB"/>
                </a:solidFill>
                <a:latin typeface="Trebuchet MS" panose="020B0703020202090204" pitchFamily="34" charset="0"/>
              </a:rPr>
              <a:t>in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 </a:t>
            </a:r>
            <a:r>
              <a:rPr lang="en-US" sz="1100" dirty="0">
                <a:solidFill>
                  <a:srgbClr val="267F99"/>
                </a:solidFill>
                <a:latin typeface="Trebuchet MS" panose="020B0703020202090204" pitchFamily="34" charset="0"/>
              </a:rPr>
              <a:t>enumerate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</a:p>
          <a:p>
            <a:r>
              <a:rPr lang="en-US" sz="1100" dirty="0">
                <a:solidFill>
                  <a:srgbClr val="AF00DB"/>
                </a:solidFill>
                <a:latin typeface="Trebuchet MS" panose="020B0703020202090204" pitchFamily="34" charset="0"/>
              </a:rPr>
              <a:t>		if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 </a:t>
            </a:r>
            <a:r>
              <a:rPr lang="en-US" sz="1100" dirty="0" err="1">
                <a:solidFill>
                  <a:srgbClr val="795E26"/>
                </a:solidFill>
                <a:latin typeface="Trebuchet MS" panose="020B0703020202090204" pitchFamily="34" charset="0"/>
              </a:rPr>
              <a:t>len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Trebuchet MS" panose="020B0703020202090204" pitchFamily="34" charset="0"/>
              </a:rPr>
              <a:t>f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) </a:t>
            </a:r>
            <a:r>
              <a:rPr lang="en-US" sz="1100" dirty="0">
                <a:solidFill>
                  <a:srgbClr val="000000"/>
                </a:solidFill>
                <a:latin typeface="Trebuchet MS" panose="020B0703020202090204" pitchFamily="34" charset="0"/>
              </a:rPr>
              <a:t>&gt;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 </a:t>
            </a:r>
            <a:r>
              <a:rPr lang="en-US" sz="11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r>
              <a:rPr lang="en-US" sz="1100" dirty="0" err="1">
                <a:solidFill>
                  <a:srgbClr val="3B3B3B"/>
                </a:solidFill>
                <a:latin typeface="Trebuchet MS" panose="020B0703020202090204" pitchFamily="34" charset="0"/>
              </a:rPr>
              <a:t>.max_col_size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[</a:t>
            </a:r>
            <a:r>
              <a:rPr lang="en-US" sz="11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]: </a:t>
            </a:r>
          </a:p>
          <a:p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	… </a:t>
            </a:r>
          </a:p>
        </p:txBody>
      </p:sp>
      <p:pic>
        <p:nvPicPr>
          <p:cNvPr id="463" name="Picture 4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9730" y="7575146"/>
            <a:ext cx="690099" cy="690099"/>
          </a:xfrm>
          <a:prstGeom prst="rect">
            <a:avLst/>
          </a:prstGeom>
        </p:spPr>
      </p:pic>
      <p:pic>
        <p:nvPicPr>
          <p:cNvPr id="464" name="Picture 4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667" y="7983387"/>
            <a:ext cx="690099" cy="690099"/>
          </a:xfrm>
          <a:prstGeom prst="rect">
            <a:avLst/>
          </a:prstGeom>
        </p:spPr>
      </p:pic>
      <p:pic>
        <p:nvPicPr>
          <p:cNvPr id="465" name="Picture 4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5109" y="7988359"/>
            <a:ext cx="690099" cy="690099"/>
          </a:xfrm>
          <a:prstGeom prst="rect">
            <a:avLst/>
          </a:prstGeom>
        </p:spPr>
      </p:pic>
      <p:sp>
        <p:nvSpPr>
          <p:cNvPr id="468" name="TextBox 467"/>
          <p:cNvSpPr txBox="1"/>
          <p:nvPr/>
        </p:nvSpPr>
        <p:spPr>
          <a:xfrm>
            <a:off x="4839738" y="8013814"/>
            <a:ext cx="1475999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rebuchet MS" panose="020B0703020202090204" pitchFamily="34" charset="0"/>
              </a:rPr>
              <a:t>Collecting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6555150" y="8724771"/>
            <a:ext cx="132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Codebase</a:t>
            </a:r>
          </a:p>
        </p:txBody>
      </p:sp>
      <p:cxnSp>
        <p:nvCxnSpPr>
          <p:cNvPr id="473" name="Straight Arrow Connector 472"/>
          <p:cNvCxnSpPr/>
          <p:nvPr/>
        </p:nvCxnSpPr>
        <p:spPr>
          <a:xfrm flipH="1">
            <a:off x="14056321" y="7622142"/>
            <a:ext cx="0" cy="5039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6" name="Cross 475"/>
          <p:cNvSpPr/>
          <p:nvPr/>
        </p:nvSpPr>
        <p:spPr>
          <a:xfrm>
            <a:off x="2081556" y="4204167"/>
            <a:ext cx="398174" cy="396349"/>
          </a:xfrm>
          <a:prstGeom prst="plus">
            <a:avLst>
              <a:gd name="adj" fmla="val 3772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rebuchet MS" panose="020B0703020202090204" pitchFamily="34" charset="0"/>
            </a:endParaRPr>
          </a:p>
        </p:txBody>
      </p:sp>
      <p:sp>
        <p:nvSpPr>
          <p:cNvPr id="547" name="TextBox 546"/>
          <p:cNvSpPr txBox="1"/>
          <p:nvPr/>
        </p:nvSpPr>
        <p:spPr>
          <a:xfrm>
            <a:off x="14692682" y="8190079"/>
            <a:ext cx="1538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rebuchet MS" panose="020B0703020202090204" pitchFamily="34" charset="0"/>
              </a:rPr>
              <a:t>Code Tokens</a:t>
            </a:r>
          </a:p>
        </p:txBody>
      </p:sp>
      <p:cxnSp>
        <p:nvCxnSpPr>
          <p:cNvPr id="551" name="Straight Arrow Connector 550"/>
          <p:cNvCxnSpPr/>
          <p:nvPr/>
        </p:nvCxnSpPr>
        <p:spPr>
          <a:xfrm>
            <a:off x="19887759" y="5256144"/>
            <a:ext cx="0" cy="5039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Elbow Connector 553"/>
          <p:cNvCxnSpPr>
            <a:stCxn id="47" idx="3"/>
            <a:endCxn id="642" idx="1"/>
          </p:cNvCxnSpPr>
          <p:nvPr/>
        </p:nvCxnSpPr>
        <p:spPr>
          <a:xfrm flipV="1">
            <a:off x="10950972" y="6985150"/>
            <a:ext cx="989395" cy="1164533"/>
          </a:xfrm>
          <a:prstGeom prst="bentConnector3">
            <a:avLst>
              <a:gd name="adj1" fmla="val 45301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5" name="TextBox 604"/>
          <p:cNvSpPr txBox="1"/>
          <p:nvPr/>
        </p:nvSpPr>
        <p:spPr>
          <a:xfrm>
            <a:off x="17334765" y="4944971"/>
            <a:ext cx="28802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Trebuchet MS" panose="020B0703020202090204" pitchFamily="34" charset="0"/>
              </a:rPr>
              <a:t>add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606" name="TextBox 605"/>
          <p:cNvSpPr txBox="1"/>
          <p:nvPr/>
        </p:nvSpPr>
        <p:spPr>
          <a:xfrm>
            <a:off x="17851780" y="4944971"/>
            <a:ext cx="22230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607" name="TextBox 606"/>
          <p:cNvSpPr txBox="1"/>
          <p:nvPr/>
        </p:nvSpPr>
        <p:spPr>
          <a:xfrm>
            <a:off x="17680236" y="4944971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18867378" y="4944971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18167595" y="4944971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latin typeface="Trebuchet MS" panose="020B0703020202090204" pitchFamily="34" charset="0"/>
              </a:rPr>
              <a:t>,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18294255" y="4944971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611" name="TextBox 610"/>
          <p:cNvSpPr txBox="1"/>
          <p:nvPr/>
        </p:nvSpPr>
        <p:spPr>
          <a:xfrm>
            <a:off x="18668579" y="4944971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19423011" y="4944971"/>
            <a:ext cx="18703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for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613" name="TextBox 612"/>
          <p:cNvSpPr txBox="1"/>
          <p:nvPr/>
        </p:nvSpPr>
        <p:spPr>
          <a:xfrm>
            <a:off x="19692743" y="4944971"/>
            <a:ext cx="16138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</a:rPr>
              <a:t>...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19916138" y="4944971"/>
            <a:ext cx="20306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in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617" name="TextBox 616"/>
          <p:cNvSpPr txBox="1"/>
          <p:nvPr/>
        </p:nvSpPr>
        <p:spPr>
          <a:xfrm>
            <a:off x="20208508" y="4944971"/>
            <a:ext cx="65992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Trebuchet MS" panose="020B0703020202090204" pitchFamily="34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618" name="TextBox 617"/>
          <p:cNvSpPr txBox="1"/>
          <p:nvPr/>
        </p:nvSpPr>
        <p:spPr>
          <a:xfrm>
            <a:off x="20947275" y="4944971"/>
            <a:ext cx="16138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...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21189429" y="4944971"/>
            <a:ext cx="29283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628" name="TextBox 627"/>
          <p:cNvSpPr txBox="1"/>
          <p:nvPr/>
        </p:nvSpPr>
        <p:spPr>
          <a:xfrm>
            <a:off x="21570694" y="4944971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.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21762806" y="4944971"/>
            <a:ext cx="724040" cy="230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3B3B3B"/>
                </a:solidFill>
                <a:latin typeface="Trebuchet MS" panose="020B0703020202090204" pitchFamily="34" charset="0"/>
              </a:rPr>
              <a:t>max_col_size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631" name="TextBox 630"/>
          <p:cNvSpPr txBox="1"/>
          <p:nvPr/>
        </p:nvSpPr>
        <p:spPr>
          <a:xfrm>
            <a:off x="22600927" y="4944971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[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22740941" y="4944971"/>
            <a:ext cx="7001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633" name="TextBox 632"/>
          <p:cNvSpPr txBox="1"/>
          <p:nvPr/>
        </p:nvSpPr>
        <p:spPr>
          <a:xfrm>
            <a:off x="22886565" y="4944971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]: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23074222" y="4944971"/>
            <a:ext cx="16138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altLang="zh-CN" sz="900" dirty="0">
                <a:latin typeface="Trebuchet MS" panose="020B0703020202090204" pitchFamily="34" charset="0"/>
              </a:rPr>
              <a:t>...</a:t>
            </a:r>
            <a:endParaRPr lang="en-US" sz="900" dirty="0">
              <a:latin typeface="Trebuchet MS" panose="020B0703020202090204" pitchFamily="34" charset="0"/>
            </a:endParaRPr>
          </a:p>
        </p:txBody>
      </p:sp>
      <p:sp>
        <p:nvSpPr>
          <p:cNvPr id="645" name="TextBox 644"/>
          <p:cNvSpPr txBox="1"/>
          <p:nvPr/>
        </p:nvSpPr>
        <p:spPr>
          <a:xfrm>
            <a:off x="19067345" y="4944971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⌷⌷⌷⌷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17332377" y="4557777"/>
            <a:ext cx="1741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Original Tokens</a:t>
            </a:r>
          </a:p>
        </p:txBody>
      </p:sp>
      <p:cxnSp>
        <p:nvCxnSpPr>
          <p:cNvPr id="700" name="Elbow Connector 699"/>
          <p:cNvCxnSpPr>
            <a:stCxn id="642" idx="3"/>
            <a:endCxn id="644" idx="1"/>
          </p:cNvCxnSpPr>
          <p:nvPr/>
        </p:nvCxnSpPr>
        <p:spPr>
          <a:xfrm flipV="1">
            <a:off x="16334221" y="6403757"/>
            <a:ext cx="399484" cy="581393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25340281" y="8586982"/>
            <a:ext cx="715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rebuchet MS" panose="020B0703020202090204" pitchFamily="34" charset="0"/>
              </a:rPr>
              <a:t>P()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525586" y="8612170"/>
            <a:ext cx="1944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880349" y="8684895"/>
            <a:ext cx="1944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69883" y="8724771"/>
            <a:ext cx="110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023" y="8035489"/>
            <a:ext cx="1475999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rebuchet MS" panose="020B0703020202090204" pitchFamily="34" charset="0"/>
              </a:rPr>
              <a:t>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0254" y="5773019"/>
            <a:ext cx="7310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rebuchet MS" panose="020B0703020202090204" pitchFamily="34" charset="0"/>
              </a:rPr>
              <a:t>Developer Accomplishing Programming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9308" y="9353459"/>
            <a:ext cx="608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rebuchet MS" panose="020B0703020202090204" pitchFamily="34" charset="0"/>
              </a:rPr>
              <a:t>Training LLMs Using Accesible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7956" y="8249081"/>
            <a:ext cx="3168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Ins="36000" rtlCol="0"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Trebuchet MS" panose="020B0703020202090204" pitchFamily="34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Trebuchet MS" panose="020B0703020202090204" pitchFamily="34" charset="0"/>
              </a:rPr>
              <a:t>check_metadata</a:t>
            </a:r>
            <a:r>
              <a:rPr lang="en-US" sz="1100" b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Trebuchet MS" panose="020B0703020202090204" pitchFamily="34" charset="0"/>
              </a:rPr>
              <a:t>self</a:t>
            </a:r>
            <a:r>
              <a:rPr lang="en-US" sz="1100" b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):…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7956" y="7950180"/>
            <a:ext cx="3168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Ins="36000" rtlCol="0"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Trebuchet MS" panose="020B0703020202090204" pitchFamily="34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Trebuchet MS" panose="020B0703020202090204" pitchFamily="34" charset="0"/>
              </a:rPr>
              <a:t>match_hostname</a:t>
            </a:r>
            <a:r>
              <a:rPr lang="en-US" sz="1100" b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Trebuchet MS" panose="020B0703020202090204" pitchFamily="34" charset="0"/>
              </a:rPr>
              <a:t>cert</a:t>
            </a:r>
            <a:r>
              <a:rPr lang="en-US" sz="1100" b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</a:t>
            </a:r>
            <a:r>
              <a:rPr lang="en-US" sz="1100" b="0" dirty="0">
                <a:solidFill>
                  <a:srgbClr val="001080"/>
                </a:solidFill>
                <a:effectLst/>
                <a:latin typeface="Trebuchet MS" panose="020B0703020202090204" pitchFamily="34" charset="0"/>
              </a:rPr>
              <a:t>hostname</a:t>
            </a:r>
            <a:r>
              <a:rPr lang="en-US" sz="1100" b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):…</a:t>
            </a:r>
          </a:p>
          <a:p>
            <a:endParaRPr lang="en-US" sz="11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17956" y="7646701"/>
            <a:ext cx="3168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Ins="36000" rtlCol="0">
            <a:no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Trebuchet MS" panose="020B0703020202090204" pitchFamily="34" charset="0"/>
              </a:rPr>
              <a:t>def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 </a:t>
            </a:r>
            <a:r>
              <a:rPr lang="en-US" sz="1100" dirty="0">
                <a:solidFill>
                  <a:srgbClr val="795E26"/>
                </a:solidFill>
                <a:latin typeface="Trebuchet MS" panose="020B0703020202090204" pitchFamily="34" charset="0"/>
              </a:rPr>
              <a:t>add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, </a:t>
            </a:r>
            <a:r>
              <a:rPr lang="en-US" sz="11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r>
              <a:rPr lang="en-US" sz="1100" dirty="0">
                <a:solidFill>
                  <a:srgbClr val="3B3B3B"/>
                </a:solidFill>
                <a:latin typeface="Trebuchet MS" panose="020B0703020202090204" pitchFamily="34" charset="0"/>
              </a:rPr>
              <a:t>):…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0769" y="8471438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…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316" y="7627419"/>
            <a:ext cx="447148" cy="447148"/>
          </a:xfrm>
          <a:prstGeom prst="rect">
            <a:avLst/>
          </a:prstGeom>
        </p:spPr>
      </p:pic>
      <p:sp>
        <p:nvSpPr>
          <p:cNvPr id="36" name="Right Brace 35"/>
          <p:cNvSpPr/>
          <p:nvPr/>
        </p:nvSpPr>
        <p:spPr>
          <a:xfrm>
            <a:off x="1096384" y="7802515"/>
            <a:ext cx="164474" cy="952240"/>
          </a:xfrm>
          <a:prstGeom prst="rightBrace">
            <a:avLst>
              <a:gd name="adj1" fmla="val 25000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3906" y="8030475"/>
            <a:ext cx="871012" cy="43550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14783" y="8452807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84709" y="8724771"/>
            <a:ext cx="213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Code Resources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2060606" y="6710646"/>
            <a:ext cx="28802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Trebuchet MS" panose="020B0703020202090204" pitchFamily="34" charset="0"/>
              </a:rPr>
              <a:t>add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07" name="TextBox 406"/>
          <p:cNvSpPr txBox="1"/>
          <p:nvPr/>
        </p:nvSpPr>
        <p:spPr>
          <a:xfrm>
            <a:off x="12577621" y="6710646"/>
            <a:ext cx="22230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08" name="TextBox 407"/>
          <p:cNvSpPr txBox="1"/>
          <p:nvPr/>
        </p:nvSpPr>
        <p:spPr>
          <a:xfrm>
            <a:off x="12406077" y="6710646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3593219" y="6710646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2893436" y="6710646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latin typeface="Trebuchet MS" panose="020B0703020202090204" pitchFamily="34" charset="0"/>
              </a:rPr>
              <a:t>,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3020096" y="6710646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12" name="TextBox 411"/>
          <p:cNvSpPr txBox="1"/>
          <p:nvPr/>
        </p:nvSpPr>
        <p:spPr>
          <a:xfrm>
            <a:off x="13394420" y="6710646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2408231" y="6982659"/>
            <a:ext cx="18703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for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14" name="TextBox 413"/>
          <p:cNvSpPr txBox="1"/>
          <p:nvPr/>
        </p:nvSpPr>
        <p:spPr>
          <a:xfrm>
            <a:off x="12679762" y="6982659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15" name="TextBox 414"/>
          <p:cNvSpPr txBox="1"/>
          <p:nvPr/>
        </p:nvSpPr>
        <p:spPr>
          <a:xfrm>
            <a:off x="12890379" y="6982659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,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3033669" y="6982659"/>
            <a:ext cx="150165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13255508" y="6982659"/>
            <a:ext cx="20306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in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13547878" y="6982659"/>
            <a:ext cx="65992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Trebuchet MS" panose="020B0703020202090204" pitchFamily="34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19" name="TextBox 418"/>
          <p:cNvSpPr txBox="1"/>
          <p:nvPr/>
        </p:nvSpPr>
        <p:spPr>
          <a:xfrm>
            <a:off x="14290692" y="6982659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4428373" y="6982659"/>
            <a:ext cx="230315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21" name="TextBox 420"/>
          <p:cNvSpPr txBox="1"/>
          <p:nvPr/>
        </p:nvSpPr>
        <p:spPr>
          <a:xfrm>
            <a:off x="14731963" y="6982659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2719294" y="7259514"/>
            <a:ext cx="11329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if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23" name="TextBox 422"/>
          <p:cNvSpPr txBox="1"/>
          <p:nvPr/>
        </p:nvSpPr>
        <p:spPr>
          <a:xfrm>
            <a:off x="12916427" y="7259514"/>
            <a:ext cx="26558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 err="1">
                <a:solidFill>
                  <a:srgbClr val="795E26"/>
                </a:solidFill>
                <a:latin typeface="Trebuchet MS" panose="020B0703020202090204" pitchFamily="34" charset="0"/>
              </a:rPr>
              <a:t>len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13249013" y="7259514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Trebuchet MS" panose="020B0703020202090204" pitchFamily="34" charset="0"/>
              </a:rPr>
              <a:t>(</a:t>
            </a:r>
            <a:endParaRPr lang="en-US" sz="900" dirty="0">
              <a:solidFill>
                <a:srgbClr val="CCCCCC"/>
              </a:solidFill>
              <a:latin typeface="Trebuchet MS" panose="020B0703020202090204" pitchFamily="34" charset="0"/>
            </a:endParaRPr>
          </a:p>
        </p:txBody>
      </p:sp>
      <p:sp>
        <p:nvSpPr>
          <p:cNvPr id="425" name="TextBox 424"/>
          <p:cNvSpPr txBox="1"/>
          <p:nvPr/>
        </p:nvSpPr>
        <p:spPr>
          <a:xfrm>
            <a:off x="13383629" y="7259514"/>
            <a:ext cx="79633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Trebuchet MS" panose="020B0703020202090204" pitchFamily="34" charset="0"/>
              </a:rPr>
              <a:t>f</a:t>
            </a:r>
            <a:endParaRPr lang="en-US" sz="900" dirty="0">
              <a:solidFill>
                <a:srgbClr val="CCCCCC"/>
              </a:solidFill>
              <a:latin typeface="Trebuchet MS" panose="020B0703020202090204" pitchFamily="34" charset="0"/>
            </a:endParaRPr>
          </a:p>
        </p:txBody>
      </p:sp>
      <p:sp>
        <p:nvSpPr>
          <p:cNvPr id="426" name="TextBox 425"/>
          <p:cNvSpPr txBox="1"/>
          <p:nvPr/>
        </p:nvSpPr>
        <p:spPr>
          <a:xfrm>
            <a:off x="13519847" y="7259514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Trebuchet MS" panose="020B0703020202090204" pitchFamily="34" charset="0"/>
              </a:rPr>
              <a:t>)</a:t>
            </a:r>
            <a:endParaRPr lang="en-US" sz="900" dirty="0">
              <a:solidFill>
                <a:srgbClr val="CCCCCC"/>
              </a:solidFill>
              <a:latin typeface="Trebuchet MS" panose="020B0703020202090204" pitchFamily="34" charset="0"/>
            </a:endParaRPr>
          </a:p>
        </p:txBody>
      </p:sp>
      <p:sp>
        <p:nvSpPr>
          <p:cNvPr id="427" name="TextBox 426"/>
          <p:cNvSpPr txBox="1"/>
          <p:nvPr/>
        </p:nvSpPr>
        <p:spPr>
          <a:xfrm>
            <a:off x="13641638" y="7259514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0000"/>
                </a:solidFill>
                <a:latin typeface="Trebuchet MS" panose="020B0703020202090204" pitchFamily="34" charset="0"/>
              </a:rPr>
              <a:t>&gt;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28" name="TextBox 427"/>
          <p:cNvSpPr txBox="1"/>
          <p:nvPr/>
        </p:nvSpPr>
        <p:spPr>
          <a:xfrm>
            <a:off x="13890067" y="7259514"/>
            <a:ext cx="29283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29" name="TextBox 428"/>
          <p:cNvSpPr txBox="1"/>
          <p:nvPr/>
        </p:nvSpPr>
        <p:spPr>
          <a:xfrm>
            <a:off x="14270744" y="7259514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.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4388529" y="7259514"/>
            <a:ext cx="25115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max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4669818" y="7259514"/>
            <a:ext cx="9726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_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4827677" y="7259514"/>
            <a:ext cx="19024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col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5078510" y="7259514"/>
            <a:ext cx="9726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_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15565749" y="7259514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[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15705174" y="7259514"/>
            <a:ext cx="7001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37" name="TextBox 436"/>
          <p:cNvSpPr txBox="1"/>
          <p:nvPr/>
        </p:nvSpPr>
        <p:spPr>
          <a:xfrm>
            <a:off x="15850208" y="7259514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]: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4935369" y="6982659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6044130" y="7259514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5249193" y="7259514"/>
            <a:ext cx="23352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size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2052565" y="6982659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⌷⌷⌷⌷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2052565" y="7259514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⌷⌷⌷⌷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2370701" y="7259514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⌷⌷⌷⌷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935088" y="6695379"/>
            <a:ext cx="4338047" cy="882273"/>
          </a:xfrm>
          <a:prstGeom prst="roundRect">
            <a:avLst>
              <a:gd name="adj" fmla="val 2712"/>
            </a:avLst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488" name="TextBox 487"/>
          <p:cNvSpPr txBox="1"/>
          <p:nvPr/>
        </p:nvSpPr>
        <p:spPr>
          <a:xfrm>
            <a:off x="12103288" y="8261145"/>
            <a:ext cx="28802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Trebuchet MS" panose="020B0703020202090204" pitchFamily="34" charset="0"/>
              </a:rPr>
              <a:t>add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89" name="TextBox 488"/>
          <p:cNvSpPr txBox="1"/>
          <p:nvPr/>
        </p:nvSpPr>
        <p:spPr>
          <a:xfrm>
            <a:off x="12620303" y="8261145"/>
            <a:ext cx="22230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90" name="TextBox 489"/>
          <p:cNvSpPr txBox="1"/>
          <p:nvPr/>
        </p:nvSpPr>
        <p:spPr>
          <a:xfrm>
            <a:off x="12448759" y="8261145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13635901" y="8261145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2936118" y="8261145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latin typeface="Trebuchet MS" panose="020B0703020202090204" pitchFamily="34" charset="0"/>
              </a:rPr>
              <a:t>,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13062778" y="8261145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94" name="TextBox 493"/>
          <p:cNvSpPr txBox="1"/>
          <p:nvPr/>
        </p:nvSpPr>
        <p:spPr>
          <a:xfrm>
            <a:off x="13437102" y="8261145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12450913" y="8533158"/>
            <a:ext cx="18703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for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96" name="TextBox 495"/>
          <p:cNvSpPr txBox="1"/>
          <p:nvPr/>
        </p:nvSpPr>
        <p:spPr>
          <a:xfrm>
            <a:off x="12722444" y="8533158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97" name="TextBox 496"/>
          <p:cNvSpPr txBox="1"/>
          <p:nvPr/>
        </p:nvSpPr>
        <p:spPr>
          <a:xfrm>
            <a:off x="12933061" y="8533158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,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13076351" y="8533158"/>
            <a:ext cx="150165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99" name="TextBox 498"/>
          <p:cNvSpPr txBox="1"/>
          <p:nvPr/>
        </p:nvSpPr>
        <p:spPr>
          <a:xfrm>
            <a:off x="13298190" y="8533158"/>
            <a:ext cx="20306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in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00" name="TextBox 499"/>
          <p:cNvSpPr txBox="1"/>
          <p:nvPr/>
        </p:nvSpPr>
        <p:spPr>
          <a:xfrm>
            <a:off x="13590560" y="8533158"/>
            <a:ext cx="65992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Trebuchet MS" panose="020B0703020202090204" pitchFamily="34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14333374" y="8533158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14471055" y="8533158"/>
            <a:ext cx="230315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03" name="TextBox 502"/>
          <p:cNvSpPr txBox="1"/>
          <p:nvPr/>
        </p:nvSpPr>
        <p:spPr>
          <a:xfrm>
            <a:off x="14774645" y="8533158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12763154" y="8810013"/>
            <a:ext cx="11329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if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05" name="TextBox 504"/>
          <p:cNvSpPr txBox="1"/>
          <p:nvPr/>
        </p:nvSpPr>
        <p:spPr>
          <a:xfrm>
            <a:off x="12960876" y="8810013"/>
            <a:ext cx="26558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 err="1">
                <a:solidFill>
                  <a:srgbClr val="795E26"/>
                </a:solidFill>
                <a:latin typeface="Trebuchet MS" panose="020B0703020202090204" pitchFamily="34" charset="0"/>
              </a:rPr>
              <a:t>len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06" name="TextBox 505"/>
          <p:cNvSpPr txBox="1"/>
          <p:nvPr/>
        </p:nvSpPr>
        <p:spPr>
          <a:xfrm>
            <a:off x="13294050" y="8810013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Trebuchet MS" panose="020B0703020202090204" pitchFamily="34" charset="0"/>
              </a:rPr>
              <a:t>(</a:t>
            </a:r>
            <a:endParaRPr lang="en-US" sz="900" dirty="0">
              <a:solidFill>
                <a:srgbClr val="CCCCCC"/>
              </a:solidFill>
              <a:latin typeface="Trebuchet MS" panose="020B0703020202090204" pitchFamily="34" charset="0"/>
            </a:endParaRPr>
          </a:p>
        </p:txBody>
      </p:sp>
      <p:sp>
        <p:nvSpPr>
          <p:cNvPr id="507" name="TextBox 506"/>
          <p:cNvSpPr txBox="1"/>
          <p:nvPr/>
        </p:nvSpPr>
        <p:spPr>
          <a:xfrm>
            <a:off x="13429255" y="8810013"/>
            <a:ext cx="79633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Trebuchet MS" panose="020B0703020202090204" pitchFamily="34" charset="0"/>
              </a:rPr>
              <a:t>f</a:t>
            </a:r>
            <a:endParaRPr lang="en-US" sz="900" dirty="0">
              <a:solidFill>
                <a:srgbClr val="CCCCCC"/>
              </a:solidFill>
              <a:latin typeface="Trebuchet MS" panose="020B0703020202090204" pitchFamily="34" charset="0"/>
            </a:endParaRPr>
          </a:p>
        </p:txBody>
      </p:sp>
      <p:sp>
        <p:nvSpPr>
          <p:cNvPr id="508" name="TextBox 507"/>
          <p:cNvSpPr txBox="1"/>
          <p:nvPr/>
        </p:nvSpPr>
        <p:spPr>
          <a:xfrm>
            <a:off x="13566062" y="8810013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Trebuchet MS" panose="020B0703020202090204" pitchFamily="34" charset="0"/>
              </a:rPr>
              <a:t>)</a:t>
            </a:r>
            <a:endParaRPr lang="en-US" sz="900" dirty="0">
              <a:solidFill>
                <a:srgbClr val="CCCCCC"/>
              </a:solidFill>
              <a:latin typeface="Trebuchet MS" panose="020B0703020202090204" pitchFamily="34" charset="0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13688443" y="881001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0000"/>
                </a:solidFill>
                <a:latin typeface="Trebuchet MS" panose="020B0703020202090204" pitchFamily="34" charset="0"/>
              </a:rPr>
              <a:t>&gt;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10" name="TextBox 509"/>
          <p:cNvSpPr txBox="1"/>
          <p:nvPr/>
        </p:nvSpPr>
        <p:spPr>
          <a:xfrm>
            <a:off x="13937461" y="8810013"/>
            <a:ext cx="29283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14318726" y="8810013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.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14510838" y="8810013"/>
            <a:ext cx="724040" cy="230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3B3B3B"/>
                </a:solidFill>
                <a:latin typeface="Trebuchet MS" panose="020B0703020202090204" pitchFamily="34" charset="0"/>
              </a:rPr>
              <a:t>max_col_size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17" name="TextBox 516"/>
          <p:cNvSpPr txBox="1"/>
          <p:nvPr/>
        </p:nvSpPr>
        <p:spPr>
          <a:xfrm>
            <a:off x="15348959" y="8810013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[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15488973" y="8810013"/>
            <a:ext cx="7001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19" name="TextBox 518"/>
          <p:cNvSpPr txBox="1"/>
          <p:nvPr/>
        </p:nvSpPr>
        <p:spPr>
          <a:xfrm>
            <a:off x="15634597" y="8810013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]: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14978051" y="8533158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15829118" y="8810013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12095247" y="8533158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⌷⌷⌷⌷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12095247" y="8810013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⌷⌷⌷⌷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2413972" y="8810013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⌷⌷⌷⌷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927017" y="8189404"/>
            <a:ext cx="4338047" cy="919360"/>
          </a:xfrm>
          <a:prstGeom prst="roundRect">
            <a:avLst>
              <a:gd name="adj" fmla="val 2712"/>
            </a:avLst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097927" y="5315952"/>
            <a:ext cx="3623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Getting Conditioned Probabilities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17797" y="6138373"/>
            <a:ext cx="209994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795E26"/>
                </a:solidFill>
                <a:latin typeface="Trebuchet MS" panose="020B0703020202090204" pitchFamily="34" charset="0"/>
              </a:rPr>
              <a:t>add(self,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 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 </a:t>
            </a:r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for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 </a:t>
            </a:r>
            <a:r>
              <a:rPr lang="en-US" sz="9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,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 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49" name="TextBox 448"/>
          <p:cNvSpPr txBox="1"/>
          <p:nvPr/>
        </p:nvSpPr>
        <p:spPr>
          <a:xfrm>
            <a:off x="22173153" y="5873230"/>
            <a:ext cx="37955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in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470" name="Arc 469"/>
          <p:cNvSpPr>
            <a:spLocks noChangeAspect="1"/>
          </p:cNvSpPr>
          <p:nvPr/>
        </p:nvSpPr>
        <p:spPr>
          <a:xfrm rot="10800000">
            <a:off x="17377922" y="5980477"/>
            <a:ext cx="288000" cy="288000"/>
          </a:xfrm>
          <a:prstGeom prst="arc">
            <a:avLst>
              <a:gd name="adj1" fmla="val 16200000"/>
              <a:gd name="adj2" fmla="val 10799994"/>
            </a:avLst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471" name="TextBox 470"/>
          <p:cNvSpPr txBox="1"/>
          <p:nvPr/>
        </p:nvSpPr>
        <p:spPr>
          <a:xfrm>
            <a:off x="22173153" y="6103506"/>
            <a:ext cx="37955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altLang="zh-CN" sz="900" dirty="0">
                <a:solidFill>
                  <a:srgbClr val="3B3B3B"/>
                </a:solidFill>
                <a:latin typeface="Trebuchet MS" panose="020B0703020202090204" pitchFamily="34" charset="0"/>
              </a:rPr>
              <a:t>name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22173153" y="6333782"/>
            <a:ext cx="37955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Id</a:t>
            </a:r>
          </a:p>
        </p:txBody>
      </p:sp>
      <p:sp>
        <p:nvSpPr>
          <p:cNvPr id="475" name="Rectangle 474"/>
          <p:cNvSpPr/>
          <p:nvPr/>
        </p:nvSpPr>
        <p:spPr>
          <a:xfrm>
            <a:off x="22550352" y="5873230"/>
            <a:ext cx="463826" cy="234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rebuchet MS" panose="020B0703020202090204" pitchFamily="34" charset="0"/>
              </a:rPr>
              <a:t>0.84</a:t>
            </a:r>
          </a:p>
        </p:txBody>
      </p:sp>
      <p:sp>
        <p:nvSpPr>
          <p:cNvPr id="477" name="Rectangle 476"/>
          <p:cNvSpPr/>
          <p:nvPr/>
        </p:nvSpPr>
        <p:spPr>
          <a:xfrm>
            <a:off x="22555894" y="6103506"/>
            <a:ext cx="463826" cy="234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rebuchet MS" panose="020B0703020202090204" pitchFamily="34" charset="0"/>
              </a:rPr>
              <a:t>0.04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22555894" y="6333782"/>
            <a:ext cx="463826" cy="234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rebuchet MS" panose="020B0703020202090204" pitchFamily="34" charset="0"/>
              </a:rPr>
              <a:t>0.03</a:t>
            </a:r>
          </a:p>
        </p:txBody>
      </p:sp>
      <p:cxnSp>
        <p:nvCxnSpPr>
          <p:cNvPr id="482" name="Straight Arrow Connector 481"/>
          <p:cNvCxnSpPr/>
          <p:nvPr/>
        </p:nvCxnSpPr>
        <p:spPr>
          <a:xfrm flipV="1">
            <a:off x="19854913" y="6253789"/>
            <a:ext cx="20812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/>
          <p:cNvSpPr txBox="1"/>
          <p:nvPr/>
        </p:nvSpPr>
        <p:spPr>
          <a:xfrm>
            <a:off x="20142639" y="5914627"/>
            <a:ext cx="1832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rebuchet MS" panose="020B0703020202090204" pitchFamily="34" charset="0"/>
              </a:rPr>
              <a:t>Next Token Selection:</a:t>
            </a: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19887759" y="7375828"/>
            <a:ext cx="0" cy="5039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0097927" y="7438484"/>
            <a:ext cx="3361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Syntax-Oriented Token Pruning</a:t>
            </a:r>
          </a:p>
        </p:txBody>
      </p:sp>
      <p:pic>
        <p:nvPicPr>
          <p:cNvPr id="122" name="Picture 1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70746" y="3673169"/>
            <a:ext cx="608267" cy="608267"/>
          </a:xfrm>
          <a:prstGeom prst="rect">
            <a:avLst/>
          </a:prstGeom>
          <a:noFill/>
        </p:spPr>
      </p:pic>
      <p:sp>
        <p:nvSpPr>
          <p:cNvPr id="126" name="TextBox 125"/>
          <p:cNvSpPr txBox="1"/>
          <p:nvPr/>
        </p:nvSpPr>
        <p:spPr>
          <a:xfrm>
            <a:off x="17418534" y="7858943"/>
            <a:ext cx="1762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rebuchet MS" panose="020B0703020202090204" pitchFamily="34" charset="0"/>
              </a:rPr>
              <a:t>Retained Tokens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7427351" y="8202566"/>
            <a:ext cx="28802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Trebuchet MS" panose="020B0703020202090204" pitchFamily="34" charset="0"/>
              </a:rPr>
              <a:t>add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14" name="TextBox 513"/>
          <p:cNvSpPr txBox="1"/>
          <p:nvPr/>
        </p:nvSpPr>
        <p:spPr>
          <a:xfrm>
            <a:off x="17944366" y="8761082"/>
            <a:ext cx="222300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15" name="TextBox 514"/>
          <p:cNvSpPr txBox="1"/>
          <p:nvPr/>
        </p:nvSpPr>
        <p:spPr>
          <a:xfrm>
            <a:off x="17772822" y="8202566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8959964" y="8761082"/>
            <a:ext cx="140546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18260181" y="8202566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latin typeface="Trebuchet MS" panose="020B0703020202090204" pitchFamily="34" charset="0"/>
              </a:rPr>
              <a:t>,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18386841" y="8202566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27" name="TextBox 526"/>
          <p:cNvSpPr txBox="1"/>
          <p:nvPr/>
        </p:nvSpPr>
        <p:spPr>
          <a:xfrm>
            <a:off x="18761165" y="8761082"/>
            <a:ext cx="119708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19515597" y="8202566"/>
            <a:ext cx="18703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for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32" name="TextBox 531"/>
          <p:cNvSpPr txBox="1"/>
          <p:nvPr/>
        </p:nvSpPr>
        <p:spPr>
          <a:xfrm>
            <a:off x="19785329" y="8202566"/>
            <a:ext cx="16138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</a:rPr>
              <a:t>...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0008724" y="8761082"/>
            <a:ext cx="203064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in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20301094" y="8202566"/>
            <a:ext cx="65992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Trebuchet MS" panose="020B0703020202090204" pitchFamily="34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48" name="TextBox 547"/>
          <p:cNvSpPr txBox="1"/>
          <p:nvPr/>
        </p:nvSpPr>
        <p:spPr>
          <a:xfrm>
            <a:off x="21039861" y="8202566"/>
            <a:ext cx="16138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...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21282015" y="8202566"/>
            <a:ext cx="29283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21649655" y="8202566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21785661" y="8202566"/>
            <a:ext cx="86350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22693513" y="8202566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[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22833527" y="8202566"/>
            <a:ext cx="7001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56" name="TextBox 555"/>
          <p:cNvSpPr txBox="1"/>
          <p:nvPr/>
        </p:nvSpPr>
        <p:spPr>
          <a:xfrm>
            <a:off x="22979151" y="8761082"/>
            <a:ext cx="119708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]: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23166808" y="8202566"/>
            <a:ext cx="16138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altLang="zh-CN" sz="900" dirty="0">
                <a:latin typeface="Trebuchet MS" panose="020B0703020202090204" pitchFamily="34" charset="0"/>
              </a:rPr>
              <a:t>...</a:t>
            </a:r>
            <a:endParaRPr lang="en-US" sz="900" dirty="0">
              <a:latin typeface="Trebuchet MS" panose="020B0703020202090204" pitchFamily="34" charset="0"/>
            </a:endParaRPr>
          </a:p>
        </p:txBody>
      </p:sp>
      <p:sp>
        <p:nvSpPr>
          <p:cNvPr id="559" name="TextBox 558"/>
          <p:cNvSpPr txBox="1"/>
          <p:nvPr/>
        </p:nvSpPr>
        <p:spPr>
          <a:xfrm>
            <a:off x="19159931" y="8761082"/>
            <a:ext cx="288000" cy="230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⌷⌷⌷⌷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17370095" y="6822143"/>
            <a:ext cx="28802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Trebuchet MS" panose="020B0703020202090204" pitchFamily="34" charset="0"/>
              </a:rPr>
              <a:t>add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62" name="TextBox 561"/>
          <p:cNvSpPr txBox="1"/>
          <p:nvPr/>
        </p:nvSpPr>
        <p:spPr>
          <a:xfrm>
            <a:off x="17887110" y="6822143"/>
            <a:ext cx="22230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63" name="TextBox 562"/>
          <p:cNvSpPr txBox="1"/>
          <p:nvPr/>
        </p:nvSpPr>
        <p:spPr>
          <a:xfrm>
            <a:off x="17715566" y="6822143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(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18902708" y="6822143"/>
            <a:ext cx="14054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Trebuchet MS" panose="020B0703020202090204" pitchFamily="34" charset="0"/>
              </a:rPr>
              <a:t>\n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18202925" y="6822143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latin typeface="Trebuchet MS" panose="020B0703020202090204" pitchFamily="34" charset="0"/>
              </a:rPr>
              <a:t>,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18329585" y="6822143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row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18703909" y="6822143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):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19458341" y="6822143"/>
            <a:ext cx="18703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for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9728073" y="6822143"/>
            <a:ext cx="16138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</a:rPr>
              <a:t>...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19951468" y="6822143"/>
            <a:ext cx="20306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Trebuchet MS" panose="020B0703020202090204" pitchFamily="34" charset="0"/>
              </a:rPr>
              <a:t>in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71" name="TextBox 570"/>
          <p:cNvSpPr txBox="1"/>
          <p:nvPr/>
        </p:nvSpPr>
        <p:spPr>
          <a:xfrm>
            <a:off x="20243838" y="6822143"/>
            <a:ext cx="65992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Trebuchet MS" panose="020B0703020202090204" pitchFamily="34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72" name="TextBox 571"/>
          <p:cNvSpPr txBox="1"/>
          <p:nvPr/>
        </p:nvSpPr>
        <p:spPr>
          <a:xfrm>
            <a:off x="20982605" y="6822143"/>
            <a:ext cx="16138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...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21224759" y="6822143"/>
            <a:ext cx="29283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Trebuchet MS" panose="020B0703020202090204" pitchFamily="34" charset="0"/>
              </a:rPr>
              <a:t>self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574" name="TextBox 573"/>
          <p:cNvSpPr txBox="1"/>
          <p:nvPr/>
        </p:nvSpPr>
        <p:spPr>
          <a:xfrm>
            <a:off x="21606024" y="6822143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.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21798136" y="6822143"/>
            <a:ext cx="724040" cy="230832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3B3B3B"/>
                </a:solidFill>
                <a:latin typeface="Trebuchet MS" panose="020B0703020202090204" pitchFamily="34" charset="0"/>
              </a:rPr>
              <a:t>max_col_size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2636257" y="6822143"/>
            <a:ext cx="7803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[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2776271" y="6822143"/>
            <a:ext cx="7001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Trebuchet MS" panose="020B0703020202090204" pitchFamily="34" charset="0"/>
              </a:rPr>
              <a:t>i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2921895" y="6822143"/>
            <a:ext cx="11970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]: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109552" y="6822143"/>
            <a:ext cx="16138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altLang="zh-CN" sz="900" dirty="0">
                <a:latin typeface="Trebuchet MS" panose="020B0703020202090204" pitchFamily="34" charset="0"/>
              </a:rPr>
              <a:t>...</a:t>
            </a:r>
            <a:endParaRPr lang="en-US" sz="900" dirty="0">
              <a:latin typeface="Trebuchet MS" panose="020B0703020202090204" pitchFamily="34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9102675" y="6822143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 panose="020B0703020202090204" pitchFamily="34" charset="0"/>
              </a:rPr>
              <a:t>⌷⌷⌷⌷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362296" y="7054433"/>
            <a:ext cx="30565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  <a:endParaRPr lang="en-US" sz="900" dirty="0">
              <a:latin typeface="Trebuchet MS" panose="020B0703020202090204" pitchFamily="34" charset="0"/>
              <a:cs typeface="Consolas" panose="020B0609020204030204" pitchFamily="49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7843243" y="7054433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702958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8886893" y="705443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8190317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8330602" y="7054433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8677675" y="705443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9431306" y="7054433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9688214" y="7054433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932448" y="7054433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0215200" y="7054433"/>
            <a:ext cx="71923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  <a:endParaRPr lang="en-US" sz="900" dirty="0">
              <a:latin typeface="Trebuchet MS" panose="020B0703020202090204" pitchFamily="34" charset="0"/>
              <a:cs typeface="Consolas" panose="020B0609020204030204" pitchFamily="49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0942746" y="7054433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181693" y="7054433"/>
            <a:ext cx="38099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593416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1729422" y="7054433"/>
            <a:ext cx="863502" cy="230832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2623649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759655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2895661" y="705443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3069693" y="7054433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altLang="zh-CN" sz="900" dirty="0">
                <a:latin typeface="Trebuchet MS" panose="020B0703020202090204" pitchFamily="34" charset="0"/>
                <a:cs typeface="Consolas" panose="020B0609020204030204" pitchFamily="49" charset="0"/>
              </a:rPr>
              <a:t>...</a:t>
            </a:r>
            <a:endParaRPr lang="en-US" sz="900" dirty="0">
              <a:latin typeface="Trebuchet MS" panose="020B0703020202090204" pitchFamily="34" charset="0"/>
              <a:cs typeface="Consolas" panose="020B0609020204030204" pitchFamily="49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9103692" y="7054433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latin typeface="Trebuchet MS" panose="020B0703020202090204" pitchFamily="34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0187144" y="8696209"/>
            <a:ext cx="1493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rebuchet MS" panose="020B0703020202090204" pitchFamily="34" charset="0"/>
              </a:rPr>
              <a:t>Pruned Tokens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7900397" y="8202566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endParaRPr lang="en-US" sz="9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8944047" y="8202566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8734829" y="8202566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endParaRPr lang="en-US" sz="9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9989602" y="8202566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22952815" y="8202566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9160846" y="8202566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8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164" name="Straight Arrow Connector 163"/>
          <p:cNvCxnSpPr>
            <a:stCxn id="157" idx="2"/>
            <a:endCxn id="514" idx="0"/>
          </p:cNvCxnSpPr>
          <p:nvPr/>
        </p:nvCxnSpPr>
        <p:spPr>
          <a:xfrm flipH="1">
            <a:off x="18055516" y="8433398"/>
            <a:ext cx="915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stCxn id="159" idx="2"/>
            <a:endCxn id="527" idx="0"/>
          </p:cNvCxnSpPr>
          <p:nvPr/>
        </p:nvCxnSpPr>
        <p:spPr>
          <a:xfrm flipH="1">
            <a:off x="18821019" y="8433398"/>
            <a:ext cx="915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stCxn id="158" idx="2"/>
            <a:endCxn id="524" idx="0"/>
          </p:cNvCxnSpPr>
          <p:nvPr/>
        </p:nvCxnSpPr>
        <p:spPr>
          <a:xfrm flipH="1">
            <a:off x="19030237" y="8433398"/>
            <a:ext cx="915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stCxn id="162" idx="2"/>
            <a:endCxn id="559" idx="0"/>
          </p:cNvCxnSpPr>
          <p:nvPr/>
        </p:nvCxnSpPr>
        <p:spPr>
          <a:xfrm flipH="1">
            <a:off x="19303931" y="8432966"/>
            <a:ext cx="915" cy="32811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60" idx="2"/>
            <a:endCxn id="544" idx="0"/>
          </p:cNvCxnSpPr>
          <p:nvPr/>
        </p:nvCxnSpPr>
        <p:spPr>
          <a:xfrm flipH="1">
            <a:off x="20110256" y="8433398"/>
            <a:ext cx="916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stCxn id="161" idx="2"/>
            <a:endCxn id="556" idx="0"/>
          </p:cNvCxnSpPr>
          <p:nvPr/>
        </p:nvCxnSpPr>
        <p:spPr>
          <a:xfrm flipH="1">
            <a:off x="23039005" y="8433398"/>
            <a:ext cx="915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>
            <a:off x="24617800" y="6789328"/>
            <a:ext cx="4176000" cy="0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V="1">
            <a:off x="24617804" y="4923959"/>
            <a:ext cx="0" cy="1865369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26629684" y="6845629"/>
            <a:ext cx="288024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latin typeface="Trebuchet MS" panose="020B0703020202090204" pitchFamily="34" charset="0"/>
              </a:rPr>
              <a:t>⌷</a:t>
            </a:r>
            <a:r>
              <a:rPr lang="en-US" sz="900" dirty="0">
                <a:latin typeface="Trebuchet MS" panose="020B0703020202090204" pitchFamily="34" charset="0"/>
              </a:rPr>
              <a:t>add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6256369" y="6845629"/>
            <a:ext cx="78030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Trebuchet MS" panose="020B0703020202090204" pitchFamily="34" charset="0"/>
              </a:rPr>
              <a:t>(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5620253" y="6845629"/>
            <a:ext cx="78030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Trebuchet MS" panose="020B0703020202090204" pitchFamily="34" charset="0"/>
              </a:rPr>
              <a:t>,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6941376" y="6845629"/>
            <a:ext cx="312068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</a:rPr>
              <a:t>⌷row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6390929" y="6845629"/>
            <a:ext cx="187034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</a:rPr>
              <a:t>for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4782067" y="6845629"/>
            <a:ext cx="659920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latin typeface="Trebuchet MS" panose="020B0703020202090204" pitchFamily="34" charset="0"/>
              </a:rPr>
              <a:t>⌷</a:t>
            </a:r>
            <a:r>
              <a:rPr lang="en-US" sz="900" dirty="0">
                <a:latin typeface="Trebuchet MS" panose="020B0703020202090204" pitchFamily="34" charset="0"/>
              </a:rPr>
              <a:t>enumerate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25890977" y="6845629"/>
            <a:ext cx="292832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</a:rPr>
              <a:t>⌷self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27338026" y="6845629"/>
            <a:ext cx="724040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latin typeface="Trebuchet MS" panose="020B0703020202090204" pitchFamily="34" charset="0"/>
              </a:rPr>
              <a:t>max_col_size</a:t>
            </a:r>
            <a:endParaRPr lang="en-US" sz="900" dirty="0">
              <a:latin typeface="Trebuchet MS" panose="020B0703020202090204" pitchFamily="34" charset="0"/>
            </a:endParaRPr>
          </a:p>
        </p:txBody>
      </p:sp>
      <p:sp>
        <p:nvSpPr>
          <p:cNvPr id="580" name="TextBox 579"/>
          <p:cNvSpPr txBox="1"/>
          <p:nvPr/>
        </p:nvSpPr>
        <p:spPr>
          <a:xfrm>
            <a:off x="25740386" y="6845629"/>
            <a:ext cx="78030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Trebuchet MS" panose="020B0703020202090204" pitchFamily="34" charset="0"/>
              </a:rPr>
              <a:t>[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25504128" y="6845629"/>
            <a:ext cx="70014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latin typeface="Trebuchet MS" panose="020B0703020202090204" pitchFamily="34" charset="0"/>
              </a:rPr>
              <a:t>i</a:t>
            </a:r>
            <a:endParaRPr lang="en-US" sz="900" dirty="0">
              <a:latin typeface="Trebuchet MS" panose="020B0703020202090204" pitchFamily="34" charset="0"/>
            </a:endParaRPr>
          </a:p>
        </p:txBody>
      </p:sp>
      <p:sp>
        <p:nvSpPr>
          <p:cNvPr id="590" name="Rectangle 589"/>
          <p:cNvSpPr/>
          <p:nvPr/>
        </p:nvSpPr>
        <p:spPr>
          <a:xfrm>
            <a:off x="24854814" y="5043329"/>
            <a:ext cx="108000" cy="1745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rebuchet MS" panose="020B0703020202090204" pitchFamily="34" charset="0"/>
            </a:endParaRPr>
          </a:p>
        </p:txBody>
      </p:sp>
      <p:sp>
        <p:nvSpPr>
          <p:cNvPr id="591" name="Rectangle 590"/>
          <p:cNvSpPr/>
          <p:nvPr/>
        </p:nvSpPr>
        <p:spPr>
          <a:xfrm>
            <a:off x="25590502" y="5259328"/>
            <a:ext cx="108000" cy="153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rebuchet MS" panose="020B0703020202090204" pitchFamily="34" charset="0"/>
            </a:endParaRPr>
          </a:p>
        </p:txBody>
      </p:sp>
      <p:sp>
        <p:nvSpPr>
          <p:cNvPr id="592" name="Rectangle 591"/>
          <p:cNvSpPr/>
          <p:nvPr/>
        </p:nvSpPr>
        <p:spPr>
          <a:xfrm>
            <a:off x="26443282" y="6555328"/>
            <a:ext cx="108000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rebuchet MS" panose="020B0703020202090204" pitchFamily="34" charset="0"/>
            </a:endParaRPr>
          </a:p>
        </p:txBody>
      </p:sp>
      <p:sp>
        <p:nvSpPr>
          <p:cNvPr id="595" name="Rectangle 594"/>
          <p:cNvSpPr/>
          <p:nvPr/>
        </p:nvSpPr>
        <p:spPr>
          <a:xfrm>
            <a:off x="25200498" y="5205328"/>
            <a:ext cx="108000" cy="15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rebuchet MS" panose="020B0703020202090204" pitchFamily="34" charset="0"/>
            </a:endParaRPr>
          </a:p>
        </p:txBody>
      </p:sp>
      <p:sp>
        <p:nvSpPr>
          <p:cNvPr id="596" name="Rectangle 595"/>
          <p:cNvSpPr/>
          <p:nvPr/>
        </p:nvSpPr>
        <p:spPr>
          <a:xfrm>
            <a:off x="25360332" y="5223329"/>
            <a:ext cx="108000" cy="1565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rebuchet MS" panose="020B0703020202090204" pitchFamily="34" charset="0"/>
            </a:endParaRPr>
          </a:p>
        </p:txBody>
      </p:sp>
      <p:sp>
        <p:nvSpPr>
          <p:cNvPr id="597" name="Rectangle 596"/>
          <p:cNvSpPr/>
          <p:nvPr/>
        </p:nvSpPr>
        <p:spPr>
          <a:xfrm>
            <a:off x="25913884" y="5475328"/>
            <a:ext cx="108000" cy="131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rebuchet MS" panose="020B0703020202090204" pitchFamily="34" charset="0"/>
            </a:endParaRPr>
          </a:p>
        </p:txBody>
      </p:sp>
      <p:sp>
        <p:nvSpPr>
          <p:cNvPr id="598" name="Rectangle 597"/>
          <p:cNvSpPr/>
          <p:nvPr/>
        </p:nvSpPr>
        <p:spPr>
          <a:xfrm>
            <a:off x="26999149" y="6573328"/>
            <a:ext cx="108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rebuchet MS" panose="020B0703020202090204" pitchFamily="34" charset="0"/>
            </a:endParaRPr>
          </a:p>
        </p:txBody>
      </p:sp>
      <p:sp>
        <p:nvSpPr>
          <p:cNvPr id="600" name="Rectangle 599"/>
          <p:cNvSpPr/>
          <p:nvPr/>
        </p:nvSpPr>
        <p:spPr>
          <a:xfrm>
            <a:off x="27746554" y="4923959"/>
            <a:ext cx="108000" cy="1865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rebuchet MS" panose="020B0703020202090204" pitchFamily="34" charset="0"/>
            </a:endParaRPr>
          </a:p>
        </p:txBody>
      </p:sp>
      <p:cxnSp>
        <p:nvCxnSpPr>
          <p:cNvPr id="630" name="Elbow Connector 629"/>
          <p:cNvCxnSpPr>
            <a:stCxn id="4" idx="3"/>
            <a:endCxn id="642" idx="1"/>
          </p:cNvCxnSpPr>
          <p:nvPr/>
        </p:nvCxnSpPr>
        <p:spPr>
          <a:xfrm>
            <a:off x="10844683" y="4476603"/>
            <a:ext cx="1095684" cy="2508547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14035531" y="6148904"/>
            <a:ext cx="1475999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Tokenizing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12709210" y="5713212"/>
            <a:ext cx="264096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rebuchet MS" panose="020B0703020202090204" pitchFamily="34" charset="0"/>
              </a:rPr>
              <a:t>Copyright</a:t>
            </a:r>
            <a:r>
              <a:rPr lang="en-US" altLang="zh-CN" dirty="0">
                <a:solidFill>
                  <a:schemeClr val="bg1"/>
                </a:solidFill>
                <a:latin typeface="Trebuchet MS" panose="020B0703020202090204" pitchFamily="34" charset="0"/>
              </a:rPr>
              <a:t>-Owned </a:t>
            </a:r>
            <a:r>
              <a:rPr lang="en-US" dirty="0">
                <a:solidFill>
                  <a:schemeClr val="bg1"/>
                </a:solidFill>
                <a:latin typeface="Trebuchet MS" panose="020B0703020202090204" pitchFamily="34" charset="0"/>
              </a:rPr>
              <a:t>Code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14115075" y="7642101"/>
            <a:ext cx="2153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Resuming variables</a:t>
            </a:r>
          </a:p>
        </p:txBody>
      </p:sp>
      <p:cxnSp>
        <p:nvCxnSpPr>
          <p:cNvPr id="665" name="Straight Arrow Connector 664"/>
          <p:cNvCxnSpPr/>
          <p:nvPr/>
        </p:nvCxnSpPr>
        <p:spPr>
          <a:xfrm flipH="1">
            <a:off x="14056321" y="6109794"/>
            <a:ext cx="0" cy="5039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9" name="TextBox 688"/>
          <p:cNvSpPr txBox="1"/>
          <p:nvPr/>
        </p:nvSpPr>
        <p:spPr>
          <a:xfrm>
            <a:off x="19183039" y="9682164"/>
            <a:ext cx="2169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rebuchet MS" panose="020B0703020202090204" pitchFamily="34" charset="0"/>
              </a:rPr>
              <a:t>Our Solution</a:t>
            </a:r>
          </a:p>
        </p:txBody>
      </p:sp>
      <p:cxnSp>
        <p:nvCxnSpPr>
          <p:cNvPr id="693" name="Straight Arrow Connector 692"/>
          <p:cNvCxnSpPr/>
          <p:nvPr/>
        </p:nvCxnSpPr>
        <p:spPr>
          <a:xfrm flipV="1">
            <a:off x="23748344" y="7062971"/>
            <a:ext cx="427136" cy="1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Elbow Connector 724"/>
          <p:cNvCxnSpPr>
            <a:stCxn id="9" idx="0"/>
            <a:endCxn id="728" idx="0"/>
          </p:cNvCxnSpPr>
          <p:nvPr/>
        </p:nvCxnSpPr>
        <p:spPr>
          <a:xfrm rot="5400000" flipH="1" flipV="1">
            <a:off x="8788681" y="-1538303"/>
            <a:ext cx="194145" cy="10459330"/>
          </a:xfrm>
          <a:prstGeom prst="bentConnector3">
            <a:avLst>
              <a:gd name="adj1" fmla="val 217747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8" name="Rounded Rectangle 727"/>
          <p:cNvSpPr/>
          <p:nvPr/>
        </p:nvSpPr>
        <p:spPr>
          <a:xfrm>
            <a:off x="11927185" y="3594289"/>
            <a:ext cx="4376466" cy="747855"/>
          </a:xfrm>
          <a:prstGeom prst="roundRect">
            <a:avLst>
              <a:gd name="adj" fmla="val 15542"/>
            </a:avLst>
          </a:prstGeom>
          <a:solidFill>
            <a:schemeClr val="accent4">
              <a:lumMod val="60000"/>
              <a:lumOff val="40000"/>
              <a:alpha val="69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rebuchet MS" panose="020B0703020202090204" pitchFamily="34" charset="0"/>
              </a:rPr>
              <a:t>Tokens with High Likelihood</a:t>
            </a:r>
          </a:p>
        </p:txBody>
      </p:sp>
      <p:cxnSp>
        <p:nvCxnSpPr>
          <p:cNvPr id="750" name="Straight Arrow Connector 749"/>
          <p:cNvCxnSpPr/>
          <p:nvPr/>
        </p:nvCxnSpPr>
        <p:spPr>
          <a:xfrm flipH="1">
            <a:off x="20167529" y="6598541"/>
            <a:ext cx="915" cy="18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2" name="Rounded Rectangle 751"/>
          <p:cNvSpPr/>
          <p:nvPr/>
        </p:nvSpPr>
        <p:spPr>
          <a:xfrm>
            <a:off x="18055136" y="3557879"/>
            <a:ext cx="4545534" cy="4876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rebuchet MS" panose="020B0703020202090204" pitchFamily="34" charset="0"/>
              </a:rPr>
              <a:t>Syntax-bonding Probability Pruning</a:t>
            </a:r>
          </a:p>
        </p:txBody>
      </p:sp>
      <p:cxnSp>
        <p:nvCxnSpPr>
          <p:cNvPr id="754" name="Straight Arrow Connector 753"/>
          <p:cNvCxnSpPr/>
          <p:nvPr/>
        </p:nvCxnSpPr>
        <p:spPr>
          <a:xfrm>
            <a:off x="16295965" y="3971263"/>
            <a:ext cx="450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6" name="Right Brace 755"/>
          <p:cNvSpPr/>
          <p:nvPr/>
        </p:nvSpPr>
        <p:spPr>
          <a:xfrm rot="5400000">
            <a:off x="20127461" y="1264077"/>
            <a:ext cx="322265" cy="16473610"/>
          </a:xfrm>
          <a:prstGeom prst="rightBrace">
            <a:avLst>
              <a:gd name="adj1" fmla="val 25000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758" name="Rounded Rectangle 757"/>
          <p:cNvSpPr/>
          <p:nvPr/>
        </p:nvSpPr>
        <p:spPr>
          <a:xfrm>
            <a:off x="12612375" y="4719918"/>
            <a:ext cx="2955029" cy="4876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i="1" dirty="0">
                <a:solidFill>
                  <a:schemeClr val="bg1"/>
                </a:solidFill>
                <a:latin typeface="Trebuchet MS" panose="020B0703020202090204" pitchFamily="34" charset="0"/>
              </a:rPr>
              <a:t>Variable</a:t>
            </a:r>
            <a:r>
              <a:rPr lang="zh-CN" altLang="en-US" sz="2000" i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altLang="zh-CN" sz="2000" i="1" dirty="0">
                <a:solidFill>
                  <a:schemeClr val="bg1"/>
                </a:solidFill>
                <a:latin typeface="Trebuchet MS" panose="020B0703020202090204" pitchFamily="34" charset="0"/>
              </a:rPr>
              <a:t>Resumption</a:t>
            </a:r>
            <a:endParaRPr lang="en-US" sz="2000" i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759" name="TextBox 758"/>
          <p:cNvSpPr txBox="1"/>
          <p:nvPr/>
        </p:nvSpPr>
        <p:spPr>
          <a:xfrm>
            <a:off x="14903651" y="6663496"/>
            <a:ext cx="1538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" panose="020B0703020202090204" pitchFamily="34" charset="0"/>
              </a:rPr>
              <a:t>Code Tokens</a:t>
            </a:r>
          </a:p>
        </p:txBody>
      </p:sp>
      <p:sp>
        <p:nvSpPr>
          <p:cNvPr id="760" name="Rounded Rectangle 759"/>
          <p:cNvSpPr/>
          <p:nvPr/>
        </p:nvSpPr>
        <p:spPr>
          <a:xfrm>
            <a:off x="12015660" y="6641692"/>
            <a:ext cx="4248000" cy="902674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703020202090204" pitchFamily="34" charset="0"/>
            </a:endParaRPr>
          </a:p>
        </p:txBody>
      </p:sp>
      <p:sp>
        <p:nvSpPr>
          <p:cNvPr id="761" name="TextBox 760"/>
          <p:cNvSpPr txBox="1"/>
          <p:nvPr/>
        </p:nvSpPr>
        <p:spPr>
          <a:xfrm>
            <a:off x="17306728" y="6493142"/>
            <a:ext cx="2213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rebuchet MS" panose="020B0703020202090204" pitchFamily="34" charset="0"/>
              </a:rPr>
              <a:t>Token</a:t>
            </a:r>
            <a:r>
              <a:rPr lang="zh-CN" altLang="en-US" sz="1600" dirty="0">
                <a:latin typeface="Trebuchet MS" panose="020B0703020202090204" pitchFamily="34" charset="0"/>
              </a:rPr>
              <a:t> </a:t>
            </a:r>
            <a:r>
              <a:rPr lang="en-US" altLang="zh-CN" sz="1600" dirty="0">
                <a:latin typeface="Trebuchet MS" panose="020B0703020202090204" pitchFamily="34" charset="0"/>
              </a:rPr>
              <a:t>Probabilities</a:t>
            </a:r>
            <a:endParaRPr lang="en-US" sz="1600" dirty="0">
              <a:latin typeface="Trebuchet MS" panose="020B0703020202090204" pitchFamily="34" charset="0"/>
            </a:endParaRPr>
          </a:p>
        </p:txBody>
      </p:sp>
      <p:sp>
        <p:nvSpPr>
          <p:cNvPr id="762" name="TextBox 761"/>
          <p:cNvSpPr txBox="1"/>
          <p:nvPr/>
        </p:nvSpPr>
        <p:spPr>
          <a:xfrm>
            <a:off x="24548548" y="4442765"/>
            <a:ext cx="355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Ranked</a:t>
            </a:r>
            <a:r>
              <a:rPr lang="zh-CN" altLang="en-US" dirty="0">
                <a:latin typeface="Trebuchet MS" panose="020B0703020202090204" pitchFamily="34" charset="0"/>
              </a:rPr>
              <a:t> </a:t>
            </a:r>
            <a:r>
              <a:rPr lang="en-US" altLang="zh-CN" dirty="0">
                <a:latin typeface="Trebuchet MS" panose="020B0703020202090204" pitchFamily="34" charset="0"/>
              </a:rPr>
              <a:t>Token Probabilities</a:t>
            </a:r>
            <a:endParaRPr lang="en-US" dirty="0">
              <a:latin typeface="Trebuchet MS" panose="020B0703020202090204" pitchFamily="34" charset="0"/>
            </a:endParaRPr>
          </a:p>
        </p:txBody>
      </p:sp>
      <p:sp>
        <p:nvSpPr>
          <p:cNvPr id="765" name="TextBox 764"/>
          <p:cNvSpPr txBox="1"/>
          <p:nvPr/>
        </p:nvSpPr>
        <p:spPr>
          <a:xfrm>
            <a:off x="21663280" y="8761082"/>
            <a:ext cx="78030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Trebuchet MS" panose="020B0703020202090204" pitchFamily="34" charset="0"/>
              </a:rPr>
              <a:t>.</a:t>
            </a:r>
          </a:p>
        </p:txBody>
      </p:sp>
      <p:cxnSp>
        <p:nvCxnSpPr>
          <p:cNvPr id="384" name="Straight Arrow Connector 383"/>
          <p:cNvCxnSpPr>
            <a:stCxn id="550" idx="2"/>
            <a:endCxn id="765" idx="0"/>
          </p:cNvCxnSpPr>
          <p:nvPr/>
        </p:nvCxnSpPr>
        <p:spPr>
          <a:xfrm flipH="1">
            <a:off x="21702295" y="8433398"/>
            <a:ext cx="1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TextBox 388"/>
          <p:cNvSpPr txBox="1"/>
          <p:nvPr/>
        </p:nvSpPr>
        <p:spPr>
          <a:xfrm rot="16200000">
            <a:off x="24107235" y="4904644"/>
            <a:ext cx="643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Prob</a:t>
            </a:r>
          </a:p>
        </p:txBody>
      </p:sp>
      <p:sp>
        <p:nvSpPr>
          <p:cNvPr id="390" name="Rounded Rectangle 389"/>
          <p:cNvSpPr/>
          <p:nvPr/>
        </p:nvSpPr>
        <p:spPr>
          <a:xfrm>
            <a:off x="24178825" y="3557879"/>
            <a:ext cx="4970244" cy="5691755"/>
          </a:xfrm>
          <a:prstGeom prst="roundRect">
            <a:avLst>
              <a:gd name="adj" fmla="val 2712"/>
            </a:avLst>
          </a:prstGeom>
          <a:solidFill>
            <a:srgbClr val="7030A0">
              <a:alpha val="3000"/>
            </a:srgbClr>
          </a:solidFill>
          <a:ln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rebuchet MS" panose="020B0703020202090204" pitchFamily="34" charset="0"/>
            </a:endParaRPr>
          </a:p>
        </p:txBody>
      </p:sp>
      <p:sp>
        <p:nvSpPr>
          <p:cNvPr id="391" name="TextBox 390"/>
          <p:cNvSpPr txBox="1"/>
          <p:nvPr/>
        </p:nvSpPr>
        <p:spPr>
          <a:xfrm>
            <a:off x="25911283" y="7491067"/>
            <a:ext cx="2986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Truncating and Averaging Probabilities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433033" y="3557879"/>
            <a:ext cx="4545534" cy="4876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rebuchet MS" panose="020B0703020202090204" pitchFamily="34" charset="0"/>
              </a:rPr>
              <a:t>Syntax-bonding Probability Pruning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60546" y="6169345"/>
            <a:ext cx="1557850" cy="701711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rebuchet MS" panose="020B070302020209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855392" y="8761082"/>
            <a:ext cx="724040" cy="230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3B3B3B"/>
                </a:solidFill>
                <a:latin typeface="Trebuchet MS" panose="020B0703020202090204" pitchFamily="34" charset="0"/>
              </a:rPr>
              <a:t>max_col_size</a:t>
            </a:r>
            <a:endParaRPr lang="en-US" sz="900" dirty="0">
              <a:solidFill>
                <a:srgbClr val="3B3B3B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28" name="Straight Arrow Connector 27"/>
          <p:cNvCxnSpPr>
            <a:stCxn id="552" idx="2"/>
            <a:endCxn id="25" idx="0"/>
          </p:cNvCxnSpPr>
          <p:nvPr/>
        </p:nvCxnSpPr>
        <p:spPr>
          <a:xfrm>
            <a:off x="22217412" y="8433398"/>
            <a:ext cx="0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99"/>
          <p:cNvSpPr/>
          <p:nvPr/>
        </p:nvSpPr>
        <p:spPr>
          <a:xfrm>
            <a:off x="13312990" y="9033712"/>
            <a:ext cx="5225237" cy="705798"/>
          </a:xfrm>
          <a:prstGeom prst="roundRect">
            <a:avLst>
              <a:gd name="adj" fmla="val 34745"/>
            </a:avLst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938" y="5978703"/>
            <a:ext cx="1302834" cy="1302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7387" y="8710549"/>
            <a:ext cx="1808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Programming Language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9237" y="6730257"/>
            <a:ext cx="153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Task Specification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672531" y="7813144"/>
            <a:ext cx="18195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7144" y="7837831"/>
            <a:ext cx="1538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Copyright</a:t>
            </a:r>
            <a:r>
              <a:rPr lang="en-US" altLang="zh-CN" dirty="0"/>
              <a:t>-Protected </a:t>
            </a:r>
            <a:r>
              <a:rPr lang="en-US" dirty="0"/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9116" y="7654116"/>
            <a:ext cx="1117550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 … in …</a:t>
            </a:r>
          </a:p>
          <a:p>
            <a:r>
              <a:rPr lang="en-US" dirty="0"/>
              <a:t>if …</a:t>
            </a:r>
          </a:p>
          <a:p>
            <a:r>
              <a:rPr lang="en-US" dirty="0"/>
              <a:t>else …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884" y="5540246"/>
            <a:ext cx="1016000" cy="101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22341" y="7343469"/>
            <a:ext cx="185480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Developer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Coding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5864422" y="10507209"/>
            <a:ext cx="0" cy="79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193057" y="10554016"/>
            <a:ext cx="329263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 Knowledge-based Pruning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93318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892171" y="6861976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91024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289877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88730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687584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67409" y="6051642"/>
            <a:ext cx="884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38091" y="6867811"/>
            <a:ext cx="141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Probabilities: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31573" y="11193726"/>
            <a:ext cx="1619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Pruned Probabilities: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69433" y="1131499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4986360" y="1131566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6376294" y="1131499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109390" y="11299209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7963148" y="11299209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556" y="6080796"/>
            <a:ext cx="950900" cy="950900"/>
          </a:xfrm>
          <a:prstGeom prst="rect">
            <a:avLst/>
          </a:prstGeom>
        </p:spPr>
      </p:pic>
      <p:cxnSp>
        <p:nvCxnSpPr>
          <p:cNvPr id="49" name="Straight Arrow Connector 48"/>
          <p:cNvCxnSpPr/>
          <p:nvPr/>
        </p:nvCxnSpPr>
        <p:spPr>
          <a:xfrm>
            <a:off x="10650317" y="7837831"/>
            <a:ext cx="16637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19779920" y="11485090"/>
            <a:ext cx="164731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9893885" y="10945958"/>
            <a:ext cx="2147832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Ranking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Probabilities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5683334" y="7654692"/>
            <a:ext cx="2566055" cy="10289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Syntax-bonding Probabilities</a:t>
            </a:r>
          </a:p>
        </p:txBody>
      </p:sp>
      <p:sp>
        <p:nvSpPr>
          <p:cNvPr id="55" name="Triangle 54"/>
          <p:cNvSpPr/>
          <p:nvPr/>
        </p:nvSpPr>
        <p:spPr>
          <a:xfrm rot="5400000">
            <a:off x="15792628" y="8741275"/>
            <a:ext cx="475963" cy="347804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10650317" y="7134123"/>
            <a:ext cx="1412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token probabilities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8198" y="6819872"/>
            <a:ext cx="1117550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 … in …</a:t>
            </a:r>
          </a:p>
          <a:p>
            <a:r>
              <a:rPr lang="en-US" dirty="0"/>
              <a:t>if …</a:t>
            </a:r>
          </a:p>
          <a:p>
            <a:r>
              <a:rPr lang="en-US" dirty="0"/>
              <a:t>else 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172923" y="7727217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12520367" y="7733052"/>
            <a:ext cx="1585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iteration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172923" y="8415473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4871776" y="8415473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14172923" y="9184099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14871776" y="9184099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15598696" y="9184099"/>
            <a:ext cx="463826" cy="45057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384691" y="7781510"/>
            <a:ext cx="16637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086027" y="6974158"/>
            <a:ext cx="1970877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Copyright-Retained Tokenizer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71737" y="7377788"/>
            <a:ext cx="45230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61810" y="7377788"/>
            <a:ext cx="35939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2729" y="7377788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35077" y="7842020"/>
            <a:ext cx="30809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if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90715" y="7377788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98859" y="7842020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62982" y="7842020"/>
            <a:ext cx="55816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else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76103" y="7842020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62436" y="8248882"/>
            <a:ext cx="153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 Tokens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172923" y="9939249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14871776" y="9939249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15598696" y="9939249"/>
            <a:ext cx="463826" cy="45057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16296561" y="9940186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13485517" y="8027056"/>
            <a:ext cx="465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510737" y="8540236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560267" y="9153159"/>
            <a:ext cx="50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3rd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585714" y="997322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cxnSp>
        <p:nvCxnSpPr>
          <p:cNvPr id="102" name="Elbow Connector 101"/>
          <p:cNvCxnSpPr>
            <a:stCxn id="3" idx="2"/>
            <a:endCxn id="100" idx="1"/>
          </p:cNvCxnSpPr>
          <p:nvPr/>
        </p:nvCxnSpPr>
        <p:spPr>
          <a:xfrm rot="16200000" flipH="1">
            <a:off x="7612460" y="3686081"/>
            <a:ext cx="29733" cy="1137132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5218273" y="1040254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248564" y="6012266"/>
            <a:ext cx="45230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538637" y="6012266"/>
            <a:ext cx="35939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759556" y="6012266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929112" y="6013537"/>
            <a:ext cx="30809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if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167542" y="6012266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492894" y="6013537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7957017" y="6013537"/>
            <a:ext cx="55816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else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8770138" y="6013537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2490303" y="5832549"/>
            <a:ext cx="7134313" cy="6040324"/>
          </a:xfrm>
          <a:prstGeom prst="roundRect">
            <a:avLst>
              <a:gd name="adj" fmla="val 2546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22113615" y="9077541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2130309" y="11614769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130309" y="10919205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120673" y="10326925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0.09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113615" y="8485261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113615" y="9713962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0.78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2759106" y="8485261"/>
            <a:ext cx="3733442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9" name="Rectangle 128"/>
          <p:cNvSpPr/>
          <p:nvPr/>
        </p:nvSpPr>
        <p:spPr>
          <a:xfrm>
            <a:off x="22759106" y="9081337"/>
            <a:ext cx="3733442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0" name="Rectangle 129"/>
          <p:cNvSpPr/>
          <p:nvPr/>
        </p:nvSpPr>
        <p:spPr>
          <a:xfrm>
            <a:off x="22759107" y="9707314"/>
            <a:ext cx="3094615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1" name="Rectangle 130"/>
          <p:cNvSpPr/>
          <p:nvPr/>
        </p:nvSpPr>
        <p:spPr>
          <a:xfrm>
            <a:off x="22759107" y="10361922"/>
            <a:ext cx="351415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3" name="Rectangle 132"/>
          <p:cNvSpPr/>
          <p:nvPr/>
        </p:nvSpPr>
        <p:spPr>
          <a:xfrm>
            <a:off x="22759107" y="10921918"/>
            <a:ext cx="351415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4" name="Rectangle 133"/>
          <p:cNvSpPr/>
          <p:nvPr/>
        </p:nvSpPr>
        <p:spPr>
          <a:xfrm>
            <a:off x="22759107" y="11589956"/>
            <a:ext cx="88368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135" name="Picture 1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15823" y="10326925"/>
            <a:ext cx="1144358" cy="1144358"/>
          </a:xfrm>
          <a:prstGeom prst="rect">
            <a:avLst/>
          </a:prstGeom>
        </p:spPr>
      </p:pic>
      <p:cxnSp>
        <p:nvCxnSpPr>
          <p:cNvPr id="136" name="Straight Arrow Connector 135"/>
          <p:cNvCxnSpPr/>
          <p:nvPr/>
        </p:nvCxnSpPr>
        <p:spPr>
          <a:xfrm>
            <a:off x="26378583" y="11379718"/>
            <a:ext cx="164731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26658478" y="10722604"/>
            <a:ext cx="1356653" cy="646331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Thresholded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Sum</a:t>
            </a:r>
          </a:p>
        </p:txBody>
      </p:sp>
      <p:cxnSp>
        <p:nvCxnSpPr>
          <p:cNvPr id="139" name="Elbow Connector 138"/>
          <p:cNvCxnSpPr>
            <a:stCxn id="62" idx="0"/>
            <a:endCxn id="47" idx="0"/>
          </p:cNvCxnSpPr>
          <p:nvPr/>
        </p:nvCxnSpPr>
        <p:spPr>
          <a:xfrm rot="5400000" flipH="1" flipV="1">
            <a:off x="8013451" y="3484319"/>
            <a:ext cx="739076" cy="5932033"/>
          </a:xfrm>
          <a:prstGeom prst="bentConnector3">
            <a:avLst>
              <a:gd name="adj1" fmla="val 13093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7069509" y="5042591"/>
            <a:ext cx="153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Pretraining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26430" y="9702703"/>
            <a:ext cx="4357186" cy="23626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def add(self, row):</a:t>
            </a:r>
          </a:p>
          <a:p>
            <a:r>
              <a:rPr lang="en-US" dirty="0"/>
              <a:t>	n = </a:t>
            </a:r>
            <a:r>
              <a:rPr lang="en-US" dirty="0" err="1"/>
              <a:t>len</a:t>
            </a:r>
            <a:r>
              <a:rPr lang="en-US" dirty="0"/>
              <a:t>(row) -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self.max_col_size</a:t>
            </a:r>
            <a:r>
              <a:rPr lang="en-US" dirty="0"/>
              <a:t>)</a:t>
            </a:r>
          </a:p>
          <a:p>
            <a:r>
              <a:rPr lang="en-US" dirty="0"/>
              <a:t>	if n &gt; 0:</a:t>
            </a:r>
          </a:p>
          <a:p>
            <a:r>
              <a:rPr lang="en-US" dirty="0"/>
              <a:t>		</a:t>
            </a:r>
            <a:r>
              <a:rPr lang="en-US" dirty="0" err="1"/>
              <a:t>self.max_col_size</a:t>
            </a:r>
            <a:r>
              <a:rPr lang="en-US" dirty="0"/>
              <a:t> += [0] * n</a:t>
            </a:r>
          </a:p>
          <a:p>
            <a:r>
              <a:rPr lang="en-US" dirty="0"/>
              <a:t>	for </a:t>
            </a:r>
            <a:r>
              <a:rPr lang="en-US" dirty="0" err="1"/>
              <a:t>i</a:t>
            </a:r>
            <a:r>
              <a:rPr lang="en-US" dirty="0"/>
              <a:t>, f in enumerate(row):</a:t>
            </a:r>
          </a:p>
          <a:p>
            <a:r>
              <a:rPr lang="en-US" dirty="0"/>
              <a:t>		if </a:t>
            </a:r>
            <a:r>
              <a:rPr lang="en-US" dirty="0" err="1"/>
              <a:t>len</a:t>
            </a:r>
            <a:r>
              <a:rPr lang="en-US" dirty="0"/>
              <a:t>(f) &gt; </a:t>
            </a:r>
            <a:r>
              <a:rPr lang="en-US" dirty="0" err="1"/>
              <a:t>self.max_col_size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]: 	</a:t>
            </a:r>
          </a:p>
          <a:p>
            <a:r>
              <a:rPr lang="en-US" dirty="0"/>
              <a:t>			</a:t>
            </a:r>
            <a:r>
              <a:rPr lang="en-US" dirty="0" err="1"/>
              <a:t>self.max_col_size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len</a:t>
            </a:r>
            <a:r>
              <a:rPr lang="en-US" dirty="0"/>
              <a:t>(f) 	</a:t>
            </a:r>
          </a:p>
          <a:p>
            <a:r>
              <a:rPr lang="en-US" dirty="0"/>
              <a:t>			</a:t>
            </a:r>
            <a:r>
              <a:rPr lang="en-US" dirty="0" err="1"/>
              <a:t>self.rows.append</a:t>
            </a:r>
            <a:r>
              <a:rPr lang="en-US" dirty="0"/>
              <a:t>(row)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99"/>
          <p:cNvSpPr/>
          <p:nvPr/>
        </p:nvSpPr>
        <p:spPr>
          <a:xfrm>
            <a:off x="13312990" y="9033712"/>
            <a:ext cx="5225237" cy="705798"/>
          </a:xfrm>
          <a:prstGeom prst="roundRect">
            <a:avLst>
              <a:gd name="adj" fmla="val 34745"/>
            </a:avLst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938" y="5978703"/>
            <a:ext cx="1302834" cy="1302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7387" y="8710549"/>
            <a:ext cx="1808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Programming Language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9237" y="6730257"/>
            <a:ext cx="153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Task Specification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672531" y="7813144"/>
            <a:ext cx="18195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7144" y="7837831"/>
            <a:ext cx="1538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Copyright</a:t>
            </a:r>
            <a:r>
              <a:rPr lang="en-US" altLang="zh-CN" dirty="0"/>
              <a:t>-Protected </a:t>
            </a:r>
            <a:r>
              <a:rPr lang="en-US" dirty="0"/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9116" y="7654116"/>
            <a:ext cx="1117550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 … in …</a:t>
            </a:r>
          </a:p>
          <a:p>
            <a:r>
              <a:rPr lang="en-US" dirty="0"/>
              <a:t>if …</a:t>
            </a:r>
          </a:p>
          <a:p>
            <a:r>
              <a:rPr lang="en-US" dirty="0"/>
              <a:t>else …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884" y="5540246"/>
            <a:ext cx="1016000" cy="101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22341" y="7343469"/>
            <a:ext cx="185480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Developer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Coding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5864422" y="10507209"/>
            <a:ext cx="0" cy="79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193057" y="10554016"/>
            <a:ext cx="329263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 Knowledge-based Pruning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93318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892171" y="6861976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91024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289877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88730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687584" y="686197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67409" y="6051642"/>
            <a:ext cx="884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38091" y="6867811"/>
            <a:ext cx="141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Probabilities: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31573" y="11193726"/>
            <a:ext cx="1619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Pruned Probabilities: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69433" y="1131499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4986360" y="1131566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6376294" y="11314996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7109390" y="11299209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7963148" y="11299209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556" y="6080796"/>
            <a:ext cx="950900" cy="950900"/>
          </a:xfrm>
          <a:prstGeom prst="rect">
            <a:avLst/>
          </a:prstGeom>
        </p:spPr>
      </p:pic>
      <p:cxnSp>
        <p:nvCxnSpPr>
          <p:cNvPr id="49" name="Straight Arrow Connector 48"/>
          <p:cNvCxnSpPr/>
          <p:nvPr/>
        </p:nvCxnSpPr>
        <p:spPr>
          <a:xfrm>
            <a:off x="10650317" y="7837831"/>
            <a:ext cx="16637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19779920" y="11485090"/>
            <a:ext cx="164731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9893885" y="10945958"/>
            <a:ext cx="2147832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Ranking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Probabilities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5683334" y="7654692"/>
            <a:ext cx="2566055" cy="10289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Syntax-bonding Probabilities</a:t>
            </a:r>
          </a:p>
        </p:txBody>
      </p:sp>
      <p:sp>
        <p:nvSpPr>
          <p:cNvPr id="55" name="Triangle 54"/>
          <p:cNvSpPr/>
          <p:nvPr/>
        </p:nvSpPr>
        <p:spPr>
          <a:xfrm rot="5400000">
            <a:off x="15792628" y="8741275"/>
            <a:ext cx="475963" cy="347804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10650317" y="7134123"/>
            <a:ext cx="1412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token probabilities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8198" y="6819872"/>
            <a:ext cx="1117550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 … in …</a:t>
            </a:r>
          </a:p>
          <a:p>
            <a:r>
              <a:rPr lang="en-US" dirty="0"/>
              <a:t>if …</a:t>
            </a:r>
          </a:p>
          <a:p>
            <a:r>
              <a:rPr lang="en-US" dirty="0"/>
              <a:t>else 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172923" y="7727217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12520367" y="7733052"/>
            <a:ext cx="1585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iteration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172923" y="8415473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4871776" y="8415473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14172923" y="9184099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14871776" y="9184099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15598696" y="9184099"/>
            <a:ext cx="463826" cy="45057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384691" y="7781510"/>
            <a:ext cx="16637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086027" y="6974158"/>
            <a:ext cx="1970877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Copyright-Retained Tokenizer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71737" y="7377788"/>
            <a:ext cx="45230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61810" y="7377788"/>
            <a:ext cx="35939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2729" y="7377788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35077" y="7842020"/>
            <a:ext cx="30809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if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90715" y="7377788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98859" y="7842020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62982" y="7842020"/>
            <a:ext cx="55816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else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76103" y="7842020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62436" y="8248882"/>
            <a:ext cx="153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 Tokens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172923" y="9939249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14871776" y="9939249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15598696" y="9939249"/>
            <a:ext cx="463826" cy="45057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16296561" y="9940186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13485517" y="8027056"/>
            <a:ext cx="465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510737" y="8540236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560267" y="9153159"/>
            <a:ext cx="50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3rd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585714" y="997322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cxnSp>
        <p:nvCxnSpPr>
          <p:cNvPr id="102" name="Elbow Connector 101"/>
          <p:cNvCxnSpPr>
            <a:stCxn id="3" idx="2"/>
            <a:endCxn id="100" idx="1"/>
          </p:cNvCxnSpPr>
          <p:nvPr/>
        </p:nvCxnSpPr>
        <p:spPr>
          <a:xfrm rot="16200000" flipH="1">
            <a:off x="7612460" y="3686081"/>
            <a:ext cx="29733" cy="1137132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5218273" y="1040254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248564" y="6012266"/>
            <a:ext cx="45230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538637" y="6012266"/>
            <a:ext cx="35939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759556" y="6012266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929112" y="6013537"/>
            <a:ext cx="30809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if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167542" y="6012266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492894" y="6013537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7957017" y="6013537"/>
            <a:ext cx="55816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else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8770138" y="6013537"/>
            <a:ext cx="3433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2490303" y="5832549"/>
            <a:ext cx="7134313" cy="6040324"/>
          </a:xfrm>
          <a:prstGeom prst="roundRect">
            <a:avLst>
              <a:gd name="adj" fmla="val 2546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22113615" y="9077541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2130309" y="11614769"/>
            <a:ext cx="463826" cy="45057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130309" y="10919205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120673" y="10326925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0.09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113615" y="8485261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113615" y="9713962"/>
            <a:ext cx="463826" cy="450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0.78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2759106" y="8485261"/>
            <a:ext cx="3733442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9" name="Rectangle 128"/>
          <p:cNvSpPr/>
          <p:nvPr/>
        </p:nvSpPr>
        <p:spPr>
          <a:xfrm>
            <a:off x="22759106" y="9081337"/>
            <a:ext cx="3733442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0" name="Rectangle 129"/>
          <p:cNvSpPr/>
          <p:nvPr/>
        </p:nvSpPr>
        <p:spPr>
          <a:xfrm>
            <a:off x="22759107" y="9707314"/>
            <a:ext cx="3094615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1" name="Rectangle 130"/>
          <p:cNvSpPr/>
          <p:nvPr/>
        </p:nvSpPr>
        <p:spPr>
          <a:xfrm>
            <a:off x="22759107" y="10361922"/>
            <a:ext cx="351415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3" name="Rectangle 132"/>
          <p:cNvSpPr/>
          <p:nvPr/>
        </p:nvSpPr>
        <p:spPr>
          <a:xfrm>
            <a:off x="22759107" y="10921918"/>
            <a:ext cx="351415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4" name="Rectangle 133"/>
          <p:cNvSpPr/>
          <p:nvPr/>
        </p:nvSpPr>
        <p:spPr>
          <a:xfrm>
            <a:off x="22759107" y="11589956"/>
            <a:ext cx="88368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135" name="Picture 1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15823" y="10326925"/>
            <a:ext cx="1144358" cy="1144358"/>
          </a:xfrm>
          <a:prstGeom prst="rect">
            <a:avLst/>
          </a:prstGeom>
        </p:spPr>
      </p:pic>
      <p:cxnSp>
        <p:nvCxnSpPr>
          <p:cNvPr id="136" name="Straight Arrow Connector 135"/>
          <p:cNvCxnSpPr/>
          <p:nvPr/>
        </p:nvCxnSpPr>
        <p:spPr>
          <a:xfrm>
            <a:off x="26378583" y="11379718"/>
            <a:ext cx="164731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26658478" y="10722604"/>
            <a:ext cx="1356653" cy="646331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Thresholded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Sum</a:t>
            </a:r>
          </a:p>
        </p:txBody>
      </p:sp>
      <p:cxnSp>
        <p:nvCxnSpPr>
          <p:cNvPr id="139" name="Elbow Connector 138"/>
          <p:cNvCxnSpPr>
            <a:stCxn id="62" idx="0"/>
            <a:endCxn id="47" idx="0"/>
          </p:cNvCxnSpPr>
          <p:nvPr/>
        </p:nvCxnSpPr>
        <p:spPr>
          <a:xfrm rot="5400000" flipH="1" flipV="1">
            <a:off x="8013451" y="3484319"/>
            <a:ext cx="739076" cy="5932033"/>
          </a:xfrm>
          <a:prstGeom prst="bentConnector3">
            <a:avLst>
              <a:gd name="adj1" fmla="val 13093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7069509" y="5042591"/>
            <a:ext cx="153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Pretraining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26430" y="9702703"/>
            <a:ext cx="4357186" cy="23626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def add(self, row):</a:t>
            </a:r>
          </a:p>
          <a:p>
            <a:r>
              <a:rPr lang="en-US" dirty="0"/>
              <a:t>	…</a:t>
            </a:r>
          </a:p>
          <a:p>
            <a:r>
              <a:rPr lang="en-US" dirty="0"/>
              <a:t>	for </a:t>
            </a:r>
            <a:r>
              <a:rPr lang="en-US" dirty="0" err="1"/>
              <a:t>i</a:t>
            </a:r>
            <a:r>
              <a:rPr lang="en-US" dirty="0"/>
              <a:t>, f in enumerate(row):</a:t>
            </a:r>
          </a:p>
          <a:p>
            <a:r>
              <a:rPr lang="en-US" dirty="0"/>
              <a:t>		if </a:t>
            </a:r>
            <a:r>
              <a:rPr lang="en-US" dirty="0" err="1"/>
              <a:t>len</a:t>
            </a:r>
            <a:r>
              <a:rPr lang="en-US" dirty="0"/>
              <a:t>(f) &gt; </a:t>
            </a:r>
            <a:r>
              <a:rPr lang="en-US" dirty="0" err="1"/>
              <a:t>self.max_col_size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]: 	</a:t>
            </a:r>
          </a:p>
          <a:p>
            <a:r>
              <a:rPr lang="en-US" dirty="0"/>
              <a:t>			</a:t>
            </a:r>
            <a:r>
              <a:rPr lang="en-US" dirty="0" err="1"/>
              <a:t>self.max_col_size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len</a:t>
            </a:r>
            <a:r>
              <a:rPr lang="en-US" dirty="0"/>
              <a:t>(f) 	</a:t>
            </a:r>
          </a:p>
          <a:p>
            <a:r>
              <a:rPr lang="en-US" dirty="0"/>
              <a:t>			</a:t>
            </a:r>
            <a:r>
              <a:rPr lang="en-US" dirty="0" err="1"/>
              <a:t>self.rows.append</a:t>
            </a:r>
            <a:r>
              <a:rPr lang="en-US" dirty="0"/>
              <a:t>(row)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81899" y="7383650"/>
            <a:ext cx="305656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62846" y="7383650"/>
            <a:ext cx="312068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</a:rPr>
              <a:t>self</a:t>
            </a:r>
            <a:endParaRPr lang="en-US" sz="900" dirty="0">
              <a:solidFill>
                <a:srgbClr val="3B3B3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2561" y="7383650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06496" y="7383650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9920" y="7383650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/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0205" y="7383650"/>
            <a:ext cx="312068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97278" y="7383650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0288" y="7655663"/>
            <a:ext cx="243139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93039" y="7655663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6863" y="7655663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756" y="7655663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65580" y="7655663"/>
            <a:ext cx="243139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332" y="7655663"/>
            <a:ext cx="71923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07176" y="7655663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2070" y="7655663"/>
            <a:ext cx="243139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34821" y="7655663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8946" y="7932518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23292" y="7932518"/>
            <a:ext cx="312068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795E26"/>
                </a:solidFill>
                <a:latin typeface="Menlo" panose="020B0609030804020204" pitchFamily="49" charset="0"/>
              </a:rPr>
              <a:t>len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65497" y="7932518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(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00914" y="7932518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036331" y="7932518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)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71747" y="7932518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76093" y="7932518"/>
            <a:ext cx="380998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787228" y="7932518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2645" y="7932518"/>
            <a:ext cx="243139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max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5920" y="7932518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_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1337" y="7932518"/>
            <a:ext cx="243139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col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4612" y="7932518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_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9467" y="8212592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82233" y="7932518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650" y="7932518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353066" y="7932518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]: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8646" y="7655663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7407" y="7932518"/>
            <a:ext cx="174210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71477" y="8212592"/>
            <a:ext cx="312068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924135" y="8212592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70005" y="8212592"/>
            <a:ext cx="243139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max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53733" y="8212592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_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9603" y="8212592"/>
            <a:ext cx="243139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col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83331" y="8212592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_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9200" y="8212592"/>
            <a:ext cx="312068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size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81858" y="8212592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27728" y="8212592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573598" y="8212592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40028" y="7932518"/>
            <a:ext cx="312068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size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34266" y="8212592"/>
            <a:ext cx="312068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795E26"/>
                </a:solidFill>
                <a:latin typeface="Menlo" panose="020B0609030804020204" pitchFamily="49" charset="0"/>
              </a:rPr>
              <a:t>len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286924" y="8212592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32794" y="8212592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578665" y="8212592"/>
            <a:ext cx="105281" cy="230832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82674" y="7655663"/>
            <a:ext cx="288000" cy="230400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582674" y="7932518"/>
            <a:ext cx="288000" cy="230400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900810" y="7932518"/>
            <a:ext cx="288000" cy="230400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585710" y="8212592"/>
            <a:ext cx="288000" cy="230400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914299" y="8212592"/>
            <a:ext cx="288000" cy="230400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42888" y="8212592"/>
            <a:ext cx="288000" cy="230400"/>
          </a:xfrm>
          <a:prstGeom prst="rect">
            <a:avLst/>
          </a:prstGeom>
          <a:solidFill>
            <a:schemeClr val="accent1">
              <a:lumMod val="20000"/>
              <a:lumOff val="80000"/>
              <a:alpha val="34803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99"/>
          <p:cNvSpPr/>
          <p:nvPr/>
        </p:nvSpPr>
        <p:spPr>
          <a:xfrm>
            <a:off x="17718903" y="7413683"/>
            <a:ext cx="5968935" cy="436290"/>
          </a:xfrm>
          <a:prstGeom prst="roundRect">
            <a:avLst>
              <a:gd name="adj" fmla="val 34745"/>
            </a:avLst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38" y="5708136"/>
            <a:ext cx="1302834" cy="1302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6853" y="5016268"/>
            <a:ext cx="32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Language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251" y="5016268"/>
            <a:ext cx="205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Task Specification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70253" y="4468127"/>
            <a:ext cx="2052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83211" y="5016268"/>
            <a:ext cx="264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Copyright</a:t>
            </a:r>
            <a:r>
              <a:rPr lang="en-US" altLang="zh-CN" dirty="0"/>
              <a:t>-Protected </a:t>
            </a:r>
            <a:r>
              <a:rPr lang="en-US" dirty="0"/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7739" y="3788434"/>
            <a:ext cx="1484317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For</a:t>
            </a:r>
          </a:p>
          <a:p>
            <a:pPr marL="342900" indent="-342900">
              <a:buAutoNum type="arabicPeriod"/>
            </a:pPr>
            <a:r>
              <a:rPr lang="en-US" dirty="0"/>
              <a:t>If Else</a:t>
            </a:r>
          </a:p>
          <a:p>
            <a:pPr marL="342900" indent="-342900">
              <a:buAutoNum type="arabicPeriod"/>
            </a:pPr>
            <a:r>
              <a:rPr lang="en-US" dirty="0"/>
              <a:t>Try except</a:t>
            </a:r>
          </a:p>
          <a:p>
            <a:pPr marL="342900" indent="-342900">
              <a:buAutoNum type="arabicPeriod"/>
            </a:pPr>
            <a:r>
              <a:rPr lang="en-US" dirty="0"/>
              <a:t>…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70" y="3839426"/>
            <a:ext cx="1016000" cy="101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85424" y="3949260"/>
            <a:ext cx="147599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362068" y="6133939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08583" y="5453132"/>
            <a:ext cx="141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Probabilities: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666" y="7584190"/>
            <a:ext cx="1130986" cy="1130986"/>
          </a:xfrm>
          <a:prstGeom prst="rect">
            <a:avLst/>
          </a:prstGeom>
        </p:spPr>
      </p:pic>
      <p:cxnSp>
        <p:nvCxnSpPr>
          <p:cNvPr id="51" name="Straight Arrow Connector 50"/>
          <p:cNvCxnSpPr/>
          <p:nvPr/>
        </p:nvCxnSpPr>
        <p:spPr>
          <a:xfrm>
            <a:off x="24383245" y="6555398"/>
            <a:ext cx="164731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725810" y="6016266"/>
            <a:ext cx="93006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Ranking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263125" y="5797002"/>
            <a:ext cx="2566055" cy="10289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Syntax-bonding Probabilities</a:t>
            </a:r>
          </a:p>
        </p:txBody>
      </p:sp>
      <p:sp>
        <p:nvSpPr>
          <p:cNvPr id="55" name="Triangle 54"/>
          <p:cNvSpPr/>
          <p:nvPr/>
        </p:nvSpPr>
        <p:spPr>
          <a:xfrm rot="10800000">
            <a:off x="21233887" y="6815372"/>
            <a:ext cx="2094696" cy="683382"/>
          </a:xfrm>
          <a:custGeom>
            <a:avLst/>
            <a:gdLst>
              <a:gd name="connsiteX0" fmla="*/ 0 w 3404751"/>
              <a:gd name="connsiteY0" fmla="*/ 3632919 h 3632919"/>
              <a:gd name="connsiteX1" fmla="*/ 3404751 w 3404751"/>
              <a:gd name="connsiteY1" fmla="*/ 0 h 3632919"/>
              <a:gd name="connsiteX2" fmla="*/ 3404751 w 3404751"/>
              <a:gd name="connsiteY2" fmla="*/ 3632919 h 3632919"/>
              <a:gd name="connsiteX3" fmla="*/ 0 w 3404751"/>
              <a:gd name="connsiteY3" fmla="*/ 3632919 h 3632919"/>
              <a:gd name="connsiteX0-1" fmla="*/ 0 w 3404751"/>
              <a:gd name="connsiteY0-2" fmla="*/ 3632919 h 3632919"/>
              <a:gd name="connsiteX1-3" fmla="*/ 3404751 w 3404751"/>
              <a:gd name="connsiteY1-4" fmla="*/ 0 h 3632919"/>
              <a:gd name="connsiteX2-5" fmla="*/ 1982351 w 3404751"/>
              <a:gd name="connsiteY2-6" fmla="*/ 3632919 h 3632919"/>
              <a:gd name="connsiteX3-7" fmla="*/ 0 w 3404751"/>
              <a:gd name="connsiteY3-8" fmla="*/ 3632919 h 3632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04751" h="3632919">
                <a:moveTo>
                  <a:pt x="0" y="3632919"/>
                </a:moveTo>
                <a:lnTo>
                  <a:pt x="3404751" y="0"/>
                </a:lnTo>
                <a:lnTo>
                  <a:pt x="1982351" y="3632919"/>
                </a:lnTo>
                <a:lnTo>
                  <a:pt x="0" y="36329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17852304" y="6022203"/>
            <a:ext cx="1318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1st</a:t>
            </a:r>
            <a:r>
              <a:rPr lang="zh-CN" altLang="en-US" dirty="0"/>
              <a:t> </a:t>
            </a:r>
            <a:r>
              <a:rPr lang="en-US" altLang="zh-CN" dirty="0"/>
              <a:t>iteration</a:t>
            </a:r>
            <a:endParaRPr 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20696897" y="882755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7728868" y="5334511"/>
            <a:ext cx="6402505" cy="3818241"/>
          </a:xfrm>
          <a:prstGeom prst="roundRect">
            <a:avLst>
              <a:gd name="adj" fmla="val 2546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>
            <a:off x="27073994" y="7773031"/>
            <a:ext cx="0" cy="875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27389366" y="8054304"/>
            <a:ext cx="3667222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Truncating and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Averaging (Summing?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18136" y="3811155"/>
            <a:ext cx="3996000" cy="11548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	…</a:t>
            </a:r>
          </a:p>
          <a:p>
            <a:r>
              <a:rPr lang="en-US" sz="1100" dirty="0">
                <a:solidFill>
                  <a:srgbClr val="AF00DB"/>
                </a:solidFill>
                <a:latin typeface="Menlo" panose="020B0609030804020204" pitchFamily="49" charset="0"/>
              </a:rPr>
              <a:t>	for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1100" dirty="0">
                <a:solidFill>
                  <a:srgbClr val="AF00DB"/>
                </a:solidFill>
                <a:latin typeface="Menlo" panose="020B0609030804020204" pitchFamily="49" charset="0"/>
              </a:rPr>
              <a:t>		if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795E26"/>
                </a:solidFill>
                <a:latin typeface="Menlo" panose="020B0609030804020204" pitchFamily="49" charset="0"/>
              </a:rPr>
              <a:t>len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)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100" dirty="0" err="1">
                <a:solidFill>
                  <a:srgbClr val="3B3B3B"/>
                </a:solidFill>
                <a:latin typeface="Menlo" panose="020B0609030804020204" pitchFamily="49" charset="0"/>
              </a:rPr>
              <a:t>.max_col_size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  <a:r>
              <a:rPr lang="en-US" sz="11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]: </a:t>
            </a:r>
          </a:p>
          <a:p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			</a:t>
            </a:r>
            <a:r>
              <a:rPr lang="en-US" sz="1100" dirty="0" err="1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100" dirty="0" err="1">
                <a:solidFill>
                  <a:srgbClr val="3B3B3B"/>
                </a:solidFill>
                <a:latin typeface="Menlo" panose="020B0609030804020204" pitchFamily="49" charset="0"/>
              </a:rPr>
              <a:t>.max_col_size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  <a:r>
              <a:rPr lang="en-US" sz="11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]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795E26"/>
                </a:solidFill>
                <a:latin typeface="Menlo" panose="020B0609030804020204" pitchFamily="49" charset="0"/>
              </a:rPr>
              <a:t>len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) </a:t>
            </a:r>
          </a:p>
          <a:p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	… </a:t>
            </a:r>
          </a:p>
        </p:txBody>
      </p:sp>
      <p:pic>
        <p:nvPicPr>
          <p:cNvPr id="463" name="Picture 4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618" y="7575146"/>
            <a:ext cx="690099" cy="690099"/>
          </a:xfrm>
          <a:prstGeom prst="rect">
            <a:avLst/>
          </a:prstGeom>
        </p:spPr>
      </p:pic>
      <p:pic>
        <p:nvPicPr>
          <p:cNvPr id="464" name="Picture 4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756" y="7983387"/>
            <a:ext cx="690099" cy="690099"/>
          </a:xfrm>
          <a:prstGeom prst="rect">
            <a:avLst/>
          </a:prstGeom>
        </p:spPr>
      </p:pic>
      <p:pic>
        <p:nvPicPr>
          <p:cNvPr id="465" name="Picture 4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7729" y="7988359"/>
            <a:ext cx="690099" cy="690099"/>
          </a:xfrm>
          <a:prstGeom prst="rect">
            <a:avLst/>
          </a:prstGeom>
        </p:spPr>
      </p:pic>
      <p:sp>
        <p:nvSpPr>
          <p:cNvPr id="468" name="TextBox 467"/>
          <p:cNvSpPr txBox="1"/>
          <p:nvPr/>
        </p:nvSpPr>
        <p:spPr>
          <a:xfrm>
            <a:off x="4844626" y="8013814"/>
            <a:ext cx="147599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Collecting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6560038" y="8724771"/>
            <a:ext cx="132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Codebase</a:t>
            </a:r>
          </a:p>
        </p:txBody>
      </p:sp>
      <p:cxnSp>
        <p:nvCxnSpPr>
          <p:cNvPr id="473" name="Straight Arrow Connector 472"/>
          <p:cNvCxnSpPr/>
          <p:nvPr/>
        </p:nvCxnSpPr>
        <p:spPr>
          <a:xfrm>
            <a:off x="14768139" y="5535668"/>
            <a:ext cx="0" cy="16559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6" name="Cross 475"/>
          <p:cNvSpPr/>
          <p:nvPr/>
        </p:nvSpPr>
        <p:spPr>
          <a:xfrm>
            <a:off x="1790608" y="4204167"/>
            <a:ext cx="398174" cy="396349"/>
          </a:xfrm>
          <a:prstGeom prst="plus">
            <a:avLst>
              <a:gd name="adj" fmla="val 3772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4" name="TextBox 483"/>
          <p:cNvSpPr txBox="1"/>
          <p:nvPr/>
        </p:nvSpPr>
        <p:spPr>
          <a:xfrm>
            <a:off x="15190341" y="6754864"/>
            <a:ext cx="153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Variable Token Resumption</a:t>
            </a:r>
          </a:p>
        </p:txBody>
      </p:sp>
      <p:pic>
        <p:nvPicPr>
          <p:cNvPr id="486" name="Picture 48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49924" y="13036598"/>
            <a:ext cx="1071702" cy="1071702"/>
          </a:xfrm>
          <a:prstGeom prst="rect">
            <a:avLst/>
          </a:prstGeom>
        </p:spPr>
      </p:pic>
      <p:sp>
        <p:nvSpPr>
          <p:cNvPr id="546" name="TextBox 545"/>
          <p:cNvSpPr txBox="1"/>
          <p:nvPr/>
        </p:nvSpPr>
        <p:spPr>
          <a:xfrm>
            <a:off x="13998901" y="5016268"/>
            <a:ext cx="153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 Tokens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14087723" y="8724771"/>
            <a:ext cx="153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 Tokens</a:t>
            </a:r>
          </a:p>
        </p:txBody>
      </p:sp>
      <p:cxnSp>
        <p:nvCxnSpPr>
          <p:cNvPr id="551" name="Straight Arrow Connector 550"/>
          <p:cNvCxnSpPr/>
          <p:nvPr/>
        </p:nvCxnSpPr>
        <p:spPr>
          <a:xfrm>
            <a:off x="5955296" y="12239087"/>
            <a:ext cx="4032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Elbow Connector 553"/>
          <p:cNvCxnSpPr>
            <a:stCxn id="47" idx="3"/>
            <a:endCxn id="48" idx="1"/>
          </p:cNvCxnSpPr>
          <p:nvPr/>
        </p:nvCxnSpPr>
        <p:spPr>
          <a:xfrm flipV="1">
            <a:off x="11262652" y="4387361"/>
            <a:ext cx="1600688" cy="3762322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11293562" y="5868338"/>
            <a:ext cx="1475999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Tokenizing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18226883" y="4879711"/>
            <a:ext cx="30565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06" name="TextBox 605"/>
          <p:cNvSpPr txBox="1"/>
          <p:nvPr/>
        </p:nvSpPr>
        <p:spPr>
          <a:xfrm>
            <a:off x="18707830" y="4879711"/>
            <a:ext cx="312068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</a:rPr>
              <a:t>self</a:t>
            </a:r>
            <a:endParaRPr lang="en-US" sz="900" dirty="0">
              <a:solidFill>
                <a:srgbClr val="3B3B3B"/>
              </a:solidFill>
            </a:endParaRPr>
          </a:p>
        </p:txBody>
      </p:sp>
      <p:sp>
        <p:nvSpPr>
          <p:cNvPr id="607" name="TextBox 606"/>
          <p:cNvSpPr txBox="1"/>
          <p:nvPr/>
        </p:nvSpPr>
        <p:spPr>
          <a:xfrm>
            <a:off x="18567545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(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19751480" y="4879711"/>
            <a:ext cx="17421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19054904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/>
              <a:t>,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19195189" y="4879711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1" name="TextBox 610"/>
          <p:cNvSpPr txBox="1"/>
          <p:nvPr/>
        </p:nvSpPr>
        <p:spPr>
          <a:xfrm>
            <a:off x="19542262" y="4879711"/>
            <a:ext cx="17421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):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20340497" y="4879711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3" name="TextBox 612"/>
          <p:cNvSpPr txBox="1"/>
          <p:nvPr/>
        </p:nvSpPr>
        <p:spPr>
          <a:xfrm>
            <a:off x="20623248" y="487971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4" name="TextBox 613"/>
          <p:cNvSpPr txBox="1"/>
          <p:nvPr/>
        </p:nvSpPr>
        <p:spPr>
          <a:xfrm>
            <a:off x="20837072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,</a:t>
            </a:r>
          </a:p>
        </p:txBody>
      </p:sp>
      <p:sp>
        <p:nvSpPr>
          <p:cNvPr id="615" name="TextBox 614"/>
          <p:cNvSpPr txBox="1"/>
          <p:nvPr/>
        </p:nvSpPr>
        <p:spPr>
          <a:xfrm>
            <a:off x="20981965" y="487971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6" name="TextBox 615"/>
          <p:cNvSpPr txBox="1"/>
          <p:nvPr/>
        </p:nvSpPr>
        <p:spPr>
          <a:xfrm>
            <a:off x="21195789" y="4879711"/>
            <a:ext cx="24313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7" name="TextBox 616"/>
          <p:cNvSpPr txBox="1"/>
          <p:nvPr/>
        </p:nvSpPr>
        <p:spPr>
          <a:xfrm>
            <a:off x="21478541" y="4879711"/>
            <a:ext cx="71923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8" name="TextBox 617"/>
          <p:cNvSpPr txBox="1"/>
          <p:nvPr/>
        </p:nvSpPr>
        <p:spPr>
          <a:xfrm>
            <a:off x="22237385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22382279" y="4879711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20" name="TextBox 619"/>
          <p:cNvSpPr txBox="1"/>
          <p:nvPr/>
        </p:nvSpPr>
        <p:spPr>
          <a:xfrm>
            <a:off x="22665030" y="487971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):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23718563" y="487971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22" name="TextBox 621"/>
          <p:cNvSpPr txBox="1"/>
          <p:nvPr/>
        </p:nvSpPr>
        <p:spPr>
          <a:xfrm>
            <a:off x="23923498" y="4879711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795E26"/>
                </a:solidFill>
                <a:latin typeface="Menlo" panose="020B0609030804020204" pitchFamily="49" charset="0"/>
              </a:rPr>
              <a:t>len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23" name="TextBox 622"/>
          <p:cNvSpPr txBox="1"/>
          <p:nvPr/>
        </p:nvSpPr>
        <p:spPr>
          <a:xfrm>
            <a:off x="24266291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(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624" name="TextBox 623"/>
          <p:cNvSpPr txBox="1"/>
          <p:nvPr/>
        </p:nvSpPr>
        <p:spPr>
          <a:xfrm>
            <a:off x="24402297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625" name="TextBox 624"/>
          <p:cNvSpPr txBox="1"/>
          <p:nvPr/>
        </p:nvSpPr>
        <p:spPr>
          <a:xfrm>
            <a:off x="24538303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)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626" name="TextBox 625"/>
          <p:cNvSpPr txBox="1"/>
          <p:nvPr/>
        </p:nvSpPr>
        <p:spPr>
          <a:xfrm>
            <a:off x="24674309" y="487971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27" name="TextBox 626"/>
          <p:cNvSpPr txBox="1"/>
          <p:nvPr/>
        </p:nvSpPr>
        <p:spPr>
          <a:xfrm>
            <a:off x="24879244" y="4879711"/>
            <a:ext cx="38099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28" name="TextBox 627"/>
          <p:cNvSpPr txBox="1"/>
          <p:nvPr/>
        </p:nvSpPr>
        <p:spPr>
          <a:xfrm>
            <a:off x="25290967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25426973" y="4879711"/>
            <a:ext cx="86350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3B3B3B"/>
                </a:solidFill>
                <a:latin typeface="Menlo" panose="020B0609030804020204" pitchFamily="49" charset="0"/>
              </a:rPr>
              <a:t>max_col_size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31" name="TextBox 630"/>
          <p:cNvSpPr txBox="1"/>
          <p:nvPr/>
        </p:nvSpPr>
        <p:spPr>
          <a:xfrm>
            <a:off x="26321200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26457206" y="487971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33" name="TextBox 632"/>
          <p:cNvSpPr txBox="1"/>
          <p:nvPr/>
        </p:nvSpPr>
        <p:spPr>
          <a:xfrm>
            <a:off x="26593212" y="487971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]: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22878855" y="487971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26798152" y="487971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20012883" y="4879711"/>
            <a:ext cx="288000" cy="230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23081113" y="4879711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23399838" y="4879711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17938396" y="4225969"/>
            <a:ext cx="153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 Tokens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15009475" y="5868338"/>
            <a:ext cx="215959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Variable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Resumption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54" name="Rectangle 653"/>
          <p:cNvSpPr/>
          <p:nvPr/>
        </p:nvSpPr>
        <p:spPr>
          <a:xfrm>
            <a:off x="19362068" y="6605314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655" name="Rectangle 654"/>
          <p:cNvSpPr/>
          <p:nvPr/>
        </p:nvSpPr>
        <p:spPr>
          <a:xfrm>
            <a:off x="20068718" y="6605314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660" name="Rectangle 659"/>
          <p:cNvSpPr/>
          <p:nvPr/>
        </p:nvSpPr>
        <p:spPr>
          <a:xfrm>
            <a:off x="19362068" y="7055424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661" name="Rectangle 660"/>
          <p:cNvSpPr/>
          <p:nvPr/>
        </p:nvSpPr>
        <p:spPr>
          <a:xfrm>
            <a:off x="20068718" y="7055424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20775368" y="7055424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0.08</a:t>
            </a:r>
          </a:p>
        </p:txBody>
      </p:sp>
      <p:sp>
        <p:nvSpPr>
          <p:cNvPr id="666" name="Rectangle 665"/>
          <p:cNvSpPr/>
          <p:nvPr/>
        </p:nvSpPr>
        <p:spPr>
          <a:xfrm>
            <a:off x="19362068" y="7526799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20068718" y="7526799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668" name="Rectangle 667"/>
          <p:cNvSpPr/>
          <p:nvPr/>
        </p:nvSpPr>
        <p:spPr>
          <a:xfrm>
            <a:off x="20775368" y="7526799"/>
            <a:ext cx="463826" cy="234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0.08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21482018" y="7526799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0.09</a:t>
            </a:r>
          </a:p>
        </p:txBody>
      </p:sp>
      <p:sp>
        <p:nvSpPr>
          <p:cNvPr id="672" name="Rectangle 671"/>
          <p:cNvSpPr/>
          <p:nvPr/>
        </p:nvSpPr>
        <p:spPr>
          <a:xfrm>
            <a:off x="19362068" y="7976909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673" name="Rectangle 672"/>
          <p:cNvSpPr/>
          <p:nvPr/>
        </p:nvSpPr>
        <p:spPr>
          <a:xfrm>
            <a:off x="20068718" y="7976909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674" name="Rectangle 673"/>
          <p:cNvSpPr/>
          <p:nvPr/>
        </p:nvSpPr>
        <p:spPr>
          <a:xfrm>
            <a:off x="20775368" y="7976909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0.08</a:t>
            </a:r>
          </a:p>
        </p:txBody>
      </p:sp>
      <p:sp>
        <p:nvSpPr>
          <p:cNvPr id="675" name="Rectangle 674"/>
          <p:cNvSpPr/>
          <p:nvPr/>
        </p:nvSpPr>
        <p:spPr>
          <a:xfrm>
            <a:off x="21482018" y="7976909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0.09</a:t>
            </a:r>
          </a:p>
        </p:txBody>
      </p:sp>
      <p:sp>
        <p:nvSpPr>
          <p:cNvPr id="676" name="Rectangle 675"/>
          <p:cNvSpPr/>
          <p:nvPr/>
        </p:nvSpPr>
        <p:spPr>
          <a:xfrm>
            <a:off x="22188668" y="7976909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678" name="Rectangle 677"/>
          <p:cNvSpPr/>
          <p:nvPr/>
        </p:nvSpPr>
        <p:spPr>
          <a:xfrm>
            <a:off x="19362068" y="8448284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679" name="Rectangle 678"/>
          <p:cNvSpPr/>
          <p:nvPr/>
        </p:nvSpPr>
        <p:spPr>
          <a:xfrm>
            <a:off x="20068718" y="8448284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680" name="Rectangle 679"/>
          <p:cNvSpPr/>
          <p:nvPr/>
        </p:nvSpPr>
        <p:spPr>
          <a:xfrm>
            <a:off x="20775368" y="8448284"/>
            <a:ext cx="463826" cy="234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0.08</a:t>
            </a:r>
          </a:p>
        </p:txBody>
      </p:sp>
      <p:sp>
        <p:nvSpPr>
          <p:cNvPr id="681" name="Rectangle 680"/>
          <p:cNvSpPr/>
          <p:nvPr/>
        </p:nvSpPr>
        <p:spPr>
          <a:xfrm>
            <a:off x="21482018" y="8448284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0.09</a:t>
            </a:r>
          </a:p>
        </p:txBody>
      </p:sp>
      <p:sp>
        <p:nvSpPr>
          <p:cNvPr id="682" name="Rectangle 681"/>
          <p:cNvSpPr/>
          <p:nvPr/>
        </p:nvSpPr>
        <p:spPr>
          <a:xfrm>
            <a:off x="22188668" y="8448284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683" name="Rectangle 682"/>
          <p:cNvSpPr/>
          <p:nvPr/>
        </p:nvSpPr>
        <p:spPr>
          <a:xfrm>
            <a:off x="22895319" y="8448284"/>
            <a:ext cx="463826" cy="234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0.78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17852304" y="6524632"/>
            <a:ext cx="1398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2nd</a:t>
            </a:r>
            <a:r>
              <a:rPr lang="zh-CN" altLang="en-US" dirty="0"/>
              <a:t> </a:t>
            </a:r>
            <a:r>
              <a:rPr lang="en-US" altLang="zh-CN" dirty="0"/>
              <a:t>iteration</a:t>
            </a:r>
            <a:endParaRPr lang="en-US" dirty="0"/>
          </a:p>
        </p:txBody>
      </p:sp>
      <p:sp>
        <p:nvSpPr>
          <p:cNvPr id="685" name="TextBox 684"/>
          <p:cNvSpPr txBox="1"/>
          <p:nvPr/>
        </p:nvSpPr>
        <p:spPr>
          <a:xfrm>
            <a:off x="17852304" y="7013411"/>
            <a:ext cx="1353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3rd</a:t>
            </a:r>
            <a:r>
              <a:rPr lang="zh-CN" altLang="en-US" dirty="0"/>
              <a:t> </a:t>
            </a:r>
            <a:r>
              <a:rPr lang="en-US" altLang="zh-CN" dirty="0"/>
              <a:t>iteration</a:t>
            </a:r>
            <a:endParaRPr lang="en-US" dirty="0"/>
          </a:p>
        </p:txBody>
      </p:sp>
      <p:sp>
        <p:nvSpPr>
          <p:cNvPr id="686" name="TextBox 685"/>
          <p:cNvSpPr txBox="1"/>
          <p:nvPr/>
        </p:nvSpPr>
        <p:spPr>
          <a:xfrm>
            <a:off x="17852304" y="7459133"/>
            <a:ext cx="13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  <a:r>
              <a:rPr lang="zh-CN" altLang="en-US" dirty="0"/>
              <a:t> </a:t>
            </a:r>
            <a:r>
              <a:rPr lang="en-US" altLang="zh-CN" dirty="0"/>
              <a:t>iteration</a:t>
            </a:r>
            <a:endParaRPr lang="en-US" dirty="0"/>
          </a:p>
        </p:txBody>
      </p:sp>
      <p:sp>
        <p:nvSpPr>
          <p:cNvPr id="687" name="TextBox 686"/>
          <p:cNvSpPr txBox="1"/>
          <p:nvPr/>
        </p:nvSpPr>
        <p:spPr>
          <a:xfrm>
            <a:off x="17852304" y="7934857"/>
            <a:ext cx="13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5th</a:t>
            </a:r>
            <a:r>
              <a:rPr lang="zh-CN" altLang="en-US" dirty="0"/>
              <a:t> </a:t>
            </a:r>
            <a:r>
              <a:rPr lang="en-US" altLang="zh-CN" dirty="0"/>
              <a:t>iteration</a:t>
            </a:r>
            <a:endParaRPr lang="en-US" dirty="0"/>
          </a:p>
        </p:txBody>
      </p:sp>
      <p:sp>
        <p:nvSpPr>
          <p:cNvPr id="688" name="TextBox 687"/>
          <p:cNvSpPr txBox="1"/>
          <p:nvPr/>
        </p:nvSpPr>
        <p:spPr>
          <a:xfrm>
            <a:off x="17852304" y="8423636"/>
            <a:ext cx="13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6th</a:t>
            </a:r>
            <a:r>
              <a:rPr lang="zh-CN" altLang="en-US" dirty="0"/>
              <a:t> </a:t>
            </a:r>
            <a:r>
              <a:rPr lang="en-US" altLang="zh-CN" dirty="0"/>
              <a:t>iteration</a:t>
            </a:r>
            <a:endParaRPr lang="en-US" dirty="0"/>
          </a:p>
        </p:txBody>
      </p:sp>
      <p:sp>
        <p:nvSpPr>
          <p:cNvPr id="690" name="TextBox 689"/>
          <p:cNvSpPr txBox="1"/>
          <p:nvPr/>
        </p:nvSpPr>
        <p:spPr>
          <a:xfrm>
            <a:off x="17779704" y="9949328"/>
            <a:ext cx="21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Pruned Probabilities:</a:t>
            </a:r>
          </a:p>
        </p:txBody>
      </p:sp>
      <p:sp>
        <p:nvSpPr>
          <p:cNvPr id="691" name="Rectangle 690"/>
          <p:cNvSpPr/>
          <p:nvPr/>
        </p:nvSpPr>
        <p:spPr>
          <a:xfrm>
            <a:off x="19381118" y="10391384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692" name="Rectangle 691"/>
          <p:cNvSpPr/>
          <p:nvPr/>
        </p:nvSpPr>
        <p:spPr>
          <a:xfrm>
            <a:off x="20087768" y="10391384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0.01</a:t>
            </a:r>
          </a:p>
        </p:txBody>
      </p:sp>
      <p:sp>
        <p:nvSpPr>
          <p:cNvPr id="694" name="Rectangle 693"/>
          <p:cNvSpPr/>
          <p:nvPr/>
        </p:nvSpPr>
        <p:spPr>
          <a:xfrm>
            <a:off x="21501068" y="10391384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0.09</a:t>
            </a:r>
          </a:p>
        </p:txBody>
      </p:sp>
      <p:sp>
        <p:nvSpPr>
          <p:cNvPr id="695" name="Rectangle 694"/>
          <p:cNvSpPr/>
          <p:nvPr/>
        </p:nvSpPr>
        <p:spPr>
          <a:xfrm>
            <a:off x="22207718" y="10391384"/>
            <a:ext cx="463826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cxnSp>
        <p:nvCxnSpPr>
          <p:cNvPr id="698" name="Straight Arrow Connector 697"/>
          <p:cNvCxnSpPr/>
          <p:nvPr/>
        </p:nvCxnSpPr>
        <p:spPr>
          <a:xfrm>
            <a:off x="20589062" y="9270138"/>
            <a:ext cx="0" cy="79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9" name="TextBox 698"/>
          <p:cNvSpPr txBox="1"/>
          <p:nvPr/>
        </p:nvSpPr>
        <p:spPr>
          <a:xfrm>
            <a:off x="20917697" y="9316945"/>
            <a:ext cx="329263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 Knowledge-based Pruning</a:t>
            </a:r>
          </a:p>
        </p:txBody>
      </p:sp>
      <p:cxnSp>
        <p:nvCxnSpPr>
          <p:cNvPr id="700" name="Elbow Connector 699"/>
          <p:cNvCxnSpPr>
            <a:stCxn id="60" idx="3"/>
            <a:endCxn id="652" idx="1"/>
          </p:cNvCxnSpPr>
          <p:nvPr/>
        </p:nvCxnSpPr>
        <p:spPr>
          <a:xfrm flipV="1">
            <a:off x="17175898" y="4410635"/>
            <a:ext cx="762498" cy="3638454"/>
          </a:xfrm>
          <a:prstGeom prst="bentConnector3">
            <a:avLst>
              <a:gd name="adj1" fmla="val 31065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5" name="Rectangle 704"/>
          <p:cNvSpPr/>
          <p:nvPr/>
        </p:nvSpPr>
        <p:spPr>
          <a:xfrm>
            <a:off x="26367606" y="6033787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706" name="Rectangle 705"/>
          <p:cNvSpPr/>
          <p:nvPr/>
        </p:nvSpPr>
        <p:spPr>
          <a:xfrm>
            <a:off x="26367606" y="6403904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0.48</a:t>
            </a:r>
          </a:p>
        </p:txBody>
      </p:sp>
      <p:sp>
        <p:nvSpPr>
          <p:cNvPr id="707" name="Rectangle 706"/>
          <p:cNvSpPr/>
          <p:nvPr/>
        </p:nvSpPr>
        <p:spPr>
          <a:xfrm>
            <a:off x="26367606" y="6774022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0.38</a:t>
            </a:r>
          </a:p>
        </p:txBody>
      </p:sp>
      <p:sp>
        <p:nvSpPr>
          <p:cNvPr id="710" name="Rectangle 709"/>
          <p:cNvSpPr/>
          <p:nvPr/>
        </p:nvSpPr>
        <p:spPr>
          <a:xfrm>
            <a:off x="26367606" y="5663670"/>
            <a:ext cx="463826" cy="234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0.98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27052268" y="5663670"/>
            <a:ext cx="3499514" cy="23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12" name="Rectangle 711"/>
          <p:cNvSpPr/>
          <p:nvPr/>
        </p:nvSpPr>
        <p:spPr>
          <a:xfrm>
            <a:off x="27052268" y="6033787"/>
            <a:ext cx="3499514" cy="23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13" name="Rectangle 712"/>
          <p:cNvSpPr/>
          <p:nvPr/>
        </p:nvSpPr>
        <p:spPr>
          <a:xfrm>
            <a:off x="27052268" y="6403904"/>
            <a:ext cx="1636744" cy="23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16" name="Rectangle 715"/>
          <p:cNvSpPr/>
          <p:nvPr/>
        </p:nvSpPr>
        <p:spPr>
          <a:xfrm>
            <a:off x="27052268" y="6774022"/>
            <a:ext cx="1292445" cy="23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19" name="TextBox 718"/>
          <p:cNvSpPr txBox="1"/>
          <p:nvPr/>
        </p:nvSpPr>
        <p:spPr>
          <a:xfrm>
            <a:off x="26787120" y="9032088"/>
            <a:ext cx="76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radley Hand" pitchFamily="2" charset="77"/>
              </a:rPr>
              <a:t>P()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530474" y="8612170"/>
            <a:ext cx="1944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039628" y="8684895"/>
            <a:ext cx="1944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81563" y="8724771"/>
            <a:ext cx="110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7302" y="8035489"/>
            <a:ext cx="147599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9306" y="6186517"/>
            <a:ext cx="8164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Developer Accomplishing Tasks Using Prior Knowlledge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36" y="9467155"/>
            <a:ext cx="1040112" cy="10401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26960" y="9724934"/>
            <a:ext cx="56272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LLM Trained Using Open Source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922" y="3594290"/>
            <a:ext cx="11412000" cy="1980000"/>
          </a:xfrm>
          <a:prstGeom prst="roundRect">
            <a:avLst>
              <a:gd name="adj" fmla="val 2712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00922" y="7270382"/>
            <a:ext cx="11412000" cy="1980000"/>
          </a:xfrm>
          <a:prstGeom prst="roundRect">
            <a:avLst>
              <a:gd name="adj" fmla="val 2712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027008" y="8448584"/>
            <a:ext cx="3276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check_metadata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008" y="8149683"/>
            <a:ext cx="3276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match_hostname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cert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hostname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):…</a:t>
            </a:r>
          </a:p>
          <a:p>
            <a:endParaRPr lang="en-US" sz="11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7008" y="7846204"/>
            <a:ext cx="3276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):…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1869" y="805580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368" y="7627419"/>
            <a:ext cx="447148" cy="447148"/>
          </a:xfrm>
          <a:prstGeom prst="rect">
            <a:avLst/>
          </a:prstGeom>
        </p:spPr>
      </p:pic>
      <p:sp>
        <p:nvSpPr>
          <p:cNvPr id="36" name="Right Brace 35"/>
          <p:cNvSpPr/>
          <p:nvPr/>
        </p:nvSpPr>
        <p:spPr>
          <a:xfrm>
            <a:off x="805436" y="7802515"/>
            <a:ext cx="164474" cy="952240"/>
          </a:xfrm>
          <a:prstGeom prst="rightBrace">
            <a:avLst>
              <a:gd name="adj1" fmla="val 25000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958" y="8030475"/>
            <a:ext cx="871012" cy="43550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23835" y="845280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93761" y="8724771"/>
            <a:ext cx="213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 Resources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27665" y="11491845"/>
            <a:ext cx="264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Copyright</a:t>
            </a:r>
            <a:r>
              <a:rPr lang="en-US" altLang="zh-CN" dirty="0"/>
              <a:t>-Protected </a:t>
            </a:r>
            <a:r>
              <a:rPr lang="en-US" dirty="0"/>
              <a:t>Code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910" y="11996486"/>
            <a:ext cx="1040112" cy="1040112"/>
          </a:xfrm>
          <a:prstGeom prst="rect">
            <a:avLst/>
          </a:prstGeom>
        </p:spPr>
      </p:pic>
      <p:sp>
        <p:nvSpPr>
          <p:cNvPr id="406" name="TextBox 405"/>
          <p:cNvSpPr txBox="1"/>
          <p:nvPr/>
        </p:nvSpPr>
        <p:spPr>
          <a:xfrm>
            <a:off x="12980042" y="3855617"/>
            <a:ext cx="30565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07" name="TextBox 406"/>
          <p:cNvSpPr txBox="1"/>
          <p:nvPr/>
        </p:nvSpPr>
        <p:spPr>
          <a:xfrm>
            <a:off x="13460989" y="3855617"/>
            <a:ext cx="312068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</a:rPr>
              <a:t>self</a:t>
            </a:r>
            <a:endParaRPr lang="en-US" sz="900" dirty="0">
              <a:solidFill>
                <a:srgbClr val="3B3B3B"/>
              </a:solidFill>
            </a:endParaRPr>
          </a:p>
        </p:txBody>
      </p:sp>
      <p:sp>
        <p:nvSpPr>
          <p:cNvPr id="408" name="TextBox 407"/>
          <p:cNvSpPr txBox="1"/>
          <p:nvPr/>
        </p:nvSpPr>
        <p:spPr>
          <a:xfrm>
            <a:off x="13320704" y="3855617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(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4504639" y="3855617"/>
            <a:ext cx="17421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3808063" y="3855617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/>
              <a:t>,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3948348" y="3855617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2" name="TextBox 411"/>
          <p:cNvSpPr txBox="1"/>
          <p:nvPr/>
        </p:nvSpPr>
        <p:spPr>
          <a:xfrm>
            <a:off x="14295421" y="3855617"/>
            <a:ext cx="17421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):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3308431" y="4127630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4" name="TextBox 413"/>
          <p:cNvSpPr txBox="1"/>
          <p:nvPr/>
        </p:nvSpPr>
        <p:spPr>
          <a:xfrm>
            <a:off x="13591182" y="4127630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5" name="TextBox 414"/>
          <p:cNvSpPr txBox="1"/>
          <p:nvPr/>
        </p:nvSpPr>
        <p:spPr>
          <a:xfrm>
            <a:off x="13805006" y="4127630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,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3949899" y="4127630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14163723" y="4127630"/>
            <a:ext cx="24313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14446475" y="4127630"/>
            <a:ext cx="71923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9" name="TextBox 418"/>
          <p:cNvSpPr txBox="1"/>
          <p:nvPr/>
        </p:nvSpPr>
        <p:spPr>
          <a:xfrm>
            <a:off x="15205319" y="4127630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5350213" y="4127630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1" name="TextBox 420"/>
          <p:cNvSpPr txBox="1"/>
          <p:nvPr/>
        </p:nvSpPr>
        <p:spPr>
          <a:xfrm>
            <a:off x="15632964" y="4127630"/>
            <a:ext cx="17421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):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3617089" y="4404485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3" name="TextBox 422"/>
          <p:cNvSpPr txBox="1"/>
          <p:nvPr/>
        </p:nvSpPr>
        <p:spPr>
          <a:xfrm>
            <a:off x="13821435" y="4404485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795E26"/>
                </a:solidFill>
                <a:latin typeface="Menlo" panose="020B0609030804020204" pitchFamily="49" charset="0"/>
              </a:rPr>
              <a:t>len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14163640" y="4404485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(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425" name="TextBox 424"/>
          <p:cNvSpPr txBox="1"/>
          <p:nvPr/>
        </p:nvSpPr>
        <p:spPr>
          <a:xfrm>
            <a:off x="14299057" y="4404485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426" name="TextBox 425"/>
          <p:cNvSpPr txBox="1"/>
          <p:nvPr/>
        </p:nvSpPr>
        <p:spPr>
          <a:xfrm>
            <a:off x="14434474" y="4404485"/>
            <a:ext cx="105281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)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427" name="TextBox 426"/>
          <p:cNvSpPr txBox="1"/>
          <p:nvPr/>
        </p:nvSpPr>
        <p:spPr>
          <a:xfrm>
            <a:off x="14569890" y="4404485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8" name="TextBox 427"/>
          <p:cNvSpPr txBox="1"/>
          <p:nvPr/>
        </p:nvSpPr>
        <p:spPr>
          <a:xfrm>
            <a:off x="14774236" y="4404485"/>
            <a:ext cx="38099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9" name="TextBox 428"/>
          <p:cNvSpPr txBox="1"/>
          <p:nvPr/>
        </p:nvSpPr>
        <p:spPr>
          <a:xfrm>
            <a:off x="15185371" y="4404485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5320788" y="4404485"/>
            <a:ext cx="24313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max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5594063" y="4404485"/>
            <a:ext cx="105281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_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5729480" y="4404485"/>
            <a:ext cx="24313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col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6002755" y="4404485"/>
            <a:ext cx="105281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_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16480376" y="4404485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16615793" y="4404485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37" name="TextBox 436"/>
          <p:cNvSpPr txBox="1"/>
          <p:nvPr/>
        </p:nvSpPr>
        <p:spPr>
          <a:xfrm>
            <a:off x="16751209" y="4404485"/>
            <a:ext cx="17421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]: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5846789" y="4127630"/>
            <a:ext cx="17421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6955550" y="4404485"/>
            <a:ext cx="174210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6138171" y="4404485"/>
            <a:ext cx="312068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size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2980817" y="4127630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2980817" y="4404485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3298953" y="4404485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63340" y="3773444"/>
            <a:ext cx="4338047" cy="1227834"/>
          </a:xfrm>
          <a:prstGeom prst="roundRect">
            <a:avLst>
              <a:gd name="adj" fmla="val 2712"/>
            </a:avLst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4" idx="3"/>
            <a:endCxn id="48" idx="1"/>
          </p:cNvCxnSpPr>
          <p:nvPr/>
        </p:nvCxnSpPr>
        <p:spPr>
          <a:xfrm flipV="1">
            <a:off x="11214136" y="4387361"/>
            <a:ext cx="1649204" cy="123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12837851" y="7435172"/>
            <a:ext cx="4338047" cy="1227834"/>
            <a:chOff x="12661458" y="7114474"/>
            <a:chExt cx="4338047" cy="1227834"/>
          </a:xfrm>
        </p:grpSpPr>
        <p:sp>
          <p:nvSpPr>
            <p:cNvPr id="488" name="TextBox 487"/>
            <p:cNvSpPr txBox="1"/>
            <p:nvPr/>
          </p:nvSpPr>
          <p:spPr>
            <a:xfrm>
              <a:off x="12828913" y="7186215"/>
              <a:ext cx="305656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>
                  <a:solidFill>
                    <a:srgbClr val="795E26"/>
                  </a:solidFill>
                  <a:latin typeface="Menlo" panose="020B0609030804020204" pitchFamily="49" charset="0"/>
                </a:rPr>
                <a:t>add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489" name="TextBox 488"/>
            <p:cNvSpPr txBox="1"/>
            <p:nvPr/>
          </p:nvSpPr>
          <p:spPr>
            <a:xfrm>
              <a:off x="13309860" y="7186215"/>
              <a:ext cx="312068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CE9178"/>
                  </a:solidFill>
                  <a:latin typeface="Menlo" panose="020B0609030804020204" pitchFamily="49" charset="0"/>
                </a:defRPr>
              </a:lvl1pPr>
            </a:lstStyle>
            <a:p>
              <a:pPr algn="ctr"/>
              <a:r>
                <a:rPr lang="en-US" sz="900" dirty="0">
                  <a:solidFill>
                    <a:srgbClr val="001080"/>
                  </a:solidFill>
                </a:rPr>
                <a:t>self</a:t>
              </a:r>
              <a:endParaRPr lang="en-US" sz="900" dirty="0">
                <a:solidFill>
                  <a:srgbClr val="3B3B3B"/>
                </a:solidFill>
              </a:endParaRPr>
            </a:p>
          </p:txBody>
        </p:sp>
        <p:sp>
          <p:nvSpPr>
            <p:cNvPr id="490" name="TextBox 489"/>
            <p:cNvSpPr txBox="1"/>
            <p:nvPr/>
          </p:nvSpPr>
          <p:spPr>
            <a:xfrm>
              <a:off x="13169575" y="7186215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CE9178"/>
                  </a:solidFill>
                  <a:latin typeface="Menlo" panose="020B0609030804020204" pitchFamily="49" charset="0"/>
                </a:defRPr>
              </a:lvl1pPr>
            </a:lstStyle>
            <a:p>
              <a:pPr algn="ctr"/>
              <a:r>
                <a:rPr lang="en-US" sz="900" dirty="0">
                  <a:solidFill>
                    <a:srgbClr val="3B3B3B"/>
                  </a:solidFill>
                </a:rPr>
                <a:t>(</a:t>
              </a:r>
            </a:p>
          </p:txBody>
        </p:sp>
        <p:sp>
          <p:nvSpPr>
            <p:cNvPr id="491" name="TextBox 490"/>
            <p:cNvSpPr txBox="1"/>
            <p:nvPr/>
          </p:nvSpPr>
          <p:spPr>
            <a:xfrm>
              <a:off x="14353510" y="7186215"/>
              <a:ext cx="174210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D7BA7D"/>
                  </a:solidFill>
                  <a:latin typeface="Menlo" panose="020B0609030804020204" pitchFamily="49" charset="0"/>
                </a:rPr>
                <a:t>\n</a:t>
              </a:r>
            </a:p>
          </p:txBody>
        </p:sp>
        <p:sp>
          <p:nvSpPr>
            <p:cNvPr id="492" name="TextBox 491"/>
            <p:cNvSpPr txBox="1"/>
            <p:nvPr/>
          </p:nvSpPr>
          <p:spPr>
            <a:xfrm>
              <a:off x="13656934" y="7186215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CE9178"/>
                  </a:solidFill>
                  <a:latin typeface="Menlo" panose="020B0609030804020204" pitchFamily="49" charset="0"/>
                </a:defRPr>
              </a:lvl1pPr>
            </a:lstStyle>
            <a:p>
              <a:pPr algn="ctr"/>
              <a:r>
                <a:rPr lang="en-US" sz="900" dirty="0"/>
                <a:t>,</a:t>
              </a:r>
            </a:p>
          </p:txBody>
        </p:sp>
        <p:sp>
          <p:nvSpPr>
            <p:cNvPr id="493" name="TextBox 492"/>
            <p:cNvSpPr txBox="1"/>
            <p:nvPr/>
          </p:nvSpPr>
          <p:spPr>
            <a:xfrm>
              <a:off x="13797219" y="7186215"/>
              <a:ext cx="312068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>
                  <a:solidFill>
                    <a:srgbClr val="001080"/>
                  </a:solidFill>
                  <a:latin typeface="Menlo" panose="020B0609030804020204" pitchFamily="49" charset="0"/>
                </a:rPr>
                <a:t>row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494" name="TextBox 493"/>
            <p:cNvSpPr txBox="1"/>
            <p:nvPr/>
          </p:nvSpPr>
          <p:spPr>
            <a:xfrm>
              <a:off x="14144292" y="7186215"/>
              <a:ext cx="174210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CE9178"/>
                  </a:solidFill>
                  <a:latin typeface="Menlo" panose="020B0609030804020204" pitchFamily="49" charset="0"/>
                </a:defRPr>
              </a:lvl1pPr>
            </a:lstStyle>
            <a:p>
              <a:pPr algn="ctr"/>
              <a:r>
                <a:rPr lang="en-US" sz="900" dirty="0">
                  <a:solidFill>
                    <a:srgbClr val="3B3B3B"/>
                  </a:solidFill>
                </a:rPr>
                <a:t>):</a:t>
              </a:r>
            </a:p>
          </p:txBody>
        </p:sp>
        <p:sp>
          <p:nvSpPr>
            <p:cNvPr id="495" name="TextBox 494"/>
            <p:cNvSpPr txBox="1"/>
            <p:nvPr/>
          </p:nvSpPr>
          <p:spPr>
            <a:xfrm>
              <a:off x="13157302" y="7458228"/>
              <a:ext cx="243139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AF00DB"/>
                  </a:solidFill>
                  <a:latin typeface="Menlo" panose="020B0609030804020204" pitchFamily="49" charset="0"/>
                </a:rPr>
                <a:t>for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496" name="TextBox 495"/>
            <p:cNvSpPr txBox="1"/>
            <p:nvPr/>
          </p:nvSpPr>
          <p:spPr>
            <a:xfrm>
              <a:off x="13440053" y="7458228"/>
              <a:ext cx="174210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 err="1">
                  <a:solidFill>
                    <a:srgbClr val="001080"/>
                  </a:solidFill>
                  <a:latin typeface="Menlo" panose="020B0609030804020204" pitchFamily="49" charset="0"/>
                </a:rPr>
                <a:t>i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497" name="TextBox 496"/>
            <p:cNvSpPr txBox="1"/>
            <p:nvPr/>
          </p:nvSpPr>
          <p:spPr>
            <a:xfrm>
              <a:off x="13653877" y="7458228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,</a:t>
              </a:r>
            </a:p>
          </p:txBody>
        </p:sp>
        <p:sp>
          <p:nvSpPr>
            <p:cNvPr id="498" name="TextBox 497"/>
            <p:cNvSpPr txBox="1"/>
            <p:nvPr/>
          </p:nvSpPr>
          <p:spPr>
            <a:xfrm>
              <a:off x="13798770" y="7458228"/>
              <a:ext cx="174210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>
                  <a:solidFill>
                    <a:srgbClr val="001080"/>
                  </a:solidFill>
                  <a:latin typeface="Menlo" panose="020B0609030804020204" pitchFamily="49" charset="0"/>
                </a:rPr>
                <a:t>f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499" name="TextBox 498"/>
            <p:cNvSpPr txBox="1"/>
            <p:nvPr/>
          </p:nvSpPr>
          <p:spPr>
            <a:xfrm>
              <a:off x="14012594" y="7458228"/>
              <a:ext cx="243139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>
                  <a:solidFill>
                    <a:srgbClr val="AF00DB"/>
                  </a:solidFill>
                  <a:latin typeface="Menlo" panose="020B0609030804020204" pitchFamily="49" charset="0"/>
                </a:rPr>
                <a:t>in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00" name="TextBox 499"/>
            <p:cNvSpPr txBox="1"/>
            <p:nvPr/>
          </p:nvSpPr>
          <p:spPr>
            <a:xfrm>
              <a:off x="14295346" y="7458228"/>
              <a:ext cx="71923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>
                  <a:solidFill>
                    <a:srgbClr val="267F99"/>
                  </a:solidFill>
                  <a:latin typeface="Menlo" panose="020B0609030804020204" pitchFamily="49" charset="0"/>
                </a:rPr>
                <a:t>enumerate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01" name="TextBox 500"/>
            <p:cNvSpPr txBox="1"/>
            <p:nvPr/>
          </p:nvSpPr>
          <p:spPr>
            <a:xfrm>
              <a:off x="15054190" y="7458228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(</a:t>
              </a:r>
            </a:p>
          </p:txBody>
        </p:sp>
        <p:sp>
          <p:nvSpPr>
            <p:cNvPr id="502" name="TextBox 501"/>
            <p:cNvSpPr txBox="1"/>
            <p:nvPr/>
          </p:nvSpPr>
          <p:spPr>
            <a:xfrm>
              <a:off x="15199084" y="7458228"/>
              <a:ext cx="243139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1080"/>
                  </a:solidFill>
                  <a:latin typeface="Menlo" panose="020B0609030804020204" pitchFamily="49" charset="0"/>
                </a:rPr>
                <a:t>row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03" name="TextBox 502"/>
            <p:cNvSpPr txBox="1"/>
            <p:nvPr/>
          </p:nvSpPr>
          <p:spPr>
            <a:xfrm>
              <a:off x="15481835" y="7458228"/>
              <a:ext cx="174210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):</a:t>
              </a:r>
            </a:p>
          </p:txBody>
        </p:sp>
        <p:sp>
          <p:nvSpPr>
            <p:cNvPr id="504" name="TextBox 503"/>
            <p:cNvSpPr txBox="1"/>
            <p:nvPr/>
          </p:nvSpPr>
          <p:spPr>
            <a:xfrm>
              <a:off x="13467138" y="7735083"/>
              <a:ext cx="174210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AF00DB"/>
                  </a:solidFill>
                  <a:latin typeface="Menlo" panose="020B0609030804020204" pitchFamily="49" charset="0"/>
                </a:rPr>
                <a:t>if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05" name="TextBox 504"/>
            <p:cNvSpPr txBox="1"/>
            <p:nvPr/>
          </p:nvSpPr>
          <p:spPr>
            <a:xfrm>
              <a:off x="13672073" y="7735083"/>
              <a:ext cx="312068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 err="1">
                  <a:solidFill>
                    <a:srgbClr val="795E26"/>
                  </a:solidFill>
                  <a:latin typeface="Menlo" panose="020B0609030804020204" pitchFamily="49" charset="0"/>
                </a:rPr>
                <a:t>len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06" name="TextBox 505"/>
            <p:cNvSpPr txBox="1"/>
            <p:nvPr/>
          </p:nvSpPr>
          <p:spPr>
            <a:xfrm>
              <a:off x="14014866" y="7735083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CE9178"/>
                  </a:solidFill>
                  <a:latin typeface="Menlo" panose="020B0609030804020204" pitchFamily="49" charset="0"/>
                </a:rPr>
                <a:t>(</a:t>
              </a:r>
              <a:endParaRPr lang="en-US" sz="900" dirty="0">
                <a:solidFill>
                  <a:srgbClr val="CCCCCC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07" name="TextBox 506"/>
            <p:cNvSpPr txBox="1"/>
            <p:nvPr/>
          </p:nvSpPr>
          <p:spPr>
            <a:xfrm>
              <a:off x="14150872" y="7735083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CE9178"/>
                  </a:solidFill>
                  <a:latin typeface="Menlo" panose="020B0609030804020204" pitchFamily="49" charset="0"/>
                </a:rPr>
                <a:t>f</a:t>
              </a:r>
              <a:endParaRPr lang="en-US" sz="900" dirty="0">
                <a:solidFill>
                  <a:srgbClr val="CCCCCC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08" name="TextBox 507"/>
            <p:cNvSpPr txBox="1"/>
            <p:nvPr/>
          </p:nvSpPr>
          <p:spPr>
            <a:xfrm>
              <a:off x="14286878" y="7735083"/>
              <a:ext cx="105281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CE9178"/>
                  </a:solidFill>
                  <a:latin typeface="Menlo" panose="020B0609030804020204" pitchFamily="49" charset="0"/>
                </a:rPr>
                <a:t>)</a:t>
              </a:r>
              <a:endParaRPr lang="en-US" sz="900" dirty="0">
                <a:solidFill>
                  <a:srgbClr val="CCCCCC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09" name="TextBox 508"/>
            <p:cNvSpPr txBox="1"/>
            <p:nvPr/>
          </p:nvSpPr>
          <p:spPr>
            <a:xfrm>
              <a:off x="14422884" y="7735083"/>
              <a:ext cx="174210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>
                  <a:solidFill>
                    <a:srgbClr val="000000"/>
                  </a:solidFill>
                  <a:latin typeface="Menlo" panose="020B0609030804020204" pitchFamily="49" charset="0"/>
                </a:rPr>
                <a:t>&gt;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10" name="TextBox 509"/>
            <p:cNvSpPr txBox="1"/>
            <p:nvPr/>
          </p:nvSpPr>
          <p:spPr>
            <a:xfrm>
              <a:off x="14627819" y="7735083"/>
              <a:ext cx="380998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>
                  <a:solidFill>
                    <a:srgbClr val="001080"/>
                  </a:solidFill>
                  <a:latin typeface="Menlo" panose="020B0609030804020204" pitchFamily="49" charset="0"/>
                </a:rPr>
                <a:t>self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11" name="TextBox 510"/>
            <p:cNvSpPr txBox="1"/>
            <p:nvPr/>
          </p:nvSpPr>
          <p:spPr>
            <a:xfrm>
              <a:off x="15039542" y="7735083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.</a:t>
              </a:r>
            </a:p>
          </p:txBody>
        </p:sp>
        <p:sp>
          <p:nvSpPr>
            <p:cNvPr id="512" name="TextBox 511"/>
            <p:cNvSpPr txBox="1"/>
            <p:nvPr/>
          </p:nvSpPr>
          <p:spPr>
            <a:xfrm>
              <a:off x="15175548" y="7735083"/>
              <a:ext cx="863502" cy="2308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 err="1">
                  <a:solidFill>
                    <a:srgbClr val="3B3B3B"/>
                  </a:solidFill>
                  <a:latin typeface="Menlo" panose="020B0609030804020204" pitchFamily="49" charset="0"/>
                </a:rPr>
                <a:t>max_col_size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16" name="TextBox 515"/>
            <p:cNvSpPr txBox="1"/>
            <p:nvPr/>
          </p:nvSpPr>
          <p:spPr>
            <a:xfrm>
              <a:off x="15641583" y="8011496"/>
              <a:ext cx="174210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>
                  <a:solidFill>
                    <a:srgbClr val="000000"/>
                  </a:solidFill>
                  <a:latin typeface="Menlo" panose="020B0609030804020204" pitchFamily="49" charset="0"/>
                </a:rPr>
                <a:t>=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17" name="TextBox 516"/>
            <p:cNvSpPr txBox="1"/>
            <p:nvPr/>
          </p:nvSpPr>
          <p:spPr>
            <a:xfrm>
              <a:off x="16069775" y="7735083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[</a:t>
              </a:r>
            </a:p>
          </p:txBody>
        </p:sp>
        <p:sp>
          <p:nvSpPr>
            <p:cNvPr id="518" name="TextBox 517"/>
            <p:cNvSpPr txBox="1"/>
            <p:nvPr/>
          </p:nvSpPr>
          <p:spPr>
            <a:xfrm>
              <a:off x="16205781" y="7735083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 err="1">
                  <a:solidFill>
                    <a:srgbClr val="001080"/>
                  </a:solidFill>
                  <a:latin typeface="Menlo" panose="020B0609030804020204" pitchFamily="49" charset="0"/>
                </a:rPr>
                <a:t>i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19" name="TextBox 518"/>
            <p:cNvSpPr txBox="1"/>
            <p:nvPr/>
          </p:nvSpPr>
          <p:spPr>
            <a:xfrm>
              <a:off x="16341787" y="7735083"/>
              <a:ext cx="174210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]:</a:t>
              </a:r>
            </a:p>
          </p:txBody>
        </p:sp>
        <p:sp>
          <p:nvSpPr>
            <p:cNvPr id="520" name="TextBox 519"/>
            <p:cNvSpPr txBox="1"/>
            <p:nvPr/>
          </p:nvSpPr>
          <p:spPr>
            <a:xfrm>
              <a:off x="15695660" y="7458228"/>
              <a:ext cx="174210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D7BA7D"/>
                  </a:solidFill>
                  <a:latin typeface="Menlo" panose="020B0609030804020204" pitchFamily="49" charset="0"/>
                </a:rPr>
                <a:t>\n</a:t>
              </a:r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16546727" y="7735083"/>
              <a:ext cx="174210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D7BA7D"/>
                  </a:solidFill>
                  <a:latin typeface="Menlo" panose="020B0609030804020204" pitchFamily="49" charset="0"/>
                </a:rPr>
                <a:t>\n</a:t>
              </a:r>
            </a:p>
          </p:txBody>
        </p:sp>
        <p:sp>
          <p:nvSpPr>
            <p:cNvPr id="522" name="TextBox 521"/>
            <p:cNvSpPr txBox="1"/>
            <p:nvPr/>
          </p:nvSpPr>
          <p:spPr>
            <a:xfrm>
              <a:off x="13812779" y="8011496"/>
              <a:ext cx="312068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1080"/>
                  </a:solidFill>
                  <a:latin typeface="Menlo" panose="020B0609030804020204" pitchFamily="49" charset="0"/>
                </a:rPr>
                <a:t>self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23" name="TextBox 522"/>
            <p:cNvSpPr txBox="1"/>
            <p:nvPr/>
          </p:nvSpPr>
          <p:spPr>
            <a:xfrm>
              <a:off x="14163532" y="8011496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.</a:t>
              </a:r>
            </a:p>
          </p:txBody>
        </p:sp>
        <p:sp>
          <p:nvSpPr>
            <p:cNvPr id="529" name="TextBox 528"/>
            <p:cNvSpPr txBox="1"/>
            <p:nvPr/>
          </p:nvSpPr>
          <p:spPr>
            <a:xfrm>
              <a:off x="15209685" y="8011496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[</a:t>
              </a:r>
            </a:p>
          </p:txBody>
        </p:sp>
        <p:sp>
          <p:nvSpPr>
            <p:cNvPr id="530" name="TextBox 529"/>
            <p:cNvSpPr txBox="1"/>
            <p:nvPr/>
          </p:nvSpPr>
          <p:spPr>
            <a:xfrm>
              <a:off x="15353651" y="8011496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 err="1">
                  <a:solidFill>
                    <a:srgbClr val="001080"/>
                  </a:solidFill>
                  <a:latin typeface="Menlo" panose="020B0609030804020204" pitchFamily="49" charset="0"/>
                </a:rPr>
                <a:t>i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31" name="TextBox 530"/>
            <p:cNvSpPr txBox="1"/>
            <p:nvPr/>
          </p:nvSpPr>
          <p:spPr>
            <a:xfrm>
              <a:off x="15497617" y="8011496"/>
              <a:ext cx="105281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]</a:t>
              </a:r>
            </a:p>
          </p:txBody>
        </p:sp>
        <p:sp>
          <p:nvSpPr>
            <p:cNvPr id="533" name="TextBox 532"/>
            <p:cNvSpPr txBox="1"/>
            <p:nvPr/>
          </p:nvSpPr>
          <p:spPr>
            <a:xfrm>
              <a:off x="15854478" y="8011496"/>
              <a:ext cx="312068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</a:t>
              </a:r>
              <a:r>
                <a:rPr lang="en-US" sz="900" dirty="0" err="1">
                  <a:solidFill>
                    <a:srgbClr val="795E26"/>
                  </a:solidFill>
                  <a:latin typeface="Menlo" panose="020B0609030804020204" pitchFamily="49" charset="0"/>
                </a:rPr>
                <a:t>len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34" name="TextBox 533"/>
            <p:cNvSpPr txBox="1"/>
            <p:nvPr/>
          </p:nvSpPr>
          <p:spPr>
            <a:xfrm>
              <a:off x="16205231" y="8011496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(</a:t>
              </a:r>
            </a:p>
          </p:txBody>
        </p:sp>
        <p:sp>
          <p:nvSpPr>
            <p:cNvPr id="535" name="TextBox 534"/>
            <p:cNvSpPr txBox="1"/>
            <p:nvPr/>
          </p:nvSpPr>
          <p:spPr>
            <a:xfrm>
              <a:off x="16349197" y="8011496"/>
              <a:ext cx="105281" cy="2308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1080"/>
                  </a:solidFill>
                  <a:latin typeface="Menlo" panose="020B0609030804020204" pitchFamily="49" charset="0"/>
                </a:rPr>
                <a:t>f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536" name="TextBox 535"/>
            <p:cNvSpPr txBox="1"/>
            <p:nvPr/>
          </p:nvSpPr>
          <p:spPr>
            <a:xfrm>
              <a:off x="16493169" y="8011496"/>
              <a:ext cx="105281" cy="2308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3B3B"/>
                  </a:solidFill>
                  <a:latin typeface="Menlo" panose="020B0609030804020204" pitchFamily="49" charset="0"/>
                </a:rPr>
                <a:t>)</a:t>
              </a:r>
            </a:p>
          </p:txBody>
        </p:sp>
        <p:sp>
          <p:nvSpPr>
            <p:cNvPr id="537" name="TextBox 536"/>
            <p:cNvSpPr txBox="1"/>
            <p:nvPr/>
          </p:nvSpPr>
          <p:spPr>
            <a:xfrm>
              <a:off x="12829688" y="7458228"/>
              <a:ext cx="288000" cy="230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⌷⌷⌷⌷</a:t>
              </a:r>
            </a:p>
          </p:txBody>
        </p:sp>
        <p:sp>
          <p:nvSpPr>
            <p:cNvPr id="538" name="TextBox 537"/>
            <p:cNvSpPr txBox="1"/>
            <p:nvPr/>
          </p:nvSpPr>
          <p:spPr>
            <a:xfrm>
              <a:off x="12829688" y="7735083"/>
              <a:ext cx="288000" cy="230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⌷⌷⌷⌷</a:t>
              </a:r>
            </a:p>
          </p:txBody>
        </p:sp>
        <p:sp>
          <p:nvSpPr>
            <p:cNvPr id="539" name="TextBox 538"/>
            <p:cNvSpPr txBox="1"/>
            <p:nvPr/>
          </p:nvSpPr>
          <p:spPr>
            <a:xfrm>
              <a:off x="13148413" y="7735083"/>
              <a:ext cx="288000" cy="230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⌷⌷⌷⌷</a:t>
              </a:r>
            </a:p>
          </p:txBody>
        </p:sp>
        <p:sp>
          <p:nvSpPr>
            <p:cNvPr id="540" name="TextBox 539"/>
            <p:cNvSpPr txBox="1"/>
            <p:nvPr/>
          </p:nvSpPr>
          <p:spPr>
            <a:xfrm>
              <a:off x="12832724" y="8011496"/>
              <a:ext cx="288000" cy="230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⌷⌷⌷⌷</a:t>
              </a:r>
            </a:p>
          </p:txBody>
        </p:sp>
        <p:sp>
          <p:nvSpPr>
            <p:cNvPr id="541" name="TextBox 540"/>
            <p:cNvSpPr txBox="1"/>
            <p:nvPr/>
          </p:nvSpPr>
          <p:spPr>
            <a:xfrm>
              <a:off x="13159409" y="8011496"/>
              <a:ext cx="288000" cy="230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⌷⌷⌷⌷</a:t>
              </a:r>
            </a:p>
          </p:txBody>
        </p:sp>
        <p:sp>
          <p:nvSpPr>
            <p:cNvPr id="542" name="TextBox 541"/>
            <p:cNvSpPr txBox="1"/>
            <p:nvPr/>
          </p:nvSpPr>
          <p:spPr>
            <a:xfrm>
              <a:off x="13486094" y="8011496"/>
              <a:ext cx="288000" cy="230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Menlo" panose="020B0609030804020204" pitchFamily="49" charset="0"/>
                </a:rPr>
                <a:t>⌷⌷⌷⌷</a:t>
              </a:r>
            </a:p>
          </p:txBody>
        </p:sp>
        <p:sp>
          <p:nvSpPr>
            <p:cNvPr id="543" name="TextBox 542"/>
            <p:cNvSpPr txBox="1"/>
            <p:nvPr/>
          </p:nvSpPr>
          <p:spPr>
            <a:xfrm>
              <a:off x="14307498" y="8011496"/>
              <a:ext cx="863502" cy="2308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lIns="18000" rIns="18000" rtlCol="0" anchor="ctr">
              <a:spAutoFit/>
            </a:bodyPr>
            <a:lstStyle/>
            <a:p>
              <a:pPr algn="ctr"/>
              <a:r>
                <a:rPr lang="en-US" sz="900" dirty="0" err="1">
                  <a:solidFill>
                    <a:srgbClr val="3B3B3B"/>
                  </a:solidFill>
                  <a:latin typeface="Menlo" panose="020B0609030804020204" pitchFamily="49" charset="0"/>
                </a:rPr>
                <a:t>max_col_size</a:t>
              </a:r>
              <a:endParaRPr lang="en-US" sz="900" dirty="0">
                <a:solidFill>
                  <a:srgbClr val="3B3B3B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2661458" y="7114474"/>
              <a:ext cx="4338047" cy="1227834"/>
            </a:xfrm>
            <a:prstGeom prst="roundRect">
              <a:avLst>
                <a:gd name="adj" fmla="val 2712"/>
              </a:avLst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Rounded Rectangle 602"/>
          <p:cNvSpPr/>
          <p:nvPr/>
        </p:nvSpPr>
        <p:spPr>
          <a:xfrm>
            <a:off x="17263014" y="8660392"/>
            <a:ext cx="6219319" cy="377899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Rounded Rectangle 601"/>
          <p:cNvSpPr/>
          <p:nvPr/>
        </p:nvSpPr>
        <p:spPr>
          <a:xfrm>
            <a:off x="17263014" y="7908965"/>
            <a:ext cx="6219319" cy="575982"/>
          </a:xfrm>
          <a:prstGeom prst="roundRect">
            <a:avLst>
              <a:gd name="adj" fmla="val 2712"/>
            </a:avLst>
          </a:prstGeom>
          <a:solidFill>
            <a:srgbClr val="7030A0">
              <a:alpha val="1362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Rounded Rectangle 643"/>
          <p:cNvSpPr/>
          <p:nvPr/>
        </p:nvSpPr>
        <p:spPr>
          <a:xfrm>
            <a:off x="16733705" y="3557879"/>
            <a:ext cx="7014639" cy="5691755"/>
          </a:xfrm>
          <a:prstGeom prst="roundRect">
            <a:avLst>
              <a:gd name="adj" fmla="val 2712"/>
            </a:avLst>
          </a:prstGeom>
          <a:solidFill>
            <a:srgbClr val="7030A0">
              <a:alpha val="3000"/>
            </a:srgbClr>
          </a:solidFill>
          <a:ln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1" name="Rounded Rectangle 750"/>
          <p:cNvSpPr/>
          <p:nvPr/>
        </p:nvSpPr>
        <p:spPr>
          <a:xfrm>
            <a:off x="17240127" y="4554357"/>
            <a:ext cx="6230322" cy="701711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2" name="Rounded Rectangle 641"/>
          <p:cNvSpPr/>
          <p:nvPr/>
        </p:nvSpPr>
        <p:spPr>
          <a:xfrm>
            <a:off x="11940367" y="4719918"/>
            <a:ext cx="4393854" cy="4530464"/>
          </a:xfrm>
          <a:prstGeom prst="roundRect">
            <a:avLst>
              <a:gd name="adj" fmla="val 2712"/>
            </a:avLst>
          </a:prstGeom>
          <a:solidFill>
            <a:srgbClr val="7030A0">
              <a:alpha val="3000"/>
            </a:srgbClr>
          </a:solidFill>
          <a:ln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" name="Rounded Rectangle 756"/>
          <p:cNvSpPr/>
          <p:nvPr/>
        </p:nvSpPr>
        <p:spPr>
          <a:xfrm>
            <a:off x="12015660" y="8182111"/>
            <a:ext cx="4248000" cy="902674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91871" y="7270382"/>
            <a:ext cx="10754570" cy="1980000"/>
          </a:xfrm>
          <a:prstGeom prst="roundRect">
            <a:avLst>
              <a:gd name="adj" fmla="val 2712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91870" y="3594290"/>
            <a:ext cx="10735527" cy="1980000"/>
          </a:xfrm>
          <a:prstGeom prst="roundRect">
            <a:avLst>
              <a:gd name="adj" fmla="val 2712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9" name="Rounded Rectangle 748"/>
          <p:cNvSpPr/>
          <p:nvPr/>
        </p:nvSpPr>
        <p:spPr>
          <a:xfrm>
            <a:off x="17240126" y="5805255"/>
            <a:ext cx="6219319" cy="1565504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961" y="4570229"/>
            <a:ext cx="895664" cy="8956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9018" y="5016268"/>
            <a:ext cx="32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Language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199" y="5016268"/>
            <a:ext cx="205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Task Specification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90268" y="4468127"/>
            <a:ext cx="2052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27495" y="5016268"/>
            <a:ext cx="264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Copyright</a:t>
            </a:r>
            <a:r>
              <a:rPr lang="en-US" altLang="zh-CN" dirty="0"/>
              <a:t>-Owned </a:t>
            </a:r>
            <a:r>
              <a:rPr lang="en-US" dirty="0"/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8687" y="3788434"/>
            <a:ext cx="1484317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For</a:t>
            </a:r>
          </a:p>
          <a:p>
            <a:pPr marL="342900" indent="-342900">
              <a:buAutoNum type="arabicPeriod"/>
            </a:pPr>
            <a:r>
              <a:rPr lang="en-US" dirty="0"/>
              <a:t>If Else</a:t>
            </a:r>
          </a:p>
          <a:p>
            <a:pPr marL="342900" indent="-342900">
              <a:buAutoNum type="arabicPeriod"/>
            </a:pPr>
            <a:r>
              <a:rPr lang="en-US" dirty="0"/>
              <a:t>Try except</a:t>
            </a:r>
          </a:p>
          <a:p>
            <a:pPr marL="342900" indent="-342900">
              <a:buAutoNum type="arabicPeriod"/>
            </a:pPr>
            <a:r>
              <a:rPr lang="en-US" dirty="0"/>
              <a:t>…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18" y="3839426"/>
            <a:ext cx="1016000" cy="101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5439" y="3949260"/>
            <a:ext cx="1475999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Programming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9986" y="7584190"/>
            <a:ext cx="1130986" cy="1130986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7595976" y="5799288"/>
            <a:ext cx="1636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Enumerating each tokens</a:t>
            </a:r>
          </a:p>
        </p:txBody>
      </p:sp>
      <p:cxnSp>
        <p:nvCxnSpPr>
          <p:cNvPr id="136" name="Straight Arrow Connector 135"/>
          <p:cNvCxnSpPr/>
          <p:nvPr/>
        </p:nvCxnSpPr>
        <p:spPr>
          <a:xfrm>
            <a:off x="25762972" y="7263015"/>
            <a:ext cx="0" cy="875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48683" y="3987164"/>
            <a:ext cx="3996000" cy="97887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	…</a:t>
            </a:r>
          </a:p>
          <a:p>
            <a:r>
              <a:rPr lang="en-US" sz="1100" dirty="0">
                <a:solidFill>
                  <a:srgbClr val="AF00DB"/>
                </a:solidFill>
                <a:latin typeface="Menlo" panose="020B0609030804020204" pitchFamily="49" charset="0"/>
              </a:rPr>
              <a:t>	for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1100" dirty="0">
                <a:solidFill>
                  <a:srgbClr val="AF00DB"/>
                </a:solidFill>
                <a:latin typeface="Menlo" panose="020B0609030804020204" pitchFamily="49" charset="0"/>
              </a:rPr>
              <a:t>		if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795E26"/>
                </a:solidFill>
                <a:latin typeface="Menlo" panose="020B0609030804020204" pitchFamily="49" charset="0"/>
              </a:rPr>
              <a:t>len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)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100" dirty="0" err="1">
                <a:solidFill>
                  <a:srgbClr val="3B3B3B"/>
                </a:solidFill>
                <a:latin typeface="Menlo" panose="020B0609030804020204" pitchFamily="49" charset="0"/>
              </a:rPr>
              <a:t>.max_col_size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  <a:r>
              <a:rPr lang="en-US" sz="11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]: </a:t>
            </a:r>
          </a:p>
          <a:p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	… </a:t>
            </a:r>
          </a:p>
        </p:txBody>
      </p:sp>
      <p:pic>
        <p:nvPicPr>
          <p:cNvPr id="463" name="Picture 4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9730" y="7575146"/>
            <a:ext cx="690099" cy="690099"/>
          </a:xfrm>
          <a:prstGeom prst="rect">
            <a:avLst/>
          </a:prstGeom>
        </p:spPr>
      </p:pic>
      <p:pic>
        <p:nvPicPr>
          <p:cNvPr id="464" name="Picture 4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667" y="7983387"/>
            <a:ext cx="690099" cy="690099"/>
          </a:xfrm>
          <a:prstGeom prst="rect">
            <a:avLst/>
          </a:prstGeom>
        </p:spPr>
      </p:pic>
      <p:pic>
        <p:nvPicPr>
          <p:cNvPr id="465" name="Picture 4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5109" y="7988359"/>
            <a:ext cx="690099" cy="690099"/>
          </a:xfrm>
          <a:prstGeom prst="rect">
            <a:avLst/>
          </a:prstGeom>
        </p:spPr>
      </p:pic>
      <p:sp>
        <p:nvSpPr>
          <p:cNvPr id="468" name="TextBox 467"/>
          <p:cNvSpPr txBox="1"/>
          <p:nvPr/>
        </p:nvSpPr>
        <p:spPr>
          <a:xfrm>
            <a:off x="4839738" y="8013814"/>
            <a:ext cx="1475999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Collecting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6555150" y="8724771"/>
            <a:ext cx="132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Codebase</a:t>
            </a:r>
          </a:p>
        </p:txBody>
      </p:sp>
      <p:cxnSp>
        <p:nvCxnSpPr>
          <p:cNvPr id="473" name="Straight Arrow Connector 472"/>
          <p:cNvCxnSpPr/>
          <p:nvPr/>
        </p:nvCxnSpPr>
        <p:spPr>
          <a:xfrm flipH="1">
            <a:off x="14056321" y="7622142"/>
            <a:ext cx="0" cy="5039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6" name="Cross 475"/>
          <p:cNvSpPr/>
          <p:nvPr/>
        </p:nvSpPr>
        <p:spPr>
          <a:xfrm>
            <a:off x="2081556" y="4204167"/>
            <a:ext cx="398174" cy="396349"/>
          </a:xfrm>
          <a:prstGeom prst="plus">
            <a:avLst>
              <a:gd name="adj" fmla="val 3772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7" name="TextBox 546"/>
          <p:cNvSpPr txBox="1"/>
          <p:nvPr/>
        </p:nvSpPr>
        <p:spPr>
          <a:xfrm>
            <a:off x="14692682" y="8190079"/>
            <a:ext cx="1538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Code Tokens</a:t>
            </a:r>
          </a:p>
        </p:txBody>
      </p:sp>
      <p:cxnSp>
        <p:nvCxnSpPr>
          <p:cNvPr id="551" name="Straight Arrow Connector 550"/>
          <p:cNvCxnSpPr/>
          <p:nvPr/>
        </p:nvCxnSpPr>
        <p:spPr>
          <a:xfrm>
            <a:off x="19887759" y="5256144"/>
            <a:ext cx="0" cy="5039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Elbow Connector 553"/>
          <p:cNvCxnSpPr>
            <a:stCxn id="47" idx="3"/>
            <a:endCxn id="642" idx="1"/>
          </p:cNvCxnSpPr>
          <p:nvPr/>
        </p:nvCxnSpPr>
        <p:spPr>
          <a:xfrm flipV="1">
            <a:off x="10950972" y="6985150"/>
            <a:ext cx="989395" cy="1164533"/>
          </a:xfrm>
          <a:prstGeom prst="bentConnector3">
            <a:avLst>
              <a:gd name="adj1" fmla="val 45301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5" name="TextBox 604"/>
          <p:cNvSpPr txBox="1"/>
          <p:nvPr/>
        </p:nvSpPr>
        <p:spPr>
          <a:xfrm>
            <a:off x="17325949" y="4944971"/>
            <a:ext cx="30565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06" name="TextBox 605"/>
          <p:cNvSpPr txBox="1"/>
          <p:nvPr/>
        </p:nvSpPr>
        <p:spPr>
          <a:xfrm>
            <a:off x="17806896" y="4944971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</a:rPr>
              <a:t>self</a:t>
            </a:r>
            <a:endParaRPr lang="en-US" sz="900" dirty="0">
              <a:solidFill>
                <a:srgbClr val="3B3B3B"/>
              </a:solidFill>
            </a:endParaRPr>
          </a:p>
        </p:txBody>
      </p:sp>
      <p:sp>
        <p:nvSpPr>
          <p:cNvPr id="607" name="TextBox 606"/>
          <p:cNvSpPr txBox="1"/>
          <p:nvPr/>
        </p:nvSpPr>
        <p:spPr>
          <a:xfrm>
            <a:off x="17666611" y="494497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(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18850546" y="494497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18153970" y="494497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/>
              <a:t>,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18294255" y="4944971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1" name="TextBox 610"/>
          <p:cNvSpPr txBox="1"/>
          <p:nvPr/>
        </p:nvSpPr>
        <p:spPr>
          <a:xfrm>
            <a:off x="18641328" y="494497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):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19394959" y="4944971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3" name="TextBox 612"/>
          <p:cNvSpPr txBox="1"/>
          <p:nvPr/>
        </p:nvSpPr>
        <p:spPr>
          <a:xfrm>
            <a:off x="19651867" y="4944971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Menlo" panose="020B0609030804020204" pitchFamily="49" charset="0"/>
              </a:rPr>
              <a:t>...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19896101" y="4944971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7" name="TextBox 616"/>
          <p:cNvSpPr txBox="1"/>
          <p:nvPr/>
        </p:nvSpPr>
        <p:spPr>
          <a:xfrm>
            <a:off x="20178853" y="4944971"/>
            <a:ext cx="71923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18" name="TextBox 617"/>
          <p:cNvSpPr txBox="1"/>
          <p:nvPr/>
        </p:nvSpPr>
        <p:spPr>
          <a:xfrm>
            <a:off x="20906399" y="4944971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...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21145346" y="4944971"/>
            <a:ext cx="38099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28" name="TextBox 627"/>
          <p:cNvSpPr txBox="1"/>
          <p:nvPr/>
        </p:nvSpPr>
        <p:spPr>
          <a:xfrm>
            <a:off x="21557069" y="494497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21693075" y="4944971"/>
            <a:ext cx="863502" cy="230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3B3B3B"/>
                </a:solidFill>
                <a:latin typeface="Menlo" panose="020B0609030804020204" pitchFamily="49" charset="0"/>
              </a:rPr>
              <a:t>max_col_size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31" name="TextBox 630"/>
          <p:cNvSpPr txBox="1"/>
          <p:nvPr/>
        </p:nvSpPr>
        <p:spPr>
          <a:xfrm>
            <a:off x="22587302" y="494497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22723308" y="4944971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633" name="TextBox 632"/>
          <p:cNvSpPr txBox="1"/>
          <p:nvPr/>
        </p:nvSpPr>
        <p:spPr>
          <a:xfrm>
            <a:off x="22859314" y="4944971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]: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23033346" y="4944971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altLang="zh-CN" sz="900" dirty="0">
                <a:latin typeface="Menlo" panose="020B0609030804020204" pitchFamily="49" charset="0"/>
              </a:rPr>
              <a:t>...</a:t>
            </a:r>
            <a:endParaRPr lang="en-US" sz="900" dirty="0">
              <a:latin typeface="Menlo" panose="020B0609030804020204" pitchFamily="49" charset="0"/>
            </a:endParaRPr>
          </a:p>
        </p:txBody>
      </p:sp>
      <p:sp>
        <p:nvSpPr>
          <p:cNvPr id="645" name="TextBox 644"/>
          <p:cNvSpPr txBox="1"/>
          <p:nvPr/>
        </p:nvSpPr>
        <p:spPr>
          <a:xfrm>
            <a:off x="19067345" y="4944971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17332377" y="4557777"/>
            <a:ext cx="1741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Tokens</a:t>
            </a:r>
          </a:p>
        </p:txBody>
      </p:sp>
      <p:cxnSp>
        <p:nvCxnSpPr>
          <p:cNvPr id="700" name="Elbow Connector 699"/>
          <p:cNvCxnSpPr>
            <a:stCxn id="642" idx="3"/>
            <a:endCxn id="644" idx="1"/>
          </p:cNvCxnSpPr>
          <p:nvPr/>
        </p:nvCxnSpPr>
        <p:spPr>
          <a:xfrm flipV="1">
            <a:off x="16334221" y="6403757"/>
            <a:ext cx="399484" cy="581393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25340281" y="8586982"/>
            <a:ext cx="76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radley Hand" pitchFamily="2" charset="77"/>
              </a:rPr>
              <a:t>P()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525586" y="8612170"/>
            <a:ext cx="1944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880349" y="8684895"/>
            <a:ext cx="1944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69883" y="8724771"/>
            <a:ext cx="110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023" y="8035489"/>
            <a:ext cx="1475999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0254" y="5773019"/>
            <a:ext cx="6760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Developer Accomplishing Programming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9308" y="9353459"/>
            <a:ext cx="5611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 LLMs Using Accesible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7956" y="8249081"/>
            <a:ext cx="3168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Ins="36000" rtlCol="0"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check_metadata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7956" y="7950180"/>
            <a:ext cx="3168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Ins="36000" rtlCol="0"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match_hostname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cert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hostname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):…</a:t>
            </a:r>
          </a:p>
          <a:p>
            <a:endParaRPr lang="en-US" sz="11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17956" y="7646701"/>
            <a:ext cx="3168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Ins="36000" rtlCol="0">
            <a:no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r>
              <a:rPr lang="en-US" sz="1100" dirty="0">
                <a:solidFill>
                  <a:srgbClr val="3B3B3B"/>
                </a:solidFill>
                <a:latin typeface="Menlo" panose="020B0609030804020204" pitchFamily="49" charset="0"/>
              </a:rPr>
              <a:t>):…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0769" y="847143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316" y="7627419"/>
            <a:ext cx="447148" cy="447148"/>
          </a:xfrm>
          <a:prstGeom prst="rect">
            <a:avLst/>
          </a:prstGeom>
        </p:spPr>
      </p:pic>
      <p:sp>
        <p:nvSpPr>
          <p:cNvPr id="36" name="Right Brace 35"/>
          <p:cNvSpPr/>
          <p:nvPr/>
        </p:nvSpPr>
        <p:spPr>
          <a:xfrm>
            <a:off x="1096384" y="7802515"/>
            <a:ext cx="164474" cy="952240"/>
          </a:xfrm>
          <a:prstGeom prst="rightBrace">
            <a:avLst>
              <a:gd name="adj1" fmla="val 25000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3906" y="8030475"/>
            <a:ext cx="871012" cy="43550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14783" y="845280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84709" y="8724771"/>
            <a:ext cx="213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 Resources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2051790" y="6710646"/>
            <a:ext cx="30565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07" name="TextBox 406"/>
          <p:cNvSpPr txBox="1"/>
          <p:nvPr/>
        </p:nvSpPr>
        <p:spPr>
          <a:xfrm>
            <a:off x="12532737" y="6710646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</a:rPr>
              <a:t>self</a:t>
            </a:r>
            <a:endParaRPr lang="en-US" sz="900" dirty="0">
              <a:solidFill>
                <a:srgbClr val="3B3B3B"/>
              </a:solidFill>
            </a:endParaRPr>
          </a:p>
        </p:txBody>
      </p:sp>
      <p:sp>
        <p:nvSpPr>
          <p:cNvPr id="408" name="TextBox 407"/>
          <p:cNvSpPr txBox="1"/>
          <p:nvPr/>
        </p:nvSpPr>
        <p:spPr>
          <a:xfrm>
            <a:off x="12392452" y="6710646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(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3576387" y="6710646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2879811" y="6710646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/>
              <a:t>,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3020096" y="6710646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2" name="TextBox 411"/>
          <p:cNvSpPr txBox="1"/>
          <p:nvPr/>
        </p:nvSpPr>
        <p:spPr>
          <a:xfrm>
            <a:off x="13367169" y="6710646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):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2380179" y="6982659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4" name="TextBox 413"/>
          <p:cNvSpPr txBox="1"/>
          <p:nvPr/>
        </p:nvSpPr>
        <p:spPr>
          <a:xfrm>
            <a:off x="12662930" y="6982659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5" name="TextBox 414"/>
          <p:cNvSpPr txBox="1"/>
          <p:nvPr/>
        </p:nvSpPr>
        <p:spPr>
          <a:xfrm>
            <a:off x="12876754" y="6982659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,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3021647" y="6982659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13235471" y="6982659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13518223" y="6982659"/>
            <a:ext cx="71923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19" name="TextBox 418"/>
          <p:cNvSpPr txBox="1"/>
          <p:nvPr/>
        </p:nvSpPr>
        <p:spPr>
          <a:xfrm>
            <a:off x="14277067" y="6982659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4421961" y="6982659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1" name="TextBox 420"/>
          <p:cNvSpPr txBox="1"/>
          <p:nvPr/>
        </p:nvSpPr>
        <p:spPr>
          <a:xfrm>
            <a:off x="14704712" y="6982659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):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2688837" y="7259514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3" name="TextBox 422"/>
          <p:cNvSpPr txBox="1"/>
          <p:nvPr/>
        </p:nvSpPr>
        <p:spPr>
          <a:xfrm>
            <a:off x="12893183" y="7259514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795E26"/>
                </a:solidFill>
                <a:latin typeface="Menlo" panose="020B0609030804020204" pitchFamily="49" charset="0"/>
              </a:rPr>
              <a:t>len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13235388" y="7259514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(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425" name="TextBox 424"/>
          <p:cNvSpPr txBox="1"/>
          <p:nvPr/>
        </p:nvSpPr>
        <p:spPr>
          <a:xfrm>
            <a:off x="13370805" y="7259514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426" name="TextBox 425"/>
          <p:cNvSpPr txBox="1"/>
          <p:nvPr/>
        </p:nvSpPr>
        <p:spPr>
          <a:xfrm>
            <a:off x="13506222" y="7259514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)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427" name="TextBox 426"/>
          <p:cNvSpPr txBox="1"/>
          <p:nvPr/>
        </p:nvSpPr>
        <p:spPr>
          <a:xfrm>
            <a:off x="13641638" y="7259514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8" name="TextBox 427"/>
          <p:cNvSpPr txBox="1"/>
          <p:nvPr/>
        </p:nvSpPr>
        <p:spPr>
          <a:xfrm>
            <a:off x="13845984" y="7259514"/>
            <a:ext cx="38099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29" name="TextBox 428"/>
          <p:cNvSpPr txBox="1"/>
          <p:nvPr/>
        </p:nvSpPr>
        <p:spPr>
          <a:xfrm>
            <a:off x="14257119" y="7259514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4392536" y="7259514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max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4665811" y="7259514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_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4801228" y="7259514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col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5074503" y="7259514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_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15552124" y="7259514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15687541" y="7259514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37" name="TextBox 436"/>
          <p:cNvSpPr txBox="1"/>
          <p:nvPr/>
        </p:nvSpPr>
        <p:spPr>
          <a:xfrm>
            <a:off x="15822957" y="7259514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]: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4918537" y="6982659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6027298" y="7259514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5209919" y="7259514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size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2052565" y="6982659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2052565" y="7259514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2370701" y="7259514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935088" y="6695379"/>
            <a:ext cx="4338047" cy="882273"/>
          </a:xfrm>
          <a:prstGeom prst="roundRect">
            <a:avLst>
              <a:gd name="adj" fmla="val 2712"/>
            </a:avLst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TextBox 487"/>
          <p:cNvSpPr txBox="1"/>
          <p:nvPr/>
        </p:nvSpPr>
        <p:spPr>
          <a:xfrm>
            <a:off x="12094472" y="8261145"/>
            <a:ext cx="30565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89" name="TextBox 488"/>
          <p:cNvSpPr txBox="1"/>
          <p:nvPr/>
        </p:nvSpPr>
        <p:spPr>
          <a:xfrm>
            <a:off x="12575419" y="8261145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</a:rPr>
              <a:t>self</a:t>
            </a:r>
            <a:endParaRPr lang="en-US" sz="900" dirty="0">
              <a:solidFill>
                <a:srgbClr val="3B3B3B"/>
              </a:solidFill>
            </a:endParaRPr>
          </a:p>
        </p:txBody>
      </p:sp>
      <p:sp>
        <p:nvSpPr>
          <p:cNvPr id="490" name="TextBox 489"/>
          <p:cNvSpPr txBox="1"/>
          <p:nvPr/>
        </p:nvSpPr>
        <p:spPr>
          <a:xfrm>
            <a:off x="12435134" y="8261145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(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13619069" y="8261145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2922493" y="8261145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/>
              <a:t>,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13062778" y="8261145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94" name="TextBox 493"/>
          <p:cNvSpPr txBox="1"/>
          <p:nvPr/>
        </p:nvSpPr>
        <p:spPr>
          <a:xfrm>
            <a:off x="13409851" y="8261145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):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12422861" y="8533158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96" name="TextBox 495"/>
          <p:cNvSpPr txBox="1"/>
          <p:nvPr/>
        </p:nvSpPr>
        <p:spPr>
          <a:xfrm>
            <a:off x="12705612" y="8533158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97" name="TextBox 496"/>
          <p:cNvSpPr txBox="1"/>
          <p:nvPr/>
        </p:nvSpPr>
        <p:spPr>
          <a:xfrm>
            <a:off x="12919436" y="8533158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,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13064329" y="8533158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99" name="TextBox 498"/>
          <p:cNvSpPr txBox="1"/>
          <p:nvPr/>
        </p:nvSpPr>
        <p:spPr>
          <a:xfrm>
            <a:off x="13278153" y="8533158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00" name="TextBox 499"/>
          <p:cNvSpPr txBox="1"/>
          <p:nvPr/>
        </p:nvSpPr>
        <p:spPr>
          <a:xfrm>
            <a:off x="13560905" y="8533158"/>
            <a:ext cx="71923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14319749" y="8533158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14464643" y="8533158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03" name="TextBox 502"/>
          <p:cNvSpPr txBox="1"/>
          <p:nvPr/>
        </p:nvSpPr>
        <p:spPr>
          <a:xfrm>
            <a:off x="14747394" y="8533158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):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12732697" y="881001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05" name="TextBox 504"/>
          <p:cNvSpPr txBox="1"/>
          <p:nvPr/>
        </p:nvSpPr>
        <p:spPr>
          <a:xfrm>
            <a:off x="12937632" y="8810013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 err="1">
                <a:solidFill>
                  <a:srgbClr val="795E26"/>
                </a:solidFill>
                <a:latin typeface="Menlo" panose="020B0609030804020204" pitchFamily="49" charset="0"/>
              </a:rPr>
              <a:t>len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06" name="TextBox 505"/>
          <p:cNvSpPr txBox="1"/>
          <p:nvPr/>
        </p:nvSpPr>
        <p:spPr>
          <a:xfrm>
            <a:off x="13280425" y="881001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(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507" name="TextBox 506"/>
          <p:cNvSpPr txBox="1"/>
          <p:nvPr/>
        </p:nvSpPr>
        <p:spPr>
          <a:xfrm>
            <a:off x="13416431" y="881001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508" name="TextBox 507"/>
          <p:cNvSpPr txBox="1"/>
          <p:nvPr/>
        </p:nvSpPr>
        <p:spPr>
          <a:xfrm>
            <a:off x="13552437" y="881001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CE9178"/>
                </a:solidFill>
                <a:latin typeface="Menlo" panose="020B0609030804020204" pitchFamily="49" charset="0"/>
              </a:rPr>
              <a:t>)</a:t>
            </a:r>
            <a:endParaRPr lang="en-US" sz="9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13688443" y="881001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10" name="TextBox 509"/>
          <p:cNvSpPr txBox="1"/>
          <p:nvPr/>
        </p:nvSpPr>
        <p:spPr>
          <a:xfrm>
            <a:off x="13893378" y="8810013"/>
            <a:ext cx="38099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14305101" y="881001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14441107" y="8810013"/>
            <a:ext cx="863502" cy="230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3B3B3B"/>
                </a:solidFill>
                <a:latin typeface="Menlo" panose="020B0609030804020204" pitchFamily="49" charset="0"/>
              </a:rPr>
              <a:t>max_col_size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17" name="TextBox 516"/>
          <p:cNvSpPr txBox="1"/>
          <p:nvPr/>
        </p:nvSpPr>
        <p:spPr>
          <a:xfrm>
            <a:off x="15335334" y="881001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15471340" y="881001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19" name="TextBox 518"/>
          <p:cNvSpPr txBox="1"/>
          <p:nvPr/>
        </p:nvSpPr>
        <p:spPr>
          <a:xfrm>
            <a:off x="15607346" y="881001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]: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14961219" y="8533158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15812286" y="881001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12095247" y="8533158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12095247" y="8810013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2413972" y="8810013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927017" y="8189404"/>
            <a:ext cx="4338047" cy="919360"/>
          </a:xfrm>
          <a:prstGeom prst="roundRect">
            <a:avLst>
              <a:gd name="adj" fmla="val 2712"/>
            </a:avLst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0097927" y="5315952"/>
            <a:ext cx="3302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Getting Conditioned Probabilities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17797" y="6138373"/>
            <a:ext cx="209994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795E26"/>
                </a:solidFill>
                <a:latin typeface="Menlo" panose="020B0609030804020204" pitchFamily="49" charset="0"/>
              </a:rPr>
              <a:t>add(self,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 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r>
              <a:rPr lang="en-US" sz="900" dirty="0">
                <a:solidFill>
                  <a:srgbClr val="3B3B3B"/>
                </a:solidFill>
              </a:rPr>
              <a:t>):</a:t>
            </a:r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 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 </a:t>
            </a:r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,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 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49" name="TextBox 448"/>
          <p:cNvSpPr txBox="1"/>
          <p:nvPr/>
        </p:nvSpPr>
        <p:spPr>
          <a:xfrm>
            <a:off x="22309565" y="5873230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70" name="Arc 469"/>
          <p:cNvSpPr>
            <a:spLocks noChangeAspect="1"/>
          </p:cNvSpPr>
          <p:nvPr/>
        </p:nvSpPr>
        <p:spPr>
          <a:xfrm rot="10800000">
            <a:off x="17377922" y="5980477"/>
            <a:ext cx="288000" cy="288000"/>
          </a:xfrm>
          <a:prstGeom prst="arc">
            <a:avLst>
              <a:gd name="adj1" fmla="val 16200000"/>
              <a:gd name="adj2" fmla="val 10799994"/>
            </a:avLst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TextBox 470"/>
          <p:cNvSpPr txBox="1"/>
          <p:nvPr/>
        </p:nvSpPr>
        <p:spPr>
          <a:xfrm>
            <a:off x="22309565" y="6103506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?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72" name="TextBox 471"/>
          <p:cNvSpPr txBox="1"/>
          <p:nvPr/>
        </p:nvSpPr>
        <p:spPr>
          <a:xfrm>
            <a:off x="22309565" y="6333782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?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475" name="Rectangle 474"/>
          <p:cNvSpPr/>
          <p:nvPr/>
        </p:nvSpPr>
        <p:spPr>
          <a:xfrm>
            <a:off x="22550352" y="5873230"/>
            <a:ext cx="463826" cy="234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0.98</a:t>
            </a:r>
          </a:p>
        </p:txBody>
      </p:sp>
      <p:sp>
        <p:nvSpPr>
          <p:cNvPr id="477" name="Rectangle 476"/>
          <p:cNvSpPr/>
          <p:nvPr/>
        </p:nvSpPr>
        <p:spPr>
          <a:xfrm>
            <a:off x="22555894" y="6103506"/>
            <a:ext cx="463826" cy="234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22555894" y="6333782"/>
            <a:ext cx="463826" cy="234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482" name="Straight Arrow Connector 481"/>
          <p:cNvCxnSpPr/>
          <p:nvPr/>
        </p:nvCxnSpPr>
        <p:spPr>
          <a:xfrm flipV="1">
            <a:off x="19854913" y="6253789"/>
            <a:ext cx="20812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/>
          <p:cNvSpPr txBox="1"/>
          <p:nvPr/>
        </p:nvSpPr>
        <p:spPr>
          <a:xfrm>
            <a:off x="20142639" y="5914627"/>
            <a:ext cx="1832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Next Token Selection:</a:t>
            </a: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19887759" y="7375828"/>
            <a:ext cx="0" cy="5039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0097927" y="7438484"/>
            <a:ext cx="3068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Syntax-Oriented Token Pruning</a:t>
            </a:r>
          </a:p>
        </p:txBody>
      </p:sp>
      <p:pic>
        <p:nvPicPr>
          <p:cNvPr id="122" name="Picture 1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70746" y="3673169"/>
            <a:ext cx="608267" cy="608267"/>
          </a:xfrm>
          <a:prstGeom prst="rect">
            <a:avLst/>
          </a:prstGeom>
          <a:noFill/>
        </p:spPr>
      </p:pic>
      <p:sp>
        <p:nvSpPr>
          <p:cNvPr id="126" name="TextBox 125"/>
          <p:cNvSpPr txBox="1"/>
          <p:nvPr/>
        </p:nvSpPr>
        <p:spPr>
          <a:xfrm>
            <a:off x="17418534" y="7858943"/>
            <a:ext cx="1762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Retained Tokens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7418535" y="8202566"/>
            <a:ext cx="30565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14" name="TextBox 513"/>
          <p:cNvSpPr txBox="1"/>
          <p:nvPr/>
        </p:nvSpPr>
        <p:spPr>
          <a:xfrm>
            <a:off x="17899482" y="8761082"/>
            <a:ext cx="312068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</a:rPr>
              <a:t>self</a:t>
            </a:r>
            <a:endParaRPr lang="en-US" sz="900" dirty="0">
              <a:solidFill>
                <a:srgbClr val="3B3B3B"/>
              </a:solidFill>
            </a:endParaRPr>
          </a:p>
        </p:txBody>
      </p:sp>
      <p:sp>
        <p:nvSpPr>
          <p:cNvPr id="515" name="TextBox 514"/>
          <p:cNvSpPr txBox="1"/>
          <p:nvPr/>
        </p:nvSpPr>
        <p:spPr>
          <a:xfrm>
            <a:off x="17759197" y="8202566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(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8943132" y="8761082"/>
            <a:ext cx="174210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18246556" y="8202566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/>
              <a:t>,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18386841" y="8202566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27" name="TextBox 526"/>
          <p:cNvSpPr txBox="1"/>
          <p:nvPr/>
        </p:nvSpPr>
        <p:spPr>
          <a:xfrm>
            <a:off x="18733914" y="8761082"/>
            <a:ext cx="174210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):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19487545" y="8202566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32" name="TextBox 531"/>
          <p:cNvSpPr txBox="1"/>
          <p:nvPr/>
        </p:nvSpPr>
        <p:spPr>
          <a:xfrm>
            <a:off x="19744453" y="8202566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Menlo" panose="020B0609030804020204" pitchFamily="49" charset="0"/>
              </a:rPr>
              <a:t>...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9988687" y="8761082"/>
            <a:ext cx="243139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20271439" y="8202566"/>
            <a:ext cx="71923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48" name="TextBox 547"/>
          <p:cNvSpPr txBox="1"/>
          <p:nvPr/>
        </p:nvSpPr>
        <p:spPr>
          <a:xfrm>
            <a:off x="20998985" y="8202566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...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21237932" y="8202566"/>
            <a:ext cx="38099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21649655" y="8202566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21785661" y="8202566"/>
            <a:ext cx="86350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22679888" y="8202566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22815894" y="8202566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56" name="TextBox 555"/>
          <p:cNvSpPr txBox="1"/>
          <p:nvPr/>
        </p:nvSpPr>
        <p:spPr>
          <a:xfrm>
            <a:off x="22951900" y="8761082"/>
            <a:ext cx="174210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]: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23125932" y="8202566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altLang="zh-CN" sz="900" dirty="0">
                <a:latin typeface="Menlo" panose="020B0609030804020204" pitchFamily="49" charset="0"/>
              </a:rPr>
              <a:t>...</a:t>
            </a:r>
            <a:endParaRPr lang="en-US" sz="900" dirty="0">
              <a:latin typeface="Menlo" panose="020B0609030804020204" pitchFamily="49" charset="0"/>
            </a:endParaRPr>
          </a:p>
        </p:txBody>
      </p:sp>
      <p:sp>
        <p:nvSpPr>
          <p:cNvPr id="559" name="TextBox 558"/>
          <p:cNvSpPr txBox="1"/>
          <p:nvPr/>
        </p:nvSpPr>
        <p:spPr>
          <a:xfrm>
            <a:off x="19159931" y="8761082"/>
            <a:ext cx="288000" cy="230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17361279" y="6822143"/>
            <a:ext cx="30565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62" name="TextBox 561"/>
          <p:cNvSpPr txBox="1"/>
          <p:nvPr/>
        </p:nvSpPr>
        <p:spPr>
          <a:xfrm>
            <a:off x="17842226" y="6822143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001080"/>
                </a:solidFill>
              </a:rPr>
              <a:t>self</a:t>
            </a:r>
            <a:endParaRPr lang="en-US" sz="900" dirty="0">
              <a:solidFill>
                <a:srgbClr val="3B3B3B"/>
              </a:solidFill>
            </a:endParaRPr>
          </a:p>
        </p:txBody>
      </p:sp>
      <p:sp>
        <p:nvSpPr>
          <p:cNvPr id="563" name="TextBox 562"/>
          <p:cNvSpPr txBox="1"/>
          <p:nvPr/>
        </p:nvSpPr>
        <p:spPr>
          <a:xfrm>
            <a:off x="17701941" y="682214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(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18885876" y="682214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D7BA7D"/>
                </a:solidFill>
                <a:latin typeface="Menlo" panose="020B0609030804020204" pitchFamily="49" charset="0"/>
              </a:rPr>
              <a:t>\n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18189300" y="682214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/>
              <a:t>,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18329585" y="6822143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18676658" y="682214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rgbClr val="3B3B3B"/>
                </a:solidFill>
              </a:rPr>
              <a:t>):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19430289" y="6822143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9687197" y="6822143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Menlo" panose="020B0609030804020204" pitchFamily="49" charset="0"/>
              </a:rPr>
              <a:t>...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19931431" y="6822143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71" name="TextBox 570"/>
          <p:cNvSpPr txBox="1"/>
          <p:nvPr/>
        </p:nvSpPr>
        <p:spPr>
          <a:xfrm>
            <a:off x="20214183" y="6822143"/>
            <a:ext cx="71923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267F99"/>
                </a:solidFill>
                <a:latin typeface="Menlo" panose="020B0609030804020204" pitchFamily="49" charset="0"/>
              </a:rPr>
              <a:t>enumerate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72" name="TextBox 571"/>
          <p:cNvSpPr txBox="1"/>
          <p:nvPr/>
        </p:nvSpPr>
        <p:spPr>
          <a:xfrm>
            <a:off x="20941729" y="6822143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...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21180676" y="6822143"/>
            <a:ext cx="38099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</a:t>
            </a:r>
            <a:r>
              <a:rPr lang="en-US" sz="900" dirty="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574" name="TextBox 573"/>
          <p:cNvSpPr txBox="1"/>
          <p:nvPr/>
        </p:nvSpPr>
        <p:spPr>
          <a:xfrm>
            <a:off x="21592399" y="682214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21728405" y="6822143"/>
            <a:ext cx="863502" cy="230832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3B3B3B"/>
                </a:solidFill>
                <a:latin typeface="Menlo" panose="020B0609030804020204" pitchFamily="49" charset="0"/>
              </a:rPr>
              <a:t>max_col_size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2622632" y="682214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2758638" y="682214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2894644" y="682214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]: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068676" y="6822143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altLang="zh-CN" sz="900" dirty="0">
                <a:latin typeface="Menlo" panose="020B0609030804020204" pitchFamily="49" charset="0"/>
              </a:rPr>
              <a:t>...</a:t>
            </a:r>
            <a:endParaRPr lang="en-US" sz="900" dirty="0">
              <a:latin typeface="Menlo" panose="020B0609030804020204" pitchFamily="49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9102675" y="6822143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⌷⌷⌷⌷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362296" y="7054433"/>
            <a:ext cx="30565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endParaRPr lang="en-US" sz="9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7843243" y="7054433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702958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8886893" y="705443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8190317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8330602" y="7054433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8677675" y="705443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9431306" y="7054433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9688214" y="7054433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932448" y="7054433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0215200" y="7054433"/>
            <a:ext cx="71923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endParaRPr lang="en-US" sz="9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0942746" y="7054433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181693" y="7054433"/>
            <a:ext cx="38099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593416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1729422" y="7054433"/>
            <a:ext cx="863502" cy="230832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2623649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759655" y="7054433"/>
            <a:ext cx="105281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2895661" y="7054433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3069693" y="7054433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altLang="zh-CN" sz="9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sz="9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9103692" y="7054433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0187144" y="8696209"/>
            <a:ext cx="1400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Pruned Tokens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7900397" y="8202566"/>
            <a:ext cx="312068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8944047" y="8202566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Menlo" panose="020B0609030804020204" pitchFamily="49" charset="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8734829" y="8202566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9989602" y="8202566"/>
            <a:ext cx="243139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Menlo" panose="020B0609030804020204" pitchFamily="49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22952815" y="8202566"/>
            <a:ext cx="174210" cy="2308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Menlo" panose="020B0609030804020204" pitchFamily="49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9160846" y="8202566"/>
            <a:ext cx="288000" cy="230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none" lIns="18000" rIns="18000" rtlCol="0" anchor="ctr">
            <a:noAutofit/>
          </a:bodyPr>
          <a:lstStyle/>
          <a:p>
            <a:pPr algn="ctr"/>
            <a:endParaRPr lang="en-US" sz="800" dirty="0">
              <a:solidFill>
                <a:schemeClr val="bg1"/>
              </a:solidFill>
              <a:latin typeface="Menlo" panose="020B0609030804020204" pitchFamily="49" charset="0"/>
            </a:endParaRPr>
          </a:p>
        </p:txBody>
      </p:sp>
      <p:cxnSp>
        <p:nvCxnSpPr>
          <p:cNvPr id="164" name="Straight Arrow Connector 163"/>
          <p:cNvCxnSpPr>
            <a:stCxn id="157" idx="2"/>
            <a:endCxn id="514" idx="0"/>
          </p:cNvCxnSpPr>
          <p:nvPr/>
        </p:nvCxnSpPr>
        <p:spPr>
          <a:xfrm flipH="1">
            <a:off x="18055516" y="8433398"/>
            <a:ext cx="915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stCxn id="159" idx="2"/>
            <a:endCxn id="527" idx="0"/>
          </p:cNvCxnSpPr>
          <p:nvPr/>
        </p:nvCxnSpPr>
        <p:spPr>
          <a:xfrm flipH="1">
            <a:off x="18821019" y="8433398"/>
            <a:ext cx="915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stCxn id="158" idx="2"/>
            <a:endCxn id="524" idx="0"/>
          </p:cNvCxnSpPr>
          <p:nvPr/>
        </p:nvCxnSpPr>
        <p:spPr>
          <a:xfrm flipH="1">
            <a:off x="19030237" y="8433398"/>
            <a:ext cx="915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stCxn id="162" idx="2"/>
            <a:endCxn id="559" idx="0"/>
          </p:cNvCxnSpPr>
          <p:nvPr/>
        </p:nvCxnSpPr>
        <p:spPr>
          <a:xfrm flipH="1">
            <a:off x="19303931" y="8432966"/>
            <a:ext cx="915" cy="32811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60" idx="2"/>
            <a:endCxn id="544" idx="0"/>
          </p:cNvCxnSpPr>
          <p:nvPr/>
        </p:nvCxnSpPr>
        <p:spPr>
          <a:xfrm flipH="1">
            <a:off x="20110257" y="8433398"/>
            <a:ext cx="915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stCxn id="161" idx="2"/>
            <a:endCxn id="556" idx="0"/>
          </p:cNvCxnSpPr>
          <p:nvPr/>
        </p:nvCxnSpPr>
        <p:spPr>
          <a:xfrm flipH="1">
            <a:off x="23039005" y="8433398"/>
            <a:ext cx="915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>
            <a:off x="24617800" y="6789328"/>
            <a:ext cx="4176000" cy="0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V="1">
            <a:off x="24617804" y="4923959"/>
            <a:ext cx="0" cy="1865369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26620868" y="6845629"/>
            <a:ext cx="305656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latin typeface="Menlo" panose="020B0609030804020204" pitchFamily="49" charset="0"/>
              </a:rPr>
              <a:t>⌷</a:t>
            </a:r>
            <a:r>
              <a:rPr lang="en-US" sz="900" dirty="0">
                <a:latin typeface="Menlo" panose="020B0609030804020204" pitchFamily="49" charset="0"/>
              </a:rPr>
              <a:t>add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6242744" y="6845629"/>
            <a:ext cx="105281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</a:rPr>
              <a:t>(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5606628" y="6845629"/>
            <a:ext cx="105281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>
            <a:defPPr>
              <a:defRPr lang="en-US"/>
            </a:defPPr>
            <a:lvl1pPr>
              <a:defRPr>
                <a:solidFill>
                  <a:srgbClr val="CE9178"/>
                </a:solidFill>
                <a:latin typeface="Menlo" panose="020B0609030804020204" pitchFamily="49" charset="0"/>
              </a:defRPr>
            </a:lvl1pPr>
          </a:lstStyle>
          <a:p>
            <a:pPr algn="ctr"/>
            <a:r>
              <a:rPr lang="en-US" sz="900" dirty="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6941376" y="6845629"/>
            <a:ext cx="312068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Menlo" panose="020B0609030804020204" pitchFamily="49" charset="0"/>
              </a:rPr>
              <a:t>⌷row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6362877" y="6845629"/>
            <a:ext cx="243139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Menlo" panose="020B0609030804020204" pitchFamily="49" charset="0"/>
              </a:rPr>
              <a:t>for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4752412" y="6845629"/>
            <a:ext cx="719231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800" dirty="0">
                <a:latin typeface="Menlo" panose="020B0609030804020204" pitchFamily="49" charset="0"/>
              </a:rPr>
              <a:t>⌷</a:t>
            </a:r>
            <a:r>
              <a:rPr lang="en-US" sz="900" dirty="0">
                <a:latin typeface="Menlo" panose="020B0609030804020204" pitchFamily="49" charset="0"/>
              </a:rPr>
              <a:t>enumerate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25846894" y="6845629"/>
            <a:ext cx="380998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Menlo" panose="020B0609030804020204" pitchFamily="49" charset="0"/>
              </a:rPr>
              <a:t>⌷self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27268295" y="6845629"/>
            <a:ext cx="863502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latin typeface="Menlo" panose="020B0609030804020204" pitchFamily="49" charset="0"/>
              </a:rPr>
              <a:t>max_col_size</a:t>
            </a:r>
            <a:endParaRPr lang="en-US" sz="900" dirty="0">
              <a:latin typeface="Menlo" panose="020B0609030804020204" pitchFamily="49" charset="0"/>
            </a:endParaRPr>
          </a:p>
        </p:txBody>
      </p:sp>
      <p:sp>
        <p:nvSpPr>
          <p:cNvPr id="580" name="TextBox 579"/>
          <p:cNvSpPr txBox="1"/>
          <p:nvPr/>
        </p:nvSpPr>
        <p:spPr>
          <a:xfrm>
            <a:off x="25726761" y="6845629"/>
            <a:ext cx="105281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latin typeface="Menlo" panose="020B0609030804020204" pitchFamily="49" charset="0"/>
              </a:rPr>
              <a:t>[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25486495" y="6845629"/>
            <a:ext cx="105281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latin typeface="Menlo" panose="020B0609030804020204" pitchFamily="49" charset="0"/>
              </a:rPr>
              <a:t>i</a:t>
            </a:r>
            <a:endParaRPr lang="en-US" sz="900" dirty="0">
              <a:latin typeface="Menlo" panose="020B0609030804020204" pitchFamily="49" charset="0"/>
            </a:endParaRPr>
          </a:p>
        </p:txBody>
      </p:sp>
      <p:sp>
        <p:nvSpPr>
          <p:cNvPr id="590" name="Rectangle 589"/>
          <p:cNvSpPr/>
          <p:nvPr/>
        </p:nvSpPr>
        <p:spPr>
          <a:xfrm>
            <a:off x="24854814" y="5043329"/>
            <a:ext cx="108000" cy="1745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1" name="Rectangle 590"/>
          <p:cNvSpPr/>
          <p:nvPr/>
        </p:nvSpPr>
        <p:spPr>
          <a:xfrm>
            <a:off x="25590502" y="5259328"/>
            <a:ext cx="108000" cy="153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2" name="Rectangle 591"/>
          <p:cNvSpPr/>
          <p:nvPr/>
        </p:nvSpPr>
        <p:spPr>
          <a:xfrm>
            <a:off x="26443282" y="6555328"/>
            <a:ext cx="108000" cy="23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5" name="Rectangle 594"/>
          <p:cNvSpPr/>
          <p:nvPr/>
        </p:nvSpPr>
        <p:spPr>
          <a:xfrm>
            <a:off x="25200498" y="5205328"/>
            <a:ext cx="108000" cy="15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6" name="Rectangle 595"/>
          <p:cNvSpPr/>
          <p:nvPr/>
        </p:nvSpPr>
        <p:spPr>
          <a:xfrm>
            <a:off x="25360332" y="5223329"/>
            <a:ext cx="108000" cy="1565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7" name="Rectangle 596"/>
          <p:cNvSpPr/>
          <p:nvPr/>
        </p:nvSpPr>
        <p:spPr>
          <a:xfrm>
            <a:off x="25913884" y="5475328"/>
            <a:ext cx="108000" cy="131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8" name="Rectangle 597"/>
          <p:cNvSpPr/>
          <p:nvPr/>
        </p:nvSpPr>
        <p:spPr>
          <a:xfrm>
            <a:off x="26999149" y="6573328"/>
            <a:ext cx="108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00" name="Rectangle 599"/>
          <p:cNvSpPr/>
          <p:nvPr/>
        </p:nvSpPr>
        <p:spPr>
          <a:xfrm>
            <a:off x="27746554" y="4923959"/>
            <a:ext cx="108000" cy="1865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630" name="Elbow Connector 629"/>
          <p:cNvCxnSpPr>
            <a:stCxn id="4" idx="3"/>
            <a:endCxn id="642" idx="1"/>
          </p:cNvCxnSpPr>
          <p:nvPr/>
        </p:nvCxnSpPr>
        <p:spPr>
          <a:xfrm>
            <a:off x="10844683" y="4476603"/>
            <a:ext cx="1095684" cy="2508547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14035531" y="6148904"/>
            <a:ext cx="1475999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dirty="0"/>
              <a:t>Tokenizing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12709210" y="5713212"/>
            <a:ext cx="264096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Copyright</a:t>
            </a:r>
            <a:r>
              <a:rPr lang="en-US" altLang="zh-CN" dirty="0">
                <a:solidFill>
                  <a:schemeClr val="bg1"/>
                </a:solidFill>
              </a:rPr>
              <a:t>-Owned </a:t>
            </a:r>
            <a:r>
              <a:rPr lang="en-US" dirty="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14115075" y="7642101"/>
            <a:ext cx="1988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Resuming variables</a:t>
            </a:r>
          </a:p>
        </p:txBody>
      </p:sp>
      <p:cxnSp>
        <p:nvCxnSpPr>
          <p:cNvPr id="665" name="Straight Arrow Connector 664"/>
          <p:cNvCxnSpPr/>
          <p:nvPr/>
        </p:nvCxnSpPr>
        <p:spPr>
          <a:xfrm flipH="1">
            <a:off x="14056321" y="6109794"/>
            <a:ext cx="0" cy="5039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9" name="TextBox 688"/>
          <p:cNvSpPr txBox="1"/>
          <p:nvPr/>
        </p:nvSpPr>
        <p:spPr>
          <a:xfrm>
            <a:off x="19183039" y="9682164"/>
            <a:ext cx="2023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Our Solution</a:t>
            </a:r>
          </a:p>
        </p:txBody>
      </p:sp>
      <p:cxnSp>
        <p:nvCxnSpPr>
          <p:cNvPr id="693" name="Straight Arrow Connector 692"/>
          <p:cNvCxnSpPr/>
          <p:nvPr/>
        </p:nvCxnSpPr>
        <p:spPr>
          <a:xfrm flipV="1">
            <a:off x="23748344" y="7062971"/>
            <a:ext cx="427136" cy="1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Elbow Connector 724"/>
          <p:cNvCxnSpPr>
            <a:stCxn id="9" idx="0"/>
            <a:endCxn id="728" idx="0"/>
          </p:cNvCxnSpPr>
          <p:nvPr/>
        </p:nvCxnSpPr>
        <p:spPr>
          <a:xfrm rot="5400000" flipH="1" flipV="1">
            <a:off x="8756060" y="-1570924"/>
            <a:ext cx="194145" cy="10524572"/>
          </a:xfrm>
          <a:prstGeom prst="bentConnector3">
            <a:avLst>
              <a:gd name="adj1" fmla="val 217747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8" name="Rounded Rectangle 727"/>
          <p:cNvSpPr/>
          <p:nvPr/>
        </p:nvSpPr>
        <p:spPr>
          <a:xfrm>
            <a:off x="11927185" y="3594289"/>
            <a:ext cx="4376466" cy="747855"/>
          </a:xfrm>
          <a:prstGeom prst="roundRect">
            <a:avLst>
              <a:gd name="adj" fmla="val 15542"/>
            </a:avLst>
          </a:prstGeom>
          <a:solidFill>
            <a:schemeClr val="accent4">
              <a:lumMod val="60000"/>
              <a:lumOff val="40000"/>
              <a:alpha val="69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Tokens with High Likelihood</a:t>
            </a:r>
          </a:p>
        </p:txBody>
      </p:sp>
      <p:cxnSp>
        <p:nvCxnSpPr>
          <p:cNvPr id="750" name="Straight Arrow Connector 749"/>
          <p:cNvCxnSpPr/>
          <p:nvPr/>
        </p:nvCxnSpPr>
        <p:spPr>
          <a:xfrm flipH="1">
            <a:off x="20167529" y="6598541"/>
            <a:ext cx="915" cy="18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2" name="Rounded Rectangle 751"/>
          <p:cNvSpPr/>
          <p:nvPr/>
        </p:nvSpPr>
        <p:spPr>
          <a:xfrm>
            <a:off x="18055136" y="3557879"/>
            <a:ext cx="4545534" cy="4876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i="1" dirty="0">
                <a:solidFill>
                  <a:schemeClr val="bg1"/>
                </a:solidFill>
              </a:rPr>
              <a:t>Syntax-bonding Probability Pruning</a:t>
            </a:r>
          </a:p>
        </p:txBody>
      </p:sp>
      <p:cxnSp>
        <p:nvCxnSpPr>
          <p:cNvPr id="754" name="Straight Arrow Connector 753"/>
          <p:cNvCxnSpPr/>
          <p:nvPr/>
        </p:nvCxnSpPr>
        <p:spPr>
          <a:xfrm>
            <a:off x="16295965" y="3971263"/>
            <a:ext cx="4500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6" name="Right Brace 755"/>
          <p:cNvSpPr/>
          <p:nvPr/>
        </p:nvSpPr>
        <p:spPr>
          <a:xfrm rot="5400000">
            <a:off x="20127461" y="1264077"/>
            <a:ext cx="322265" cy="16473610"/>
          </a:xfrm>
          <a:prstGeom prst="rightBrace">
            <a:avLst>
              <a:gd name="adj1" fmla="val 25000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" name="Rounded Rectangle 757"/>
          <p:cNvSpPr/>
          <p:nvPr/>
        </p:nvSpPr>
        <p:spPr>
          <a:xfrm>
            <a:off x="12612375" y="4719918"/>
            <a:ext cx="2955029" cy="4876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bg1"/>
                </a:solidFill>
              </a:rPr>
              <a:t>Variable</a:t>
            </a:r>
            <a:r>
              <a:rPr lang="zh-CN" altLang="en-US" sz="2400" i="1" dirty="0">
                <a:solidFill>
                  <a:schemeClr val="bg1"/>
                </a:solidFill>
              </a:rPr>
              <a:t> </a:t>
            </a:r>
            <a:r>
              <a:rPr lang="en-US" altLang="zh-CN" sz="2400" i="1" dirty="0">
                <a:solidFill>
                  <a:schemeClr val="bg1"/>
                </a:solidFill>
              </a:rPr>
              <a:t>Resumption</a:t>
            </a:r>
            <a:endParaRPr lang="en-US" sz="2400" i="1" dirty="0">
              <a:solidFill>
                <a:schemeClr val="bg1"/>
              </a:solidFill>
            </a:endParaRPr>
          </a:p>
        </p:txBody>
      </p:sp>
      <p:sp>
        <p:nvSpPr>
          <p:cNvPr id="759" name="TextBox 758"/>
          <p:cNvSpPr txBox="1"/>
          <p:nvPr/>
        </p:nvSpPr>
        <p:spPr>
          <a:xfrm>
            <a:off x="14903651" y="6663496"/>
            <a:ext cx="1538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Code Tokens</a:t>
            </a:r>
          </a:p>
        </p:txBody>
      </p:sp>
      <p:sp>
        <p:nvSpPr>
          <p:cNvPr id="760" name="Rounded Rectangle 759"/>
          <p:cNvSpPr/>
          <p:nvPr/>
        </p:nvSpPr>
        <p:spPr>
          <a:xfrm>
            <a:off x="12015660" y="6641692"/>
            <a:ext cx="4248000" cy="902674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1" name="TextBox 760"/>
          <p:cNvSpPr txBox="1"/>
          <p:nvPr/>
        </p:nvSpPr>
        <p:spPr>
          <a:xfrm>
            <a:off x="17306728" y="6493142"/>
            <a:ext cx="2213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Token</a:t>
            </a:r>
            <a:r>
              <a:rPr lang="zh-CN" altLang="en-US" sz="1600" dirty="0"/>
              <a:t> </a:t>
            </a:r>
            <a:r>
              <a:rPr lang="en-US" altLang="zh-CN" sz="1600" dirty="0"/>
              <a:t>Probabilities</a:t>
            </a:r>
            <a:endParaRPr lang="en-US" sz="1600" dirty="0"/>
          </a:p>
        </p:txBody>
      </p:sp>
      <p:sp>
        <p:nvSpPr>
          <p:cNvPr id="762" name="TextBox 761"/>
          <p:cNvSpPr txBox="1"/>
          <p:nvPr/>
        </p:nvSpPr>
        <p:spPr>
          <a:xfrm>
            <a:off x="24548548" y="4442765"/>
            <a:ext cx="355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Ranked</a:t>
            </a:r>
            <a:r>
              <a:rPr lang="zh-CN" altLang="en-US" dirty="0"/>
              <a:t> </a:t>
            </a:r>
            <a:r>
              <a:rPr lang="en-US" altLang="zh-CN" dirty="0"/>
              <a:t>Token Probabilities</a:t>
            </a:r>
            <a:endParaRPr lang="en-US" dirty="0"/>
          </a:p>
        </p:txBody>
      </p:sp>
      <p:sp>
        <p:nvSpPr>
          <p:cNvPr id="765" name="TextBox 764"/>
          <p:cNvSpPr txBox="1"/>
          <p:nvPr/>
        </p:nvSpPr>
        <p:spPr>
          <a:xfrm>
            <a:off x="21649655" y="8761082"/>
            <a:ext cx="105281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</a:p>
        </p:txBody>
      </p:sp>
      <p:cxnSp>
        <p:nvCxnSpPr>
          <p:cNvPr id="384" name="Straight Arrow Connector 383"/>
          <p:cNvCxnSpPr>
            <a:stCxn id="550" idx="2"/>
            <a:endCxn id="765" idx="0"/>
          </p:cNvCxnSpPr>
          <p:nvPr/>
        </p:nvCxnSpPr>
        <p:spPr>
          <a:xfrm>
            <a:off x="21702296" y="8433398"/>
            <a:ext cx="0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TextBox 388"/>
          <p:cNvSpPr txBox="1"/>
          <p:nvPr/>
        </p:nvSpPr>
        <p:spPr>
          <a:xfrm rot="16200000">
            <a:off x="24117301" y="4904644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</a:t>
            </a:r>
          </a:p>
        </p:txBody>
      </p:sp>
      <p:sp>
        <p:nvSpPr>
          <p:cNvPr id="390" name="Rounded Rectangle 389"/>
          <p:cNvSpPr/>
          <p:nvPr/>
        </p:nvSpPr>
        <p:spPr>
          <a:xfrm>
            <a:off x="24178825" y="3557879"/>
            <a:ext cx="4970244" cy="5691755"/>
          </a:xfrm>
          <a:prstGeom prst="roundRect">
            <a:avLst>
              <a:gd name="adj" fmla="val 2712"/>
            </a:avLst>
          </a:prstGeom>
          <a:solidFill>
            <a:srgbClr val="7030A0">
              <a:alpha val="3000"/>
            </a:srgbClr>
          </a:solidFill>
          <a:ln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1" name="TextBox 390"/>
          <p:cNvSpPr txBox="1"/>
          <p:nvPr/>
        </p:nvSpPr>
        <p:spPr>
          <a:xfrm>
            <a:off x="25911283" y="7491067"/>
            <a:ext cx="2986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Truncating and Averaging Probabilities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433033" y="3557879"/>
            <a:ext cx="4545534" cy="4876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i="1" dirty="0">
                <a:solidFill>
                  <a:schemeClr val="bg1"/>
                </a:solidFill>
              </a:rPr>
              <a:t>Syntax-bonding Probability Pruning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60546" y="6169345"/>
            <a:ext cx="1557850" cy="701711"/>
          </a:xfrm>
          <a:prstGeom prst="roundRect">
            <a:avLst>
              <a:gd name="adj" fmla="val 2712"/>
            </a:avLst>
          </a:prstGeom>
          <a:solidFill>
            <a:srgbClr val="7030A0">
              <a:alpha val="14000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6299543" y="10972800"/>
            <a:ext cx="1502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Member </a:t>
            </a:r>
          </a:p>
          <a:p>
            <a:r>
              <a:rPr lang="en-US" dirty="0"/>
              <a:t>Non-member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85661" y="8761082"/>
            <a:ext cx="863502" cy="230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lIns="18000" rIns="18000" rtlCol="0" anchor="ctr">
            <a:spAutoFit/>
          </a:bodyPr>
          <a:lstStyle/>
          <a:p>
            <a:pPr algn="ctr"/>
            <a:r>
              <a:rPr lang="en-US" sz="900" dirty="0" err="1">
                <a:solidFill>
                  <a:srgbClr val="3B3B3B"/>
                </a:solidFill>
                <a:latin typeface="Menlo" panose="020B0609030804020204" pitchFamily="49" charset="0"/>
              </a:rPr>
              <a:t>max_col_size</a:t>
            </a:r>
            <a:endParaRPr lang="en-US" sz="9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cxnSp>
        <p:nvCxnSpPr>
          <p:cNvPr id="28" name="Straight Arrow Connector 27"/>
          <p:cNvCxnSpPr>
            <a:stCxn id="552" idx="2"/>
            <a:endCxn id="25" idx="0"/>
          </p:cNvCxnSpPr>
          <p:nvPr/>
        </p:nvCxnSpPr>
        <p:spPr>
          <a:xfrm>
            <a:off x="22217412" y="8433398"/>
            <a:ext cx="0" cy="3276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4721840" y="10241280"/>
            <a:ext cx="3109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Self.max -&gt; self . max</a:t>
            </a:r>
          </a:p>
          <a:p>
            <a:r>
              <a:rPr lang="en-US" dirty="0"/>
              <a:t>Self.max_size -&gt; self. Max _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42800" y="9895840"/>
            <a:ext cx="2222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  <a:r>
              <a:rPr lang="zh-CN" altLang="en-US" dirty="0"/>
              <a:t>：完整</a:t>
            </a:r>
            <a:r>
              <a:rPr lang="en-US" altLang="zh-CN" dirty="0"/>
              <a:t>variable </a:t>
            </a:r>
          </a:p>
          <a:p>
            <a:r>
              <a:rPr lang="en-US" dirty="0"/>
              <a:t>Token</a:t>
            </a:r>
            <a:r>
              <a:rPr lang="zh-CN" altLang="en-US" dirty="0"/>
              <a:t>：</a:t>
            </a:r>
            <a:r>
              <a:rPr lang="en-US" altLang="zh-CN" dirty="0"/>
              <a:t> variable</a:t>
            </a:r>
            <a:r>
              <a:rPr lang="zh-CN" altLang="en-US" dirty="0"/>
              <a:t>拆分</a:t>
            </a:r>
            <a:endParaRPr lang="en-US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FmMWJmZjM1MTUzOGJhZGQ2YzVjZTI0ZGVkOTAwZTkifQ==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1579</Words>
  <Application>Microsoft Macintosh PowerPoint</Application>
  <PresentationFormat>Custom</PresentationFormat>
  <Paragraphs>812</Paragraphs>
  <Slides>6</Slides>
  <Notes>4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Bradley Hand</vt:lpstr>
      <vt:lpstr>Calibri</vt:lpstr>
      <vt:lpstr>Calibri Light</vt:lpstr>
      <vt:lpstr>Consolas</vt:lpstr>
      <vt:lpstr>Menlo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Kaifeng Huang</dc:creator>
  <cp:lastModifiedBy>Kaifeng Huang</cp:lastModifiedBy>
  <cp:revision>26</cp:revision>
  <dcterms:created xsi:type="dcterms:W3CDTF">2025-06-02T15:22:00Z</dcterms:created>
  <dcterms:modified xsi:type="dcterms:W3CDTF">2025-07-21T14:32:12Z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493A1395599146C3BE4DF5A32EBEC8B3_12</vt:lpwstr>
  </property>
  <property fmtid="{D5CDD505-2E9C-101B-9397-08002B2CF9AE}" pid="3" name="KSOProductBuildVer">
    <vt:lpwstr>2052-12.1.0.16929</vt:lpwstr>
  </property>
</Properties>
</file>