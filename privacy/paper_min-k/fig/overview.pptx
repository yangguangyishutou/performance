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1"/>
  </p:notesMasterIdLst>
  <p:sldIdLst>
    <p:sldId id="261" r:id="rId2"/>
    <p:sldId id="269" r:id="rId3"/>
    <p:sldId id="268" r:id="rId4"/>
    <p:sldId id="262" r:id="rId5"/>
    <p:sldId id="256" r:id="rId6"/>
    <p:sldId id="257" r:id="rId7"/>
    <p:sldId id="259" r:id="rId8"/>
    <p:sldId id="258" r:id="rId9"/>
    <p:sldId id="260" r:id="rId10"/>
  </p:sldIdLst>
  <p:sldSz cx="30192663" cy="17657763"/>
  <p:notesSz cx="6858000" cy="9144000"/>
  <p:custDataLst>
    <p:tags r:id="rId12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DF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59"/>
    <p:restoredTop sz="89915"/>
  </p:normalViewPr>
  <p:slideViewPr>
    <p:cSldViewPr snapToGrid="0">
      <p:cViewPr>
        <p:scale>
          <a:sx n="31" d="100"/>
          <a:sy n="31" d="100"/>
        </p:scale>
        <p:origin x="1536" y="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624B96-F7A0-634D-924D-D34EE602F0F5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90575" y="1143000"/>
            <a:ext cx="52768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ED576B-21C6-B14A-910C-AADE6C8F183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 Logic</a:t>
            </a:r>
          </a:p>
          <a:p>
            <a:r>
              <a:rPr lang="en-US" dirty="0"/>
              <a:t>Condition</a:t>
            </a:r>
          </a:p>
          <a:p>
            <a:r>
              <a:rPr lang="en-US" dirty="0"/>
              <a:t>Consequent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 Logic</a:t>
            </a:r>
          </a:p>
          <a:p>
            <a:r>
              <a:rPr lang="en-US" dirty="0"/>
              <a:t>Condition</a:t>
            </a:r>
          </a:p>
          <a:p>
            <a:r>
              <a:rPr lang="en-US" dirty="0"/>
              <a:t>Consequent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1921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 Logic</a:t>
            </a:r>
          </a:p>
          <a:p>
            <a:r>
              <a:rPr lang="en-US" dirty="0"/>
              <a:t>Condition</a:t>
            </a:r>
          </a:p>
          <a:p>
            <a:r>
              <a:rPr lang="en-US" dirty="0"/>
              <a:t>Consequent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90575" y="1143000"/>
            <a:ext cx="52768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74083" y="2889825"/>
            <a:ext cx="22644497" cy="6147517"/>
          </a:xfrm>
        </p:spPr>
        <p:txBody>
          <a:bodyPr anchor="b"/>
          <a:lstStyle>
            <a:lvl1pPr algn="ctr">
              <a:defRPr sz="148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74083" y="9274414"/>
            <a:ext cx="22644497" cy="4263204"/>
          </a:xfrm>
        </p:spPr>
        <p:txBody>
          <a:bodyPr/>
          <a:lstStyle>
            <a:lvl1pPr marL="0" indent="0" algn="ctr">
              <a:buNone/>
              <a:defRPr sz="5945"/>
            </a:lvl1pPr>
            <a:lvl2pPr marL="1132205" indent="0" algn="ctr">
              <a:buNone/>
              <a:defRPr sz="4955"/>
            </a:lvl2pPr>
            <a:lvl3pPr marL="2264410" indent="0" algn="ctr">
              <a:buNone/>
              <a:defRPr sz="4460"/>
            </a:lvl3pPr>
            <a:lvl4pPr marL="3396615" indent="0" algn="ctr">
              <a:buNone/>
              <a:defRPr sz="3960"/>
            </a:lvl4pPr>
            <a:lvl5pPr marL="4528820" indent="0" algn="ctr">
              <a:buNone/>
              <a:defRPr sz="3960"/>
            </a:lvl5pPr>
            <a:lvl6pPr marL="5661025" indent="0" algn="ctr">
              <a:buNone/>
              <a:defRPr sz="3960"/>
            </a:lvl6pPr>
            <a:lvl7pPr marL="6793230" indent="0" algn="ctr">
              <a:buNone/>
              <a:defRPr sz="3960"/>
            </a:lvl7pPr>
            <a:lvl8pPr marL="7925435" indent="0" algn="ctr">
              <a:buNone/>
              <a:defRPr sz="3960"/>
            </a:lvl8pPr>
            <a:lvl9pPr marL="9057640" indent="0" algn="ctr">
              <a:buNone/>
              <a:defRPr sz="39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0020" y="4402181"/>
            <a:ext cx="26041172" cy="7345138"/>
          </a:xfrm>
        </p:spPr>
        <p:txBody>
          <a:bodyPr anchor="b"/>
          <a:lstStyle>
            <a:lvl1pPr>
              <a:defRPr sz="148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0020" y="11816807"/>
            <a:ext cx="26041172" cy="3862634"/>
          </a:xfrm>
        </p:spPr>
        <p:txBody>
          <a:bodyPr/>
          <a:lstStyle>
            <a:lvl1pPr marL="0" indent="0">
              <a:buNone/>
              <a:defRPr sz="5945">
                <a:solidFill>
                  <a:schemeClr val="tx1">
                    <a:tint val="75000"/>
                  </a:schemeClr>
                </a:solidFill>
              </a:defRPr>
            </a:lvl1pPr>
            <a:lvl2pPr marL="1132205" indent="0">
              <a:buNone/>
              <a:defRPr sz="4955">
                <a:solidFill>
                  <a:schemeClr val="tx1">
                    <a:tint val="75000"/>
                  </a:schemeClr>
                </a:solidFill>
              </a:defRPr>
            </a:lvl2pPr>
            <a:lvl3pPr marL="2264410" indent="0">
              <a:buNone/>
              <a:defRPr sz="4460">
                <a:solidFill>
                  <a:schemeClr val="tx1">
                    <a:tint val="75000"/>
                  </a:schemeClr>
                </a:solidFill>
              </a:defRPr>
            </a:lvl3pPr>
            <a:lvl4pPr marL="339661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4pPr>
            <a:lvl5pPr marL="452882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5pPr>
            <a:lvl6pPr marL="566102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6pPr>
            <a:lvl7pPr marL="679323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7pPr>
            <a:lvl8pPr marL="792543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8pPr>
            <a:lvl9pPr marL="905764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5745" y="4700562"/>
            <a:ext cx="12831882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85036" y="4700562"/>
            <a:ext cx="12831882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8" y="940114"/>
            <a:ext cx="26041172" cy="341301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680" y="4328606"/>
            <a:ext cx="12772910" cy="2121383"/>
          </a:xfrm>
        </p:spPr>
        <p:txBody>
          <a:bodyPr anchor="b"/>
          <a:lstStyle>
            <a:lvl1pPr marL="0" indent="0">
              <a:buNone/>
              <a:defRPr sz="5945" b="1"/>
            </a:lvl1pPr>
            <a:lvl2pPr marL="1132205" indent="0">
              <a:buNone/>
              <a:defRPr sz="4955" b="1"/>
            </a:lvl2pPr>
            <a:lvl3pPr marL="2264410" indent="0">
              <a:buNone/>
              <a:defRPr sz="4460" b="1"/>
            </a:lvl3pPr>
            <a:lvl4pPr marL="3396615" indent="0">
              <a:buNone/>
              <a:defRPr sz="3960" b="1"/>
            </a:lvl4pPr>
            <a:lvl5pPr marL="4528820" indent="0">
              <a:buNone/>
              <a:defRPr sz="3960" b="1"/>
            </a:lvl5pPr>
            <a:lvl6pPr marL="5661025" indent="0">
              <a:buNone/>
              <a:defRPr sz="3960" b="1"/>
            </a:lvl6pPr>
            <a:lvl7pPr marL="6793230" indent="0">
              <a:buNone/>
              <a:defRPr sz="3960" b="1"/>
            </a:lvl7pPr>
            <a:lvl8pPr marL="7925435" indent="0">
              <a:buNone/>
              <a:defRPr sz="3960" b="1"/>
            </a:lvl8pPr>
            <a:lvl9pPr marL="9057640" indent="0">
              <a:buNone/>
              <a:defRPr sz="3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79680" y="6449989"/>
            <a:ext cx="12772910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285036" y="4328606"/>
            <a:ext cx="12835814" cy="2121383"/>
          </a:xfrm>
        </p:spPr>
        <p:txBody>
          <a:bodyPr anchor="b"/>
          <a:lstStyle>
            <a:lvl1pPr marL="0" indent="0">
              <a:buNone/>
              <a:defRPr sz="5945" b="1"/>
            </a:lvl1pPr>
            <a:lvl2pPr marL="1132205" indent="0">
              <a:buNone/>
              <a:defRPr sz="4955" b="1"/>
            </a:lvl2pPr>
            <a:lvl3pPr marL="2264410" indent="0">
              <a:buNone/>
              <a:defRPr sz="4460" b="1"/>
            </a:lvl3pPr>
            <a:lvl4pPr marL="3396615" indent="0">
              <a:buNone/>
              <a:defRPr sz="3960" b="1"/>
            </a:lvl4pPr>
            <a:lvl5pPr marL="4528820" indent="0">
              <a:buNone/>
              <a:defRPr sz="3960" b="1"/>
            </a:lvl5pPr>
            <a:lvl6pPr marL="5661025" indent="0">
              <a:buNone/>
              <a:defRPr sz="3960" b="1"/>
            </a:lvl6pPr>
            <a:lvl7pPr marL="6793230" indent="0">
              <a:buNone/>
              <a:defRPr sz="3960" b="1"/>
            </a:lvl7pPr>
            <a:lvl8pPr marL="7925435" indent="0">
              <a:buNone/>
              <a:defRPr sz="3960" b="1"/>
            </a:lvl8pPr>
            <a:lvl9pPr marL="9057640" indent="0">
              <a:buNone/>
              <a:defRPr sz="3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285036" y="6449989"/>
            <a:ext cx="12835814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9" y="1177184"/>
            <a:ext cx="9737919" cy="4120145"/>
          </a:xfrm>
        </p:spPr>
        <p:txBody>
          <a:bodyPr anchor="b"/>
          <a:lstStyle>
            <a:lvl1pPr>
              <a:defRPr sz="792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35814" y="2542392"/>
            <a:ext cx="15285036" cy="12548457"/>
          </a:xfrm>
        </p:spPr>
        <p:txBody>
          <a:bodyPr/>
          <a:lstStyle>
            <a:lvl1pPr>
              <a:defRPr sz="7925"/>
            </a:lvl1pPr>
            <a:lvl2pPr>
              <a:defRPr sz="6935"/>
            </a:lvl2pPr>
            <a:lvl3pPr>
              <a:defRPr sz="5945"/>
            </a:lvl3pPr>
            <a:lvl4pPr>
              <a:defRPr sz="4955"/>
            </a:lvl4pPr>
            <a:lvl5pPr>
              <a:defRPr sz="4955"/>
            </a:lvl5pPr>
            <a:lvl6pPr>
              <a:defRPr sz="4955"/>
            </a:lvl6pPr>
            <a:lvl7pPr>
              <a:defRPr sz="4955"/>
            </a:lvl7pPr>
            <a:lvl8pPr>
              <a:defRPr sz="4955"/>
            </a:lvl8pPr>
            <a:lvl9pPr>
              <a:defRPr sz="495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9679" y="5297329"/>
            <a:ext cx="9737919" cy="9813957"/>
          </a:xfrm>
        </p:spPr>
        <p:txBody>
          <a:bodyPr/>
          <a:lstStyle>
            <a:lvl1pPr marL="0" indent="0">
              <a:buNone/>
              <a:defRPr sz="3960"/>
            </a:lvl1pPr>
            <a:lvl2pPr marL="1132205" indent="0">
              <a:buNone/>
              <a:defRPr sz="3465"/>
            </a:lvl2pPr>
            <a:lvl3pPr marL="2264410" indent="0">
              <a:buNone/>
              <a:defRPr sz="2970"/>
            </a:lvl3pPr>
            <a:lvl4pPr marL="3396615" indent="0">
              <a:buNone/>
              <a:defRPr sz="2475"/>
            </a:lvl4pPr>
            <a:lvl5pPr marL="4528820" indent="0">
              <a:buNone/>
              <a:defRPr sz="2475"/>
            </a:lvl5pPr>
            <a:lvl6pPr marL="5661025" indent="0">
              <a:buNone/>
              <a:defRPr sz="2475"/>
            </a:lvl6pPr>
            <a:lvl7pPr marL="6793230" indent="0">
              <a:buNone/>
              <a:defRPr sz="2475"/>
            </a:lvl7pPr>
            <a:lvl8pPr marL="7925435" indent="0">
              <a:buNone/>
              <a:defRPr sz="2475"/>
            </a:lvl8pPr>
            <a:lvl9pPr marL="9057640" indent="0">
              <a:buNone/>
              <a:defRPr sz="24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9" y="1177184"/>
            <a:ext cx="9737919" cy="4120145"/>
          </a:xfrm>
        </p:spPr>
        <p:txBody>
          <a:bodyPr anchor="b"/>
          <a:lstStyle>
            <a:lvl1pPr>
              <a:defRPr sz="792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35814" y="2542392"/>
            <a:ext cx="15285036" cy="12548457"/>
          </a:xfrm>
        </p:spPr>
        <p:txBody>
          <a:bodyPr anchor="t"/>
          <a:lstStyle>
            <a:lvl1pPr marL="0" indent="0">
              <a:buNone/>
              <a:defRPr sz="7925"/>
            </a:lvl1pPr>
            <a:lvl2pPr marL="1132205" indent="0">
              <a:buNone/>
              <a:defRPr sz="6935"/>
            </a:lvl2pPr>
            <a:lvl3pPr marL="2264410" indent="0">
              <a:buNone/>
              <a:defRPr sz="5945"/>
            </a:lvl3pPr>
            <a:lvl4pPr marL="3396615" indent="0">
              <a:buNone/>
              <a:defRPr sz="4955"/>
            </a:lvl4pPr>
            <a:lvl5pPr marL="4528820" indent="0">
              <a:buNone/>
              <a:defRPr sz="4955"/>
            </a:lvl5pPr>
            <a:lvl6pPr marL="5661025" indent="0">
              <a:buNone/>
              <a:defRPr sz="4955"/>
            </a:lvl6pPr>
            <a:lvl7pPr marL="6793230" indent="0">
              <a:buNone/>
              <a:defRPr sz="4955"/>
            </a:lvl7pPr>
            <a:lvl8pPr marL="7925435" indent="0">
              <a:buNone/>
              <a:defRPr sz="4955"/>
            </a:lvl8pPr>
            <a:lvl9pPr marL="9057640" indent="0">
              <a:buNone/>
              <a:defRPr sz="495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9679" y="5297329"/>
            <a:ext cx="9737919" cy="9813957"/>
          </a:xfrm>
        </p:spPr>
        <p:txBody>
          <a:bodyPr/>
          <a:lstStyle>
            <a:lvl1pPr marL="0" indent="0">
              <a:buNone/>
              <a:defRPr sz="3960"/>
            </a:lvl1pPr>
            <a:lvl2pPr marL="1132205" indent="0">
              <a:buNone/>
              <a:defRPr sz="3465"/>
            </a:lvl2pPr>
            <a:lvl3pPr marL="2264410" indent="0">
              <a:buNone/>
              <a:defRPr sz="2970"/>
            </a:lvl3pPr>
            <a:lvl4pPr marL="3396615" indent="0">
              <a:buNone/>
              <a:defRPr sz="2475"/>
            </a:lvl4pPr>
            <a:lvl5pPr marL="4528820" indent="0">
              <a:buNone/>
              <a:defRPr sz="2475"/>
            </a:lvl5pPr>
            <a:lvl6pPr marL="5661025" indent="0">
              <a:buNone/>
              <a:defRPr sz="2475"/>
            </a:lvl6pPr>
            <a:lvl7pPr marL="6793230" indent="0">
              <a:buNone/>
              <a:defRPr sz="2475"/>
            </a:lvl7pPr>
            <a:lvl8pPr marL="7925435" indent="0">
              <a:buNone/>
              <a:defRPr sz="2475"/>
            </a:lvl8pPr>
            <a:lvl9pPr marL="9057640" indent="0">
              <a:buNone/>
              <a:defRPr sz="24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06624" y="940112"/>
            <a:ext cx="6510293" cy="149641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5745" y="940112"/>
            <a:ext cx="19153471" cy="149641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5746" y="940114"/>
            <a:ext cx="26041172" cy="34130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5746" y="4700562"/>
            <a:ext cx="26041172" cy="1120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5746" y="16366132"/>
            <a:ext cx="6793349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BCF0D1-8A85-2640-8DAD-57E451814062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01320" y="16366132"/>
            <a:ext cx="10190024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23568" y="16366132"/>
            <a:ext cx="6793349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264410" rtl="0" eaLnBrk="1" latinLnBrk="0" hangingPunct="1">
        <a:lnSpc>
          <a:spcPct val="90000"/>
        </a:lnSpc>
        <a:spcBef>
          <a:spcPct val="0"/>
        </a:spcBef>
        <a:buNone/>
        <a:defRPr sz="108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66420" indent="-566420" algn="l" defTabSz="2264410" rtl="0" eaLnBrk="1" latinLnBrk="0" hangingPunct="1">
        <a:lnSpc>
          <a:spcPct val="90000"/>
        </a:lnSpc>
        <a:spcBef>
          <a:spcPts val="2475"/>
        </a:spcBef>
        <a:buFont typeface="Arial" panose="020B0604020202020204" pitchFamily="34" charset="0"/>
        <a:buChar char="•"/>
        <a:defRPr sz="6935" kern="1200">
          <a:solidFill>
            <a:schemeClr val="tx1"/>
          </a:solidFill>
          <a:latin typeface="+mn-lt"/>
          <a:ea typeface="+mn-ea"/>
          <a:cs typeface="+mn-cs"/>
        </a:defRPr>
      </a:lvl1pPr>
      <a:lvl2pPr marL="169862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5945" kern="1200">
          <a:solidFill>
            <a:schemeClr val="tx1"/>
          </a:solidFill>
          <a:latin typeface="+mn-lt"/>
          <a:ea typeface="+mn-ea"/>
          <a:cs typeface="+mn-cs"/>
        </a:defRPr>
      </a:lvl2pPr>
      <a:lvl3pPr marL="283083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955" kern="1200">
          <a:solidFill>
            <a:schemeClr val="tx1"/>
          </a:solidFill>
          <a:latin typeface="+mn-lt"/>
          <a:ea typeface="+mn-ea"/>
          <a:cs typeface="+mn-cs"/>
        </a:defRPr>
      </a:lvl3pPr>
      <a:lvl4pPr marL="396303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4pPr>
      <a:lvl5pPr marL="509524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5pPr>
      <a:lvl6pPr marL="622744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6pPr>
      <a:lvl7pPr marL="735965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7pPr>
      <a:lvl8pPr marL="849185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8pPr>
      <a:lvl9pPr marL="962406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1pPr>
      <a:lvl2pPr marL="113220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2pPr>
      <a:lvl3pPr marL="226441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3pPr>
      <a:lvl4pPr marL="339661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4pPr>
      <a:lvl5pPr marL="452882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5pPr>
      <a:lvl6pPr marL="566102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6pPr>
      <a:lvl7pPr marL="679323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7pPr>
      <a:lvl8pPr marL="792543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8pPr>
      <a:lvl9pPr marL="905764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6.png"/><Relationship Id="rId5" Type="http://schemas.openxmlformats.org/officeDocument/2006/relationships/image" Target="../media/image3.png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image" Target="../media/image1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6.png"/><Relationship Id="rId5" Type="http://schemas.openxmlformats.org/officeDocument/2006/relationships/image" Target="../media/image3.png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image" Target="../media/image16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16.sv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1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 679"/>
          <p:cNvSpPr/>
          <p:nvPr/>
        </p:nvSpPr>
        <p:spPr>
          <a:xfrm>
            <a:off x="16728378" y="3594289"/>
            <a:ext cx="4593504" cy="4741690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42" name="Rounded Rectangle 641"/>
          <p:cNvSpPr/>
          <p:nvPr/>
        </p:nvSpPr>
        <p:spPr>
          <a:xfrm>
            <a:off x="11940367" y="3594290"/>
            <a:ext cx="4393854" cy="474169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91871" y="6355984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rebuchet MS" panose="020B0603020202020204" pitchFamily="34" charset="0"/>
              </a:rPr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8781" y="5016268"/>
            <a:ext cx="25616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998356" y="5016268"/>
            <a:ext cx="36448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rebuchet MS" panose="020B0603020202020204" pitchFamily="34" charset="0"/>
              </a:rPr>
              <a:t>Copyright</a:t>
            </a:r>
            <a:r>
              <a:rPr lang="en-US" altLang="zh-CN" sz="2400" dirty="0">
                <a:latin typeface="Trebuchet MS" panose="020B0603020202020204" pitchFamily="34" charset="0"/>
              </a:rPr>
              <a:t>-Owned </a:t>
            </a:r>
            <a:r>
              <a:rPr lang="en-US" sz="2400" dirty="0">
                <a:latin typeface="Trebuchet MS" panose="020B0603020202020204" pitchFamily="34" charset="0"/>
              </a:rPr>
              <a:t>Code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45943" y="3949260"/>
            <a:ext cx="1944000" cy="504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Programming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6669792"/>
            <a:ext cx="1130986" cy="1130986"/>
          </a:xfrm>
          <a:prstGeom prst="rect">
            <a:avLst/>
          </a:prstGeom>
        </p:spPr>
      </p:pic>
      <p:cxnSp>
        <p:nvCxnSpPr>
          <p:cNvPr id="136" name="Straight Arrow Connector 135"/>
          <p:cNvCxnSpPr>
            <a:cxnSpLocks/>
            <a:stCxn id="680" idx="3"/>
            <a:endCxn id="390" idx="1"/>
          </p:cNvCxnSpPr>
          <p:nvPr/>
        </p:nvCxnSpPr>
        <p:spPr>
          <a:xfrm flipV="1">
            <a:off x="21321882" y="5961998"/>
            <a:ext cx="380143" cy="31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3" name="Picture 462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889730" y="6660748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591667" y="7068989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165109" y="7073961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580242" y="7099416"/>
            <a:ext cx="1944000" cy="504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097950" y="7810373"/>
            <a:ext cx="19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rebuchet MS" panose="020B0603020202020204" pitchFamily="34" charset="0"/>
              </a:rPr>
              <a:t>Codebase</a:t>
            </a:r>
          </a:p>
        </p:txBody>
      </p: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4067449" y="4703680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5965137"/>
            <a:ext cx="989395" cy="1270148"/>
          </a:xfrm>
          <a:prstGeom prst="bentConnector3">
            <a:avLst>
              <a:gd name="adj1" fmla="val 43734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0" name="Elbow Connector 699"/>
          <p:cNvCxnSpPr>
            <a:stCxn id="642" idx="3"/>
            <a:endCxn id="680" idx="1"/>
          </p:cNvCxnSpPr>
          <p:nvPr/>
        </p:nvCxnSpPr>
        <p:spPr>
          <a:xfrm flipV="1">
            <a:off x="16334221" y="5965134"/>
            <a:ext cx="394157" cy="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4525586" y="7697772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7770497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7810373"/>
            <a:ext cx="11057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6170" y="7121091"/>
            <a:ext cx="1944000" cy="504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386" y="5773019"/>
            <a:ext cx="83477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603020202020204" pitchFamily="34" charset="0"/>
              </a:rPr>
              <a:t>Developer Accomplishing Programming 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8950" y="8439061"/>
            <a:ext cx="69505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603020202020204" pitchFamily="34" charset="0"/>
              </a:rPr>
              <a:t>Training LLMs Using Accesible Corpus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56084" y="7810373"/>
            <a:ext cx="27792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rebuchet MS" panose="020B0603020202020204" pitchFamily="34" charset="0"/>
              </a:rPr>
              <a:t>Code Resources</a:t>
            </a:r>
          </a:p>
        </p:txBody>
      </p:sp>
      <p:cxnSp>
        <p:nvCxnSpPr>
          <p:cNvPr id="630" name="Elbow Connector 629"/>
          <p:cNvCxnSpPr>
            <a:cxnSpLocks/>
            <a:endCxn id="642" idx="1"/>
          </p:cNvCxnSpPr>
          <p:nvPr/>
        </p:nvCxnSpPr>
        <p:spPr>
          <a:xfrm>
            <a:off x="10844683" y="4476603"/>
            <a:ext cx="1095684" cy="148853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3" name="TextBox 662"/>
          <p:cNvSpPr txBox="1"/>
          <p:nvPr/>
        </p:nvSpPr>
        <p:spPr>
          <a:xfrm>
            <a:off x="12573950" y="4308126"/>
            <a:ext cx="36134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rebuchet MS" panose="020B0603020202020204" pitchFamily="34" charset="0"/>
              </a:rPr>
              <a:t>Copyright</a:t>
            </a:r>
            <a:r>
              <a:rPr lang="en-US" altLang="zh-CN" sz="2400" dirty="0">
                <a:latin typeface="Trebuchet MS" panose="020B0603020202020204" pitchFamily="34" charset="0"/>
              </a:rPr>
              <a:t>-Owned </a:t>
            </a:r>
            <a:r>
              <a:rPr lang="en-US" sz="2400" dirty="0">
                <a:latin typeface="Trebuchet MS" panose="020B0603020202020204" pitchFamily="34" charset="0"/>
              </a:rPr>
              <a:t>Code</a:t>
            </a:r>
          </a:p>
        </p:txBody>
      </p:sp>
      <p:sp>
        <p:nvSpPr>
          <p:cNvPr id="689" name="TextBox 688"/>
          <p:cNvSpPr txBox="1"/>
          <p:nvPr/>
        </p:nvSpPr>
        <p:spPr>
          <a:xfrm>
            <a:off x="18300171" y="8747886"/>
            <a:ext cx="24577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603020202020204" pitchFamily="34" charset="0"/>
              </a:rPr>
              <a:t>Our Solution</a:t>
            </a:r>
          </a:p>
        </p:txBody>
      </p:sp>
      <p:cxnSp>
        <p:nvCxnSpPr>
          <p:cNvPr id="725" name="Elbow Connector 724"/>
          <p:cNvCxnSpPr>
            <a:cxnSpLocks/>
            <a:endCxn id="680" idx="0"/>
          </p:cNvCxnSpPr>
          <p:nvPr/>
        </p:nvCxnSpPr>
        <p:spPr>
          <a:xfrm rot="5400000" flipH="1" flipV="1">
            <a:off x="11243537" y="-3993159"/>
            <a:ext cx="194145" cy="15369042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19167950" y="1289311"/>
            <a:ext cx="322265" cy="14554588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58" name="Rounded Rectangle 757"/>
          <p:cNvSpPr/>
          <p:nvPr/>
        </p:nvSpPr>
        <p:spPr>
          <a:xfrm>
            <a:off x="12699718" y="3649618"/>
            <a:ext cx="2955029" cy="72000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bg1"/>
                </a:solidFill>
                <a:latin typeface="Trebuchet MS" panose="020B0603020202020204" pitchFamily="34" charset="0"/>
              </a:rPr>
              <a:t>Token Preprocessing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21702025" y="4400807"/>
            <a:ext cx="4970244" cy="3122381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17953550" y="4281397"/>
            <a:ext cx="2967601" cy="484828"/>
          </a:xfrm>
          <a:prstGeom prst="roundRect">
            <a:avLst>
              <a:gd name="adj" fmla="val 15542"/>
            </a:avLst>
          </a:prstGeom>
          <a:noFill/>
          <a:ln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Syntax Conventions </a:t>
            </a:r>
            <a:endParaRPr lang="en-US" sz="24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587" name="Straight Arrow Connector 586"/>
          <p:cNvCxnSpPr/>
          <p:nvPr/>
        </p:nvCxnSpPr>
        <p:spPr>
          <a:xfrm>
            <a:off x="14018144" y="668487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1" name="TextBox 620"/>
          <p:cNvSpPr txBox="1"/>
          <p:nvPr/>
        </p:nvSpPr>
        <p:spPr>
          <a:xfrm>
            <a:off x="14171425" y="6743868"/>
            <a:ext cx="2015999" cy="396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Decomposing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14197220" y="4714337"/>
            <a:ext cx="2015999" cy="396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Getting Probs</a:t>
            </a:r>
          </a:p>
        </p:txBody>
      </p:sp>
      <p:sp>
        <p:nvSpPr>
          <p:cNvPr id="623" name="Rounded Rectangle 622"/>
          <p:cNvSpPr/>
          <p:nvPr/>
        </p:nvSpPr>
        <p:spPr>
          <a:xfrm>
            <a:off x="17323616" y="3661492"/>
            <a:ext cx="3408643" cy="72000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bg1"/>
                </a:solidFill>
                <a:latin typeface="Trebuchet MS" panose="020B0603020202020204" pitchFamily="34" charset="0"/>
              </a:rPr>
              <a:t>Syntax-Convention-based Token Pruning</a:t>
            </a:r>
          </a:p>
        </p:txBody>
      </p:sp>
      <p:cxnSp>
        <p:nvCxnSpPr>
          <p:cNvPr id="626" name="Straight Arrow Connector 625"/>
          <p:cNvCxnSpPr/>
          <p:nvPr/>
        </p:nvCxnSpPr>
        <p:spPr>
          <a:xfrm>
            <a:off x="20271113" y="471536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9" name="Straight Arrow Connector 678"/>
          <p:cNvCxnSpPr/>
          <p:nvPr/>
        </p:nvCxnSpPr>
        <p:spPr>
          <a:xfrm>
            <a:off x="20320906" y="6303023"/>
            <a:ext cx="0" cy="43200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5" name="TextBox 624"/>
          <p:cNvSpPr txBox="1"/>
          <p:nvPr/>
        </p:nvSpPr>
        <p:spPr>
          <a:xfrm>
            <a:off x="17055496" y="4722341"/>
            <a:ext cx="4068000" cy="396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Matching Decomposed Tokens</a:t>
            </a:r>
          </a:p>
        </p:txBody>
      </p:sp>
      <p:sp>
        <p:nvSpPr>
          <p:cNvPr id="681" name="TextBox 680"/>
          <p:cNvSpPr txBox="1"/>
          <p:nvPr/>
        </p:nvSpPr>
        <p:spPr>
          <a:xfrm>
            <a:off x="17061129" y="6360206"/>
            <a:ext cx="4068000" cy="396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Syntax-Oriented Pruning</a:t>
            </a:r>
          </a:p>
        </p:txBody>
      </p:sp>
      <p:sp>
        <p:nvSpPr>
          <p:cNvPr id="685" name="Rounded Rectangle 684"/>
          <p:cNvSpPr/>
          <p:nvPr/>
        </p:nvSpPr>
        <p:spPr>
          <a:xfrm>
            <a:off x="21995102" y="4513610"/>
            <a:ext cx="4492065" cy="72000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bg1"/>
                </a:solidFill>
                <a:latin typeface="Trebuchet MS" panose="020B0603020202020204" pitchFamily="34" charset="0"/>
              </a:rPr>
              <a:t>Member Probabilities Calculation</a:t>
            </a:r>
          </a:p>
        </p:txBody>
      </p:sp>
      <p:sp>
        <p:nvSpPr>
          <p:cNvPr id="686" name="Rounded Rectangle 685"/>
          <p:cNvSpPr/>
          <p:nvPr/>
        </p:nvSpPr>
        <p:spPr>
          <a:xfrm>
            <a:off x="22364075" y="5441818"/>
            <a:ext cx="3965929" cy="461958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Trebuchet MS" panose="020B0603020202020204" pitchFamily="34" charset="0"/>
              </a:rPr>
              <a:t>Syntax-convention-pruned Member Probabilities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39960" y="6099835"/>
            <a:ext cx="3683000" cy="9525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207114" y="6097722"/>
            <a:ext cx="3965929" cy="103296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B3C0B96-FF66-D89B-9D08-B7AE74BCA3B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55754" y="3761904"/>
            <a:ext cx="1676400" cy="13081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114DADED-66CC-1147-F937-3754075469C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24595" y="3905471"/>
            <a:ext cx="4013200" cy="9906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72C586F0-BF5B-FB52-8890-97BA2E23447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6344" y="6692839"/>
            <a:ext cx="4165600" cy="13081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EA743D88-1D5E-224E-9936-3781A5362F3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979834" y="5176802"/>
            <a:ext cx="4267200" cy="14732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D64BD754-7250-BDFC-042B-F8442E25D68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060050" y="7179237"/>
            <a:ext cx="4191000" cy="11176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5517EEAF-43BB-C1E0-DB12-B1C52D1D10D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987646" y="5164163"/>
            <a:ext cx="4203700" cy="1117600"/>
          </a:xfrm>
          <a:prstGeom prst="rect">
            <a:avLst/>
          </a:prstGeom>
        </p:spPr>
      </p:pic>
      <p:pic>
        <p:nvPicPr>
          <p:cNvPr id="450" name="Picture 449">
            <a:extLst>
              <a:ext uri="{FF2B5EF4-FFF2-40B4-BE49-F238E27FC236}">
                <a16:creationId xmlns:a16="http://schemas.microsoft.com/office/drawing/2014/main" id="{B5B79536-CEB7-EA4C-CC60-72DFE48DF8F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832795" y="6751319"/>
            <a:ext cx="4419600" cy="1625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 679"/>
          <p:cNvSpPr/>
          <p:nvPr/>
        </p:nvSpPr>
        <p:spPr>
          <a:xfrm>
            <a:off x="16728378" y="3594289"/>
            <a:ext cx="4593504" cy="4741690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03" name="Rounded Rectangle 602"/>
          <p:cNvSpPr/>
          <p:nvPr/>
        </p:nvSpPr>
        <p:spPr>
          <a:xfrm>
            <a:off x="16947667" y="7869393"/>
            <a:ext cx="4164517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02" name="Rounded Rectangle 601"/>
          <p:cNvSpPr/>
          <p:nvPr/>
        </p:nvSpPr>
        <p:spPr>
          <a:xfrm>
            <a:off x="16947667" y="7077752"/>
            <a:ext cx="4164517" cy="378000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44" name="Rounded Rectangle 643"/>
          <p:cNvSpPr/>
          <p:nvPr/>
        </p:nvSpPr>
        <p:spPr>
          <a:xfrm>
            <a:off x="16823676" y="6765598"/>
            <a:ext cx="4393854" cy="1560137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42" name="Rounded Rectangle 641"/>
          <p:cNvSpPr/>
          <p:nvPr/>
        </p:nvSpPr>
        <p:spPr>
          <a:xfrm>
            <a:off x="11940367" y="3594290"/>
            <a:ext cx="4393854" cy="474169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91871" y="6355984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49" name="Rounded Rectangle 748"/>
          <p:cNvSpPr/>
          <p:nvPr/>
        </p:nvSpPr>
        <p:spPr>
          <a:xfrm>
            <a:off x="12059998" y="5222989"/>
            <a:ext cx="4156540" cy="145004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8781" y="5016268"/>
            <a:ext cx="25616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112657" y="5016268"/>
            <a:ext cx="30450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Copyright</a:t>
            </a:r>
            <a:r>
              <a:rPr lang="en-US" altLang="zh-CN" sz="2000" dirty="0">
                <a:latin typeface="Trebuchet MS" panose="020B0603020202020204" pitchFamily="34" charset="0"/>
              </a:rPr>
              <a:t>-Owned </a:t>
            </a:r>
            <a:r>
              <a:rPr lang="en-US" sz="2000" dirty="0">
                <a:latin typeface="Trebuchet MS" panose="020B0603020202020204" pitchFamily="34" charset="0"/>
              </a:rPr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614801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For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If Else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Try except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45943" y="3949260"/>
            <a:ext cx="1944000" cy="504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Programming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6669792"/>
            <a:ext cx="1130986" cy="1130986"/>
          </a:xfrm>
          <a:prstGeom prst="rect">
            <a:avLst/>
          </a:prstGeom>
        </p:spPr>
      </p:pic>
      <p:cxnSp>
        <p:nvCxnSpPr>
          <p:cNvPr id="136" name="Straight Arrow Connector 135"/>
          <p:cNvCxnSpPr>
            <a:cxnSpLocks/>
            <a:stCxn id="680" idx="3"/>
            <a:endCxn id="390" idx="1"/>
          </p:cNvCxnSpPr>
          <p:nvPr/>
        </p:nvCxnSpPr>
        <p:spPr>
          <a:xfrm flipV="1">
            <a:off x="21321882" y="5961998"/>
            <a:ext cx="380143" cy="31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Trebuchet MS" panose="020B0603020202020204" pitchFamily="34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Trebuchet MS" panose="020B0603020202020204" pitchFamily="34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889730" y="6660748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591667" y="7068989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165109" y="7073961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580242" y="7099416"/>
            <a:ext cx="1944000" cy="504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55150" y="7810373"/>
            <a:ext cx="13235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Codebase</a:t>
            </a:r>
          </a:p>
        </p:txBody>
      </p: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4067449" y="4703680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5965137"/>
            <a:ext cx="989395" cy="1270148"/>
          </a:xfrm>
          <a:prstGeom prst="bentConnector3">
            <a:avLst>
              <a:gd name="adj1" fmla="val 43734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0" name="Elbow Connector 699"/>
          <p:cNvCxnSpPr>
            <a:stCxn id="642" idx="3"/>
            <a:endCxn id="680" idx="1"/>
          </p:cNvCxnSpPr>
          <p:nvPr/>
        </p:nvCxnSpPr>
        <p:spPr>
          <a:xfrm flipV="1">
            <a:off x="16334221" y="5965134"/>
            <a:ext cx="394157" cy="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4525586" y="7697772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7770497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7810373"/>
            <a:ext cx="11057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6170" y="7121091"/>
            <a:ext cx="1944000" cy="504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386" y="5773019"/>
            <a:ext cx="83477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603020202020204" pitchFamily="34" charset="0"/>
              </a:rPr>
              <a:t>Developer Accomplishing Programming 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8950" y="8439061"/>
            <a:ext cx="69505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603020202020204" pitchFamily="34" charset="0"/>
              </a:rPr>
              <a:t>Training LLMs Using Accesible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7956" y="7334683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7956" y="7035782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6732303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0769" y="7557040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" y="6713021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6888117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906" y="7116077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7538409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84709" y="7810373"/>
            <a:ext cx="2139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Code Resources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72403" y="5480528"/>
            <a:ext cx="2099944" cy="230832"/>
          </a:xfrm>
          <a:prstGeom prst="rect">
            <a:avLst/>
          </a:prstGeom>
          <a:noFill/>
          <a:ln w="12700">
            <a:noFill/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15304286" y="5302475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⌷in</a:t>
            </a:r>
          </a:p>
        </p:txBody>
      </p:sp>
      <p:sp>
        <p:nvSpPr>
          <p:cNvPr id="471" name="TextBox 470"/>
          <p:cNvSpPr txBox="1"/>
          <p:nvPr/>
        </p:nvSpPr>
        <p:spPr>
          <a:xfrm>
            <a:off x="15304286" y="5532751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name</a:t>
            </a:r>
          </a:p>
        </p:txBody>
      </p:sp>
      <p:sp>
        <p:nvSpPr>
          <p:cNvPr id="472" name="TextBox 471"/>
          <p:cNvSpPr txBox="1"/>
          <p:nvPr/>
        </p:nvSpPr>
        <p:spPr>
          <a:xfrm>
            <a:off x="15304286" y="5763027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Id</a:t>
            </a:r>
          </a:p>
        </p:txBody>
      </p:sp>
      <p:sp>
        <p:nvSpPr>
          <p:cNvPr id="475" name="Rectangle 474"/>
          <p:cNvSpPr/>
          <p:nvPr/>
        </p:nvSpPr>
        <p:spPr>
          <a:xfrm>
            <a:off x="15681485" y="5302475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0.84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15681485" y="5532751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0.04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15681485" y="5763027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0.03</a:t>
            </a: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3790141" y="5622071"/>
            <a:ext cx="14400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13714678" y="5350791"/>
            <a:ext cx="1587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Trebuchet MS" panose="020B0603020202020204" pitchFamily="34" charset="0"/>
              </a:rPr>
              <a:t>Next token selection: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6921641" y="6730610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Retained Tokens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17112004" y="7170937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572872" y="7970083"/>
            <a:ext cx="22230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457475" y="717093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8620554" y="7970083"/>
            <a:ext cx="140546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17864113" y="717093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18003382" y="7170937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421755" y="7970083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9115494" y="7170937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308717" y="7170937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9484831" y="7970083"/>
            <a:ext cx="203064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19733131" y="7172696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8820521" y="7970083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12116825" y="6109983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2597772" y="6109983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2457487" y="6109983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13596268" y="6109983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12871470" y="6109983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13010739" y="610998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3392695" y="6109983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14122851" y="6109983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4316074" y="610998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14498504" y="6109983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14740488" y="6109983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16001610" y="610998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3800761" y="610998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2116825" y="634227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2597772" y="6342273"/>
            <a:ext cx="223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457487" y="6342273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3596268" y="6342273"/>
            <a:ext cx="1404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871470" y="6342273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3010739" y="6342273"/>
            <a:ext cx="3120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3392695" y="6342273"/>
            <a:ext cx="11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122851" y="6342273"/>
            <a:ext cx="187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276215" y="6342273"/>
            <a:ext cx="243139" cy="230400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498504" y="6342273"/>
            <a:ext cx="2016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4740488" y="6342273"/>
            <a:ext cx="65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10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15961751" y="634227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3801778" y="634227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585050" y="7170937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628700" y="7170937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419482" y="7170937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491147" y="7170937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8793404" y="7170937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7684022" y="7401769"/>
            <a:ext cx="12628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>
            <a:off x="18478882" y="7401769"/>
            <a:ext cx="2727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8690827" y="7401769"/>
            <a:ext cx="8073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>
            <a:off x="18937404" y="7401337"/>
            <a:ext cx="27117" cy="56874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19586363" y="7401769"/>
            <a:ext cx="5584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0" name="Elbow Connector 629"/>
          <p:cNvCxnSpPr>
            <a:stCxn id="4" idx="3"/>
            <a:endCxn id="642" idx="1"/>
          </p:cNvCxnSpPr>
          <p:nvPr/>
        </p:nvCxnSpPr>
        <p:spPr>
          <a:xfrm>
            <a:off x="10844683" y="4476603"/>
            <a:ext cx="1095684" cy="148853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3" name="TextBox 662"/>
          <p:cNvSpPr txBox="1"/>
          <p:nvPr/>
        </p:nvSpPr>
        <p:spPr>
          <a:xfrm>
            <a:off x="12573950" y="4308126"/>
            <a:ext cx="31692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rebuchet MS" panose="020B0603020202020204" pitchFamily="34" charset="0"/>
              </a:rPr>
              <a:t>Copyright</a:t>
            </a:r>
            <a:r>
              <a:rPr lang="en-US" altLang="zh-CN" sz="2000" dirty="0">
                <a:latin typeface="Trebuchet MS" panose="020B0603020202020204" pitchFamily="34" charset="0"/>
              </a:rPr>
              <a:t>-Owned </a:t>
            </a:r>
            <a:r>
              <a:rPr lang="en-US" sz="2000" dirty="0">
                <a:latin typeface="Trebuchet MS" panose="020B0603020202020204" pitchFamily="34" charset="0"/>
              </a:rPr>
              <a:t>Code</a:t>
            </a:r>
          </a:p>
        </p:txBody>
      </p:sp>
      <p:sp>
        <p:nvSpPr>
          <p:cNvPr id="689" name="TextBox 688"/>
          <p:cNvSpPr txBox="1"/>
          <p:nvPr/>
        </p:nvSpPr>
        <p:spPr>
          <a:xfrm>
            <a:off x="18300171" y="8747886"/>
            <a:ext cx="24577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603020202020204" pitchFamily="34" charset="0"/>
              </a:rPr>
              <a:t>Our Solution</a:t>
            </a:r>
          </a:p>
        </p:txBody>
      </p:sp>
      <p:cxnSp>
        <p:nvCxnSpPr>
          <p:cNvPr id="725" name="Elbow Connector 724"/>
          <p:cNvCxnSpPr>
            <a:stCxn id="9" idx="0"/>
            <a:endCxn id="680" idx="0"/>
          </p:cNvCxnSpPr>
          <p:nvPr/>
        </p:nvCxnSpPr>
        <p:spPr>
          <a:xfrm rot="5400000" flipH="1" flipV="1">
            <a:off x="11243537" y="-3993159"/>
            <a:ext cx="194145" cy="15369042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0" name="Straight Arrow Connector 749"/>
          <p:cNvCxnSpPr/>
          <p:nvPr/>
        </p:nvCxnSpPr>
        <p:spPr>
          <a:xfrm flipH="1">
            <a:off x="14922058" y="588638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19167950" y="1289311"/>
            <a:ext cx="322265" cy="14554588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58" name="Rounded Rectangle 757"/>
          <p:cNvSpPr/>
          <p:nvPr/>
        </p:nvSpPr>
        <p:spPr>
          <a:xfrm>
            <a:off x="12699718" y="3649618"/>
            <a:ext cx="2955029" cy="72000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bg1"/>
                </a:solidFill>
                <a:latin typeface="Trebuchet MS" panose="020B0603020202020204" pitchFamily="34" charset="0"/>
              </a:rPr>
              <a:t>Token Preprocessing</a:t>
            </a:r>
          </a:p>
        </p:txBody>
      </p:sp>
      <p:sp>
        <p:nvSpPr>
          <p:cNvPr id="761" name="TextBox 760"/>
          <p:cNvSpPr txBox="1"/>
          <p:nvPr/>
        </p:nvSpPr>
        <p:spPr>
          <a:xfrm>
            <a:off x="12061257" y="5780982"/>
            <a:ext cx="2909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Token and</a:t>
            </a:r>
            <a:r>
              <a:rPr lang="zh-CN" altLang="en-US" sz="1600" dirty="0">
                <a:latin typeface="Trebuchet MS" panose="020B0603020202020204" pitchFamily="34" charset="0"/>
              </a:rPr>
              <a:t> </a:t>
            </a:r>
            <a:r>
              <a:rPr lang="en-US" altLang="zh-CN" sz="1600" dirty="0">
                <a:latin typeface="Trebuchet MS" panose="020B0603020202020204" pitchFamily="34" charset="0"/>
              </a:rPr>
              <a:t>Probabilities</a:t>
            </a:r>
            <a:endParaRPr lang="en-US" sz="1600" dirty="0">
              <a:latin typeface="Trebuchet MS" panose="020B0603020202020204" pitchFamily="34" charset="0"/>
            </a:endParaRPr>
          </a:p>
        </p:txBody>
      </p:sp>
      <p:cxnSp>
        <p:nvCxnSpPr>
          <p:cNvPr id="384" name="Straight Arrow Connector 383"/>
          <p:cNvCxnSpPr>
            <a:stCxn id="65" idx="2"/>
            <a:endCxn id="66" idx="0"/>
          </p:cNvCxnSpPr>
          <p:nvPr/>
        </p:nvCxnSpPr>
        <p:spPr>
          <a:xfrm flipH="1">
            <a:off x="20842374" y="7403528"/>
            <a:ext cx="3009" cy="56655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0" name="Rounded Rectangle 389"/>
          <p:cNvSpPr/>
          <p:nvPr/>
        </p:nvSpPr>
        <p:spPr>
          <a:xfrm>
            <a:off x="21702025" y="4400807"/>
            <a:ext cx="4970244" cy="3122381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427327" y="6339627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427327" y="610856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35888" y="6108567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5792886" y="6108567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35888" y="6339627"/>
            <a:ext cx="2304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792886" y="6339627"/>
            <a:ext cx="11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2050464" y="7193649"/>
            <a:ext cx="4156540" cy="109593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2204288" y="7543809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2685235" y="7543809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2544950" y="7543809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683731" y="7543809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58933" y="7543809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98202" y="7543809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3502383" y="7543809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210314" y="7543809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4403537" y="7543809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585967" y="7543809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4827951" y="7543809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6026443" y="750623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3888224" y="754380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479" name="TextBox 478"/>
          <p:cNvSpPr txBox="1"/>
          <p:nvPr/>
        </p:nvSpPr>
        <p:spPr>
          <a:xfrm>
            <a:off x="15514790" y="754239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480" name="TextBox 479"/>
          <p:cNvSpPr txBox="1"/>
          <p:nvPr/>
        </p:nvSpPr>
        <p:spPr>
          <a:xfrm>
            <a:off x="15623351" y="7542393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81" name="TextBox 480"/>
          <p:cNvSpPr txBox="1"/>
          <p:nvPr/>
        </p:nvSpPr>
        <p:spPr>
          <a:xfrm>
            <a:off x="15880349" y="754239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486" name="TextBox 485"/>
          <p:cNvSpPr txBox="1"/>
          <p:nvPr/>
        </p:nvSpPr>
        <p:spPr>
          <a:xfrm>
            <a:off x="20931623" y="717269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487" name="TextBox 486"/>
          <p:cNvSpPr txBox="1"/>
          <p:nvPr/>
        </p:nvSpPr>
        <p:spPr>
          <a:xfrm>
            <a:off x="20419970" y="717269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528531" y="7172696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0785529" y="717269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E9DFF0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782520" y="7970083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919108" y="7940864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18091776" y="4254503"/>
            <a:ext cx="2650122" cy="484828"/>
          </a:xfrm>
          <a:prstGeom prst="roundRect">
            <a:avLst>
              <a:gd name="adj" fmla="val 15542"/>
            </a:avLst>
          </a:prstGeom>
          <a:noFill/>
          <a:ln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Syntax Conventions </a:t>
            </a:r>
            <a:endParaRPr lang="en-US" sz="20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12352322" y="7934679"/>
            <a:ext cx="22550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12156854" y="7934679"/>
            <a:ext cx="988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13197208" y="7934679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13029458" y="7928334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3743166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13915358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4087550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14259741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14531594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4720518" y="7934679"/>
            <a:ext cx="1325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4925627" y="7934679"/>
            <a:ext cx="988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15080534" y="7934679"/>
            <a:ext cx="59740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15839436" y="793467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5997047" y="793467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98" name="Curved Connector 97"/>
          <p:cNvCxnSpPr>
            <a:stCxn id="44" idx="2"/>
            <a:endCxn id="77" idx="0"/>
          </p:cNvCxnSpPr>
          <p:nvPr/>
        </p:nvCxnSpPr>
        <p:spPr>
          <a:xfrm rot="16200000" flipH="1">
            <a:off x="12326668" y="7796272"/>
            <a:ext cx="160038" cy="116775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urved Connector 98"/>
          <p:cNvCxnSpPr>
            <a:stCxn id="44" idx="2"/>
            <a:endCxn id="78" idx="0"/>
          </p:cNvCxnSpPr>
          <p:nvPr/>
        </p:nvCxnSpPr>
        <p:spPr>
          <a:xfrm rot="5400000">
            <a:off x="12197275" y="7783654"/>
            <a:ext cx="160038" cy="142012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urved Connector 101"/>
          <p:cNvCxnSpPr>
            <a:stCxn id="52" idx="2"/>
            <a:endCxn id="80" idx="0"/>
          </p:cNvCxnSpPr>
          <p:nvPr/>
        </p:nvCxnSpPr>
        <p:spPr>
          <a:xfrm rot="5400000">
            <a:off x="13091722" y="7765819"/>
            <a:ext cx="153693" cy="17133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urved Connector 102"/>
          <p:cNvCxnSpPr>
            <a:stCxn id="52" idx="2"/>
            <a:endCxn id="79" idx="0"/>
          </p:cNvCxnSpPr>
          <p:nvPr/>
        </p:nvCxnSpPr>
        <p:spPr>
          <a:xfrm rot="16200000" flipH="1">
            <a:off x="13203282" y="7825595"/>
            <a:ext cx="160038" cy="581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urved Connector 112"/>
          <p:cNvCxnSpPr>
            <a:stCxn id="59" idx="2"/>
            <a:endCxn id="81" idx="0"/>
          </p:cNvCxnSpPr>
          <p:nvPr/>
        </p:nvCxnSpPr>
        <p:spPr>
          <a:xfrm rot="5400000">
            <a:off x="13834181" y="7736636"/>
            <a:ext cx="160470" cy="23561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urved Connector 115"/>
          <p:cNvCxnSpPr>
            <a:stCxn id="59" idx="2"/>
            <a:endCxn id="84" idx="0"/>
          </p:cNvCxnSpPr>
          <p:nvPr/>
        </p:nvCxnSpPr>
        <p:spPr>
          <a:xfrm rot="5400000">
            <a:off x="13920277" y="7822732"/>
            <a:ext cx="160470" cy="6342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urved Connector 119"/>
          <p:cNvCxnSpPr>
            <a:stCxn id="59" idx="2"/>
            <a:endCxn id="85" idx="0"/>
          </p:cNvCxnSpPr>
          <p:nvPr/>
        </p:nvCxnSpPr>
        <p:spPr>
          <a:xfrm rot="16200000" flipH="1">
            <a:off x="14006373" y="7800060"/>
            <a:ext cx="160470" cy="10876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urved Connector 123"/>
          <p:cNvCxnSpPr>
            <a:stCxn id="59" idx="2"/>
            <a:endCxn id="86" idx="0"/>
          </p:cNvCxnSpPr>
          <p:nvPr/>
        </p:nvCxnSpPr>
        <p:spPr>
          <a:xfrm rot="16200000" flipH="1">
            <a:off x="14092468" y="7713964"/>
            <a:ext cx="160470" cy="2809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Curved Connector 515"/>
          <p:cNvCxnSpPr>
            <a:stCxn id="56" idx="2"/>
            <a:endCxn id="87" idx="0"/>
          </p:cNvCxnSpPr>
          <p:nvPr/>
        </p:nvCxnSpPr>
        <p:spPr>
          <a:xfrm rot="5400000">
            <a:off x="14555883" y="7803795"/>
            <a:ext cx="160038" cy="1017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" name="Curved Connector 528"/>
          <p:cNvCxnSpPr>
            <a:stCxn id="56" idx="2"/>
            <a:endCxn id="88" idx="0"/>
          </p:cNvCxnSpPr>
          <p:nvPr/>
        </p:nvCxnSpPr>
        <p:spPr>
          <a:xfrm rot="16200000" flipH="1">
            <a:off x="14656756" y="7804651"/>
            <a:ext cx="160038" cy="10001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3" name="Curved Connector 532"/>
          <p:cNvCxnSpPr>
            <a:stCxn id="57" idx="2"/>
            <a:endCxn id="89" idx="0"/>
          </p:cNvCxnSpPr>
          <p:nvPr/>
        </p:nvCxnSpPr>
        <p:spPr>
          <a:xfrm rot="5400000">
            <a:off x="14986187" y="7763515"/>
            <a:ext cx="160038" cy="18229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6" name="Curved Connector 535"/>
          <p:cNvCxnSpPr>
            <a:stCxn id="57" idx="2"/>
            <a:endCxn id="91" idx="0"/>
          </p:cNvCxnSpPr>
          <p:nvPr/>
        </p:nvCxnSpPr>
        <p:spPr>
          <a:xfrm rot="16200000" flipH="1">
            <a:off x="15188274" y="7743717"/>
            <a:ext cx="160038" cy="2218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Curved Connector 541"/>
          <p:cNvCxnSpPr>
            <a:stCxn id="481" idx="2"/>
            <a:endCxn id="92" idx="0"/>
          </p:cNvCxnSpPr>
          <p:nvPr/>
        </p:nvCxnSpPr>
        <p:spPr>
          <a:xfrm rot="5400000">
            <a:off x="15828600" y="7823076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0" name="Curved Connector 559"/>
          <p:cNvCxnSpPr>
            <a:stCxn id="481" idx="2"/>
            <a:endCxn id="93" idx="0"/>
          </p:cNvCxnSpPr>
          <p:nvPr/>
        </p:nvCxnSpPr>
        <p:spPr>
          <a:xfrm rot="16200000" flipH="1">
            <a:off x="15907405" y="7806022"/>
            <a:ext cx="161454" cy="958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2" name="TextBox 581"/>
          <p:cNvSpPr txBox="1"/>
          <p:nvPr/>
        </p:nvSpPr>
        <p:spPr>
          <a:xfrm>
            <a:off x="13465455" y="793287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583" name="TextBox 582"/>
          <p:cNvSpPr txBox="1"/>
          <p:nvPr/>
        </p:nvSpPr>
        <p:spPr>
          <a:xfrm>
            <a:off x="13611192" y="793287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584" name="Curved Connector 583"/>
          <p:cNvCxnSpPr>
            <a:endCxn id="582" idx="0"/>
          </p:cNvCxnSpPr>
          <p:nvPr/>
        </p:nvCxnSpPr>
        <p:spPr>
          <a:xfrm rot="5400000">
            <a:off x="13454619" y="7821275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5" name="Curved Connector 584"/>
          <p:cNvCxnSpPr>
            <a:endCxn id="583" idx="0"/>
          </p:cNvCxnSpPr>
          <p:nvPr/>
        </p:nvCxnSpPr>
        <p:spPr>
          <a:xfrm rot="16200000" flipH="1">
            <a:off x="13536671" y="7819341"/>
            <a:ext cx="152827" cy="7424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Arrow Connector 586"/>
          <p:cNvCxnSpPr/>
          <p:nvPr/>
        </p:nvCxnSpPr>
        <p:spPr>
          <a:xfrm>
            <a:off x="14018144" y="668487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1" name="TextBox 620"/>
          <p:cNvSpPr txBox="1"/>
          <p:nvPr/>
        </p:nvSpPr>
        <p:spPr>
          <a:xfrm>
            <a:off x="14171425" y="6743868"/>
            <a:ext cx="2015999" cy="396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Decomposing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14197220" y="4714337"/>
            <a:ext cx="2015999" cy="396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Getting Probs</a:t>
            </a:r>
          </a:p>
        </p:txBody>
      </p:sp>
      <p:sp>
        <p:nvSpPr>
          <p:cNvPr id="623" name="Rounded Rectangle 622"/>
          <p:cNvSpPr/>
          <p:nvPr/>
        </p:nvSpPr>
        <p:spPr>
          <a:xfrm>
            <a:off x="17323616" y="3661492"/>
            <a:ext cx="3408643" cy="72000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bg1"/>
                </a:solidFill>
                <a:latin typeface="Trebuchet MS" panose="020B0603020202020204" pitchFamily="34" charset="0"/>
              </a:rPr>
              <a:t>Syntax-Convention-based Token Pruning</a:t>
            </a:r>
          </a:p>
        </p:txBody>
      </p:sp>
      <p:cxnSp>
        <p:nvCxnSpPr>
          <p:cNvPr id="626" name="Straight Arrow Connector 625"/>
          <p:cNvCxnSpPr/>
          <p:nvPr/>
        </p:nvCxnSpPr>
        <p:spPr>
          <a:xfrm>
            <a:off x="20271113" y="471536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4" name="TextBox 633"/>
          <p:cNvSpPr txBox="1"/>
          <p:nvPr/>
        </p:nvSpPr>
        <p:spPr>
          <a:xfrm>
            <a:off x="12104944" y="7205686"/>
            <a:ext cx="2909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Decomposed Tokens</a:t>
            </a:r>
          </a:p>
        </p:txBody>
      </p:sp>
      <p:sp>
        <p:nvSpPr>
          <p:cNvPr id="636" name="Rounded Rectangle 635"/>
          <p:cNvSpPr/>
          <p:nvPr/>
        </p:nvSpPr>
        <p:spPr>
          <a:xfrm>
            <a:off x="16943287" y="5206592"/>
            <a:ext cx="4156540" cy="109593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sp>
        <p:nvSpPr>
          <p:cNvPr id="637" name="TextBox 636"/>
          <p:cNvSpPr txBox="1"/>
          <p:nvPr/>
        </p:nvSpPr>
        <p:spPr>
          <a:xfrm>
            <a:off x="17097111" y="5556752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8" name="TextBox 637"/>
          <p:cNvSpPr txBox="1"/>
          <p:nvPr/>
        </p:nvSpPr>
        <p:spPr>
          <a:xfrm>
            <a:off x="17578058" y="5556752"/>
            <a:ext cx="223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9" name="TextBox 638"/>
          <p:cNvSpPr txBox="1"/>
          <p:nvPr/>
        </p:nvSpPr>
        <p:spPr>
          <a:xfrm>
            <a:off x="17437773" y="5556752"/>
            <a:ext cx="79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8576554" y="5556752"/>
            <a:ext cx="1404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7851756" y="5556752"/>
            <a:ext cx="79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7991025" y="5556752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18395206" y="5556752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9103137" y="5556752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19296360" y="5556752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9478790" y="5556752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19720774" y="5556752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3" name="TextBox 172"/>
          <p:cNvSpPr txBox="1"/>
          <p:nvPr/>
        </p:nvSpPr>
        <p:spPr>
          <a:xfrm>
            <a:off x="20919266" y="5519174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18781047" y="5556752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0407613" y="5555336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0516174" y="5555336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20773172" y="555533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7245145" y="5947622"/>
            <a:ext cx="22550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81" name="TextBox 180"/>
          <p:cNvSpPr txBox="1"/>
          <p:nvPr/>
        </p:nvSpPr>
        <p:spPr>
          <a:xfrm>
            <a:off x="17049677" y="5947622"/>
            <a:ext cx="98868" cy="23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18090031" y="5947622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17922281" y="5941277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0" name="TextBox 639"/>
          <p:cNvSpPr txBox="1"/>
          <p:nvPr/>
        </p:nvSpPr>
        <p:spPr>
          <a:xfrm>
            <a:off x="18635989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1" name="TextBox 640"/>
          <p:cNvSpPr txBox="1"/>
          <p:nvPr/>
        </p:nvSpPr>
        <p:spPr>
          <a:xfrm>
            <a:off x="18808181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3" name="TextBox 642"/>
          <p:cNvSpPr txBox="1"/>
          <p:nvPr/>
        </p:nvSpPr>
        <p:spPr>
          <a:xfrm>
            <a:off x="18980373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6" name="TextBox 645"/>
          <p:cNvSpPr txBox="1"/>
          <p:nvPr/>
        </p:nvSpPr>
        <p:spPr>
          <a:xfrm>
            <a:off x="19152564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7" name="TextBox 646"/>
          <p:cNvSpPr txBox="1"/>
          <p:nvPr/>
        </p:nvSpPr>
        <p:spPr>
          <a:xfrm>
            <a:off x="19424417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8" name="TextBox 647"/>
          <p:cNvSpPr txBox="1"/>
          <p:nvPr/>
        </p:nvSpPr>
        <p:spPr>
          <a:xfrm>
            <a:off x="19613341" y="5947622"/>
            <a:ext cx="1325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9" name="TextBox 648"/>
          <p:cNvSpPr txBox="1"/>
          <p:nvPr/>
        </p:nvSpPr>
        <p:spPr>
          <a:xfrm>
            <a:off x="19818450" y="5947622"/>
            <a:ext cx="98868" cy="23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0" name="TextBox 649"/>
          <p:cNvSpPr txBox="1"/>
          <p:nvPr/>
        </p:nvSpPr>
        <p:spPr>
          <a:xfrm>
            <a:off x="19973357" y="5947622"/>
            <a:ext cx="59740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1" name="TextBox 650"/>
          <p:cNvSpPr txBox="1"/>
          <p:nvPr/>
        </p:nvSpPr>
        <p:spPr>
          <a:xfrm>
            <a:off x="20732259" y="5947622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653" name="TextBox 652"/>
          <p:cNvSpPr txBox="1"/>
          <p:nvPr/>
        </p:nvSpPr>
        <p:spPr>
          <a:xfrm>
            <a:off x="20889870" y="5947622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654" name="Curved Connector 653"/>
          <p:cNvCxnSpPr>
            <a:stCxn id="637" idx="2"/>
            <a:endCxn id="180" idx="0"/>
          </p:cNvCxnSpPr>
          <p:nvPr/>
        </p:nvCxnSpPr>
        <p:spPr>
          <a:xfrm rot="16200000" flipH="1">
            <a:off x="17219491" y="5809215"/>
            <a:ext cx="160038" cy="116775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Curved Connector 654"/>
          <p:cNvCxnSpPr>
            <a:stCxn id="637" idx="2"/>
            <a:endCxn id="181" idx="0"/>
          </p:cNvCxnSpPr>
          <p:nvPr/>
        </p:nvCxnSpPr>
        <p:spPr>
          <a:xfrm rot="5400000">
            <a:off x="17090098" y="5796597"/>
            <a:ext cx="160038" cy="142012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6" name="Curved Connector 655"/>
          <p:cNvCxnSpPr>
            <a:stCxn id="163" idx="2"/>
            <a:endCxn id="190" idx="0"/>
          </p:cNvCxnSpPr>
          <p:nvPr/>
        </p:nvCxnSpPr>
        <p:spPr>
          <a:xfrm rot="5400000">
            <a:off x="17984545" y="5778762"/>
            <a:ext cx="153693" cy="17133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Curved Connector 656"/>
          <p:cNvCxnSpPr>
            <a:stCxn id="163" idx="2"/>
            <a:endCxn id="184" idx="0"/>
          </p:cNvCxnSpPr>
          <p:nvPr/>
        </p:nvCxnSpPr>
        <p:spPr>
          <a:xfrm rot="16200000" flipH="1">
            <a:off x="18096105" y="5838538"/>
            <a:ext cx="160038" cy="581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Curved Connector 657"/>
          <p:cNvCxnSpPr>
            <a:stCxn id="175" idx="2"/>
            <a:endCxn id="640" idx="0"/>
          </p:cNvCxnSpPr>
          <p:nvPr/>
        </p:nvCxnSpPr>
        <p:spPr>
          <a:xfrm rot="5400000">
            <a:off x="18727004" y="5749579"/>
            <a:ext cx="160470" cy="23561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9" name="Curved Connector 658"/>
          <p:cNvCxnSpPr>
            <a:stCxn id="175" idx="2"/>
            <a:endCxn id="641" idx="0"/>
          </p:cNvCxnSpPr>
          <p:nvPr/>
        </p:nvCxnSpPr>
        <p:spPr>
          <a:xfrm rot="5400000">
            <a:off x="18813100" y="5835675"/>
            <a:ext cx="160470" cy="6342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0" name="Curved Connector 659"/>
          <p:cNvCxnSpPr>
            <a:stCxn id="175" idx="2"/>
            <a:endCxn id="643" idx="0"/>
          </p:cNvCxnSpPr>
          <p:nvPr/>
        </p:nvCxnSpPr>
        <p:spPr>
          <a:xfrm rot="16200000" flipH="1">
            <a:off x="18899196" y="5813003"/>
            <a:ext cx="160470" cy="10876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Curved Connector 660"/>
          <p:cNvCxnSpPr>
            <a:stCxn id="175" idx="2"/>
            <a:endCxn id="646" idx="0"/>
          </p:cNvCxnSpPr>
          <p:nvPr/>
        </p:nvCxnSpPr>
        <p:spPr>
          <a:xfrm rot="16200000" flipH="1">
            <a:off x="18985291" y="5726907"/>
            <a:ext cx="160470" cy="2809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2" name="Curved Connector 661"/>
          <p:cNvCxnSpPr>
            <a:stCxn id="170" idx="2"/>
            <a:endCxn id="647" idx="0"/>
          </p:cNvCxnSpPr>
          <p:nvPr/>
        </p:nvCxnSpPr>
        <p:spPr>
          <a:xfrm rot="5400000">
            <a:off x="19448706" y="5816738"/>
            <a:ext cx="160038" cy="1017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6" name="Curved Connector 665"/>
          <p:cNvCxnSpPr>
            <a:stCxn id="170" idx="2"/>
            <a:endCxn id="648" idx="0"/>
          </p:cNvCxnSpPr>
          <p:nvPr/>
        </p:nvCxnSpPr>
        <p:spPr>
          <a:xfrm rot="16200000" flipH="1">
            <a:off x="19549579" y="5817594"/>
            <a:ext cx="160038" cy="10001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Curved Connector 666"/>
          <p:cNvCxnSpPr>
            <a:stCxn id="172" idx="2"/>
            <a:endCxn id="649" idx="0"/>
          </p:cNvCxnSpPr>
          <p:nvPr/>
        </p:nvCxnSpPr>
        <p:spPr>
          <a:xfrm rot="5400000">
            <a:off x="19879010" y="5776458"/>
            <a:ext cx="160038" cy="18229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Curved Connector 667"/>
          <p:cNvCxnSpPr>
            <a:stCxn id="172" idx="2"/>
            <a:endCxn id="650" idx="0"/>
          </p:cNvCxnSpPr>
          <p:nvPr/>
        </p:nvCxnSpPr>
        <p:spPr>
          <a:xfrm rot="16200000" flipH="1">
            <a:off x="20081097" y="5756660"/>
            <a:ext cx="160038" cy="2218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Curved Connector 668"/>
          <p:cNvCxnSpPr>
            <a:stCxn id="179" idx="2"/>
            <a:endCxn id="651" idx="0"/>
          </p:cNvCxnSpPr>
          <p:nvPr/>
        </p:nvCxnSpPr>
        <p:spPr>
          <a:xfrm rot="5400000">
            <a:off x="20721423" y="5836019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Curved Connector 669"/>
          <p:cNvCxnSpPr>
            <a:stCxn id="179" idx="2"/>
            <a:endCxn id="653" idx="0"/>
          </p:cNvCxnSpPr>
          <p:nvPr/>
        </p:nvCxnSpPr>
        <p:spPr>
          <a:xfrm rot="16200000" flipH="1">
            <a:off x="20800228" y="5818965"/>
            <a:ext cx="161454" cy="958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1" name="TextBox 670"/>
          <p:cNvSpPr txBox="1"/>
          <p:nvPr/>
        </p:nvSpPr>
        <p:spPr>
          <a:xfrm>
            <a:off x="18358278" y="5945821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672" name="TextBox 671"/>
          <p:cNvSpPr txBox="1"/>
          <p:nvPr/>
        </p:nvSpPr>
        <p:spPr>
          <a:xfrm>
            <a:off x="18504015" y="5945821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673" name="Curved Connector 672"/>
          <p:cNvCxnSpPr>
            <a:endCxn id="671" idx="0"/>
          </p:cNvCxnSpPr>
          <p:nvPr/>
        </p:nvCxnSpPr>
        <p:spPr>
          <a:xfrm rot="5400000">
            <a:off x="18347442" y="5834218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Curved Connector 673"/>
          <p:cNvCxnSpPr>
            <a:endCxn id="672" idx="0"/>
          </p:cNvCxnSpPr>
          <p:nvPr/>
        </p:nvCxnSpPr>
        <p:spPr>
          <a:xfrm rot="16200000" flipH="1">
            <a:off x="18429494" y="5832284"/>
            <a:ext cx="152827" cy="7424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5" name="TextBox 674"/>
          <p:cNvSpPr txBox="1"/>
          <p:nvPr/>
        </p:nvSpPr>
        <p:spPr>
          <a:xfrm>
            <a:off x="16997767" y="5218629"/>
            <a:ext cx="2909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Decomposed Tokens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6908612" y="7516346"/>
            <a:ext cx="1493935" cy="25200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Pruned Tokens</a:t>
            </a:r>
          </a:p>
        </p:txBody>
      </p:sp>
      <p:cxnSp>
        <p:nvCxnSpPr>
          <p:cNvPr id="679" name="Straight Arrow Connector 678"/>
          <p:cNvCxnSpPr/>
          <p:nvPr/>
        </p:nvCxnSpPr>
        <p:spPr>
          <a:xfrm>
            <a:off x="20320906" y="6303023"/>
            <a:ext cx="0" cy="43200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5" name="TextBox 624"/>
          <p:cNvSpPr txBox="1"/>
          <p:nvPr/>
        </p:nvSpPr>
        <p:spPr>
          <a:xfrm>
            <a:off x="17055496" y="4722341"/>
            <a:ext cx="4068000" cy="396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Matching Decomposed Tokens</a:t>
            </a:r>
          </a:p>
        </p:txBody>
      </p:sp>
      <p:sp>
        <p:nvSpPr>
          <p:cNvPr id="681" name="TextBox 680"/>
          <p:cNvSpPr txBox="1"/>
          <p:nvPr/>
        </p:nvSpPr>
        <p:spPr>
          <a:xfrm>
            <a:off x="17061129" y="6360206"/>
            <a:ext cx="4068000" cy="396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Trebuchet MS" panose="020B0603020202020204" pitchFamily="34" charset="0"/>
              </a:rPr>
              <a:t>Syntax-Oriented Pruning</a:t>
            </a:r>
          </a:p>
        </p:txBody>
      </p:sp>
      <p:sp>
        <p:nvSpPr>
          <p:cNvPr id="685" name="Rounded Rectangle 684"/>
          <p:cNvSpPr/>
          <p:nvPr/>
        </p:nvSpPr>
        <p:spPr>
          <a:xfrm>
            <a:off x="21995102" y="4513610"/>
            <a:ext cx="4492065" cy="72000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bg1"/>
                </a:solidFill>
                <a:latin typeface="Trebuchet MS" panose="020B0603020202020204" pitchFamily="34" charset="0"/>
              </a:rPr>
              <a:t>Member Probabilities Calculation</a:t>
            </a:r>
          </a:p>
        </p:txBody>
      </p:sp>
      <p:sp>
        <p:nvSpPr>
          <p:cNvPr id="686" name="Rounded Rectangle 685"/>
          <p:cNvSpPr/>
          <p:nvPr/>
        </p:nvSpPr>
        <p:spPr>
          <a:xfrm>
            <a:off x="22364075" y="5441818"/>
            <a:ext cx="3965929" cy="461958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Trebuchet MS" panose="020B0603020202020204" pitchFamily="34" charset="0"/>
              </a:rPr>
              <a:t>Syntax-convention-pruned Member Probabilities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339960" y="6099835"/>
            <a:ext cx="3683000" cy="9525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207114" y="6097722"/>
            <a:ext cx="3965929" cy="1032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877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 679"/>
          <p:cNvSpPr/>
          <p:nvPr/>
        </p:nvSpPr>
        <p:spPr>
          <a:xfrm>
            <a:off x="12466893" y="9630599"/>
            <a:ext cx="4593504" cy="4741690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03" name="Rounded Rectangle 602"/>
          <p:cNvSpPr/>
          <p:nvPr/>
        </p:nvSpPr>
        <p:spPr>
          <a:xfrm>
            <a:off x="12686182" y="13905703"/>
            <a:ext cx="4164517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02" name="Rounded Rectangle 601"/>
          <p:cNvSpPr/>
          <p:nvPr/>
        </p:nvSpPr>
        <p:spPr>
          <a:xfrm>
            <a:off x="12686182" y="13114062"/>
            <a:ext cx="4164517" cy="378000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44" name="Rounded Rectangle 643"/>
          <p:cNvSpPr/>
          <p:nvPr/>
        </p:nvSpPr>
        <p:spPr>
          <a:xfrm>
            <a:off x="12562191" y="12801908"/>
            <a:ext cx="4393854" cy="1560137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42" name="Rounded Rectangle 641"/>
          <p:cNvSpPr/>
          <p:nvPr/>
        </p:nvSpPr>
        <p:spPr>
          <a:xfrm>
            <a:off x="7678882" y="9630600"/>
            <a:ext cx="4393854" cy="474169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9683826" y="5492384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9683825" y="27306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49" name="Rounded Rectangle 748"/>
          <p:cNvSpPr/>
          <p:nvPr/>
        </p:nvSpPr>
        <p:spPr>
          <a:xfrm>
            <a:off x="7798513" y="11259299"/>
            <a:ext cx="4156540" cy="145004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7916" y="37066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00973" y="4201563"/>
            <a:ext cx="3218267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rebuchet MS" panose="020B0603020202020204" pitchFamily="34" charset="0"/>
              </a:rPr>
              <a:t>语言语法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34369" y="4124728"/>
            <a:ext cx="205253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任务说明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13782223" y="36045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6719450" y="4152668"/>
            <a:ext cx="264096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版权所有代码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40642" y="2924834"/>
            <a:ext cx="1614801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For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If Else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Try except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2673" y="29758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097394" y="30856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编程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11941" y="5806192"/>
            <a:ext cx="1130986" cy="1130986"/>
          </a:xfrm>
          <a:prstGeom prst="rect">
            <a:avLst/>
          </a:prstGeom>
        </p:spPr>
      </p:pic>
      <p:cxnSp>
        <p:nvCxnSpPr>
          <p:cNvPr id="136" name="Straight Arrow Connector 135"/>
          <p:cNvCxnSpPr>
            <a:endCxn id="390" idx="1"/>
          </p:cNvCxnSpPr>
          <p:nvPr/>
        </p:nvCxnSpPr>
        <p:spPr>
          <a:xfrm>
            <a:off x="17060397" y="11762525"/>
            <a:ext cx="38014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6140638" y="31235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Trebuchet MS" panose="020B0603020202020204" pitchFamily="34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Trebuchet MS" panose="020B0603020202020204" pitchFamily="34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6181685" y="5797148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5883622" y="6205389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6457064" y="6210361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14131693" y="6235816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收集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15847105" y="6946773"/>
            <a:ext cx="1323517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代码库</a:t>
            </a:r>
          </a:p>
        </p:txBody>
      </p:sp>
      <p:sp>
        <p:nvSpPr>
          <p:cNvPr id="476" name="Cross 475"/>
          <p:cNvSpPr/>
          <p:nvPr/>
        </p:nvSpPr>
        <p:spPr>
          <a:xfrm>
            <a:off x="11373511" y="33405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9805964" y="10739990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0" name="Elbow Connector 699"/>
          <p:cNvCxnSpPr>
            <a:stCxn id="642" idx="3"/>
            <a:endCxn id="680" idx="1"/>
          </p:cNvCxnSpPr>
          <p:nvPr/>
        </p:nvCxnSpPr>
        <p:spPr>
          <a:xfrm flipV="1">
            <a:off x="12072736" y="12001444"/>
            <a:ext cx="394157" cy="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13817541" y="6834172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17172304" y="6906897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9062065" y="6946900"/>
            <a:ext cx="14484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rebuchet MS" panose="020B0603020202020204" pitchFamily="34" charset="0"/>
              </a:rPr>
              <a:t>大语言模型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429978" y="6257491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训练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01344" y="4886559"/>
            <a:ext cx="37388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800" dirty="0">
                <a:latin typeface="Trebuchet MS" panose="020B0603020202020204" pitchFamily="34" charset="0"/>
              </a:rPr>
              <a:t>开发人员完成编程任务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1263" y="7575461"/>
            <a:ext cx="58724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800" dirty="0">
                <a:latin typeface="Trebuchet MS" panose="020B0603020202020204" pitchFamily="34" charset="0"/>
              </a:rPr>
              <a:t>使用可获取语料库训练大型语言模型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9911" y="6471083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9911" y="6172182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609911" y="5868703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002724" y="6693440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8271" y="5849421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388339" y="6024517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615861" y="6252477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906738" y="6674809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76664" y="6946773"/>
            <a:ext cx="21391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代码资源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10918" y="11516838"/>
            <a:ext cx="2099944" cy="230832"/>
          </a:xfrm>
          <a:prstGeom prst="rect">
            <a:avLst/>
          </a:prstGeom>
          <a:noFill/>
          <a:ln w="12700">
            <a:noFill/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11042801" y="11338785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⌷in</a:t>
            </a:r>
          </a:p>
        </p:txBody>
      </p:sp>
      <p:sp>
        <p:nvSpPr>
          <p:cNvPr id="471" name="TextBox 470"/>
          <p:cNvSpPr txBox="1"/>
          <p:nvPr/>
        </p:nvSpPr>
        <p:spPr>
          <a:xfrm>
            <a:off x="11042801" y="11569061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name</a:t>
            </a:r>
          </a:p>
        </p:txBody>
      </p:sp>
      <p:sp>
        <p:nvSpPr>
          <p:cNvPr id="472" name="TextBox 471"/>
          <p:cNvSpPr txBox="1"/>
          <p:nvPr/>
        </p:nvSpPr>
        <p:spPr>
          <a:xfrm>
            <a:off x="11042801" y="11799337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Id</a:t>
            </a:r>
          </a:p>
        </p:txBody>
      </p:sp>
      <p:sp>
        <p:nvSpPr>
          <p:cNvPr id="475" name="Rectangle 474"/>
          <p:cNvSpPr/>
          <p:nvPr/>
        </p:nvSpPr>
        <p:spPr>
          <a:xfrm>
            <a:off x="11420000" y="11338785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0.84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11420000" y="11569061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0.04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11420000" y="11799337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0.03</a:t>
            </a: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9528656" y="11658381"/>
            <a:ext cx="14400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9453193" y="11387101"/>
            <a:ext cx="1587537" cy="260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latin typeface="Trebuchet MS" panose="020B0603020202020204" pitchFamily="34" charset="0"/>
              </a:rPr>
              <a:t>下一个令牌选择：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2660156" y="12766920"/>
            <a:ext cx="1762911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保留令牌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12850519" y="13207247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3311387" y="14006393"/>
            <a:ext cx="22230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3195990" y="1320724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4359069" y="14006393"/>
            <a:ext cx="140546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13602628" y="1320724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13741897" y="13207247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4160270" y="14006393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4854009" y="13207247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5047232" y="13207247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5223346" y="14006393"/>
            <a:ext cx="203064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15471646" y="13209006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4559036" y="14006393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7855340" y="12146293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8336287" y="12146293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8196002" y="12146293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9334783" y="12146293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8609985" y="12146293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8749254" y="1214629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9131210" y="12146293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9861366" y="12146293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0054589" y="1214629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10237019" y="12146293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10479003" y="12146293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11740125" y="1214629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9539276" y="1214629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855340" y="1237858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8336287" y="12378583"/>
            <a:ext cx="223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196002" y="12378583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334783" y="12378583"/>
            <a:ext cx="1404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609985" y="12378583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749254" y="12378583"/>
            <a:ext cx="3120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31210" y="12378583"/>
            <a:ext cx="11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861366" y="12378583"/>
            <a:ext cx="187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014730" y="12378583"/>
            <a:ext cx="243139" cy="230400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237019" y="12378583"/>
            <a:ext cx="2016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479003" y="12378583"/>
            <a:ext cx="65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10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11700266" y="1237858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9540293" y="1237858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3323565" y="13207247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4367215" y="13207247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4157997" y="13207247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5229662" y="13207247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4531919" y="13207247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3422537" y="13438079"/>
            <a:ext cx="12628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>
            <a:off x="14217397" y="13438079"/>
            <a:ext cx="2727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4429342" y="13438079"/>
            <a:ext cx="8073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>
            <a:off x="14675919" y="13437647"/>
            <a:ext cx="27117" cy="56874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15324878" y="13438079"/>
            <a:ext cx="5584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3" name="TextBox 662"/>
          <p:cNvSpPr txBox="1"/>
          <p:nvPr/>
        </p:nvSpPr>
        <p:spPr>
          <a:xfrm>
            <a:off x="8447725" y="10285061"/>
            <a:ext cx="264096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版权所有代码</a:t>
            </a:r>
          </a:p>
        </p:txBody>
      </p:sp>
      <p:sp>
        <p:nvSpPr>
          <p:cNvPr id="689" name="TextBox 688"/>
          <p:cNvSpPr txBox="1"/>
          <p:nvPr/>
        </p:nvSpPr>
        <p:spPr>
          <a:xfrm>
            <a:off x="14106214" y="14865476"/>
            <a:ext cx="19608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latin typeface="Trebuchet MS" panose="020B0603020202020204" pitchFamily="34" charset="0"/>
              </a:rPr>
              <a:t>我们的方法</a:t>
            </a:r>
          </a:p>
        </p:txBody>
      </p:sp>
      <p:cxnSp>
        <p:nvCxnSpPr>
          <p:cNvPr id="750" name="Straight Arrow Connector 749"/>
          <p:cNvCxnSpPr/>
          <p:nvPr/>
        </p:nvCxnSpPr>
        <p:spPr>
          <a:xfrm flipH="1">
            <a:off x="10660573" y="1192269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14906465" y="7325621"/>
            <a:ext cx="322265" cy="14554588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58" name="Rounded Rectangle 757"/>
          <p:cNvSpPr/>
          <p:nvPr/>
        </p:nvSpPr>
        <p:spPr>
          <a:xfrm>
            <a:off x="8461983" y="9772028"/>
            <a:ext cx="2955029" cy="48763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令牌预处理</a:t>
            </a:r>
          </a:p>
        </p:txBody>
      </p:sp>
      <p:sp>
        <p:nvSpPr>
          <p:cNvPr id="761" name="TextBox 760"/>
          <p:cNvSpPr txBox="1"/>
          <p:nvPr/>
        </p:nvSpPr>
        <p:spPr>
          <a:xfrm>
            <a:off x="7799772" y="11817292"/>
            <a:ext cx="2909676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600" dirty="0">
                <a:latin typeface="Trebuchet MS" panose="020B0603020202020204" pitchFamily="34" charset="0"/>
              </a:rPr>
              <a:t>令牌与概率</a:t>
            </a:r>
          </a:p>
        </p:txBody>
      </p:sp>
      <p:cxnSp>
        <p:nvCxnSpPr>
          <p:cNvPr id="384" name="Straight Arrow Connector 383"/>
          <p:cNvCxnSpPr>
            <a:stCxn id="65" idx="2"/>
            <a:endCxn id="66" idx="0"/>
          </p:cNvCxnSpPr>
          <p:nvPr/>
        </p:nvCxnSpPr>
        <p:spPr>
          <a:xfrm flipH="1">
            <a:off x="16580889" y="13439838"/>
            <a:ext cx="3009" cy="56655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0" name="Rounded Rectangle 389"/>
          <p:cNvSpPr/>
          <p:nvPr/>
        </p:nvSpPr>
        <p:spPr>
          <a:xfrm>
            <a:off x="17440540" y="10504436"/>
            <a:ext cx="4970244" cy="2516177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165842" y="12375937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65842" y="1214487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403" y="12144877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1531401" y="12144877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4403" y="12375937"/>
            <a:ext cx="2304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31401" y="12375937"/>
            <a:ext cx="11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88979" y="13229959"/>
            <a:ext cx="4156540" cy="109593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942803" y="13580119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423750" y="13580119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283465" y="13580119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246" y="13580119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97448" y="13580119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36717" y="13580119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9240898" y="13580119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48829" y="13580119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0142052" y="13580119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24482" y="13580119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0566466" y="13580119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1764958" y="1354254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626739" y="1358011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479" name="TextBox 478"/>
          <p:cNvSpPr txBox="1"/>
          <p:nvPr/>
        </p:nvSpPr>
        <p:spPr>
          <a:xfrm>
            <a:off x="11253305" y="1357870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480" name="TextBox 479"/>
          <p:cNvSpPr txBox="1"/>
          <p:nvPr/>
        </p:nvSpPr>
        <p:spPr>
          <a:xfrm>
            <a:off x="11361866" y="13578703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81" name="TextBox 480"/>
          <p:cNvSpPr txBox="1"/>
          <p:nvPr/>
        </p:nvSpPr>
        <p:spPr>
          <a:xfrm>
            <a:off x="11618864" y="1357870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486" name="TextBox 485"/>
          <p:cNvSpPr txBox="1"/>
          <p:nvPr/>
        </p:nvSpPr>
        <p:spPr>
          <a:xfrm>
            <a:off x="16670138" y="1320900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487" name="TextBox 486"/>
          <p:cNvSpPr txBox="1"/>
          <p:nvPr/>
        </p:nvSpPr>
        <p:spPr>
          <a:xfrm>
            <a:off x="16158485" y="1320900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267046" y="13209006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6524044" y="1320900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E9DFF0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521035" y="14006393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657623" y="13977174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13860827" y="10290813"/>
            <a:ext cx="2650122" cy="484828"/>
          </a:xfrm>
          <a:prstGeom prst="roundRect">
            <a:avLst>
              <a:gd name="adj" fmla="val 15542"/>
            </a:avLst>
          </a:prstGeom>
          <a:noFill/>
          <a:ln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语法约定 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90837" y="13970989"/>
            <a:ext cx="22550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7895369" y="13970989"/>
            <a:ext cx="988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8935723" y="13970989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8767973" y="13964644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9481681" y="1397098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9653873" y="1397098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9826065" y="1397098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9998256" y="1397098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10270109" y="1397098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0459033" y="13970989"/>
            <a:ext cx="1325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664142" y="13970989"/>
            <a:ext cx="988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10819049" y="13970989"/>
            <a:ext cx="59740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11577951" y="1397098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735562" y="1397098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98" name="Curved Connector 97"/>
          <p:cNvCxnSpPr>
            <a:stCxn id="44" idx="2"/>
            <a:endCxn id="77" idx="0"/>
          </p:cNvCxnSpPr>
          <p:nvPr/>
        </p:nvCxnSpPr>
        <p:spPr>
          <a:xfrm rot="16200000" flipH="1">
            <a:off x="8065183" y="13832582"/>
            <a:ext cx="160038" cy="116775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urved Connector 98"/>
          <p:cNvCxnSpPr>
            <a:stCxn id="44" idx="2"/>
            <a:endCxn id="78" idx="0"/>
          </p:cNvCxnSpPr>
          <p:nvPr/>
        </p:nvCxnSpPr>
        <p:spPr>
          <a:xfrm rot="5400000">
            <a:off x="7935790" y="13819964"/>
            <a:ext cx="160038" cy="142012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urved Connector 101"/>
          <p:cNvCxnSpPr>
            <a:stCxn id="52" idx="2"/>
            <a:endCxn id="80" idx="0"/>
          </p:cNvCxnSpPr>
          <p:nvPr/>
        </p:nvCxnSpPr>
        <p:spPr>
          <a:xfrm rot="5400000">
            <a:off x="8830237" y="13802129"/>
            <a:ext cx="153693" cy="17133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urved Connector 102"/>
          <p:cNvCxnSpPr>
            <a:stCxn id="52" idx="2"/>
            <a:endCxn id="79" idx="0"/>
          </p:cNvCxnSpPr>
          <p:nvPr/>
        </p:nvCxnSpPr>
        <p:spPr>
          <a:xfrm rot="16200000" flipH="1">
            <a:off x="8941797" y="13861905"/>
            <a:ext cx="160038" cy="581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urved Connector 112"/>
          <p:cNvCxnSpPr>
            <a:stCxn id="59" idx="2"/>
            <a:endCxn id="81" idx="0"/>
          </p:cNvCxnSpPr>
          <p:nvPr/>
        </p:nvCxnSpPr>
        <p:spPr>
          <a:xfrm rot="5400000">
            <a:off x="9572696" y="13772946"/>
            <a:ext cx="160470" cy="23561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urved Connector 115"/>
          <p:cNvCxnSpPr>
            <a:stCxn id="59" idx="2"/>
            <a:endCxn id="84" idx="0"/>
          </p:cNvCxnSpPr>
          <p:nvPr/>
        </p:nvCxnSpPr>
        <p:spPr>
          <a:xfrm rot="5400000">
            <a:off x="9658792" y="13859042"/>
            <a:ext cx="160470" cy="6342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urved Connector 119"/>
          <p:cNvCxnSpPr>
            <a:stCxn id="59" idx="2"/>
            <a:endCxn id="85" idx="0"/>
          </p:cNvCxnSpPr>
          <p:nvPr/>
        </p:nvCxnSpPr>
        <p:spPr>
          <a:xfrm rot="16200000" flipH="1">
            <a:off x="9744888" y="13836370"/>
            <a:ext cx="160470" cy="10876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urved Connector 123"/>
          <p:cNvCxnSpPr>
            <a:stCxn id="59" idx="2"/>
            <a:endCxn id="86" idx="0"/>
          </p:cNvCxnSpPr>
          <p:nvPr/>
        </p:nvCxnSpPr>
        <p:spPr>
          <a:xfrm rot="16200000" flipH="1">
            <a:off x="9830983" y="13750274"/>
            <a:ext cx="160470" cy="2809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Curved Connector 515"/>
          <p:cNvCxnSpPr>
            <a:stCxn id="56" idx="2"/>
            <a:endCxn id="87" idx="0"/>
          </p:cNvCxnSpPr>
          <p:nvPr/>
        </p:nvCxnSpPr>
        <p:spPr>
          <a:xfrm rot="5400000">
            <a:off x="10294398" y="13840105"/>
            <a:ext cx="160038" cy="1017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" name="Curved Connector 528"/>
          <p:cNvCxnSpPr>
            <a:stCxn id="56" idx="2"/>
            <a:endCxn id="88" idx="0"/>
          </p:cNvCxnSpPr>
          <p:nvPr/>
        </p:nvCxnSpPr>
        <p:spPr>
          <a:xfrm rot="16200000" flipH="1">
            <a:off x="10395271" y="13840961"/>
            <a:ext cx="160038" cy="10001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3" name="Curved Connector 532"/>
          <p:cNvCxnSpPr>
            <a:stCxn id="57" idx="2"/>
            <a:endCxn id="89" idx="0"/>
          </p:cNvCxnSpPr>
          <p:nvPr/>
        </p:nvCxnSpPr>
        <p:spPr>
          <a:xfrm rot="5400000">
            <a:off x="10724702" y="13799825"/>
            <a:ext cx="160038" cy="18229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6" name="Curved Connector 535"/>
          <p:cNvCxnSpPr>
            <a:stCxn id="57" idx="2"/>
            <a:endCxn id="91" idx="0"/>
          </p:cNvCxnSpPr>
          <p:nvPr/>
        </p:nvCxnSpPr>
        <p:spPr>
          <a:xfrm rot="16200000" flipH="1">
            <a:off x="10926789" y="13780027"/>
            <a:ext cx="160038" cy="2218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Curved Connector 541"/>
          <p:cNvCxnSpPr>
            <a:stCxn id="481" idx="2"/>
            <a:endCxn id="92" idx="0"/>
          </p:cNvCxnSpPr>
          <p:nvPr/>
        </p:nvCxnSpPr>
        <p:spPr>
          <a:xfrm rot="5400000">
            <a:off x="11567115" y="13859386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0" name="Curved Connector 559"/>
          <p:cNvCxnSpPr>
            <a:stCxn id="481" idx="2"/>
            <a:endCxn id="93" idx="0"/>
          </p:cNvCxnSpPr>
          <p:nvPr/>
        </p:nvCxnSpPr>
        <p:spPr>
          <a:xfrm rot="16200000" flipH="1">
            <a:off x="11645920" y="13842332"/>
            <a:ext cx="161454" cy="958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2" name="TextBox 581"/>
          <p:cNvSpPr txBox="1"/>
          <p:nvPr/>
        </p:nvSpPr>
        <p:spPr>
          <a:xfrm>
            <a:off x="9203970" y="1396918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583" name="TextBox 582"/>
          <p:cNvSpPr txBox="1"/>
          <p:nvPr/>
        </p:nvSpPr>
        <p:spPr>
          <a:xfrm>
            <a:off x="9349707" y="1396918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584" name="Curved Connector 583"/>
          <p:cNvCxnSpPr>
            <a:endCxn id="582" idx="0"/>
          </p:cNvCxnSpPr>
          <p:nvPr/>
        </p:nvCxnSpPr>
        <p:spPr>
          <a:xfrm rot="5400000">
            <a:off x="9193134" y="13857585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5" name="Curved Connector 584"/>
          <p:cNvCxnSpPr>
            <a:endCxn id="583" idx="0"/>
          </p:cNvCxnSpPr>
          <p:nvPr/>
        </p:nvCxnSpPr>
        <p:spPr>
          <a:xfrm rot="16200000" flipH="1">
            <a:off x="9275186" y="13855651"/>
            <a:ext cx="152827" cy="7424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Arrow Connector 586"/>
          <p:cNvCxnSpPr/>
          <p:nvPr/>
        </p:nvCxnSpPr>
        <p:spPr>
          <a:xfrm>
            <a:off x="9756659" y="1272118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1" name="TextBox 620"/>
          <p:cNvSpPr txBox="1"/>
          <p:nvPr/>
        </p:nvSpPr>
        <p:spPr>
          <a:xfrm>
            <a:off x="9909942" y="12780177"/>
            <a:ext cx="1584000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603020202020204" pitchFamily="34" charset="0"/>
              </a:rPr>
              <a:t>分解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9935737" y="10750646"/>
            <a:ext cx="1584000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zh-CN" altLang="en-US" sz="1800" dirty="0">
                <a:solidFill>
                  <a:schemeClr val="bg1"/>
                </a:solidFill>
                <a:latin typeface="Trebuchet MS" panose="020B0603020202020204" pitchFamily="34" charset="0"/>
              </a:rPr>
              <a:t>获取概率值</a:t>
            </a:r>
          </a:p>
        </p:txBody>
      </p:sp>
      <p:sp>
        <p:nvSpPr>
          <p:cNvPr id="623" name="Rounded Rectangle 622"/>
          <p:cNvSpPr/>
          <p:nvPr/>
        </p:nvSpPr>
        <p:spPr>
          <a:xfrm>
            <a:off x="13062131" y="9772027"/>
            <a:ext cx="3408643" cy="625369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基于语法规范的标记修剪</a:t>
            </a:r>
          </a:p>
        </p:txBody>
      </p:sp>
      <p:cxnSp>
        <p:nvCxnSpPr>
          <p:cNvPr id="626" name="Straight Arrow Connector 625"/>
          <p:cNvCxnSpPr/>
          <p:nvPr/>
        </p:nvCxnSpPr>
        <p:spPr>
          <a:xfrm>
            <a:off x="16009628" y="1075167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4" name="TextBox 633"/>
          <p:cNvSpPr txBox="1"/>
          <p:nvPr/>
        </p:nvSpPr>
        <p:spPr>
          <a:xfrm>
            <a:off x="7843459" y="13241996"/>
            <a:ext cx="2909676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分解令牌</a:t>
            </a:r>
          </a:p>
        </p:txBody>
      </p:sp>
      <p:sp>
        <p:nvSpPr>
          <p:cNvPr id="636" name="Rounded Rectangle 635"/>
          <p:cNvSpPr/>
          <p:nvPr/>
        </p:nvSpPr>
        <p:spPr>
          <a:xfrm>
            <a:off x="12681802" y="11242902"/>
            <a:ext cx="4156540" cy="109593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sp>
        <p:nvSpPr>
          <p:cNvPr id="637" name="TextBox 636"/>
          <p:cNvSpPr txBox="1"/>
          <p:nvPr/>
        </p:nvSpPr>
        <p:spPr>
          <a:xfrm>
            <a:off x="12835626" y="11593062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8" name="TextBox 637"/>
          <p:cNvSpPr txBox="1"/>
          <p:nvPr/>
        </p:nvSpPr>
        <p:spPr>
          <a:xfrm>
            <a:off x="13316573" y="11593062"/>
            <a:ext cx="223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9" name="TextBox 638"/>
          <p:cNvSpPr txBox="1"/>
          <p:nvPr/>
        </p:nvSpPr>
        <p:spPr>
          <a:xfrm>
            <a:off x="13176288" y="11593062"/>
            <a:ext cx="79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4315069" y="11593062"/>
            <a:ext cx="1404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3590271" y="11593062"/>
            <a:ext cx="79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3729540" y="11593062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14133721" y="11593062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4841652" y="11593062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15034875" y="11593062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5217305" y="11593062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15459289" y="11593062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3" name="TextBox 172"/>
          <p:cNvSpPr txBox="1"/>
          <p:nvPr/>
        </p:nvSpPr>
        <p:spPr>
          <a:xfrm>
            <a:off x="16657781" y="11555484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14519562" y="11593062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6146128" y="11591646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6254689" y="11591646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16511687" y="1159164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2983660" y="11983932"/>
            <a:ext cx="22550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81" name="TextBox 180"/>
          <p:cNvSpPr txBox="1"/>
          <p:nvPr/>
        </p:nvSpPr>
        <p:spPr>
          <a:xfrm>
            <a:off x="12788192" y="11983932"/>
            <a:ext cx="98868" cy="23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13828546" y="11983932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13660796" y="11977587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0" name="TextBox 639"/>
          <p:cNvSpPr txBox="1"/>
          <p:nvPr/>
        </p:nvSpPr>
        <p:spPr>
          <a:xfrm>
            <a:off x="14374504" y="1198393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1" name="TextBox 640"/>
          <p:cNvSpPr txBox="1"/>
          <p:nvPr/>
        </p:nvSpPr>
        <p:spPr>
          <a:xfrm>
            <a:off x="14546696" y="1198393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3" name="TextBox 642"/>
          <p:cNvSpPr txBox="1"/>
          <p:nvPr/>
        </p:nvSpPr>
        <p:spPr>
          <a:xfrm>
            <a:off x="14718888" y="1198393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6" name="TextBox 645"/>
          <p:cNvSpPr txBox="1"/>
          <p:nvPr/>
        </p:nvSpPr>
        <p:spPr>
          <a:xfrm>
            <a:off x="14891079" y="1198393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7" name="TextBox 646"/>
          <p:cNvSpPr txBox="1"/>
          <p:nvPr/>
        </p:nvSpPr>
        <p:spPr>
          <a:xfrm>
            <a:off x="15162932" y="1198393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8" name="TextBox 647"/>
          <p:cNvSpPr txBox="1"/>
          <p:nvPr/>
        </p:nvSpPr>
        <p:spPr>
          <a:xfrm>
            <a:off x="15351856" y="11983932"/>
            <a:ext cx="1325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9" name="TextBox 648"/>
          <p:cNvSpPr txBox="1"/>
          <p:nvPr/>
        </p:nvSpPr>
        <p:spPr>
          <a:xfrm>
            <a:off x="15556965" y="11983932"/>
            <a:ext cx="98868" cy="23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0" name="TextBox 649"/>
          <p:cNvSpPr txBox="1"/>
          <p:nvPr/>
        </p:nvSpPr>
        <p:spPr>
          <a:xfrm>
            <a:off x="15711872" y="11983932"/>
            <a:ext cx="59740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1" name="TextBox 650"/>
          <p:cNvSpPr txBox="1"/>
          <p:nvPr/>
        </p:nvSpPr>
        <p:spPr>
          <a:xfrm>
            <a:off x="16470774" y="11983932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653" name="TextBox 652"/>
          <p:cNvSpPr txBox="1"/>
          <p:nvPr/>
        </p:nvSpPr>
        <p:spPr>
          <a:xfrm>
            <a:off x="16628385" y="11983932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654" name="Curved Connector 653"/>
          <p:cNvCxnSpPr>
            <a:stCxn id="637" idx="2"/>
            <a:endCxn id="180" idx="0"/>
          </p:cNvCxnSpPr>
          <p:nvPr/>
        </p:nvCxnSpPr>
        <p:spPr>
          <a:xfrm rot="16200000" flipH="1">
            <a:off x="12958006" y="11845525"/>
            <a:ext cx="160038" cy="116775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Curved Connector 654"/>
          <p:cNvCxnSpPr>
            <a:stCxn id="637" idx="2"/>
            <a:endCxn id="181" idx="0"/>
          </p:cNvCxnSpPr>
          <p:nvPr/>
        </p:nvCxnSpPr>
        <p:spPr>
          <a:xfrm rot="5400000">
            <a:off x="12828613" y="11832907"/>
            <a:ext cx="160038" cy="142012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6" name="Curved Connector 655"/>
          <p:cNvCxnSpPr>
            <a:stCxn id="163" idx="2"/>
            <a:endCxn id="190" idx="0"/>
          </p:cNvCxnSpPr>
          <p:nvPr/>
        </p:nvCxnSpPr>
        <p:spPr>
          <a:xfrm rot="5400000">
            <a:off x="13723060" y="11815072"/>
            <a:ext cx="153693" cy="17133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Curved Connector 656"/>
          <p:cNvCxnSpPr>
            <a:stCxn id="163" idx="2"/>
            <a:endCxn id="184" idx="0"/>
          </p:cNvCxnSpPr>
          <p:nvPr/>
        </p:nvCxnSpPr>
        <p:spPr>
          <a:xfrm rot="16200000" flipH="1">
            <a:off x="13834620" y="11874848"/>
            <a:ext cx="160038" cy="581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Curved Connector 657"/>
          <p:cNvCxnSpPr>
            <a:stCxn id="175" idx="2"/>
            <a:endCxn id="640" idx="0"/>
          </p:cNvCxnSpPr>
          <p:nvPr/>
        </p:nvCxnSpPr>
        <p:spPr>
          <a:xfrm rot="5400000">
            <a:off x="14465519" y="11785889"/>
            <a:ext cx="160470" cy="23561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9" name="Curved Connector 658"/>
          <p:cNvCxnSpPr>
            <a:stCxn id="175" idx="2"/>
            <a:endCxn id="641" idx="0"/>
          </p:cNvCxnSpPr>
          <p:nvPr/>
        </p:nvCxnSpPr>
        <p:spPr>
          <a:xfrm rot="5400000">
            <a:off x="14551615" y="11871985"/>
            <a:ext cx="160470" cy="6342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0" name="Curved Connector 659"/>
          <p:cNvCxnSpPr>
            <a:stCxn id="175" idx="2"/>
            <a:endCxn id="643" idx="0"/>
          </p:cNvCxnSpPr>
          <p:nvPr/>
        </p:nvCxnSpPr>
        <p:spPr>
          <a:xfrm rot="16200000" flipH="1">
            <a:off x="14637711" y="11849313"/>
            <a:ext cx="160470" cy="10876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Curved Connector 660"/>
          <p:cNvCxnSpPr>
            <a:stCxn id="175" idx="2"/>
            <a:endCxn id="646" idx="0"/>
          </p:cNvCxnSpPr>
          <p:nvPr/>
        </p:nvCxnSpPr>
        <p:spPr>
          <a:xfrm rot="16200000" flipH="1">
            <a:off x="14723806" y="11763217"/>
            <a:ext cx="160470" cy="2809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2" name="Curved Connector 661"/>
          <p:cNvCxnSpPr>
            <a:stCxn id="170" idx="2"/>
            <a:endCxn id="647" idx="0"/>
          </p:cNvCxnSpPr>
          <p:nvPr/>
        </p:nvCxnSpPr>
        <p:spPr>
          <a:xfrm rot="5400000">
            <a:off x="15187221" y="11853048"/>
            <a:ext cx="160038" cy="1017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6" name="Curved Connector 665"/>
          <p:cNvCxnSpPr>
            <a:stCxn id="170" idx="2"/>
            <a:endCxn id="648" idx="0"/>
          </p:cNvCxnSpPr>
          <p:nvPr/>
        </p:nvCxnSpPr>
        <p:spPr>
          <a:xfrm rot="16200000" flipH="1">
            <a:off x="15288094" y="11853904"/>
            <a:ext cx="160038" cy="10001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Curved Connector 666"/>
          <p:cNvCxnSpPr>
            <a:stCxn id="172" idx="2"/>
            <a:endCxn id="649" idx="0"/>
          </p:cNvCxnSpPr>
          <p:nvPr/>
        </p:nvCxnSpPr>
        <p:spPr>
          <a:xfrm rot="5400000">
            <a:off x="15617525" y="11812768"/>
            <a:ext cx="160038" cy="18229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Curved Connector 667"/>
          <p:cNvCxnSpPr>
            <a:stCxn id="172" idx="2"/>
            <a:endCxn id="650" idx="0"/>
          </p:cNvCxnSpPr>
          <p:nvPr/>
        </p:nvCxnSpPr>
        <p:spPr>
          <a:xfrm rot="16200000" flipH="1">
            <a:off x="15819612" y="11792970"/>
            <a:ext cx="160038" cy="2218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Curved Connector 668"/>
          <p:cNvCxnSpPr>
            <a:stCxn id="179" idx="2"/>
            <a:endCxn id="651" idx="0"/>
          </p:cNvCxnSpPr>
          <p:nvPr/>
        </p:nvCxnSpPr>
        <p:spPr>
          <a:xfrm rot="5400000">
            <a:off x="16459938" y="11872329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Curved Connector 669"/>
          <p:cNvCxnSpPr>
            <a:stCxn id="179" idx="2"/>
            <a:endCxn id="653" idx="0"/>
          </p:cNvCxnSpPr>
          <p:nvPr/>
        </p:nvCxnSpPr>
        <p:spPr>
          <a:xfrm rot="16200000" flipH="1">
            <a:off x="16538743" y="11855275"/>
            <a:ext cx="161454" cy="958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1" name="TextBox 670"/>
          <p:cNvSpPr txBox="1"/>
          <p:nvPr/>
        </p:nvSpPr>
        <p:spPr>
          <a:xfrm>
            <a:off x="14096793" y="11982131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</a:p>
        </p:txBody>
      </p:sp>
      <p:sp>
        <p:nvSpPr>
          <p:cNvPr id="672" name="TextBox 671"/>
          <p:cNvSpPr txBox="1"/>
          <p:nvPr/>
        </p:nvSpPr>
        <p:spPr>
          <a:xfrm>
            <a:off x="14242530" y="11982131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</a:p>
        </p:txBody>
      </p:sp>
      <p:cxnSp>
        <p:nvCxnSpPr>
          <p:cNvPr id="673" name="Curved Connector 672"/>
          <p:cNvCxnSpPr>
            <a:endCxn id="671" idx="0"/>
          </p:cNvCxnSpPr>
          <p:nvPr/>
        </p:nvCxnSpPr>
        <p:spPr>
          <a:xfrm rot="5400000">
            <a:off x="14085957" y="11870528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Curved Connector 673"/>
          <p:cNvCxnSpPr>
            <a:endCxn id="672" idx="0"/>
          </p:cNvCxnSpPr>
          <p:nvPr/>
        </p:nvCxnSpPr>
        <p:spPr>
          <a:xfrm rot="16200000" flipH="1">
            <a:off x="14168009" y="11868594"/>
            <a:ext cx="152827" cy="7424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5" name="TextBox 674"/>
          <p:cNvSpPr txBox="1"/>
          <p:nvPr/>
        </p:nvSpPr>
        <p:spPr>
          <a:xfrm>
            <a:off x="12736282" y="11254939"/>
            <a:ext cx="2909676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分解令牌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2647127" y="13552656"/>
            <a:ext cx="995680" cy="33718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l"/>
            <a:r>
              <a:rPr lang="en-US" sz="1600" dirty="0">
                <a:latin typeface="Trebuchet MS" panose="020B0603020202020204" pitchFamily="34" charset="0"/>
              </a:rPr>
              <a:t>修剪令牌</a:t>
            </a:r>
          </a:p>
        </p:txBody>
      </p:sp>
      <p:cxnSp>
        <p:nvCxnSpPr>
          <p:cNvPr id="679" name="Straight Arrow Connector 678"/>
          <p:cNvCxnSpPr/>
          <p:nvPr/>
        </p:nvCxnSpPr>
        <p:spPr>
          <a:xfrm>
            <a:off x="16059421" y="12339333"/>
            <a:ext cx="0" cy="43200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5" name="TextBox 624"/>
          <p:cNvSpPr txBox="1"/>
          <p:nvPr/>
        </p:nvSpPr>
        <p:spPr>
          <a:xfrm>
            <a:off x="12794012" y="10758650"/>
            <a:ext cx="3142718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603020202020204" pitchFamily="34" charset="0"/>
              </a:rPr>
              <a:t>匹配分解令牌</a:t>
            </a:r>
          </a:p>
        </p:txBody>
      </p:sp>
      <p:sp>
        <p:nvSpPr>
          <p:cNvPr id="681" name="TextBox 680"/>
          <p:cNvSpPr txBox="1"/>
          <p:nvPr/>
        </p:nvSpPr>
        <p:spPr>
          <a:xfrm>
            <a:off x="12799645" y="12396515"/>
            <a:ext cx="2927236" cy="3708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603020202020204" pitchFamily="34" charset="0"/>
              </a:rPr>
              <a:t>语法导向的剪枝</a:t>
            </a:r>
          </a:p>
        </p:txBody>
      </p:sp>
      <p:sp>
        <p:nvSpPr>
          <p:cNvPr id="685" name="Rounded Rectangle 684"/>
          <p:cNvSpPr/>
          <p:nvPr/>
        </p:nvSpPr>
        <p:spPr>
          <a:xfrm>
            <a:off x="17733617" y="10614369"/>
            <a:ext cx="4492065" cy="48763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成员可能性计算</a:t>
            </a:r>
          </a:p>
        </p:txBody>
      </p:sp>
      <p:sp>
        <p:nvSpPr>
          <p:cNvPr id="686" name="Rounded Rectangle 685"/>
          <p:cNvSpPr/>
          <p:nvPr/>
        </p:nvSpPr>
        <p:spPr>
          <a:xfrm>
            <a:off x="18102590" y="11361429"/>
            <a:ext cx="3409965" cy="48763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语法约定修剪后的成员概率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078475" y="11900740"/>
            <a:ext cx="3683000" cy="9525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945629" y="11922691"/>
            <a:ext cx="3965929" cy="1032962"/>
          </a:xfrm>
          <a:prstGeom prst="rect">
            <a:avLst/>
          </a:prstGeom>
        </p:spPr>
      </p:pic>
      <p:sp>
        <p:nvSpPr>
          <p:cNvPr id="12" name="下箭头 11"/>
          <p:cNvSpPr/>
          <p:nvPr/>
        </p:nvSpPr>
        <p:spPr>
          <a:xfrm>
            <a:off x="14702790" y="8355965"/>
            <a:ext cx="989965" cy="1072515"/>
          </a:xfrm>
          <a:prstGeom prst="downArrow">
            <a:avLst/>
          </a:prstGeom>
        </p:spPr>
        <p:style>
          <a:lnRef idx="0">
            <a:srgbClr val="FFFFFF"/>
          </a:lnRef>
          <a:fillRef idx="1">
            <a:schemeClr val="accent3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ounded Rectangle 602"/>
          <p:cNvSpPr/>
          <p:nvPr/>
        </p:nvSpPr>
        <p:spPr>
          <a:xfrm>
            <a:off x="17263014" y="8660392"/>
            <a:ext cx="6219319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02" name="Rounded Rectangle 601"/>
          <p:cNvSpPr/>
          <p:nvPr/>
        </p:nvSpPr>
        <p:spPr>
          <a:xfrm>
            <a:off x="17263014" y="7908965"/>
            <a:ext cx="6219319" cy="575982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44" name="Rounded Rectangle 643"/>
          <p:cNvSpPr/>
          <p:nvPr/>
        </p:nvSpPr>
        <p:spPr>
          <a:xfrm>
            <a:off x="16733705" y="3557879"/>
            <a:ext cx="7014639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751" name="Rounded Rectangle 750"/>
          <p:cNvSpPr/>
          <p:nvPr/>
        </p:nvSpPr>
        <p:spPr>
          <a:xfrm>
            <a:off x="17240127" y="4554357"/>
            <a:ext cx="6230322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42" name="Rounded Rectangle 641"/>
          <p:cNvSpPr/>
          <p:nvPr/>
        </p:nvSpPr>
        <p:spPr>
          <a:xfrm>
            <a:off x="11940367" y="4719918"/>
            <a:ext cx="4393854" cy="453046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57" name="Rounded Rectangle 756"/>
          <p:cNvSpPr/>
          <p:nvPr/>
        </p:nvSpPr>
        <p:spPr>
          <a:xfrm>
            <a:off x="12015660" y="8182111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91871" y="7270382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49" name="Rounded Rectangle 748"/>
          <p:cNvSpPr/>
          <p:nvPr/>
        </p:nvSpPr>
        <p:spPr>
          <a:xfrm>
            <a:off x="17240126" y="5805255"/>
            <a:ext cx="6219319" cy="156550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Copyright</a:t>
            </a:r>
            <a:r>
              <a:rPr lang="en-US" altLang="zh-CN" dirty="0">
                <a:latin typeface="Trebuchet MS" panose="020B0603020202020204" pitchFamily="34" charset="0"/>
              </a:rPr>
              <a:t>-Owned </a:t>
            </a:r>
            <a:r>
              <a:rPr lang="en-US" dirty="0">
                <a:latin typeface="Trebuchet MS" panose="020B0603020202020204" pitchFamily="34" charset="0"/>
              </a:rPr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614801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For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If Else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Try except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Programming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7584190"/>
            <a:ext cx="1130986" cy="113098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595976" y="5799288"/>
            <a:ext cx="17780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Trebuchet MS" panose="020B0603020202020204" pitchFamily="34" charset="0"/>
              </a:rPr>
              <a:t>Enumerating each tokens</a:t>
            </a:r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5762972" y="7263015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Trebuchet MS" panose="020B0603020202020204" pitchFamily="34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Trebuchet MS" panose="020B0603020202020204" pitchFamily="34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9730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667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510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39738" y="8013814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55150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Codebase</a:t>
            </a:r>
          </a:p>
        </p:txBody>
      </p:sp>
      <p:cxnSp>
        <p:nvCxnSpPr>
          <p:cNvPr id="473" name="Straight Arrow Connector 472"/>
          <p:cNvCxnSpPr/>
          <p:nvPr/>
        </p:nvCxnSpPr>
        <p:spPr>
          <a:xfrm flipH="1">
            <a:off x="14056321" y="762214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547" name="TextBox 546"/>
          <p:cNvSpPr txBox="1"/>
          <p:nvPr/>
        </p:nvSpPr>
        <p:spPr>
          <a:xfrm>
            <a:off x="14692682" y="8190079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latin typeface="Trebuchet MS" panose="020B0603020202020204" pitchFamily="34" charset="0"/>
              </a:rPr>
              <a:t>Code Tokens</a:t>
            </a: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9887759" y="525614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6985150"/>
            <a:ext cx="989395" cy="1164533"/>
          </a:xfrm>
          <a:prstGeom prst="bentConnector3">
            <a:avLst>
              <a:gd name="adj1" fmla="val 45301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TextBox 604"/>
          <p:cNvSpPr txBox="1"/>
          <p:nvPr/>
        </p:nvSpPr>
        <p:spPr>
          <a:xfrm>
            <a:off x="17334765" y="4944971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7851780" y="4944971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7680236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8867378" y="4944971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18167595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18294255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8668579" y="4944971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19423011" y="4944971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19692743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616" name="TextBox 615"/>
          <p:cNvSpPr txBox="1"/>
          <p:nvPr/>
        </p:nvSpPr>
        <p:spPr>
          <a:xfrm>
            <a:off x="19916138" y="4944971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0208508" y="4944971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0947275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21189429" y="4944971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1570694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21762806" y="4944971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2600927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2740941" y="4944971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2886565" y="4944971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]: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23074222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645" name="TextBox 644"/>
          <p:cNvSpPr txBox="1"/>
          <p:nvPr/>
        </p:nvSpPr>
        <p:spPr>
          <a:xfrm>
            <a:off x="19067345" y="494497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7332377" y="4557777"/>
            <a:ext cx="1741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Original Tokens</a:t>
            </a:r>
          </a:p>
        </p:txBody>
      </p:sp>
      <p:cxnSp>
        <p:nvCxnSpPr>
          <p:cNvPr id="700" name="Elbow Connector 699"/>
          <p:cNvCxnSpPr>
            <a:stCxn id="642" idx="3"/>
            <a:endCxn id="644" idx="1"/>
          </p:cNvCxnSpPr>
          <p:nvPr/>
        </p:nvCxnSpPr>
        <p:spPr>
          <a:xfrm flipV="1">
            <a:off x="16334221" y="6403757"/>
            <a:ext cx="399484" cy="58139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9" name="TextBox 718"/>
          <p:cNvSpPr txBox="1"/>
          <p:nvPr/>
        </p:nvSpPr>
        <p:spPr>
          <a:xfrm>
            <a:off x="25340281" y="8586982"/>
            <a:ext cx="7152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603020202020204" pitchFamily="34" charset="0"/>
              </a:rPr>
              <a:t>P()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25586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023" y="8035489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10254" y="5773019"/>
            <a:ext cx="73103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603020202020204" pitchFamily="34" charset="0"/>
              </a:rPr>
              <a:t>Developer Accomplishing Programming 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9308" y="9353459"/>
            <a:ext cx="60885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603020202020204" pitchFamily="34" charset="0"/>
              </a:rPr>
              <a:t>Training LLMs Using Accesible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7956" y="824908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7956" y="7950180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764670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0769" y="8471438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906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8452807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84709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Code Resources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2060606" y="6710646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2577621" y="6710646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2406077" y="671064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3593219" y="6710646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2893436" y="671064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3020096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3394420" y="671064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2408231" y="6982659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2679762" y="6982659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2890379" y="698265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3033669" y="6982659"/>
            <a:ext cx="15016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3255508" y="6982659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3547878" y="6982659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4290692" y="698265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4428373" y="6982659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4731963" y="6982659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2719294" y="7259514"/>
            <a:ext cx="11329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2916427" y="7259514"/>
            <a:ext cx="26558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Trebuchet MS" panose="020B0603020202020204" pitchFamily="34" charset="0"/>
              </a:rPr>
              <a:t>len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3249013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3383629" y="7259514"/>
            <a:ext cx="7963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3519847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)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364163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Trebuchet MS" panose="020B0603020202020204" pitchFamily="34" charset="0"/>
              </a:rPr>
              <a:t>&gt;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3890067" y="7259514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4270744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4388529" y="7259514"/>
            <a:ext cx="25115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max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4669818" y="7259514"/>
            <a:ext cx="9726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_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4827677" y="7259514"/>
            <a:ext cx="19024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col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5078510" y="7259514"/>
            <a:ext cx="9726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_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5565749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5705174" y="7259514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5850208" y="7259514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]: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4935369" y="6982659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044130" y="7259514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5249193" y="7259514"/>
            <a:ext cx="2335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size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2052565" y="698265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2052565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2370701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935088" y="6695379"/>
            <a:ext cx="4338047" cy="882273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488" name="TextBox 487"/>
          <p:cNvSpPr txBox="1"/>
          <p:nvPr/>
        </p:nvSpPr>
        <p:spPr>
          <a:xfrm>
            <a:off x="12103288" y="8261145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89" name="TextBox 488"/>
          <p:cNvSpPr txBox="1"/>
          <p:nvPr/>
        </p:nvSpPr>
        <p:spPr>
          <a:xfrm>
            <a:off x="12620303" y="8261145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90" name="TextBox 489"/>
          <p:cNvSpPr txBox="1"/>
          <p:nvPr/>
        </p:nvSpPr>
        <p:spPr>
          <a:xfrm>
            <a:off x="12448759" y="8261145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491" name="TextBox 490"/>
          <p:cNvSpPr txBox="1"/>
          <p:nvPr/>
        </p:nvSpPr>
        <p:spPr>
          <a:xfrm>
            <a:off x="13635901" y="8261145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492" name="TextBox 491"/>
          <p:cNvSpPr txBox="1"/>
          <p:nvPr/>
        </p:nvSpPr>
        <p:spPr>
          <a:xfrm>
            <a:off x="12936118" y="8261145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493" name="TextBox 492"/>
          <p:cNvSpPr txBox="1"/>
          <p:nvPr/>
        </p:nvSpPr>
        <p:spPr>
          <a:xfrm>
            <a:off x="13062778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94" name="TextBox 493"/>
          <p:cNvSpPr txBox="1"/>
          <p:nvPr/>
        </p:nvSpPr>
        <p:spPr>
          <a:xfrm>
            <a:off x="13437102" y="8261145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495" name="TextBox 494"/>
          <p:cNvSpPr txBox="1"/>
          <p:nvPr/>
        </p:nvSpPr>
        <p:spPr>
          <a:xfrm>
            <a:off x="12450913" y="8533158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96" name="TextBox 495"/>
          <p:cNvSpPr txBox="1"/>
          <p:nvPr/>
        </p:nvSpPr>
        <p:spPr>
          <a:xfrm>
            <a:off x="12722444" y="8533158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97" name="TextBox 496"/>
          <p:cNvSpPr txBox="1"/>
          <p:nvPr/>
        </p:nvSpPr>
        <p:spPr>
          <a:xfrm>
            <a:off x="12933061" y="853315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498" name="TextBox 497"/>
          <p:cNvSpPr txBox="1"/>
          <p:nvPr/>
        </p:nvSpPr>
        <p:spPr>
          <a:xfrm>
            <a:off x="13076351" y="8533158"/>
            <a:ext cx="15016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99" name="TextBox 498"/>
          <p:cNvSpPr txBox="1"/>
          <p:nvPr/>
        </p:nvSpPr>
        <p:spPr>
          <a:xfrm>
            <a:off x="13298190" y="8533158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0" name="TextBox 499"/>
          <p:cNvSpPr txBox="1"/>
          <p:nvPr/>
        </p:nvSpPr>
        <p:spPr>
          <a:xfrm>
            <a:off x="13590560" y="8533158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1" name="TextBox 500"/>
          <p:cNvSpPr txBox="1"/>
          <p:nvPr/>
        </p:nvSpPr>
        <p:spPr>
          <a:xfrm>
            <a:off x="14333374" y="853315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02" name="TextBox 501"/>
          <p:cNvSpPr txBox="1"/>
          <p:nvPr/>
        </p:nvSpPr>
        <p:spPr>
          <a:xfrm>
            <a:off x="14471055" y="8533158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3" name="TextBox 502"/>
          <p:cNvSpPr txBox="1"/>
          <p:nvPr/>
        </p:nvSpPr>
        <p:spPr>
          <a:xfrm>
            <a:off x="14774645" y="8533158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12763154" y="8810013"/>
            <a:ext cx="11329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5" name="TextBox 504"/>
          <p:cNvSpPr txBox="1"/>
          <p:nvPr/>
        </p:nvSpPr>
        <p:spPr>
          <a:xfrm>
            <a:off x="12960876" y="8810013"/>
            <a:ext cx="26558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Trebuchet MS" panose="020B0603020202020204" pitchFamily="34" charset="0"/>
              </a:rPr>
              <a:t>len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6" name="TextBox 505"/>
          <p:cNvSpPr txBox="1"/>
          <p:nvPr/>
        </p:nvSpPr>
        <p:spPr>
          <a:xfrm>
            <a:off x="13294050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507" name="TextBox 506"/>
          <p:cNvSpPr txBox="1"/>
          <p:nvPr/>
        </p:nvSpPr>
        <p:spPr>
          <a:xfrm>
            <a:off x="13429255" y="8810013"/>
            <a:ext cx="7963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508" name="TextBox 507"/>
          <p:cNvSpPr txBox="1"/>
          <p:nvPr/>
        </p:nvSpPr>
        <p:spPr>
          <a:xfrm>
            <a:off x="13566062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)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509" name="TextBox 508"/>
          <p:cNvSpPr txBox="1"/>
          <p:nvPr/>
        </p:nvSpPr>
        <p:spPr>
          <a:xfrm>
            <a:off x="13688443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Trebuchet MS" panose="020B0603020202020204" pitchFamily="34" charset="0"/>
              </a:rPr>
              <a:t>&gt;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0" name="TextBox 509"/>
          <p:cNvSpPr txBox="1"/>
          <p:nvPr/>
        </p:nvSpPr>
        <p:spPr>
          <a:xfrm>
            <a:off x="13937461" y="8810013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1" name="TextBox 510"/>
          <p:cNvSpPr txBox="1"/>
          <p:nvPr/>
        </p:nvSpPr>
        <p:spPr>
          <a:xfrm>
            <a:off x="14318726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</a:t>
            </a:r>
          </a:p>
        </p:txBody>
      </p:sp>
      <p:sp>
        <p:nvSpPr>
          <p:cNvPr id="512" name="TextBox 511"/>
          <p:cNvSpPr txBox="1"/>
          <p:nvPr/>
        </p:nvSpPr>
        <p:spPr>
          <a:xfrm>
            <a:off x="14510838" y="8810013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7" name="TextBox 516"/>
          <p:cNvSpPr txBox="1"/>
          <p:nvPr/>
        </p:nvSpPr>
        <p:spPr>
          <a:xfrm>
            <a:off x="15348959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</a:p>
        </p:txBody>
      </p:sp>
      <p:sp>
        <p:nvSpPr>
          <p:cNvPr id="518" name="TextBox 517"/>
          <p:cNvSpPr txBox="1"/>
          <p:nvPr/>
        </p:nvSpPr>
        <p:spPr>
          <a:xfrm>
            <a:off x="15488973" y="8810013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9" name="TextBox 518"/>
          <p:cNvSpPr txBox="1"/>
          <p:nvPr/>
        </p:nvSpPr>
        <p:spPr>
          <a:xfrm>
            <a:off x="15634597" y="881001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]: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14978051" y="8533158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15829118" y="8810013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12095247" y="8533158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12095247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2413972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927017" y="8189404"/>
            <a:ext cx="4338047" cy="919360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0097927" y="5315952"/>
            <a:ext cx="3623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Getting Conditioned Probabilities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17797" y="6138373"/>
            <a:ext cx="20999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22173153" y="5873230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70" name="Arc 469"/>
          <p:cNvSpPr>
            <a:spLocks noChangeAspect="1"/>
          </p:cNvSpPr>
          <p:nvPr/>
        </p:nvSpPr>
        <p:spPr>
          <a:xfrm rot="10800000">
            <a:off x="17377922" y="5980477"/>
            <a:ext cx="288000" cy="288000"/>
          </a:xfrm>
          <a:prstGeom prst="arc">
            <a:avLst>
              <a:gd name="adj1" fmla="val 16200000"/>
              <a:gd name="adj2" fmla="val 10799994"/>
            </a:avLst>
          </a:prstGeom>
          <a:ln w="127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471" name="TextBox 470"/>
          <p:cNvSpPr txBox="1"/>
          <p:nvPr/>
        </p:nvSpPr>
        <p:spPr>
          <a:xfrm>
            <a:off x="22173153" y="6103506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solidFill>
                  <a:srgbClr val="3B3B3B"/>
                </a:solidFill>
                <a:latin typeface="Trebuchet MS" panose="020B0603020202020204" pitchFamily="34" charset="0"/>
              </a:rPr>
              <a:t>name</a:t>
            </a:r>
          </a:p>
        </p:txBody>
      </p:sp>
      <p:sp>
        <p:nvSpPr>
          <p:cNvPr id="472" name="TextBox 471"/>
          <p:cNvSpPr txBox="1"/>
          <p:nvPr/>
        </p:nvSpPr>
        <p:spPr>
          <a:xfrm>
            <a:off x="22173153" y="6333782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Id</a:t>
            </a:r>
          </a:p>
        </p:txBody>
      </p:sp>
      <p:sp>
        <p:nvSpPr>
          <p:cNvPr id="475" name="Rectangle 474"/>
          <p:cNvSpPr/>
          <p:nvPr/>
        </p:nvSpPr>
        <p:spPr>
          <a:xfrm>
            <a:off x="22550352" y="5873230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0.84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22555894" y="6103506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0.04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22555894" y="6333782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0.03</a:t>
            </a: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9854913" y="6253789"/>
            <a:ext cx="20812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20142639" y="5914627"/>
            <a:ext cx="18328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rebuchet MS" panose="020B0603020202020204" pitchFamily="34" charset="0"/>
              </a:rPr>
              <a:t>Next Token Selection:</a:t>
            </a:r>
          </a:p>
        </p:txBody>
      </p:sp>
      <p:cxnSp>
        <p:nvCxnSpPr>
          <p:cNvPr id="105" name="Straight Arrow Connector 104"/>
          <p:cNvCxnSpPr/>
          <p:nvPr/>
        </p:nvCxnSpPr>
        <p:spPr>
          <a:xfrm>
            <a:off x="19887759" y="7375828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20097927" y="7438484"/>
            <a:ext cx="3361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Syntax-Oriented Token Pruning</a:t>
            </a:r>
          </a:p>
        </p:txBody>
      </p:sp>
      <p:pic>
        <p:nvPicPr>
          <p:cNvPr id="122" name="Picture 12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70746" y="3673169"/>
            <a:ext cx="608267" cy="608267"/>
          </a:xfrm>
          <a:prstGeom prst="rect">
            <a:avLst/>
          </a:prstGeom>
          <a:noFill/>
        </p:spPr>
      </p:pic>
      <p:sp>
        <p:nvSpPr>
          <p:cNvPr id="126" name="TextBox 125"/>
          <p:cNvSpPr txBox="1"/>
          <p:nvPr/>
        </p:nvSpPr>
        <p:spPr>
          <a:xfrm>
            <a:off x="17418534" y="7858943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Retained Tokens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17427351" y="8202566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944366" y="8761082"/>
            <a:ext cx="22230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772822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8959964" y="8761082"/>
            <a:ext cx="140546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18260181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18386841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761165" y="8761082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9515597" y="8202566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785329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20008724" y="8761082"/>
            <a:ext cx="203064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20301094" y="8202566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48" name="TextBox 547"/>
          <p:cNvSpPr txBox="1"/>
          <p:nvPr/>
        </p:nvSpPr>
        <p:spPr>
          <a:xfrm>
            <a:off x="21039861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21282015" y="8202566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0" name="TextBox 549"/>
          <p:cNvSpPr txBox="1"/>
          <p:nvPr/>
        </p:nvSpPr>
        <p:spPr>
          <a:xfrm>
            <a:off x="21649655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2" name="TextBox 551"/>
          <p:cNvSpPr txBox="1"/>
          <p:nvPr/>
        </p:nvSpPr>
        <p:spPr>
          <a:xfrm>
            <a:off x="21785661" y="8202566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3" name="TextBox 552"/>
          <p:cNvSpPr txBox="1"/>
          <p:nvPr/>
        </p:nvSpPr>
        <p:spPr>
          <a:xfrm>
            <a:off x="22693513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22833527" y="8202566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6" name="TextBox 555"/>
          <p:cNvSpPr txBox="1"/>
          <p:nvPr/>
        </p:nvSpPr>
        <p:spPr>
          <a:xfrm>
            <a:off x="22979151" y="8761082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]: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23166808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9159931" y="8761082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17370095" y="6822143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7887110" y="6822143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7715566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18902708" y="6822143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18202925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18329585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8703909" y="682214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19458341" y="6822143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9728073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19951468" y="6822143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20243838" y="6822143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2" name="TextBox 571"/>
          <p:cNvSpPr txBox="1"/>
          <p:nvPr/>
        </p:nvSpPr>
        <p:spPr>
          <a:xfrm>
            <a:off x="20982605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...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21224759" y="6822143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4" name="TextBox 573"/>
          <p:cNvSpPr txBox="1"/>
          <p:nvPr/>
        </p:nvSpPr>
        <p:spPr>
          <a:xfrm>
            <a:off x="21606024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21798136" y="6822143"/>
            <a:ext cx="724040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2636257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776271" y="6822143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2921895" y="682214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]: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109552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9102675" y="682214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7362296" y="705443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7843243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702958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8886893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8190317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8330602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677675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9431306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9688214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932448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215200" y="705443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20942746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181693" y="705443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593416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1729422" y="705443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623649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2759655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95661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3069693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9103692" y="705443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0187144" y="8696209"/>
            <a:ext cx="14939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Pruned Tokens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900397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944047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734829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989602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22952815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9160846" y="8202566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8055516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 flipH="1">
            <a:off x="18821019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903023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 flipH="1">
            <a:off x="19303931" y="8432966"/>
            <a:ext cx="915" cy="32811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20110256" y="8433398"/>
            <a:ext cx="916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/>
          <p:cNvCxnSpPr>
            <a:stCxn id="161" idx="2"/>
            <a:endCxn id="556" idx="0"/>
          </p:cNvCxnSpPr>
          <p:nvPr/>
        </p:nvCxnSpPr>
        <p:spPr>
          <a:xfrm flipH="1">
            <a:off x="23039005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>
            <a:off x="24617800" y="6789328"/>
            <a:ext cx="4176000" cy="0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/>
          <p:cNvCxnSpPr/>
          <p:nvPr/>
        </p:nvCxnSpPr>
        <p:spPr>
          <a:xfrm flipV="1">
            <a:off x="24617804" y="4923959"/>
            <a:ext cx="0" cy="1865369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26629684" y="6845629"/>
            <a:ext cx="28802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</a:rPr>
              <a:t>⌷</a:t>
            </a:r>
            <a:r>
              <a:rPr lang="en-US" sz="900" dirty="0">
                <a:latin typeface="Trebuchet MS" panose="020B0603020202020204" pitchFamily="34" charset="0"/>
              </a:rPr>
              <a:t>add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6256369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</a:rPr>
              <a:t>(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5620253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</a:rPr>
              <a:t>,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6941376" y="6845629"/>
            <a:ext cx="31206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⌷row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6390929" y="6845629"/>
            <a:ext cx="18703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for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4782067" y="6845629"/>
            <a:ext cx="65992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</a:rPr>
              <a:t>⌷</a:t>
            </a:r>
            <a:r>
              <a:rPr lang="en-US" sz="900" dirty="0">
                <a:latin typeface="Trebuchet MS" panose="020B0603020202020204" pitchFamily="34" charset="0"/>
              </a:rPr>
              <a:t>enumerate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25890977" y="6845629"/>
            <a:ext cx="292832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⌷self</a:t>
            </a:r>
          </a:p>
        </p:txBody>
      </p:sp>
      <p:sp>
        <p:nvSpPr>
          <p:cNvPr id="579" name="TextBox 578"/>
          <p:cNvSpPr txBox="1"/>
          <p:nvPr/>
        </p:nvSpPr>
        <p:spPr>
          <a:xfrm>
            <a:off x="27338026" y="6845629"/>
            <a:ext cx="72404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Trebuchet MS" panose="020B0603020202020204" pitchFamily="34" charset="0"/>
              </a:rPr>
              <a:t>max_col_size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80" name="TextBox 579"/>
          <p:cNvSpPr txBox="1"/>
          <p:nvPr/>
        </p:nvSpPr>
        <p:spPr>
          <a:xfrm>
            <a:off x="25740386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[</a:t>
            </a:r>
          </a:p>
        </p:txBody>
      </p:sp>
      <p:sp>
        <p:nvSpPr>
          <p:cNvPr id="581" name="TextBox 580"/>
          <p:cNvSpPr txBox="1"/>
          <p:nvPr/>
        </p:nvSpPr>
        <p:spPr>
          <a:xfrm>
            <a:off x="25504128" y="6845629"/>
            <a:ext cx="7001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Trebuchet MS" panose="020B0603020202020204" pitchFamily="34" charset="0"/>
              </a:rPr>
              <a:t>i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90" name="Rectangle 589"/>
          <p:cNvSpPr/>
          <p:nvPr/>
        </p:nvSpPr>
        <p:spPr>
          <a:xfrm>
            <a:off x="24854814" y="5043329"/>
            <a:ext cx="108000" cy="174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1" name="Rectangle 590"/>
          <p:cNvSpPr/>
          <p:nvPr/>
        </p:nvSpPr>
        <p:spPr>
          <a:xfrm>
            <a:off x="25590502" y="5259328"/>
            <a:ext cx="108000" cy="153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2" name="Rectangle 591"/>
          <p:cNvSpPr/>
          <p:nvPr/>
        </p:nvSpPr>
        <p:spPr>
          <a:xfrm>
            <a:off x="26443282" y="6555328"/>
            <a:ext cx="108000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5" name="Rectangle 594"/>
          <p:cNvSpPr/>
          <p:nvPr/>
        </p:nvSpPr>
        <p:spPr>
          <a:xfrm>
            <a:off x="25200498" y="5205328"/>
            <a:ext cx="108000" cy="15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6" name="Rectangle 595"/>
          <p:cNvSpPr/>
          <p:nvPr/>
        </p:nvSpPr>
        <p:spPr>
          <a:xfrm>
            <a:off x="25360332" y="5223329"/>
            <a:ext cx="108000" cy="156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7" name="Rectangle 596"/>
          <p:cNvSpPr/>
          <p:nvPr/>
        </p:nvSpPr>
        <p:spPr>
          <a:xfrm>
            <a:off x="25913884" y="5475328"/>
            <a:ext cx="108000" cy="131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8" name="Rectangle 597"/>
          <p:cNvSpPr/>
          <p:nvPr/>
        </p:nvSpPr>
        <p:spPr>
          <a:xfrm>
            <a:off x="26999149" y="6573328"/>
            <a:ext cx="108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600" name="Rectangle 599"/>
          <p:cNvSpPr/>
          <p:nvPr/>
        </p:nvSpPr>
        <p:spPr>
          <a:xfrm>
            <a:off x="27746554" y="4923959"/>
            <a:ext cx="108000" cy="18653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cxnSp>
        <p:nvCxnSpPr>
          <p:cNvPr id="630" name="Elbow Connector 629"/>
          <p:cNvCxnSpPr>
            <a:stCxn id="4" idx="3"/>
            <a:endCxn id="642" idx="1"/>
          </p:cNvCxnSpPr>
          <p:nvPr/>
        </p:nvCxnSpPr>
        <p:spPr>
          <a:xfrm>
            <a:off x="10844683" y="4476603"/>
            <a:ext cx="1095684" cy="250854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4035531" y="6148904"/>
            <a:ext cx="1475999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Tokenizing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12709210" y="5713212"/>
            <a:ext cx="2640961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Copyright</a:t>
            </a:r>
            <a:r>
              <a:rPr lang="en-US" altLang="zh-CN" dirty="0">
                <a:solidFill>
                  <a:schemeClr val="bg1"/>
                </a:solidFill>
                <a:latin typeface="Trebuchet MS" panose="020B0603020202020204" pitchFamily="34" charset="0"/>
              </a:rPr>
              <a:t>-Owned </a:t>
            </a:r>
            <a:r>
              <a:rPr 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Code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14115075" y="7642101"/>
            <a:ext cx="2153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Resuming variables</a:t>
            </a:r>
          </a:p>
        </p:txBody>
      </p:sp>
      <p:cxnSp>
        <p:nvCxnSpPr>
          <p:cNvPr id="665" name="Straight Arrow Connector 664"/>
          <p:cNvCxnSpPr/>
          <p:nvPr/>
        </p:nvCxnSpPr>
        <p:spPr>
          <a:xfrm flipH="1">
            <a:off x="14056321" y="610979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TextBox 688"/>
          <p:cNvSpPr txBox="1"/>
          <p:nvPr/>
        </p:nvSpPr>
        <p:spPr>
          <a:xfrm>
            <a:off x="19183039" y="9682164"/>
            <a:ext cx="21691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603020202020204" pitchFamily="34" charset="0"/>
              </a:rPr>
              <a:t>Our Solution</a:t>
            </a:r>
          </a:p>
        </p:txBody>
      </p:sp>
      <p:cxnSp>
        <p:nvCxnSpPr>
          <p:cNvPr id="693" name="Straight Arrow Connector 692"/>
          <p:cNvCxnSpPr/>
          <p:nvPr/>
        </p:nvCxnSpPr>
        <p:spPr>
          <a:xfrm flipV="1">
            <a:off x="23748344" y="7062971"/>
            <a:ext cx="427136" cy="1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Elbow Connector 724"/>
          <p:cNvCxnSpPr>
            <a:stCxn id="9" idx="0"/>
            <a:endCxn id="728" idx="0"/>
          </p:cNvCxnSpPr>
          <p:nvPr/>
        </p:nvCxnSpPr>
        <p:spPr>
          <a:xfrm rot="5400000" flipH="1" flipV="1">
            <a:off x="8788681" y="-1538303"/>
            <a:ext cx="194145" cy="10459330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8" name="Rounded Rectangle 727"/>
          <p:cNvSpPr/>
          <p:nvPr/>
        </p:nvSpPr>
        <p:spPr>
          <a:xfrm>
            <a:off x="11927185" y="3594289"/>
            <a:ext cx="4376466" cy="747855"/>
          </a:xfrm>
          <a:prstGeom prst="roundRect">
            <a:avLst>
              <a:gd name="adj" fmla="val 15542"/>
            </a:avLst>
          </a:prstGeom>
          <a:solidFill>
            <a:schemeClr val="accent4">
              <a:lumMod val="60000"/>
              <a:lumOff val="40000"/>
              <a:alpha val="69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Trebuchet MS" panose="020B0603020202020204" pitchFamily="34" charset="0"/>
              </a:rPr>
              <a:t>Tokens with High Likelihood</a:t>
            </a:r>
          </a:p>
        </p:txBody>
      </p:sp>
      <p:cxnSp>
        <p:nvCxnSpPr>
          <p:cNvPr id="750" name="Straight Arrow Connector 749"/>
          <p:cNvCxnSpPr/>
          <p:nvPr/>
        </p:nvCxnSpPr>
        <p:spPr>
          <a:xfrm flipH="1">
            <a:off x="20167529" y="659854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Rounded Rectangle 751"/>
          <p:cNvSpPr/>
          <p:nvPr/>
        </p:nvSpPr>
        <p:spPr>
          <a:xfrm>
            <a:off x="18055136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Syntax-bonding Probability Pruning</a:t>
            </a:r>
          </a:p>
        </p:txBody>
      </p:sp>
      <p:cxnSp>
        <p:nvCxnSpPr>
          <p:cNvPr id="754" name="Straight Arrow Connector 753"/>
          <p:cNvCxnSpPr/>
          <p:nvPr/>
        </p:nvCxnSpPr>
        <p:spPr>
          <a:xfrm>
            <a:off x="16295965" y="3971263"/>
            <a:ext cx="450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20127461" y="1264077"/>
            <a:ext cx="322265" cy="1647361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58" name="Rounded Rectangle 757"/>
          <p:cNvSpPr/>
          <p:nvPr/>
        </p:nvSpPr>
        <p:spPr>
          <a:xfrm>
            <a:off x="12612375" y="4719918"/>
            <a:ext cx="2955029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Variable</a:t>
            </a:r>
            <a:r>
              <a:rPr lang="zh-CN" alt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 </a:t>
            </a:r>
            <a:r>
              <a:rPr lang="en-US" altLang="zh-CN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Resumption</a:t>
            </a:r>
            <a:endParaRPr lang="en-US" sz="2000" i="1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759" name="TextBox 758"/>
          <p:cNvSpPr txBox="1"/>
          <p:nvPr/>
        </p:nvSpPr>
        <p:spPr>
          <a:xfrm>
            <a:off x="14903651" y="6663496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rebuchet MS" panose="020B0603020202020204" pitchFamily="34" charset="0"/>
              </a:rPr>
              <a:t>Code Tokens</a:t>
            </a:r>
          </a:p>
        </p:txBody>
      </p:sp>
      <p:sp>
        <p:nvSpPr>
          <p:cNvPr id="760" name="Rounded Rectangle 759"/>
          <p:cNvSpPr/>
          <p:nvPr/>
        </p:nvSpPr>
        <p:spPr>
          <a:xfrm>
            <a:off x="12015660" y="6641692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61" name="TextBox 760"/>
          <p:cNvSpPr txBox="1"/>
          <p:nvPr/>
        </p:nvSpPr>
        <p:spPr>
          <a:xfrm>
            <a:off x="17306728" y="6493142"/>
            <a:ext cx="2213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Token</a:t>
            </a:r>
            <a:r>
              <a:rPr lang="zh-CN" altLang="en-US" sz="1600" dirty="0">
                <a:latin typeface="Trebuchet MS" panose="020B0603020202020204" pitchFamily="34" charset="0"/>
              </a:rPr>
              <a:t> </a:t>
            </a:r>
            <a:r>
              <a:rPr lang="en-US" altLang="zh-CN" sz="1600" dirty="0">
                <a:latin typeface="Trebuchet MS" panose="020B0603020202020204" pitchFamily="34" charset="0"/>
              </a:rPr>
              <a:t>Probabilities</a:t>
            </a:r>
            <a:endParaRPr lang="en-US" sz="1600" dirty="0">
              <a:latin typeface="Trebuchet MS" panose="020B0603020202020204" pitchFamily="34" charset="0"/>
            </a:endParaRPr>
          </a:p>
        </p:txBody>
      </p:sp>
      <p:sp>
        <p:nvSpPr>
          <p:cNvPr id="762" name="TextBox 761"/>
          <p:cNvSpPr txBox="1"/>
          <p:nvPr/>
        </p:nvSpPr>
        <p:spPr>
          <a:xfrm>
            <a:off x="24548548" y="4442765"/>
            <a:ext cx="355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Ranked</a:t>
            </a:r>
            <a:r>
              <a:rPr lang="zh-CN" altLang="en-US" dirty="0">
                <a:latin typeface="Trebuchet MS" panose="020B0603020202020204" pitchFamily="34" charset="0"/>
              </a:rPr>
              <a:t> </a:t>
            </a:r>
            <a:r>
              <a:rPr lang="en-US" altLang="zh-CN" dirty="0">
                <a:latin typeface="Trebuchet MS" panose="020B0603020202020204" pitchFamily="34" charset="0"/>
              </a:rPr>
              <a:t>Token Probabilities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765" name="TextBox 764"/>
          <p:cNvSpPr txBox="1"/>
          <p:nvPr/>
        </p:nvSpPr>
        <p:spPr>
          <a:xfrm>
            <a:off x="21663280" y="8761082"/>
            <a:ext cx="7803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</a:t>
            </a:r>
          </a:p>
        </p:txBody>
      </p:sp>
      <p:cxnSp>
        <p:nvCxnSpPr>
          <p:cNvPr id="384" name="Straight Arrow Connector 383"/>
          <p:cNvCxnSpPr>
            <a:stCxn id="550" idx="2"/>
            <a:endCxn id="765" idx="0"/>
          </p:cNvCxnSpPr>
          <p:nvPr/>
        </p:nvCxnSpPr>
        <p:spPr>
          <a:xfrm flipH="1">
            <a:off x="21702295" y="8433398"/>
            <a:ext cx="1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TextBox 388"/>
          <p:cNvSpPr txBox="1"/>
          <p:nvPr/>
        </p:nvSpPr>
        <p:spPr>
          <a:xfrm rot="16200000">
            <a:off x="24107235" y="4904644"/>
            <a:ext cx="643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Prob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24178825" y="3557879"/>
            <a:ext cx="4970244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391" name="TextBox 390"/>
          <p:cNvSpPr txBox="1"/>
          <p:nvPr/>
        </p:nvSpPr>
        <p:spPr>
          <a:xfrm>
            <a:off x="25911283" y="7491067"/>
            <a:ext cx="2986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Truncating and Averaging Probabilities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433033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Syntax-bonding Probability Pruning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60546" y="6169345"/>
            <a:ext cx="1557850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1855392" y="8761082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28" name="Straight Arrow Connector 27"/>
          <p:cNvCxnSpPr>
            <a:stCxn id="552" idx="2"/>
            <a:endCxn id="25" idx="0"/>
          </p:cNvCxnSpPr>
          <p:nvPr/>
        </p:nvCxnSpPr>
        <p:spPr>
          <a:xfrm>
            <a:off x="22217412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3312990" y="9033712"/>
            <a:ext cx="5225237" cy="705798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938" y="5978703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37387" y="8710549"/>
            <a:ext cx="1808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Programming 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9237" y="6730257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2672531" y="7813144"/>
            <a:ext cx="18195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7144" y="7837831"/>
            <a:ext cx="15388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9116" y="7654116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884" y="554024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22341" y="7343469"/>
            <a:ext cx="185480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Developer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Coding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15864422" y="10507209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193057" y="10554016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193318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892171" y="686197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9102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289877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88730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68758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67409" y="6051642"/>
            <a:ext cx="884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38091" y="6867811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31573" y="11193726"/>
            <a:ext cx="16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Pruned Probabilities: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169433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4986360" y="1131566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16376294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17109390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17963148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556" y="6080796"/>
            <a:ext cx="950900" cy="950900"/>
          </a:xfrm>
          <a:prstGeom prst="rect">
            <a:avLst/>
          </a:prstGeom>
        </p:spPr>
      </p:pic>
      <p:cxnSp>
        <p:nvCxnSpPr>
          <p:cNvPr id="49" name="Straight Arrow Connector 48"/>
          <p:cNvCxnSpPr/>
          <p:nvPr/>
        </p:nvCxnSpPr>
        <p:spPr>
          <a:xfrm>
            <a:off x="10650317" y="7837831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>
            <a:off x="19779920" y="11485090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9893885" y="10945958"/>
            <a:ext cx="214783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Probabilities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5683334" y="765469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</a:p>
        </p:txBody>
      </p:sp>
      <p:sp>
        <p:nvSpPr>
          <p:cNvPr id="55" name="Triangle 54"/>
          <p:cNvSpPr/>
          <p:nvPr/>
        </p:nvSpPr>
        <p:spPr>
          <a:xfrm rot="5400000">
            <a:off x="15792628" y="8741275"/>
            <a:ext cx="475963" cy="347804"/>
          </a:xfrm>
          <a:prstGeom prst="triangle">
            <a:avLst>
              <a:gd name="adj" fmla="val 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650317" y="7134123"/>
            <a:ext cx="1412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token probabilities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58198" y="6819872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172923" y="7727217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12520367" y="7733052"/>
            <a:ext cx="1585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 iteration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172923" y="8415473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4871776" y="8415473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4172923" y="918409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4871776" y="918409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5598696" y="918409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Arrow Connector 79"/>
          <p:cNvCxnSpPr/>
          <p:nvPr/>
        </p:nvCxnSpPr>
        <p:spPr>
          <a:xfrm>
            <a:off x="6384691" y="7781510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086027" y="6974158"/>
            <a:ext cx="1970877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Copyright-Retained Tokenizer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71737" y="7377788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461810" y="7377788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82729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35077" y="7842020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90715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98859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62982" y="7842020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76103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62436" y="8248882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4172923" y="993924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14871776" y="993924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15598696" y="993924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16296561" y="994018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3485517" y="8027056"/>
            <a:ext cx="465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3510737" y="8540236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3560267" y="9153159"/>
            <a:ext cx="500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3585714" y="9973222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</a:p>
        </p:txBody>
      </p:sp>
      <p:cxnSp>
        <p:nvCxnSpPr>
          <p:cNvPr id="102" name="Elbow Connector 101"/>
          <p:cNvCxnSpPr>
            <a:stCxn id="3" idx="2"/>
            <a:endCxn id="100" idx="1"/>
          </p:cNvCxnSpPr>
          <p:nvPr/>
        </p:nvCxnSpPr>
        <p:spPr>
          <a:xfrm rot="16200000" flipH="1">
            <a:off x="7612460" y="3686081"/>
            <a:ext cx="29733" cy="1137132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15218273" y="1040254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248564" y="6012266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5538637" y="6012266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759556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929112" y="6013537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6167542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7492894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957017" y="6013537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770138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2490303" y="5832549"/>
            <a:ext cx="7134313" cy="6040324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22113615" y="907754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2130309" y="1161476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2130309" y="1091920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2120673" y="1032692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2113615" y="848526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2113615" y="9713962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2759106" y="8485261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9" name="Rectangle 128"/>
          <p:cNvSpPr/>
          <p:nvPr/>
        </p:nvSpPr>
        <p:spPr>
          <a:xfrm>
            <a:off x="22759106" y="9081337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0" name="Rectangle 129"/>
          <p:cNvSpPr/>
          <p:nvPr/>
        </p:nvSpPr>
        <p:spPr>
          <a:xfrm>
            <a:off x="22759107" y="9707314"/>
            <a:ext cx="30946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1" name="Rectangle 130"/>
          <p:cNvSpPr/>
          <p:nvPr/>
        </p:nvSpPr>
        <p:spPr>
          <a:xfrm>
            <a:off x="22759107" y="10361922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3" name="Rectangle 132"/>
          <p:cNvSpPr/>
          <p:nvPr/>
        </p:nvSpPr>
        <p:spPr>
          <a:xfrm>
            <a:off x="22759107" y="10921918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4" name="Rectangle 133"/>
          <p:cNvSpPr/>
          <p:nvPr/>
        </p:nvSpPr>
        <p:spPr>
          <a:xfrm>
            <a:off x="22759107" y="11589956"/>
            <a:ext cx="88368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15823" y="10326925"/>
            <a:ext cx="1144358" cy="1144358"/>
          </a:xfrm>
          <a:prstGeom prst="rect">
            <a:avLst/>
          </a:prstGeom>
        </p:spPr>
      </p:pic>
      <p:cxnSp>
        <p:nvCxnSpPr>
          <p:cNvPr id="136" name="Straight Arrow Connector 135"/>
          <p:cNvCxnSpPr/>
          <p:nvPr/>
        </p:nvCxnSpPr>
        <p:spPr>
          <a:xfrm>
            <a:off x="26378583" y="1137971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6658478" y="10722604"/>
            <a:ext cx="1356653" cy="646331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Thresholded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Sum</a:t>
            </a:r>
          </a:p>
        </p:txBody>
      </p:sp>
      <p:cxnSp>
        <p:nvCxnSpPr>
          <p:cNvPr id="139" name="Elbow Connector 138"/>
          <p:cNvCxnSpPr>
            <a:stCxn id="62" idx="0"/>
            <a:endCxn id="47" idx="0"/>
          </p:cNvCxnSpPr>
          <p:nvPr/>
        </p:nvCxnSpPr>
        <p:spPr>
          <a:xfrm rot="5400000" flipH="1" flipV="1">
            <a:off x="8013451" y="3484319"/>
            <a:ext cx="739076" cy="5932033"/>
          </a:xfrm>
          <a:prstGeom prst="bentConnector3">
            <a:avLst>
              <a:gd name="adj1" fmla="val 13093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7069509" y="5042591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Pretraining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26430" y="9702703"/>
            <a:ext cx="4357186" cy="236264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def add(self, row):</a:t>
            </a:r>
          </a:p>
          <a:p>
            <a:r>
              <a:rPr lang="en-US" dirty="0"/>
              <a:t>	n = </a:t>
            </a:r>
            <a:r>
              <a:rPr lang="en-US" dirty="0" err="1"/>
              <a:t>len</a:t>
            </a:r>
            <a:r>
              <a:rPr lang="en-US" dirty="0"/>
              <a:t>(row) - </a:t>
            </a:r>
            <a:r>
              <a:rPr lang="en-US" dirty="0" err="1"/>
              <a:t>len</a:t>
            </a:r>
            <a:r>
              <a:rPr lang="en-US" dirty="0"/>
              <a:t>(</a:t>
            </a:r>
            <a:r>
              <a:rPr lang="en-US" dirty="0" err="1"/>
              <a:t>self.max_col_size</a:t>
            </a:r>
            <a:r>
              <a:rPr lang="en-US" dirty="0"/>
              <a:t>)</a:t>
            </a:r>
          </a:p>
          <a:p>
            <a:r>
              <a:rPr lang="en-US" dirty="0"/>
              <a:t>	if n &gt; 0:</a:t>
            </a:r>
          </a:p>
          <a:p>
            <a:r>
              <a:rPr lang="en-US" dirty="0"/>
              <a:t>		</a:t>
            </a:r>
            <a:r>
              <a:rPr lang="en-US" dirty="0" err="1"/>
              <a:t>self.max_col_size</a:t>
            </a:r>
            <a:r>
              <a:rPr lang="en-US" dirty="0"/>
              <a:t> += [0] * n</a:t>
            </a:r>
          </a:p>
          <a:p>
            <a:r>
              <a:rPr lang="en-US" dirty="0"/>
              <a:t>	for </a:t>
            </a:r>
            <a:r>
              <a:rPr lang="en-US" dirty="0" err="1"/>
              <a:t>i</a:t>
            </a:r>
            <a:r>
              <a:rPr lang="en-US" dirty="0"/>
              <a:t>, f in enumerate(row):</a:t>
            </a:r>
          </a:p>
          <a:p>
            <a:r>
              <a:rPr lang="en-US" dirty="0"/>
              <a:t>		if </a:t>
            </a:r>
            <a:r>
              <a:rPr lang="en-US" dirty="0" err="1"/>
              <a:t>len</a:t>
            </a:r>
            <a:r>
              <a:rPr lang="en-US" dirty="0"/>
              <a:t>(f) &gt; 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]: 	</a:t>
            </a:r>
          </a:p>
          <a:p>
            <a:r>
              <a:rPr lang="en-US" dirty="0"/>
              <a:t>			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len</a:t>
            </a:r>
            <a:r>
              <a:rPr lang="en-US" dirty="0"/>
              <a:t>(f) 	</a:t>
            </a:r>
          </a:p>
          <a:p>
            <a:r>
              <a:rPr lang="en-US" dirty="0"/>
              <a:t>			</a:t>
            </a:r>
            <a:r>
              <a:rPr lang="en-US" dirty="0" err="1"/>
              <a:t>self.rows.append</a:t>
            </a:r>
            <a:r>
              <a:rPr lang="en-US" dirty="0"/>
              <a:t>(row)</a:t>
            </a:r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3312990" y="9033712"/>
            <a:ext cx="5225237" cy="705798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938" y="5978703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37387" y="8710549"/>
            <a:ext cx="1808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Programming 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9237" y="6730257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2672531" y="7813144"/>
            <a:ext cx="18195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7144" y="7837831"/>
            <a:ext cx="15388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9116" y="7654116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884" y="554024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22341" y="7343469"/>
            <a:ext cx="185480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Developer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Coding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15864422" y="10507209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193057" y="10554016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193318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892171" y="686197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9102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289877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88730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68758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67409" y="6051642"/>
            <a:ext cx="884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38091" y="6867811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31573" y="11193726"/>
            <a:ext cx="16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Pruned Probabilities: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169433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4986360" y="1131566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16376294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17109390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17963148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556" y="6080796"/>
            <a:ext cx="950900" cy="950900"/>
          </a:xfrm>
          <a:prstGeom prst="rect">
            <a:avLst/>
          </a:prstGeom>
        </p:spPr>
      </p:pic>
      <p:cxnSp>
        <p:nvCxnSpPr>
          <p:cNvPr id="49" name="Straight Arrow Connector 48"/>
          <p:cNvCxnSpPr/>
          <p:nvPr/>
        </p:nvCxnSpPr>
        <p:spPr>
          <a:xfrm>
            <a:off x="10650317" y="7837831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>
            <a:off x="19779920" y="11485090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9893885" y="10945958"/>
            <a:ext cx="214783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Probabilities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5683334" y="765469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</a:p>
        </p:txBody>
      </p:sp>
      <p:sp>
        <p:nvSpPr>
          <p:cNvPr id="55" name="Triangle 54"/>
          <p:cNvSpPr/>
          <p:nvPr/>
        </p:nvSpPr>
        <p:spPr>
          <a:xfrm rot="5400000">
            <a:off x="15792628" y="8741275"/>
            <a:ext cx="475963" cy="347804"/>
          </a:xfrm>
          <a:prstGeom prst="triangle">
            <a:avLst>
              <a:gd name="adj" fmla="val 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650317" y="7134123"/>
            <a:ext cx="1412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token probabilities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58198" y="6819872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172923" y="7727217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12520367" y="7733052"/>
            <a:ext cx="1585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 iteration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172923" y="8415473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4871776" y="8415473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4172923" y="918409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4871776" y="918409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5598696" y="918409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Arrow Connector 79"/>
          <p:cNvCxnSpPr/>
          <p:nvPr/>
        </p:nvCxnSpPr>
        <p:spPr>
          <a:xfrm>
            <a:off x="6384691" y="7781510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086027" y="6974158"/>
            <a:ext cx="1970877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Copyright-Retained Tokenizer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71737" y="7377788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461810" y="7377788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82729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35077" y="7842020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90715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98859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62982" y="7842020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76103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62436" y="8248882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4172923" y="993924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14871776" y="993924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15598696" y="993924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16296561" y="994018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3485517" y="8027056"/>
            <a:ext cx="465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3510737" y="8540236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3560267" y="9153159"/>
            <a:ext cx="500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3585714" y="9973222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</a:p>
        </p:txBody>
      </p:sp>
      <p:cxnSp>
        <p:nvCxnSpPr>
          <p:cNvPr id="102" name="Elbow Connector 101"/>
          <p:cNvCxnSpPr>
            <a:stCxn id="3" idx="2"/>
            <a:endCxn id="100" idx="1"/>
          </p:cNvCxnSpPr>
          <p:nvPr/>
        </p:nvCxnSpPr>
        <p:spPr>
          <a:xfrm rot="16200000" flipH="1">
            <a:off x="7612460" y="3686081"/>
            <a:ext cx="29733" cy="1137132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15218273" y="1040254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248564" y="6012266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5538637" y="6012266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759556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929112" y="6013537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6167542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7492894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957017" y="6013537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770138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2490303" y="5832549"/>
            <a:ext cx="7134313" cy="6040324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22113615" y="907754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2130309" y="1161476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2130309" y="1091920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2120673" y="1032692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2113615" y="848526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2113615" y="9713962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2759106" y="8485261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9" name="Rectangle 128"/>
          <p:cNvSpPr/>
          <p:nvPr/>
        </p:nvSpPr>
        <p:spPr>
          <a:xfrm>
            <a:off x="22759106" y="9081337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0" name="Rectangle 129"/>
          <p:cNvSpPr/>
          <p:nvPr/>
        </p:nvSpPr>
        <p:spPr>
          <a:xfrm>
            <a:off x="22759107" y="9707314"/>
            <a:ext cx="30946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1" name="Rectangle 130"/>
          <p:cNvSpPr/>
          <p:nvPr/>
        </p:nvSpPr>
        <p:spPr>
          <a:xfrm>
            <a:off x="22759107" y="10361922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3" name="Rectangle 132"/>
          <p:cNvSpPr/>
          <p:nvPr/>
        </p:nvSpPr>
        <p:spPr>
          <a:xfrm>
            <a:off x="22759107" y="10921918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4" name="Rectangle 133"/>
          <p:cNvSpPr/>
          <p:nvPr/>
        </p:nvSpPr>
        <p:spPr>
          <a:xfrm>
            <a:off x="22759107" y="11589956"/>
            <a:ext cx="88368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15823" y="10326925"/>
            <a:ext cx="1144358" cy="1144358"/>
          </a:xfrm>
          <a:prstGeom prst="rect">
            <a:avLst/>
          </a:prstGeom>
        </p:spPr>
      </p:pic>
      <p:cxnSp>
        <p:nvCxnSpPr>
          <p:cNvPr id="136" name="Straight Arrow Connector 135"/>
          <p:cNvCxnSpPr/>
          <p:nvPr/>
        </p:nvCxnSpPr>
        <p:spPr>
          <a:xfrm>
            <a:off x="26378583" y="1137971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6658478" y="10722604"/>
            <a:ext cx="1356653" cy="646331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Thresholded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Sum</a:t>
            </a:r>
          </a:p>
        </p:txBody>
      </p:sp>
      <p:cxnSp>
        <p:nvCxnSpPr>
          <p:cNvPr id="139" name="Elbow Connector 138"/>
          <p:cNvCxnSpPr>
            <a:stCxn id="62" idx="0"/>
            <a:endCxn id="47" idx="0"/>
          </p:cNvCxnSpPr>
          <p:nvPr/>
        </p:nvCxnSpPr>
        <p:spPr>
          <a:xfrm rot="5400000" flipH="1" flipV="1">
            <a:off x="8013451" y="3484319"/>
            <a:ext cx="739076" cy="5932033"/>
          </a:xfrm>
          <a:prstGeom prst="bentConnector3">
            <a:avLst>
              <a:gd name="adj1" fmla="val 13093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7069509" y="5042591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Pretraining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26430" y="9702703"/>
            <a:ext cx="4357186" cy="236264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def add(self, row):</a:t>
            </a:r>
          </a:p>
          <a:p>
            <a:r>
              <a:rPr lang="en-US" dirty="0"/>
              <a:t>	…</a:t>
            </a:r>
          </a:p>
          <a:p>
            <a:r>
              <a:rPr lang="en-US" dirty="0"/>
              <a:t>	for </a:t>
            </a:r>
            <a:r>
              <a:rPr lang="en-US" dirty="0" err="1"/>
              <a:t>i</a:t>
            </a:r>
            <a:r>
              <a:rPr lang="en-US" dirty="0"/>
              <a:t>, f in enumerate(row):</a:t>
            </a:r>
          </a:p>
          <a:p>
            <a:r>
              <a:rPr lang="en-US" dirty="0"/>
              <a:t>		if </a:t>
            </a:r>
            <a:r>
              <a:rPr lang="en-US" dirty="0" err="1"/>
              <a:t>len</a:t>
            </a:r>
            <a:r>
              <a:rPr lang="en-US" dirty="0"/>
              <a:t>(f) &gt; 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]: 	</a:t>
            </a:r>
          </a:p>
          <a:p>
            <a:r>
              <a:rPr lang="en-US" dirty="0"/>
              <a:t>			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len</a:t>
            </a:r>
            <a:r>
              <a:rPr lang="en-US" dirty="0"/>
              <a:t>(f) 	</a:t>
            </a:r>
          </a:p>
          <a:p>
            <a:r>
              <a:rPr lang="en-US" dirty="0"/>
              <a:t>			</a:t>
            </a:r>
            <a:r>
              <a:rPr lang="en-US" dirty="0" err="1"/>
              <a:t>self.rows.append</a:t>
            </a:r>
            <a:r>
              <a:rPr lang="en-US" dirty="0"/>
              <a:t>(row)</a:t>
            </a: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81899" y="7383650"/>
            <a:ext cx="305656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62846" y="7383650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22561" y="7383650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06496" y="7383650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9920" y="7383650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0205" y="7383650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897278" y="7383650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10288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193039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406863" y="7655663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1756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765580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048332" y="7655663"/>
            <a:ext cx="71923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807176" y="7655663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2070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234821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8946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423292" y="7932518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765497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900914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036331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171747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376093" y="7932518"/>
            <a:ext cx="38099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787228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22645" y="7932518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5920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1337" y="7932518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4612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19467" y="8212592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=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9082233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17650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353066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48646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57407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71477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924135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70005" y="8212592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53733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99603" y="8212592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83331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29200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8185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2772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57359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40028" y="7932518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34266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9286924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32794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9578665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82674" y="7655663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582674" y="7932518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900810" y="7932518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585710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914299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42888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7718903" y="7413683"/>
            <a:ext cx="5968935" cy="436290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338" y="5708136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16853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251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70253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83211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7739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</a:p>
          <a:p>
            <a:pPr marL="342900" indent="-342900">
              <a:buAutoNum type="arabicPeriod"/>
            </a:pPr>
            <a:r>
              <a:rPr lang="en-US" dirty="0"/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770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85424" y="3949260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Programming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362068" y="613393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08583" y="5453132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666" y="7584190"/>
            <a:ext cx="1130986" cy="1130986"/>
          </a:xfrm>
          <a:prstGeom prst="rect">
            <a:avLst/>
          </a:prstGeom>
        </p:spPr>
      </p:pic>
      <p:cxnSp>
        <p:nvCxnSpPr>
          <p:cNvPr id="51" name="Straight Arrow Connector 50"/>
          <p:cNvCxnSpPr/>
          <p:nvPr/>
        </p:nvCxnSpPr>
        <p:spPr>
          <a:xfrm>
            <a:off x="24383245" y="655539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4725810" y="6016266"/>
            <a:ext cx="93006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1263125" y="579700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</a:p>
        </p:txBody>
      </p:sp>
      <p:sp>
        <p:nvSpPr>
          <p:cNvPr id="55" name="Triangle 54"/>
          <p:cNvSpPr/>
          <p:nvPr/>
        </p:nvSpPr>
        <p:spPr>
          <a:xfrm rot="10800000">
            <a:off x="21233887" y="6815372"/>
            <a:ext cx="2094696" cy="683382"/>
          </a:xfrm>
          <a:custGeom>
            <a:avLst/>
            <a:gdLst>
              <a:gd name="connsiteX0" fmla="*/ 0 w 3404751"/>
              <a:gd name="connsiteY0" fmla="*/ 3632919 h 3632919"/>
              <a:gd name="connsiteX1" fmla="*/ 3404751 w 3404751"/>
              <a:gd name="connsiteY1" fmla="*/ 0 h 3632919"/>
              <a:gd name="connsiteX2" fmla="*/ 3404751 w 3404751"/>
              <a:gd name="connsiteY2" fmla="*/ 3632919 h 3632919"/>
              <a:gd name="connsiteX3" fmla="*/ 0 w 3404751"/>
              <a:gd name="connsiteY3" fmla="*/ 3632919 h 3632919"/>
              <a:gd name="connsiteX0-1" fmla="*/ 0 w 3404751"/>
              <a:gd name="connsiteY0-2" fmla="*/ 3632919 h 3632919"/>
              <a:gd name="connsiteX1-3" fmla="*/ 3404751 w 3404751"/>
              <a:gd name="connsiteY1-4" fmla="*/ 0 h 3632919"/>
              <a:gd name="connsiteX2-5" fmla="*/ 1982351 w 3404751"/>
              <a:gd name="connsiteY2-6" fmla="*/ 3632919 h 3632919"/>
              <a:gd name="connsiteX3-7" fmla="*/ 0 w 3404751"/>
              <a:gd name="connsiteY3-8" fmla="*/ 3632919 h 363291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3404751" h="3632919">
                <a:moveTo>
                  <a:pt x="0" y="3632919"/>
                </a:moveTo>
                <a:lnTo>
                  <a:pt x="3404751" y="0"/>
                </a:lnTo>
                <a:lnTo>
                  <a:pt x="1982351" y="3632919"/>
                </a:lnTo>
                <a:lnTo>
                  <a:pt x="0" y="3632919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7852304" y="6022203"/>
            <a:ext cx="1318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103" name="TextBox 102"/>
          <p:cNvSpPr txBox="1"/>
          <p:nvPr/>
        </p:nvSpPr>
        <p:spPr>
          <a:xfrm>
            <a:off x="20696897" y="8827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7728868" y="5334511"/>
            <a:ext cx="6402505" cy="3818241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7073994" y="7773031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7389366" y="8054304"/>
            <a:ext cx="366722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Truncating and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Averaging (Summing?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18136" y="3811155"/>
            <a:ext cx="3996000" cy="115488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</a:p>
          <a:p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			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=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4618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5756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72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44626" y="8013814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60038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</a:p>
        </p:txBody>
      </p:sp>
      <p:cxnSp>
        <p:nvCxnSpPr>
          <p:cNvPr id="473" name="Straight Arrow Connector 472"/>
          <p:cNvCxnSpPr/>
          <p:nvPr/>
        </p:nvCxnSpPr>
        <p:spPr>
          <a:xfrm>
            <a:off x="14768139" y="5535668"/>
            <a:ext cx="0" cy="1655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1790608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4" name="TextBox 483"/>
          <p:cNvSpPr txBox="1"/>
          <p:nvPr/>
        </p:nvSpPr>
        <p:spPr>
          <a:xfrm>
            <a:off x="15190341" y="6754864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Variable Token Resumption</a:t>
            </a:r>
          </a:p>
        </p:txBody>
      </p:sp>
      <p:pic>
        <p:nvPicPr>
          <p:cNvPr id="486" name="Picture 48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49924" y="13036598"/>
            <a:ext cx="1071702" cy="1071702"/>
          </a:xfrm>
          <a:prstGeom prst="rect">
            <a:avLst/>
          </a:prstGeom>
        </p:spPr>
      </p:pic>
      <p:sp>
        <p:nvSpPr>
          <p:cNvPr id="546" name="TextBox 545"/>
          <p:cNvSpPr txBox="1"/>
          <p:nvPr/>
        </p:nvSpPr>
        <p:spPr>
          <a:xfrm>
            <a:off x="13998901" y="5016268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14087723" y="8724771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5955296" y="12239087"/>
            <a:ext cx="403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48" idx="1"/>
          </p:cNvCxnSpPr>
          <p:nvPr/>
        </p:nvCxnSpPr>
        <p:spPr>
          <a:xfrm flipV="1">
            <a:off x="11262652" y="4387361"/>
            <a:ext cx="1600688" cy="3762322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1293562" y="5868338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Tokenizing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18226883" y="487971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8707830" y="4879711"/>
            <a:ext cx="312068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8567545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9751480" y="4879711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19054904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19195189" y="487971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9542262" y="4879711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20340497" y="487971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20623248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4" name="TextBox 613"/>
          <p:cNvSpPr txBox="1"/>
          <p:nvPr/>
        </p:nvSpPr>
        <p:spPr>
          <a:xfrm>
            <a:off x="20837072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615" name="TextBox 614"/>
          <p:cNvSpPr txBox="1"/>
          <p:nvPr/>
        </p:nvSpPr>
        <p:spPr>
          <a:xfrm>
            <a:off x="20981965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6" name="TextBox 615"/>
          <p:cNvSpPr txBox="1"/>
          <p:nvPr/>
        </p:nvSpPr>
        <p:spPr>
          <a:xfrm>
            <a:off x="21195789" y="4879711"/>
            <a:ext cx="24313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1478541" y="487971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2237385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619" name="TextBox 618"/>
          <p:cNvSpPr txBox="1"/>
          <p:nvPr/>
        </p:nvSpPr>
        <p:spPr>
          <a:xfrm>
            <a:off x="22382279" y="487971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0" name="TextBox 619"/>
          <p:cNvSpPr txBox="1"/>
          <p:nvPr/>
        </p:nvSpPr>
        <p:spPr>
          <a:xfrm>
            <a:off x="22665030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23718563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2" name="TextBox 621"/>
          <p:cNvSpPr txBox="1"/>
          <p:nvPr/>
        </p:nvSpPr>
        <p:spPr>
          <a:xfrm>
            <a:off x="23923498" y="487971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3" name="TextBox 622"/>
          <p:cNvSpPr txBox="1"/>
          <p:nvPr/>
        </p:nvSpPr>
        <p:spPr>
          <a:xfrm>
            <a:off x="24266291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4" name="TextBox 623"/>
          <p:cNvSpPr txBox="1"/>
          <p:nvPr/>
        </p:nvSpPr>
        <p:spPr>
          <a:xfrm>
            <a:off x="24402297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5" name="TextBox 624"/>
          <p:cNvSpPr txBox="1"/>
          <p:nvPr/>
        </p:nvSpPr>
        <p:spPr>
          <a:xfrm>
            <a:off x="24538303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6" name="TextBox 625"/>
          <p:cNvSpPr txBox="1"/>
          <p:nvPr/>
        </p:nvSpPr>
        <p:spPr>
          <a:xfrm>
            <a:off x="24674309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7" name="TextBox 626"/>
          <p:cNvSpPr txBox="1"/>
          <p:nvPr/>
        </p:nvSpPr>
        <p:spPr>
          <a:xfrm>
            <a:off x="24879244" y="487971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5290967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25426973" y="4879711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6321200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6457206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6593212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634" name="TextBox 633"/>
          <p:cNvSpPr txBox="1"/>
          <p:nvPr/>
        </p:nvSpPr>
        <p:spPr>
          <a:xfrm>
            <a:off x="22878855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26798152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45" name="TextBox 644"/>
          <p:cNvSpPr txBox="1"/>
          <p:nvPr/>
        </p:nvSpPr>
        <p:spPr>
          <a:xfrm>
            <a:off x="20012883" y="4879711"/>
            <a:ext cx="288000" cy="230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46" name="TextBox 645"/>
          <p:cNvSpPr txBox="1"/>
          <p:nvPr/>
        </p:nvSpPr>
        <p:spPr>
          <a:xfrm>
            <a:off x="23081113" y="487971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47" name="TextBox 646"/>
          <p:cNvSpPr txBox="1"/>
          <p:nvPr/>
        </p:nvSpPr>
        <p:spPr>
          <a:xfrm>
            <a:off x="23399838" y="487971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7938396" y="4225969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653" name="TextBox 652"/>
          <p:cNvSpPr txBox="1"/>
          <p:nvPr/>
        </p:nvSpPr>
        <p:spPr>
          <a:xfrm>
            <a:off x="15009475" y="5868338"/>
            <a:ext cx="2159597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Variable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Resumption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54" name="Rectangle 653"/>
          <p:cNvSpPr/>
          <p:nvPr/>
        </p:nvSpPr>
        <p:spPr>
          <a:xfrm>
            <a:off x="19362068" y="660531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55" name="Rectangle 654"/>
          <p:cNvSpPr/>
          <p:nvPr/>
        </p:nvSpPr>
        <p:spPr>
          <a:xfrm>
            <a:off x="20068718" y="660531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60" name="Rectangle 659"/>
          <p:cNvSpPr/>
          <p:nvPr/>
        </p:nvSpPr>
        <p:spPr>
          <a:xfrm>
            <a:off x="19362068" y="705542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61" name="Rectangle 660"/>
          <p:cNvSpPr/>
          <p:nvPr/>
        </p:nvSpPr>
        <p:spPr>
          <a:xfrm>
            <a:off x="20068718" y="705542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62" name="Rectangle 661"/>
          <p:cNvSpPr/>
          <p:nvPr/>
        </p:nvSpPr>
        <p:spPr>
          <a:xfrm>
            <a:off x="20775368" y="705542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66" name="Rectangle 665"/>
          <p:cNvSpPr/>
          <p:nvPr/>
        </p:nvSpPr>
        <p:spPr>
          <a:xfrm>
            <a:off x="19362068" y="752679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67" name="Rectangle 666"/>
          <p:cNvSpPr/>
          <p:nvPr/>
        </p:nvSpPr>
        <p:spPr>
          <a:xfrm>
            <a:off x="20068718" y="7526799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68" name="Rectangle 667"/>
          <p:cNvSpPr/>
          <p:nvPr/>
        </p:nvSpPr>
        <p:spPr>
          <a:xfrm>
            <a:off x="20775368" y="7526799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69" name="Rectangle 668"/>
          <p:cNvSpPr/>
          <p:nvPr/>
        </p:nvSpPr>
        <p:spPr>
          <a:xfrm>
            <a:off x="21482018" y="752679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72" name="Rectangle 671"/>
          <p:cNvSpPr/>
          <p:nvPr/>
        </p:nvSpPr>
        <p:spPr>
          <a:xfrm>
            <a:off x="193620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73" name="Rectangle 672"/>
          <p:cNvSpPr/>
          <p:nvPr/>
        </p:nvSpPr>
        <p:spPr>
          <a:xfrm>
            <a:off x="20068718" y="7976909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74" name="Rectangle 673"/>
          <p:cNvSpPr/>
          <p:nvPr/>
        </p:nvSpPr>
        <p:spPr>
          <a:xfrm>
            <a:off x="207753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75" name="Rectangle 674"/>
          <p:cNvSpPr/>
          <p:nvPr/>
        </p:nvSpPr>
        <p:spPr>
          <a:xfrm>
            <a:off x="2148201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76" name="Rectangle 675"/>
          <p:cNvSpPr/>
          <p:nvPr/>
        </p:nvSpPr>
        <p:spPr>
          <a:xfrm>
            <a:off x="221886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78" name="Rectangle 677"/>
          <p:cNvSpPr/>
          <p:nvPr/>
        </p:nvSpPr>
        <p:spPr>
          <a:xfrm>
            <a:off x="1936206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79" name="Rectangle 678"/>
          <p:cNvSpPr/>
          <p:nvPr/>
        </p:nvSpPr>
        <p:spPr>
          <a:xfrm>
            <a:off x="20068718" y="844828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80" name="Rectangle 679"/>
          <p:cNvSpPr/>
          <p:nvPr/>
        </p:nvSpPr>
        <p:spPr>
          <a:xfrm>
            <a:off x="20775368" y="8448284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81" name="Rectangle 680"/>
          <p:cNvSpPr/>
          <p:nvPr/>
        </p:nvSpPr>
        <p:spPr>
          <a:xfrm>
            <a:off x="2148201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82" name="Rectangle 681"/>
          <p:cNvSpPr/>
          <p:nvPr/>
        </p:nvSpPr>
        <p:spPr>
          <a:xfrm>
            <a:off x="2218866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83" name="Rectangle 682"/>
          <p:cNvSpPr/>
          <p:nvPr/>
        </p:nvSpPr>
        <p:spPr>
          <a:xfrm>
            <a:off x="22895319" y="8448284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684" name="TextBox 683"/>
          <p:cNvSpPr txBox="1"/>
          <p:nvPr/>
        </p:nvSpPr>
        <p:spPr>
          <a:xfrm>
            <a:off x="17852304" y="6524632"/>
            <a:ext cx="13983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5" name="TextBox 684"/>
          <p:cNvSpPr txBox="1"/>
          <p:nvPr/>
        </p:nvSpPr>
        <p:spPr>
          <a:xfrm>
            <a:off x="17852304" y="7013411"/>
            <a:ext cx="1353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6" name="TextBox 685"/>
          <p:cNvSpPr txBox="1"/>
          <p:nvPr/>
        </p:nvSpPr>
        <p:spPr>
          <a:xfrm>
            <a:off x="17852304" y="7459133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7" name="TextBox 686"/>
          <p:cNvSpPr txBox="1"/>
          <p:nvPr/>
        </p:nvSpPr>
        <p:spPr>
          <a:xfrm>
            <a:off x="17852304" y="7934857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8" name="TextBox 687"/>
          <p:cNvSpPr txBox="1"/>
          <p:nvPr/>
        </p:nvSpPr>
        <p:spPr>
          <a:xfrm>
            <a:off x="17852304" y="8423636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90" name="TextBox 689"/>
          <p:cNvSpPr txBox="1"/>
          <p:nvPr/>
        </p:nvSpPr>
        <p:spPr>
          <a:xfrm>
            <a:off x="17779704" y="9949328"/>
            <a:ext cx="2144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Pruned Probabilities:</a:t>
            </a:r>
          </a:p>
        </p:txBody>
      </p:sp>
      <p:sp>
        <p:nvSpPr>
          <p:cNvPr id="691" name="Rectangle 690"/>
          <p:cNvSpPr/>
          <p:nvPr/>
        </p:nvSpPr>
        <p:spPr>
          <a:xfrm>
            <a:off x="1938111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92" name="Rectangle 691"/>
          <p:cNvSpPr/>
          <p:nvPr/>
        </p:nvSpPr>
        <p:spPr>
          <a:xfrm>
            <a:off x="20087768" y="1039138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94" name="Rectangle 693"/>
          <p:cNvSpPr/>
          <p:nvPr/>
        </p:nvSpPr>
        <p:spPr>
          <a:xfrm>
            <a:off x="2150106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95" name="Rectangle 694"/>
          <p:cNvSpPr/>
          <p:nvPr/>
        </p:nvSpPr>
        <p:spPr>
          <a:xfrm>
            <a:off x="2220771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cxnSp>
        <p:nvCxnSpPr>
          <p:cNvPr id="698" name="Straight Arrow Connector 697"/>
          <p:cNvCxnSpPr/>
          <p:nvPr/>
        </p:nvCxnSpPr>
        <p:spPr>
          <a:xfrm>
            <a:off x="20589062" y="9270138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9" name="TextBox 698"/>
          <p:cNvSpPr txBox="1"/>
          <p:nvPr/>
        </p:nvSpPr>
        <p:spPr>
          <a:xfrm>
            <a:off x="20917697" y="9316945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</a:p>
        </p:txBody>
      </p:sp>
      <p:cxnSp>
        <p:nvCxnSpPr>
          <p:cNvPr id="700" name="Elbow Connector 699"/>
          <p:cNvCxnSpPr>
            <a:stCxn id="60" idx="3"/>
            <a:endCxn id="652" idx="1"/>
          </p:cNvCxnSpPr>
          <p:nvPr/>
        </p:nvCxnSpPr>
        <p:spPr>
          <a:xfrm flipV="1">
            <a:off x="17175898" y="4410635"/>
            <a:ext cx="762498" cy="3638454"/>
          </a:xfrm>
          <a:prstGeom prst="bentConnector3">
            <a:avLst>
              <a:gd name="adj1" fmla="val 31065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5" name="Rectangle 704"/>
          <p:cNvSpPr/>
          <p:nvPr/>
        </p:nvSpPr>
        <p:spPr>
          <a:xfrm>
            <a:off x="26367606" y="6033787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706" name="Rectangle 705"/>
          <p:cNvSpPr/>
          <p:nvPr/>
        </p:nvSpPr>
        <p:spPr>
          <a:xfrm>
            <a:off x="26367606" y="640390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0.48</a:t>
            </a:r>
          </a:p>
        </p:txBody>
      </p:sp>
      <p:sp>
        <p:nvSpPr>
          <p:cNvPr id="707" name="Rectangle 706"/>
          <p:cNvSpPr/>
          <p:nvPr/>
        </p:nvSpPr>
        <p:spPr>
          <a:xfrm>
            <a:off x="26367606" y="6774022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0.38</a:t>
            </a:r>
          </a:p>
        </p:txBody>
      </p:sp>
      <p:sp>
        <p:nvSpPr>
          <p:cNvPr id="710" name="Rectangle 709"/>
          <p:cNvSpPr/>
          <p:nvPr/>
        </p:nvSpPr>
        <p:spPr>
          <a:xfrm>
            <a:off x="26367606" y="5663670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711" name="Rectangle 710"/>
          <p:cNvSpPr/>
          <p:nvPr/>
        </p:nvSpPr>
        <p:spPr>
          <a:xfrm>
            <a:off x="27052268" y="5663670"/>
            <a:ext cx="349951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2" name="Rectangle 711"/>
          <p:cNvSpPr/>
          <p:nvPr/>
        </p:nvSpPr>
        <p:spPr>
          <a:xfrm>
            <a:off x="27052268" y="6033787"/>
            <a:ext cx="349951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3" name="Rectangle 712"/>
          <p:cNvSpPr/>
          <p:nvPr/>
        </p:nvSpPr>
        <p:spPr>
          <a:xfrm>
            <a:off x="27052268" y="6403904"/>
            <a:ext cx="163674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6" name="Rectangle 715"/>
          <p:cNvSpPr/>
          <p:nvPr/>
        </p:nvSpPr>
        <p:spPr>
          <a:xfrm>
            <a:off x="27052268" y="6774022"/>
            <a:ext cx="1292445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9" name="TextBox 718"/>
          <p:cNvSpPr txBox="1"/>
          <p:nvPr/>
        </p:nvSpPr>
        <p:spPr>
          <a:xfrm>
            <a:off x="26787120" y="9032088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radley Hand" pitchFamily="2" charset="77"/>
              </a:rPr>
              <a:t>P()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30474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8039628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08156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7302" y="8035489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19306" y="6186517"/>
            <a:ext cx="81644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Developer Accomplishing Tasks Using Prior Knowlledge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436" y="9467155"/>
            <a:ext cx="1040112" cy="10401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526960" y="9724934"/>
            <a:ext cx="56272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LLM Trained Using Open Source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922" y="3594290"/>
            <a:ext cx="11412000" cy="1980000"/>
          </a:xfrm>
          <a:prstGeom prst="roundRect">
            <a:avLst>
              <a:gd name="adj" fmla="val 271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100922" y="7270382"/>
            <a:ext cx="11412000" cy="1980000"/>
          </a:xfrm>
          <a:prstGeom prst="roundRect">
            <a:avLst>
              <a:gd name="adj" fmla="val 271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027008" y="8448584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008" y="8149683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27008" y="7846204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1869" y="80558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5368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805436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2958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23835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93761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27665" y="11491845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pic>
        <p:nvPicPr>
          <p:cNvPr id="44" name="Picture 4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9910" y="11996486"/>
            <a:ext cx="1040112" cy="1040112"/>
          </a:xfrm>
          <a:prstGeom prst="rect">
            <a:avLst/>
          </a:prstGeom>
        </p:spPr>
      </p:pic>
      <p:sp>
        <p:nvSpPr>
          <p:cNvPr id="406" name="TextBox 405"/>
          <p:cNvSpPr txBox="1"/>
          <p:nvPr/>
        </p:nvSpPr>
        <p:spPr>
          <a:xfrm>
            <a:off x="12980042" y="3855617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3460989" y="3855617"/>
            <a:ext cx="312068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3320704" y="3855617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4504639" y="3855617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3808063" y="3855617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3948348" y="3855617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4295421" y="3855617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3308431" y="41276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3591182" y="4127630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3805006" y="4127630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3949899" y="4127630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4163723" y="4127630"/>
            <a:ext cx="24313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4446475" y="4127630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5205319" y="4127630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5350213" y="41276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5632964" y="4127630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3617089" y="440448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3821435" y="440448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4163640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4299057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4434474" y="4404485"/>
            <a:ext cx="105281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4569890" y="440448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4774236" y="4404485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5185371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5320788" y="4404485"/>
            <a:ext cx="24313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5594063" y="4404485"/>
            <a:ext cx="105281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5729480" y="4404485"/>
            <a:ext cx="24313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6002755" y="4404485"/>
            <a:ext cx="105281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6480376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6615793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6751209" y="4404485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5846789" y="4127630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955550" y="4404485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6138171" y="4404485"/>
            <a:ext cx="312068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2980817" y="4127630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2980817" y="4404485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3298953" y="4404485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863340" y="3773444"/>
            <a:ext cx="4338047" cy="1227834"/>
          </a:xfrm>
          <a:prstGeom prst="roundRect">
            <a:avLst>
              <a:gd name="adj" fmla="val 2712"/>
            </a:avLst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>
            <a:stCxn id="4" idx="3"/>
            <a:endCxn id="48" idx="1"/>
          </p:cNvCxnSpPr>
          <p:nvPr/>
        </p:nvCxnSpPr>
        <p:spPr>
          <a:xfrm flipV="1">
            <a:off x="11214136" y="4387361"/>
            <a:ext cx="1649204" cy="123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Group 60"/>
          <p:cNvGrpSpPr/>
          <p:nvPr/>
        </p:nvGrpSpPr>
        <p:grpSpPr>
          <a:xfrm>
            <a:off x="12837851" y="7435172"/>
            <a:ext cx="4338047" cy="1227834"/>
            <a:chOff x="12661458" y="7114474"/>
            <a:chExt cx="4338047" cy="1227834"/>
          </a:xfrm>
        </p:grpSpPr>
        <p:sp>
          <p:nvSpPr>
            <p:cNvPr id="488" name="TextBox 487"/>
            <p:cNvSpPr txBox="1"/>
            <p:nvPr/>
          </p:nvSpPr>
          <p:spPr>
            <a:xfrm>
              <a:off x="12828913" y="7186215"/>
              <a:ext cx="305656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795E26"/>
                  </a:solidFill>
                  <a:latin typeface="Menlo" panose="020B0609030804020204" pitchFamily="49" charset="0"/>
                </a:rPr>
                <a:t>add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89" name="TextBox 488"/>
            <p:cNvSpPr txBox="1"/>
            <p:nvPr/>
          </p:nvSpPr>
          <p:spPr>
            <a:xfrm>
              <a:off x="13309860" y="7186215"/>
              <a:ext cx="312068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001080"/>
                  </a:solidFill>
                </a:rPr>
                <a:t>self</a:t>
              </a:r>
              <a:endParaRPr lang="en-US" sz="900" dirty="0">
                <a:solidFill>
                  <a:srgbClr val="3B3B3B"/>
                </a:solidFill>
              </a:endParaRPr>
            </a:p>
          </p:txBody>
        </p:sp>
        <p:sp>
          <p:nvSpPr>
            <p:cNvPr id="490" name="TextBox 489"/>
            <p:cNvSpPr txBox="1"/>
            <p:nvPr/>
          </p:nvSpPr>
          <p:spPr>
            <a:xfrm>
              <a:off x="13169575" y="7186215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3B3B3B"/>
                  </a:solidFill>
                </a:rPr>
                <a:t>(</a:t>
              </a:r>
            </a:p>
          </p:txBody>
        </p:sp>
        <p:sp>
          <p:nvSpPr>
            <p:cNvPr id="491" name="TextBox 490"/>
            <p:cNvSpPr txBox="1"/>
            <p:nvPr/>
          </p:nvSpPr>
          <p:spPr>
            <a:xfrm>
              <a:off x="14353510" y="7186215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492" name="TextBox 491"/>
            <p:cNvSpPr txBox="1"/>
            <p:nvPr/>
          </p:nvSpPr>
          <p:spPr>
            <a:xfrm>
              <a:off x="13656934" y="7186215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/>
                <a:t>,</a:t>
              </a:r>
            </a:p>
          </p:txBody>
        </p:sp>
        <p:sp>
          <p:nvSpPr>
            <p:cNvPr id="493" name="TextBox 492"/>
            <p:cNvSpPr txBox="1"/>
            <p:nvPr/>
          </p:nvSpPr>
          <p:spPr>
            <a:xfrm>
              <a:off x="13797219" y="7186215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row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4" name="TextBox 493"/>
            <p:cNvSpPr txBox="1"/>
            <p:nvPr/>
          </p:nvSpPr>
          <p:spPr>
            <a:xfrm>
              <a:off x="14144292" y="7186215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3B3B3B"/>
                  </a:solidFill>
                </a:rPr>
                <a:t>):</a:t>
              </a:r>
            </a:p>
          </p:txBody>
        </p:sp>
        <p:sp>
          <p:nvSpPr>
            <p:cNvPr id="495" name="TextBox 494"/>
            <p:cNvSpPr txBox="1"/>
            <p:nvPr/>
          </p:nvSpPr>
          <p:spPr>
            <a:xfrm>
              <a:off x="13157302" y="7458228"/>
              <a:ext cx="243139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for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6" name="TextBox 495"/>
            <p:cNvSpPr txBox="1"/>
            <p:nvPr/>
          </p:nvSpPr>
          <p:spPr>
            <a:xfrm>
              <a:off x="13440053" y="7458228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7" name="TextBox 496"/>
            <p:cNvSpPr txBox="1"/>
            <p:nvPr/>
          </p:nvSpPr>
          <p:spPr>
            <a:xfrm>
              <a:off x="13653877" y="7458228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,</a:t>
              </a:r>
            </a:p>
          </p:txBody>
        </p:sp>
        <p:sp>
          <p:nvSpPr>
            <p:cNvPr id="498" name="TextBox 497"/>
            <p:cNvSpPr txBox="1"/>
            <p:nvPr/>
          </p:nvSpPr>
          <p:spPr>
            <a:xfrm>
              <a:off x="13798770" y="7458228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9" name="TextBox 498"/>
            <p:cNvSpPr txBox="1"/>
            <p:nvPr/>
          </p:nvSpPr>
          <p:spPr>
            <a:xfrm>
              <a:off x="14012594" y="7458228"/>
              <a:ext cx="243139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in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0" name="TextBox 499"/>
            <p:cNvSpPr txBox="1"/>
            <p:nvPr/>
          </p:nvSpPr>
          <p:spPr>
            <a:xfrm>
              <a:off x="14295346" y="7458228"/>
              <a:ext cx="71923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267F99"/>
                  </a:solidFill>
                  <a:latin typeface="Menlo" panose="020B0609030804020204" pitchFamily="49" charset="0"/>
                </a:rPr>
                <a:t>enumerate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1" name="TextBox 500"/>
            <p:cNvSpPr txBox="1"/>
            <p:nvPr/>
          </p:nvSpPr>
          <p:spPr>
            <a:xfrm>
              <a:off x="15054190" y="7458228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(</a:t>
              </a:r>
            </a:p>
          </p:txBody>
        </p:sp>
        <p:sp>
          <p:nvSpPr>
            <p:cNvPr id="502" name="TextBox 501"/>
            <p:cNvSpPr txBox="1"/>
            <p:nvPr/>
          </p:nvSpPr>
          <p:spPr>
            <a:xfrm>
              <a:off x="15199084" y="7458228"/>
              <a:ext cx="243139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row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3" name="TextBox 502"/>
            <p:cNvSpPr txBox="1"/>
            <p:nvPr/>
          </p:nvSpPr>
          <p:spPr>
            <a:xfrm>
              <a:off x="15481835" y="7458228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):</a:t>
              </a:r>
            </a:p>
          </p:txBody>
        </p:sp>
        <p:sp>
          <p:nvSpPr>
            <p:cNvPr id="504" name="TextBox 503"/>
            <p:cNvSpPr txBox="1"/>
            <p:nvPr/>
          </p:nvSpPr>
          <p:spPr>
            <a:xfrm>
              <a:off x="13467138" y="7735083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if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5" name="TextBox 504"/>
            <p:cNvSpPr txBox="1"/>
            <p:nvPr/>
          </p:nvSpPr>
          <p:spPr>
            <a:xfrm>
              <a:off x="13672073" y="7735083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795E26"/>
                  </a:solidFill>
                  <a:latin typeface="Menlo" panose="020B0609030804020204" pitchFamily="49" charset="0"/>
                </a:rPr>
                <a:t>len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6" name="TextBox 505"/>
            <p:cNvSpPr txBox="1"/>
            <p:nvPr/>
          </p:nvSpPr>
          <p:spPr>
            <a:xfrm>
              <a:off x="14014866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(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7" name="TextBox 506"/>
            <p:cNvSpPr txBox="1"/>
            <p:nvPr/>
          </p:nvSpPr>
          <p:spPr>
            <a:xfrm>
              <a:off x="14150872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8" name="TextBox 507"/>
            <p:cNvSpPr txBox="1"/>
            <p:nvPr/>
          </p:nvSpPr>
          <p:spPr>
            <a:xfrm>
              <a:off x="14286878" y="7735083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)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9" name="TextBox 508"/>
            <p:cNvSpPr txBox="1"/>
            <p:nvPr/>
          </p:nvSpPr>
          <p:spPr>
            <a:xfrm>
              <a:off x="14422884" y="7735083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0000"/>
                  </a:solidFill>
                  <a:latin typeface="Menlo" panose="020B0609030804020204" pitchFamily="49" charset="0"/>
                </a:rPr>
                <a:t>&gt;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0" name="TextBox 509"/>
            <p:cNvSpPr txBox="1"/>
            <p:nvPr/>
          </p:nvSpPr>
          <p:spPr>
            <a:xfrm>
              <a:off x="14627819" y="7735083"/>
              <a:ext cx="38099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self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1" name="TextBox 510"/>
            <p:cNvSpPr txBox="1"/>
            <p:nvPr/>
          </p:nvSpPr>
          <p:spPr>
            <a:xfrm>
              <a:off x="15039542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.</a:t>
              </a:r>
            </a:p>
          </p:txBody>
        </p:sp>
        <p:sp>
          <p:nvSpPr>
            <p:cNvPr id="512" name="TextBox 511"/>
            <p:cNvSpPr txBox="1"/>
            <p:nvPr/>
          </p:nvSpPr>
          <p:spPr>
            <a:xfrm>
              <a:off x="15175548" y="7735083"/>
              <a:ext cx="863502" cy="2308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3B3B3B"/>
                  </a:solidFill>
                  <a:latin typeface="Menlo" panose="020B0609030804020204" pitchFamily="49" charset="0"/>
                </a:rPr>
                <a:t>max_col_size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6" name="TextBox 515"/>
            <p:cNvSpPr txBox="1"/>
            <p:nvPr/>
          </p:nvSpPr>
          <p:spPr>
            <a:xfrm>
              <a:off x="15641583" y="8011496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0000"/>
                  </a:solidFill>
                  <a:latin typeface="Menlo" panose="020B0609030804020204" pitchFamily="49" charset="0"/>
                </a:rPr>
                <a:t>=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7" name="TextBox 516"/>
            <p:cNvSpPr txBox="1"/>
            <p:nvPr/>
          </p:nvSpPr>
          <p:spPr>
            <a:xfrm>
              <a:off x="16069775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[</a:t>
              </a:r>
            </a:p>
          </p:txBody>
        </p:sp>
        <p:sp>
          <p:nvSpPr>
            <p:cNvPr id="518" name="TextBox 517"/>
            <p:cNvSpPr txBox="1"/>
            <p:nvPr/>
          </p:nvSpPr>
          <p:spPr>
            <a:xfrm>
              <a:off x="16205781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9" name="TextBox 518"/>
            <p:cNvSpPr txBox="1"/>
            <p:nvPr/>
          </p:nvSpPr>
          <p:spPr>
            <a:xfrm>
              <a:off x="16341787" y="7735083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]:</a:t>
              </a:r>
            </a:p>
          </p:txBody>
        </p:sp>
        <p:sp>
          <p:nvSpPr>
            <p:cNvPr id="520" name="TextBox 519"/>
            <p:cNvSpPr txBox="1"/>
            <p:nvPr/>
          </p:nvSpPr>
          <p:spPr>
            <a:xfrm>
              <a:off x="15695660" y="7458228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521" name="TextBox 520"/>
            <p:cNvSpPr txBox="1"/>
            <p:nvPr/>
          </p:nvSpPr>
          <p:spPr>
            <a:xfrm>
              <a:off x="16546727" y="7735083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522" name="TextBox 521"/>
            <p:cNvSpPr txBox="1"/>
            <p:nvPr/>
          </p:nvSpPr>
          <p:spPr>
            <a:xfrm>
              <a:off x="13812779" y="8011496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self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23" name="TextBox 522"/>
            <p:cNvSpPr txBox="1"/>
            <p:nvPr/>
          </p:nvSpPr>
          <p:spPr>
            <a:xfrm>
              <a:off x="14163532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.</a:t>
              </a:r>
            </a:p>
          </p:txBody>
        </p:sp>
        <p:sp>
          <p:nvSpPr>
            <p:cNvPr id="529" name="TextBox 528"/>
            <p:cNvSpPr txBox="1"/>
            <p:nvPr/>
          </p:nvSpPr>
          <p:spPr>
            <a:xfrm>
              <a:off x="15209685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[</a:t>
              </a:r>
            </a:p>
          </p:txBody>
        </p:sp>
        <p:sp>
          <p:nvSpPr>
            <p:cNvPr id="530" name="TextBox 529"/>
            <p:cNvSpPr txBox="1"/>
            <p:nvPr/>
          </p:nvSpPr>
          <p:spPr>
            <a:xfrm>
              <a:off x="15353651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1" name="TextBox 530"/>
            <p:cNvSpPr txBox="1"/>
            <p:nvPr/>
          </p:nvSpPr>
          <p:spPr>
            <a:xfrm>
              <a:off x="15497617" y="8011496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]</a:t>
              </a:r>
            </a:p>
          </p:txBody>
        </p:sp>
        <p:sp>
          <p:nvSpPr>
            <p:cNvPr id="533" name="TextBox 532"/>
            <p:cNvSpPr txBox="1"/>
            <p:nvPr/>
          </p:nvSpPr>
          <p:spPr>
            <a:xfrm>
              <a:off x="15854478" y="8011496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795E26"/>
                  </a:solidFill>
                  <a:latin typeface="Menlo" panose="020B0609030804020204" pitchFamily="49" charset="0"/>
                </a:rPr>
                <a:t>len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4" name="TextBox 533"/>
            <p:cNvSpPr txBox="1"/>
            <p:nvPr/>
          </p:nvSpPr>
          <p:spPr>
            <a:xfrm>
              <a:off x="16205231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(</a:t>
              </a:r>
            </a:p>
          </p:txBody>
        </p:sp>
        <p:sp>
          <p:nvSpPr>
            <p:cNvPr id="535" name="TextBox 534"/>
            <p:cNvSpPr txBox="1"/>
            <p:nvPr/>
          </p:nvSpPr>
          <p:spPr>
            <a:xfrm>
              <a:off x="16349197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6" name="TextBox 535"/>
            <p:cNvSpPr txBox="1"/>
            <p:nvPr/>
          </p:nvSpPr>
          <p:spPr>
            <a:xfrm>
              <a:off x="16493169" y="8011496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)</a:t>
              </a:r>
            </a:p>
          </p:txBody>
        </p:sp>
        <p:sp>
          <p:nvSpPr>
            <p:cNvPr id="537" name="TextBox 536"/>
            <p:cNvSpPr txBox="1"/>
            <p:nvPr/>
          </p:nvSpPr>
          <p:spPr>
            <a:xfrm>
              <a:off x="12829688" y="7458228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38" name="TextBox 537"/>
            <p:cNvSpPr txBox="1"/>
            <p:nvPr/>
          </p:nvSpPr>
          <p:spPr>
            <a:xfrm>
              <a:off x="12829688" y="7735083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39" name="TextBox 538"/>
            <p:cNvSpPr txBox="1"/>
            <p:nvPr/>
          </p:nvSpPr>
          <p:spPr>
            <a:xfrm>
              <a:off x="13148413" y="7735083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0" name="TextBox 539"/>
            <p:cNvSpPr txBox="1"/>
            <p:nvPr/>
          </p:nvSpPr>
          <p:spPr>
            <a:xfrm>
              <a:off x="12832724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1" name="TextBox 540"/>
            <p:cNvSpPr txBox="1"/>
            <p:nvPr/>
          </p:nvSpPr>
          <p:spPr>
            <a:xfrm>
              <a:off x="13159409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2" name="TextBox 541"/>
            <p:cNvSpPr txBox="1"/>
            <p:nvPr/>
          </p:nvSpPr>
          <p:spPr>
            <a:xfrm>
              <a:off x="13486094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3" name="TextBox 542"/>
            <p:cNvSpPr txBox="1"/>
            <p:nvPr/>
          </p:nvSpPr>
          <p:spPr>
            <a:xfrm>
              <a:off x="14307498" y="8011496"/>
              <a:ext cx="863502" cy="2308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3B3B3B"/>
                  </a:solidFill>
                  <a:latin typeface="Menlo" panose="020B0609030804020204" pitchFamily="49" charset="0"/>
                </a:rPr>
                <a:t>max_col_size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12661458" y="7114474"/>
              <a:ext cx="4338047" cy="1227834"/>
            </a:xfrm>
            <a:prstGeom prst="roundRect">
              <a:avLst>
                <a:gd name="adj" fmla="val 2712"/>
              </a:avLst>
            </a:prstGeom>
            <a:noFill/>
            <a:ln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ounded Rectangle 602"/>
          <p:cNvSpPr/>
          <p:nvPr/>
        </p:nvSpPr>
        <p:spPr>
          <a:xfrm>
            <a:off x="17263014" y="8660392"/>
            <a:ext cx="6219319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2" name="Rounded Rectangle 601"/>
          <p:cNvSpPr/>
          <p:nvPr/>
        </p:nvSpPr>
        <p:spPr>
          <a:xfrm>
            <a:off x="17263014" y="7908965"/>
            <a:ext cx="6219319" cy="575982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4" name="Rounded Rectangle 643"/>
          <p:cNvSpPr/>
          <p:nvPr/>
        </p:nvSpPr>
        <p:spPr>
          <a:xfrm>
            <a:off x="16733705" y="3557879"/>
            <a:ext cx="7014639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1" name="Rounded Rectangle 750"/>
          <p:cNvSpPr/>
          <p:nvPr/>
        </p:nvSpPr>
        <p:spPr>
          <a:xfrm>
            <a:off x="17240127" y="4554357"/>
            <a:ext cx="6230322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2" name="Rounded Rectangle 641"/>
          <p:cNvSpPr/>
          <p:nvPr/>
        </p:nvSpPr>
        <p:spPr>
          <a:xfrm>
            <a:off x="11940367" y="4719918"/>
            <a:ext cx="4393854" cy="453046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7" name="Rounded Rectangle 756"/>
          <p:cNvSpPr/>
          <p:nvPr/>
        </p:nvSpPr>
        <p:spPr>
          <a:xfrm>
            <a:off x="12015660" y="8182111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391871" y="7270382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9" name="Rounded Rectangle 748"/>
          <p:cNvSpPr/>
          <p:nvPr/>
        </p:nvSpPr>
        <p:spPr>
          <a:xfrm>
            <a:off x="17240126" y="5805255"/>
            <a:ext cx="6219319" cy="156550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-Owned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</a:p>
          <a:p>
            <a:pPr marL="342900" indent="-342900">
              <a:buAutoNum type="arabicPeriod"/>
            </a:pPr>
            <a:r>
              <a:rPr lang="en-US" dirty="0"/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Programming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7584190"/>
            <a:ext cx="1130986" cy="113098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595976" y="5799288"/>
            <a:ext cx="16369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Enumerating each tokens</a:t>
            </a:r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5762972" y="7263015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9730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667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510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39738" y="8013814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55150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</a:p>
        </p:txBody>
      </p:sp>
      <p:cxnSp>
        <p:nvCxnSpPr>
          <p:cNvPr id="473" name="Straight Arrow Connector 472"/>
          <p:cNvCxnSpPr/>
          <p:nvPr/>
        </p:nvCxnSpPr>
        <p:spPr>
          <a:xfrm flipH="1">
            <a:off x="14056321" y="762214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7" name="TextBox 546"/>
          <p:cNvSpPr txBox="1"/>
          <p:nvPr/>
        </p:nvSpPr>
        <p:spPr>
          <a:xfrm>
            <a:off x="14692682" y="8190079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Code Tokens</a:t>
            </a: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9887759" y="525614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6985150"/>
            <a:ext cx="989395" cy="1164533"/>
          </a:xfrm>
          <a:prstGeom prst="bentConnector3">
            <a:avLst>
              <a:gd name="adj1" fmla="val 45301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TextBox 604"/>
          <p:cNvSpPr txBox="1"/>
          <p:nvPr/>
        </p:nvSpPr>
        <p:spPr>
          <a:xfrm>
            <a:off x="17325949" y="494497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7806896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7666611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8850546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18153970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18294255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8641328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19394959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19651867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616" name="TextBox 615"/>
          <p:cNvSpPr txBox="1"/>
          <p:nvPr/>
        </p:nvSpPr>
        <p:spPr>
          <a:xfrm>
            <a:off x="19896101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0178853" y="494497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0906399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21145346" y="494497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1557069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21693075" y="4944971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2587302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2723308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2859314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23033346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645" name="TextBox 644"/>
          <p:cNvSpPr txBox="1"/>
          <p:nvPr/>
        </p:nvSpPr>
        <p:spPr>
          <a:xfrm>
            <a:off x="19067345" y="494497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7332377" y="4557777"/>
            <a:ext cx="1741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 Tokens</a:t>
            </a:r>
          </a:p>
        </p:txBody>
      </p:sp>
      <p:cxnSp>
        <p:nvCxnSpPr>
          <p:cNvPr id="700" name="Elbow Connector 699"/>
          <p:cNvCxnSpPr>
            <a:stCxn id="642" idx="3"/>
            <a:endCxn id="644" idx="1"/>
          </p:cNvCxnSpPr>
          <p:nvPr/>
        </p:nvCxnSpPr>
        <p:spPr>
          <a:xfrm flipV="1">
            <a:off x="16334221" y="6403757"/>
            <a:ext cx="399484" cy="58139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9" name="TextBox 718"/>
          <p:cNvSpPr txBox="1"/>
          <p:nvPr/>
        </p:nvSpPr>
        <p:spPr>
          <a:xfrm>
            <a:off x="25340281" y="8586982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radley Hand" pitchFamily="2" charset="77"/>
              </a:rPr>
              <a:t>P()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25586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023" y="8035489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10254" y="5773019"/>
            <a:ext cx="67603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Developer Accomplishing Programming 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9308" y="9353459"/>
            <a:ext cx="5611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Training LLMs Using Accesible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7956" y="824908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7956" y="7950180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764670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0769" y="847143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906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84709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2051790" y="671064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2532737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2392452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3576387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2879811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3020096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3367169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2380179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2662930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2876754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302164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323547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3518223" y="6982659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4277067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442196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4704712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268883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2893183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3235388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3370805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3506222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364163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3845984" y="7259514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4257119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4392536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466581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4801228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5074503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5552124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568754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582295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491853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02729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5209919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2052565" y="698265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2052565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2370701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935088" y="6695379"/>
            <a:ext cx="4338047" cy="882273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8" name="TextBox 487"/>
          <p:cNvSpPr txBox="1"/>
          <p:nvPr/>
        </p:nvSpPr>
        <p:spPr>
          <a:xfrm>
            <a:off x="12094472" y="8261145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89" name="TextBox 488"/>
          <p:cNvSpPr txBox="1"/>
          <p:nvPr/>
        </p:nvSpPr>
        <p:spPr>
          <a:xfrm>
            <a:off x="12575419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90" name="TextBox 489"/>
          <p:cNvSpPr txBox="1"/>
          <p:nvPr/>
        </p:nvSpPr>
        <p:spPr>
          <a:xfrm>
            <a:off x="12435134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91" name="TextBox 490"/>
          <p:cNvSpPr txBox="1"/>
          <p:nvPr/>
        </p:nvSpPr>
        <p:spPr>
          <a:xfrm>
            <a:off x="13619069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92" name="TextBox 491"/>
          <p:cNvSpPr txBox="1"/>
          <p:nvPr/>
        </p:nvSpPr>
        <p:spPr>
          <a:xfrm>
            <a:off x="12922493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493" name="TextBox 492"/>
          <p:cNvSpPr txBox="1"/>
          <p:nvPr/>
        </p:nvSpPr>
        <p:spPr>
          <a:xfrm>
            <a:off x="13062778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4" name="TextBox 493"/>
          <p:cNvSpPr txBox="1"/>
          <p:nvPr/>
        </p:nvSpPr>
        <p:spPr>
          <a:xfrm>
            <a:off x="13409851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95" name="TextBox 494"/>
          <p:cNvSpPr txBox="1"/>
          <p:nvPr/>
        </p:nvSpPr>
        <p:spPr>
          <a:xfrm>
            <a:off x="12422861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6" name="TextBox 495"/>
          <p:cNvSpPr txBox="1"/>
          <p:nvPr/>
        </p:nvSpPr>
        <p:spPr>
          <a:xfrm>
            <a:off x="12705612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7" name="TextBox 496"/>
          <p:cNvSpPr txBox="1"/>
          <p:nvPr/>
        </p:nvSpPr>
        <p:spPr>
          <a:xfrm>
            <a:off x="12919436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98" name="TextBox 497"/>
          <p:cNvSpPr txBox="1"/>
          <p:nvPr/>
        </p:nvSpPr>
        <p:spPr>
          <a:xfrm>
            <a:off x="1306432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9" name="TextBox 498"/>
          <p:cNvSpPr txBox="1"/>
          <p:nvPr/>
        </p:nvSpPr>
        <p:spPr>
          <a:xfrm>
            <a:off x="1327815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0" name="TextBox 499"/>
          <p:cNvSpPr txBox="1"/>
          <p:nvPr/>
        </p:nvSpPr>
        <p:spPr>
          <a:xfrm>
            <a:off x="13560905" y="8533158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1" name="TextBox 500"/>
          <p:cNvSpPr txBox="1"/>
          <p:nvPr/>
        </p:nvSpPr>
        <p:spPr>
          <a:xfrm>
            <a:off x="14319749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502" name="TextBox 501"/>
          <p:cNvSpPr txBox="1"/>
          <p:nvPr/>
        </p:nvSpPr>
        <p:spPr>
          <a:xfrm>
            <a:off x="1446464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3" name="TextBox 502"/>
          <p:cNvSpPr txBox="1"/>
          <p:nvPr/>
        </p:nvSpPr>
        <p:spPr>
          <a:xfrm>
            <a:off x="14747394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12732697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5" name="TextBox 504"/>
          <p:cNvSpPr txBox="1"/>
          <p:nvPr/>
        </p:nvSpPr>
        <p:spPr>
          <a:xfrm>
            <a:off x="12937632" y="881001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6" name="TextBox 505"/>
          <p:cNvSpPr txBox="1"/>
          <p:nvPr/>
        </p:nvSpPr>
        <p:spPr>
          <a:xfrm>
            <a:off x="13280425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7" name="TextBox 506"/>
          <p:cNvSpPr txBox="1"/>
          <p:nvPr/>
        </p:nvSpPr>
        <p:spPr>
          <a:xfrm>
            <a:off x="1341643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8" name="TextBox 507"/>
          <p:cNvSpPr txBox="1"/>
          <p:nvPr/>
        </p:nvSpPr>
        <p:spPr>
          <a:xfrm>
            <a:off x="13552437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9" name="TextBox 508"/>
          <p:cNvSpPr txBox="1"/>
          <p:nvPr/>
        </p:nvSpPr>
        <p:spPr>
          <a:xfrm>
            <a:off x="13688443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0" name="TextBox 509"/>
          <p:cNvSpPr txBox="1"/>
          <p:nvPr/>
        </p:nvSpPr>
        <p:spPr>
          <a:xfrm>
            <a:off x="13893378" y="881001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1" name="TextBox 510"/>
          <p:cNvSpPr txBox="1"/>
          <p:nvPr/>
        </p:nvSpPr>
        <p:spPr>
          <a:xfrm>
            <a:off x="1430510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512" name="TextBox 511"/>
          <p:cNvSpPr txBox="1"/>
          <p:nvPr/>
        </p:nvSpPr>
        <p:spPr>
          <a:xfrm>
            <a:off x="14441107" y="8810013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7" name="TextBox 516"/>
          <p:cNvSpPr txBox="1"/>
          <p:nvPr/>
        </p:nvSpPr>
        <p:spPr>
          <a:xfrm>
            <a:off x="15335334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18" name="TextBox 517"/>
          <p:cNvSpPr txBox="1"/>
          <p:nvPr/>
        </p:nvSpPr>
        <p:spPr>
          <a:xfrm>
            <a:off x="15471340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9" name="TextBox 518"/>
          <p:cNvSpPr txBox="1"/>
          <p:nvPr/>
        </p:nvSpPr>
        <p:spPr>
          <a:xfrm>
            <a:off x="1560734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1496121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1581228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12095247" y="8533158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12095247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2413972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927017" y="8189404"/>
            <a:ext cx="4338047" cy="919360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20097927" y="5315952"/>
            <a:ext cx="3302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Getting Conditioned Probabilities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17797" y="6138373"/>
            <a:ext cx="20999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900" dirty="0">
                <a:solidFill>
                  <a:srgbClr val="3B3B3B"/>
                </a:solidFill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22309565" y="58732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0" name="Arc 469"/>
          <p:cNvSpPr>
            <a:spLocks noChangeAspect="1"/>
          </p:cNvSpPr>
          <p:nvPr/>
        </p:nvSpPr>
        <p:spPr>
          <a:xfrm rot="10800000">
            <a:off x="17377922" y="5980477"/>
            <a:ext cx="288000" cy="288000"/>
          </a:xfrm>
          <a:prstGeom prst="arc">
            <a:avLst>
              <a:gd name="adj1" fmla="val 16200000"/>
              <a:gd name="adj2" fmla="val 10799994"/>
            </a:avLst>
          </a:prstGeom>
          <a:ln w="127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TextBox 470"/>
          <p:cNvSpPr txBox="1"/>
          <p:nvPr/>
        </p:nvSpPr>
        <p:spPr>
          <a:xfrm>
            <a:off x="22309565" y="610350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2" name="TextBox 471"/>
          <p:cNvSpPr txBox="1"/>
          <p:nvPr/>
        </p:nvSpPr>
        <p:spPr>
          <a:xfrm>
            <a:off x="22309565" y="6333782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5" name="Rectangle 474"/>
          <p:cNvSpPr/>
          <p:nvPr/>
        </p:nvSpPr>
        <p:spPr>
          <a:xfrm>
            <a:off x="22550352" y="5873230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0.98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22555894" y="6103506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22555894" y="6333782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?</a:t>
            </a: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9854913" y="6253789"/>
            <a:ext cx="20812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20142639" y="5914627"/>
            <a:ext cx="18328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Next Token Selection:</a:t>
            </a:r>
          </a:p>
        </p:txBody>
      </p:sp>
      <p:cxnSp>
        <p:nvCxnSpPr>
          <p:cNvPr id="105" name="Straight Arrow Connector 104"/>
          <p:cNvCxnSpPr/>
          <p:nvPr/>
        </p:nvCxnSpPr>
        <p:spPr>
          <a:xfrm>
            <a:off x="19887759" y="7375828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20097927" y="7438484"/>
            <a:ext cx="3068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Syntax-Oriented Token Pruning</a:t>
            </a:r>
          </a:p>
        </p:txBody>
      </p:sp>
      <p:pic>
        <p:nvPicPr>
          <p:cNvPr id="122" name="Picture 12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70746" y="3673169"/>
            <a:ext cx="608267" cy="608267"/>
          </a:xfrm>
          <a:prstGeom prst="rect">
            <a:avLst/>
          </a:prstGeom>
          <a:noFill/>
        </p:spPr>
      </p:pic>
      <p:sp>
        <p:nvSpPr>
          <p:cNvPr id="126" name="TextBox 125"/>
          <p:cNvSpPr txBox="1"/>
          <p:nvPr/>
        </p:nvSpPr>
        <p:spPr>
          <a:xfrm>
            <a:off x="17418534" y="7858943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Retained Tokens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17418535" y="820256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899482" y="8761082"/>
            <a:ext cx="31206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759197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8943132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18246556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18386841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733914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9487545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744453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9988687" y="8761082"/>
            <a:ext cx="243139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20271439" y="8202566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8" name="TextBox 547"/>
          <p:cNvSpPr txBox="1"/>
          <p:nvPr/>
        </p:nvSpPr>
        <p:spPr>
          <a:xfrm>
            <a:off x="20998985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21237932" y="8202566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0" name="TextBox 549"/>
          <p:cNvSpPr txBox="1"/>
          <p:nvPr/>
        </p:nvSpPr>
        <p:spPr>
          <a:xfrm>
            <a:off x="21649655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2" name="TextBox 551"/>
          <p:cNvSpPr txBox="1"/>
          <p:nvPr/>
        </p:nvSpPr>
        <p:spPr>
          <a:xfrm>
            <a:off x="21785661" y="8202566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3" name="TextBox 552"/>
          <p:cNvSpPr txBox="1"/>
          <p:nvPr/>
        </p:nvSpPr>
        <p:spPr>
          <a:xfrm>
            <a:off x="22679888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22815894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6" name="TextBox 555"/>
          <p:cNvSpPr txBox="1"/>
          <p:nvPr/>
        </p:nvSpPr>
        <p:spPr>
          <a:xfrm>
            <a:off x="22951900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23125932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9159931" y="8761082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17361279" y="682214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7842226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7701941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18885876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18189300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18329585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8676658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19430289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9687197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19931431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20214183" y="682214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2" name="TextBox 571"/>
          <p:cNvSpPr txBox="1"/>
          <p:nvPr/>
        </p:nvSpPr>
        <p:spPr>
          <a:xfrm>
            <a:off x="20941729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21180676" y="682214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4" name="TextBox 573"/>
          <p:cNvSpPr txBox="1"/>
          <p:nvPr/>
        </p:nvSpPr>
        <p:spPr>
          <a:xfrm>
            <a:off x="21592399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21728405" y="682214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2622632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758638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2894644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068676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9102675" y="682214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7362296" y="705443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7843243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702958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8886893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8190317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8330602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677675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9431306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9688214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932448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215200" y="705443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20942746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181693" y="705443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593416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1729422" y="705443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623649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2759655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95661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3069693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9103692" y="705443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0187144" y="8696209"/>
            <a:ext cx="14005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Pruned Tokens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900397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944047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734829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989602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22952815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9160846" y="8202566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8055516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 flipH="1">
            <a:off x="18821019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903023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 flipH="1">
            <a:off x="19303931" y="8432966"/>
            <a:ext cx="915" cy="32811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2011025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/>
          <p:cNvCxnSpPr>
            <a:stCxn id="161" idx="2"/>
            <a:endCxn id="556" idx="0"/>
          </p:cNvCxnSpPr>
          <p:nvPr/>
        </p:nvCxnSpPr>
        <p:spPr>
          <a:xfrm flipH="1">
            <a:off x="23039005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>
            <a:off x="24617800" y="6789328"/>
            <a:ext cx="4176000" cy="0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/>
          <p:cNvCxnSpPr/>
          <p:nvPr/>
        </p:nvCxnSpPr>
        <p:spPr>
          <a:xfrm flipV="1">
            <a:off x="24617804" y="4923959"/>
            <a:ext cx="0" cy="1865369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26620868" y="6845629"/>
            <a:ext cx="30565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add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6242744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</a:rPr>
              <a:t>(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5606628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</a:rPr>
              <a:t>,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6941376" y="6845629"/>
            <a:ext cx="31206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⌷row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6362877" y="6845629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for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4752412" y="6845629"/>
            <a:ext cx="71923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enumerate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25846894" y="6845629"/>
            <a:ext cx="38099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⌷self</a:t>
            </a:r>
          </a:p>
        </p:txBody>
      </p:sp>
      <p:sp>
        <p:nvSpPr>
          <p:cNvPr id="579" name="TextBox 578"/>
          <p:cNvSpPr txBox="1"/>
          <p:nvPr/>
        </p:nvSpPr>
        <p:spPr>
          <a:xfrm>
            <a:off x="27268295" y="6845629"/>
            <a:ext cx="863502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max_col_size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80" name="TextBox 579"/>
          <p:cNvSpPr txBox="1"/>
          <p:nvPr/>
        </p:nvSpPr>
        <p:spPr>
          <a:xfrm>
            <a:off x="25726761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81" name="TextBox 580"/>
          <p:cNvSpPr txBox="1"/>
          <p:nvPr/>
        </p:nvSpPr>
        <p:spPr>
          <a:xfrm>
            <a:off x="25486495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i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90" name="Rectangle 589"/>
          <p:cNvSpPr/>
          <p:nvPr/>
        </p:nvSpPr>
        <p:spPr>
          <a:xfrm>
            <a:off x="24854814" y="5043329"/>
            <a:ext cx="108000" cy="174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1" name="Rectangle 590"/>
          <p:cNvSpPr/>
          <p:nvPr/>
        </p:nvSpPr>
        <p:spPr>
          <a:xfrm>
            <a:off x="25590502" y="5259328"/>
            <a:ext cx="108000" cy="153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2" name="Rectangle 591"/>
          <p:cNvSpPr/>
          <p:nvPr/>
        </p:nvSpPr>
        <p:spPr>
          <a:xfrm>
            <a:off x="26443282" y="6555328"/>
            <a:ext cx="108000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5" name="Rectangle 594"/>
          <p:cNvSpPr/>
          <p:nvPr/>
        </p:nvSpPr>
        <p:spPr>
          <a:xfrm>
            <a:off x="25200498" y="5205328"/>
            <a:ext cx="108000" cy="15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6" name="Rectangle 595"/>
          <p:cNvSpPr/>
          <p:nvPr/>
        </p:nvSpPr>
        <p:spPr>
          <a:xfrm>
            <a:off x="25360332" y="5223329"/>
            <a:ext cx="108000" cy="156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7" name="Rectangle 596"/>
          <p:cNvSpPr/>
          <p:nvPr/>
        </p:nvSpPr>
        <p:spPr>
          <a:xfrm>
            <a:off x="25913884" y="5475328"/>
            <a:ext cx="108000" cy="131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8" name="Rectangle 597"/>
          <p:cNvSpPr/>
          <p:nvPr/>
        </p:nvSpPr>
        <p:spPr>
          <a:xfrm>
            <a:off x="26999149" y="6573328"/>
            <a:ext cx="108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00" name="Rectangle 599"/>
          <p:cNvSpPr/>
          <p:nvPr/>
        </p:nvSpPr>
        <p:spPr>
          <a:xfrm>
            <a:off x="27746554" y="4923959"/>
            <a:ext cx="108000" cy="18653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cxnSp>
        <p:nvCxnSpPr>
          <p:cNvPr id="630" name="Elbow Connector 629"/>
          <p:cNvCxnSpPr>
            <a:stCxn id="4" idx="3"/>
            <a:endCxn id="642" idx="1"/>
          </p:cNvCxnSpPr>
          <p:nvPr/>
        </p:nvCxnSpPr>
        <p:spPr>
          <a:xfrm>
            <a:off x="10844683" y="4476603"/>
            <a:ext cx="1095684" cy="250854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4035531" y="6148904"/>
            <a:ext cx="1475999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dirty="0"/>
              <a:t>Tokenizing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12709210" y="5713212"/>
            <a:ext cx="2640961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Copyright</a:t>
            </a:r>
            <a:r>
              <a:rPr lang="en-US" altLang="zh-CN" dirty="0">
                <a:solidFill>
                  <a:schemeClr val="bg1"/>
                </a:solidFill>
              </a:rPr>
              <a:t>-Owned </a:t>
            </a:r>
            <a:r>
              <a:rPr lang="en-US" dirty="0">
                <a:solidFill>
                  <a:schemeClr val="bg1"/>
                </a:solidFill>
              </a:rPr>
              <a:t>Code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14115075" y="7642101"/>
            <a:ext cx="1988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Resuming variables</a:t>
            </a:r>
          </a:p>
        </p:txBody>
      </p:sp>
      <p:cxnSp>
        <p:nvCxnSpPr>
          <p:cNvPr id="665" name="Straight Arrow Connector 664"/>
          <p:cNvCxnSpPr/>
          <p:nvPr/>
        </p:nvCxnSpPr>
        <p:spPr>
          <a:xfrm flipH="1">
            <a:off x="14056321" y="610979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TextBox 688"/>
          <p:cNvSpPr txBox="1"/>
          <p:nvPr/>
        </p:nvSpPr>
        <p:spPr>
          <a:xfrm>
            <a:off x="19183039" y="9682164"/>
            <a:ext cx="2023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Our Solution</a:t>
            </a:r>
          </a:p>
        </p:txBody>
      </p:sp>
      <p:cxnSp>
        <p:nvCxnSpPr>
          <p:cNvPr id="693" name="Straight Arrow Connector 692"/>
          <p:cNvCxnSpPr/>
          <p:nvPr/>
        </p:nvCxnSpPr>
        <p:spPr>
          <a:xfrm flipV="1">
            <a:off x="23748344" y="7062971"/>
            <a:ext cx="427136" cy="1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Elbow Connector 724"/>
          <p:cNvCxnSpPr>
            <a:stCxn id="9" idx="0"/>
            <a:endCxn id="728" idx="0"/>
          </p:cNvCxnSpPr>
          <p:nvPr/>
        </p:nvCxnSpPr>
        <p:spPr>
          <a:xfrm rot="5400000" flipH="1" flipV="1">
            <a:off x="8756060" y="-1570924"/>
            <a:ext cx="194145" cy="10524572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8" name="Rounded Rectangle 727"/>
          <p:cNvSpPr/>
          <p:nvPr/>
        </p:nvSpPr>
        <p:spPr>
          <a:xfrm>
            <a:off x="11927185" y="3594289"/>
            <a:ext cx="4376466" cy="747855"/>
          </a:xfrm>
          <a:prstGeom prst="roundRect">
            <a:avLst>
              <a:gd name="adj" fmla="val 15542"/>
            </a:avLst>
          </a:prstGeom>
          <a:solidFill>
            <a:schemeClr val="accent4">
              <a:lumMod val="60000"/>
              <a:lumOff val="40000"/>
              <a:alpha val="69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Tokens with High Likelihood</a:t>
            </a:r>
          </a:p>
        </p:txBody>
      </p:sp>
      <p:cxnSp>
        <p:nvCxnSpPr>
          <p:cNvPr id="750" name="Straight Arrow Connector 749"/>
          <p:cNvCxnSpPr/>
          <p:nvPr/>
        </p:nvCxnSpPr>
        <p:spPr>
          <a:xfrm flipH="1">
            <a:off x="20167529" y="659854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Rounded Rectangle 751"/>
          <p:cNvSpPr/>
          <p:nvPr/>
        </p:nvSpPr>
        <p:spPr>
          <a:xfrm>
            <a:off x="18055136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</a:p>
        </p:txBody>
      </p:sp>
      <p:cxnSp>
        <p:nvCxnSpPr>
          <p:cNvPr id="754" name="Straight Arrow Connector 753"/>
          <p:cNvCxnSpPr/>
          <p:nvPr/>
        </p:nvCxnSpPr>
        <p:spPr>
          <a:xfrm>
            <a:off x="16295965" y="3971263"/>
            <a:ext cx="450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20127461" y="1264077"/>
            <a:ext cx="322265" cy="1647361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8" name="Rounded Rectangle 757"/>
          <p:cNvSpPr/>
          <p:nvPr/>
        </p:nvSpPr>
        <p:spPr>
          <a:xfrm>
            <a:off x="12612375" y="4719918"/>
            <a:ext cx="2955029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bg1"/>
                </a:solidFill>
              </a:rPr>
              <a:t>Variable</a:t>
            </a:r>
            <a:r>
              <a:rPr lang="zh-CN" altLang="en-US" sz="2400" i="1" dirty="0">
                <a:solidFill>
                  <a:schemeClr val="bg1"/>
                </a:solidFill>
              </a:rPr>
              <a:t> </a:t>
            </a:r>
            <a:r>
              <a:rPr lang="en-US" altLang="zh-CN" sz="2400" i="1" dirty="0">
                <a:solidFill>
                  <a:schemeClr val="bg1"/>
                </a:solidFill>
              </a:rPr>
              <a:t>Resumption</a:t>
            </a:r>
            <a:endParaRPr lang="en-US" sz="2400" i="1" dirty="0">
              <a:solidFill>
                <a:schemeClr val="bg1"/>
              </a:solidFill>
            </a:endParaRPr>
          </a:p>
        </p:txBody>
      </p:sp>
      <p:sp>
        <p:nvSpPr>
          <p:cNvPr id="759" name="TextBox 758"/>
          <p:cNvSpPr txBox="1"/>
          <p:nvPr/>
        </p:nvSpPr>
        <p:spPr>
          <a:xfrm>
            <a:off x="14903651" y="6663496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Code Tokens</a:t>
            </a:r>
          </a:p>
        </p:txBody>
      </p:sp>
      <p:sp>
        <p:nvSpPr>
          <p:cNvPr id="760" name="Rounded Rectangle 759"/>
          <p:cNvSpPr/>
          <p:nvPr/>
        </p:nvSpPr>
        <p:spPr>
          <a:xfrm>
            <a:off x="12015660" y="6641692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1" name="TextBox 760"/>
          <p:cNvSpPr txBox="1"/>
          <p:nvPr/>
        </p:nvSpPr>
        <p:spPr>
          <a:xfrm>
            <a:off x="17306728" y="6493142"/>
            <a:ext cx="2213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Token</a:t>
            </a:r>
            <a:r>
              <a:rPr lang="zh-CN" altLang="en-US" sz="1600" dirty="0"/>
              <a:t> </a:t>
            </a:r>
            <a:r>
              <a:rPr lang="en-US" altLang="zh-CN" sz="1600" dirty="0"/>
              <a:t>Probabilities</a:t>
            </a:r>
            <a:endParaRPr lang="en-US" sz="1600" dirty="0"/>
          </a:p>
        </p:txBody>
      </p:sp>
      <p:sp>
        <p:nvSpPr>
          <p:cNvPr id="762" name="TextBox 761"/>
          <p:cNvSpPr txBox="1"/>
          <p:nvPr/>
        </p:nvSpPr>
        <p:spPr>
          <a:xfrm>
            <a:off x="24548548" y="4442765"/>
            <a:ext cx="355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Ranked</a:t>
            </a:r>
            <a:r>
              <a:rPr lang="zh-CN" altLang="en-US" dirty="0"/>
              <a:t> </a:t>
            </a:r>
            <a:r>
              <a:rPr lang="en-US" altLang="zh-CN" dirty="0"/>
              <a:t>Token Probabilities</a:t>
            </a:r>
            <a:endParaRPr lang="en-US" dirty="0"/>
          </a:p>
        </p:txBody>
      </p:sp>
      <p:sp>
        <p:nvSpPr>
          <p:cNvPr id="765" name="TextBox 764"/>
          <p:cNvSpPr txBox="1"/>
          <p:nvPr/>
        </p:nvSpPr>
        <p:spPr>
          <a:xfrm>
            <a:off x="21649655" y="8761082"/>
            <a:ext cx="105281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cxnSp>
        <p:nvCxnSpPr>
          <p:cNvPr id="384" name="Straight Arrow Connector 383"/>
          <p:cNvCxnSpPr>
            <a:stCxn id="550" idx="2"/>
            <a:endCxn id="765" idx="0"/>
          </p:cNvCxnSpPr>
          <p:nvPr/>
        </p:nvCxnSpPr>
        <p:spPr>
          <a:xfrm>
            <a:off x="21702296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TextBox 388"/>
          <p:cNvSpPr txBox="1"/>
          <p:nvPr/>
        </p:nvSpPr>
        <p:spPr>
          <a:xfrm rot="16200000">
            <a:off x="24117301" y="4904644"/>
            <a:ext cx="623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24178825" y="3557879"/>
            <a:ext cx="4970244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1" name="TextBox 390"/>
          <p:cNvSpPr txBox="1"/>
          <p:nvPr/>
        </p:nvSpPr>
        <p:spPr>
          <a:xfrm>
            <a:off x="25911283" y="7491067"/>
            <a:ext cx="2986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Truncating and Averaging Probabilities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433033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60546" y="6169345"/>
            <a:ext cx="1557850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16299543" y="10972800"/>
            <a:ext cx="1502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Member </a:t>
            </a:r>
          </a:p>
          <a:p>
            <a:r>
              <a:rPr lang="en-US" dirty="0"/>
              <a:t>Non-member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785661" y="8761082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cxnSp>
        <p:nvCxnSpPr>
          <p:cNvPr id="28" name="Straight Arrow Connector 27"/>
          <p:cNvCxnSpPr>
            <a:stCxn id="552" idx="2"/>
            <a:endCxn id="25" idx="0"/>
          </p:cNvCxnSpPr>
          <p:nvPr/>
        </p:nvCxnSpPr>
        <p:spPr>
          <a:xfrm>
            <a:off x="22217412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4721840" y="10241280"/>
            <a:ext cx="31097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Self.max -&gt; self . max</a:t>
            </a:r>
          </a:p>
          <a:p>
            <a:r>
              <a:rPr lang="en-US" dirty="0"/>
              <a:t>Self.max_size -&gt; self. Max _ size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42800" y="9895840"/>
            <a:ext cx="2222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zh-CN" altLang="en-US" dirty="0"/>
              <a:t>：完整</a:t>
            </a:r>
            <a:r>
              <a:rPr lang="en-US" altLang="zh-CN" dirty="0"/>
              <a:t>variable </a:t>
            </a:r>
          </a:p>
          <a:p>
            <a:r>
              <a:rPr lang="en-US" dirty="0"/>
              <a:t>Token</a:t>
            </a:r>
            <a:r>
              <a:rPr lang="zh-CN" altLang="en-US" dirty="0"/>
              <a:t>：</a:t>
            </a:r>
            <a:r>
              <a:rPr lang="en-US" altLang="zh-CN" dirty="0"/>
              <a:t> variable</a:t>
            </a:r>
            <a:r>
              <a:rPr lang="zh-CN" altLang="en-US" dirty="0"/>
              <a:t>拆分</a:t>
            </a:r>
            <a:endParaRPr lang="en-US" dirty="0"/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TFmMWJmZjM1MTUzOGJhZGQ2YzVjZTI0ZGVkOTAwZTkifQ==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10</TotalTime>
  <Words>2189</Words>
  <Application>Microsoft Macintosh PowerPoint</Application>
  <PresentationFormat>Custom</PresentationFormat>
  <Paragraphs>1172</Paragraphs>
  <Slides>9</Slides>
  <Notes>7</Notes>
  <HiddenSlides>8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Bradley Hand</vt:lpstr>
      <vt:lpstr>Calibri</vt:lpstr>
      <vt:lpstr>Calibri Light</vt:lpstr>
      <vt:lpstr>Consolas</vt:lpstr>
      <vt:lpstr>Menlo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Kaifeng Huang</dc:creator>
  <cp:lastModifiedBy>Kaifeng Huang</cp:lastModifiedBy>
  <cp:revision>45</cp:revision>
  <dcterms:created xsi:type="dcterms:W3CDTF">2025-06-02T15:22:00Z</dcterms:created>
  <dcterms:modified xsi:type="dcterms:W3CDTF">2025-12-29T02:17:53Z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493A1395599146C3BE4DF5A32EBEC8B3_12</vt:lpwstr>
  </property>
  <property fmtid="{D5CDD505-2E9C-101B-9397-08002B2CF9AE}" pid="3" name="KSOProductBuildVer">
    <vt:lpwstr>2052-12.1.0.16929</vt:lpwstr>
  </property>
</Properties>
</file>