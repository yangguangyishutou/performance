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9"/>
  </p:notesMasterIdLst>
  <p:sldIdLst>
    <p:sldId id="261" r:id="rId2"/>
    <p:sldId id="262" r:id="rId3"/>
    <p:sldId id="256" r:id="rId4"/>
    <p:sldId id="257" r:id="rId5"/>
    <p:sldId id="259" r:id="rId6"/>
    <p:sldId id="258" r:id="rId7"/>
    <p:sldId id="260" r:id="rId8"/>
  </p:sldIdLst>
  <p:sldSz cx="30192663" cy="17657763"/>
  <p:notesSz cx="6858000" cy="9144000"/>
  <p:custDataLst>
    <p:tags r:id="rId1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DF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25"/>
    <p:restoredTop sz="89950"/>
  </p:normalViewPr>
  <p:slideViewPr>
    <p:cSldViewPr snapToGrid="0">
      <p:cViewPr>
        <p:scale>
          <a:sx n="94" d="100"/>
          <a:sy n="94" d="100"/>
        </p:scale>
        <p:origin x="-6456" y="-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624B96-F7A0-634D-924D-D34EE602F0F5}" type="datetimeFigureOut">
              <a:rPr lang="en-US" smtClean="0"/>
              <a:t>7/23/25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90575" y="1143000"/>
            <a:ext cx="52768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ED576B-21C6-B14A-910C-AADE6C8F183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 Logic</a:t>
            </a:r>
          </a:p>
          <a:p>
            <a:r>
              <a:rPr lang="en-US" dirty="0"/>
              <a:t>Condition</a:t>
            </a:r>
          </a:p>
          <a:p>
            <a:r>
              <a:rPr lang="en-US" dirty="0"/>
              <a:t>Consequent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5946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90575" y="1143000"/>
            <a:ext cx="52768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74083" y="2889825"/>
            <a:ext cx="22644497" cy="6147517"/>
          </a:xfrm>
        </p:spPr>
        <p:txBody>
          <a:bodyPr anchor="b"/>
          <a:lstStyle>
            <a:lvl1pPr algn="ctr">
              <a:defRPr sz="148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74083" y="9274414"/>
            <a:ext cx="22644497" cy="4263204"/>
          </a:xfrm>
        </p:spPr>
        <p:txBody>
          <a:bodyPr/>
          <a:lstStyle>
            <a:lvl1pPr marL="0" indent="0" algn="ctr">
              <a:buNone/>
              <a:defRPr sz="5945"/>
            </a:lvl1pPr>
            <a:lvl2pPr marL="1132205" indent="0" algn="ctr">
              <a:buNone/>
              <a:defRPr sz="4955"/>
            </a:lvl2pPr>
            <a:lvl3pPr marL="2264410" indent="0" algn="ctr">
              <a:buNone/>
              <a:defRPr sz="4460"/>
            </a:lvl3pPr>
            <a:lvl4pPr marL="3396615" indent="0" algn="ctr">
              <a:buNone/>
              <a:defRPr sz="3960"/>
            </a:lvl4pPr>
            <a:lvl5pPr marL="4528820" indent="0" algn="ctr">
              <a:buNone/>
              <a:defRPr sz="3960"/>
            </a:lvl5pPr>
            <a:lvl6pPr marL="5661025" indent="0" algn="ctr">
              <a:buNone/>
              <a:defRPr sz="3960"/>
            </a:lvl6pPr>
            <a:lvl7pPr marL="6793230" indent="0" algn="ctr">
              <a:buNone/>
              <a:defRPr sz="3960"/>
            </a:lvl7pPr>
            <a:lvl8pPr marL="7925435" indent="0" algn="ctr">
              <a:buNone/>
              <a:defRPr sz="3960"/>
            </a:lvl8pPr>
            <a:lvl9pPr marL="9057640" indent="0" algn="ctr">
              <a:buNone/>
              <a:defRPr sz="3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0020" y="4402181"/>
            <a:ext cx="26041172" cy="7345138"/>
          </a:xfrm>
        </p:spPr>
        <p:txBody>
          <a:bodyPr anchor="b"/>
          <a:lstStyle>
            <a:lvl1pPr>
              <a:defRPr sz="148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0020" y="11816807"/>
            <a:ext cx="26041172" cy="3862634"/>
          </a:xfrm>
        </p:spPr>
        <p:txBody>
          <a:bodyPr/>
          <a:lstStyle>
            <a:lvl1pPr marL="0" indent="0">
              <a:buNone/>
              <a:defRPr sz="5945">
                <a:solidFill>
                  <a:schemeClr val="tx1">
                    <a:tint val="75000"/>
                  </a:schemeClr>
                </a:solidFill>
              </a:defRPr>
            </a:lvl1pPr>
            <a:lvl2pPr marL="1132205" indent="0">
              <a:buNone/>
              <a:defRPr sz="4955">
                <a:solidFill>
                  <a:schemeClr val="tx1">
                    <a:tint val="75000"/>
                  </a:schemeClr>
                </a:solidFill>
              </a:defRPr>
            </a:lvl2pPr>
            <a:lvl3pPr marL="2264410" indent="0">
              <a:buNone/>
              <a:defRPr sz="4460">
                <a:solidFill>
                  <a:schemeClr val="tx1">
                    <a:tint val="75000"/>
                  </a:schemeClr>
                </a:solidFill>
              </a:defRPr>
            </a:lvl3pPr>
            <a:lvl4pPr marL="339661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4pPr>
            <a:lvl5pPr marL="452882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5pPr>
            <a:lvl6pPr marL="566102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6pPr>
            <a:lvl7pPr marL="679323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7pPr>
            <a:lvl8pPr marL="792543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8pPr>
            <a:lvl9pPr marL="905764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5745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85036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8" y="940114"/>
            <a:ext cx="26041172" cy="341301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680" y="4328606"/>
            <a:ext cx="12772910" cy="2121383"/>
          </a:xfrm>
        </p:spPr>
        <p:txBody>
          <a:bodyPr anchor="b"/>
          <a:lstStyle>
            <a:lvl1pPr marL="0" indent="0">
              <a:buNone/>
              <a:defRPr sz="5945" b="1"/>
            </a:lvl1pPr>
            <a:lvl2pPr marL="1132205" indent="0">
              <a:buNone/>
              <a:defRPr sz="4955" b="1"/>
            </a:lvl2pPr>
            <a:lvl3pPr marL="2264410" indent="0">
              <a:buNone/>
              <a:defRPr sz="4460" b="1"/>
            </a:lvl3pPr>
            <a:lvl4pPr marL="3396615" indent="0">
              <a:buNone/>
              <a:defRPr sz="3960" b="1"/>
            </a:lvl4pPr>
            <a:lvl5pPr marL="4528820" indent="0">
              <a:buNone/>
              <a:defRPr sz="3960" b="1"/>
            </a:lvl5pPr>
            <a:lvl6pPr marL="5661025" indent="0">
              <a:buNone/>
              <a:defRPr sz="3960" b="1"/>
            </a:lvl6pPr>
            <a:lvl7pPr marL="6793230" indent="0">
              <a:buNone/>
              <a:defRPr sz="3960" b="1"/>
            </a:lvl7pPr>
            <a:lvl8pPr marL="7925435" indent="0">
              <a:buNone/>
              <a:defRPr sz="3960" b="1"/>
            </a:lvl8pPr>
            <a:lvl9pPr marL="9057640" indent="0">
              <a:buNone/>
              <a:defRPr sz="3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79680" y="6449989"/>
            <a:ext cx="12772910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285036" y="4328606"/>
            <a:ext cx="12835814" cy="2121383"/>
          </a:xfrm>
        </p:spPr>
        <p:txBody>
          <a:bodyPr anchor="b"/>
          <a:lstStyle>
            <a:lvl1pPr marL="0" indent="0">
              <a:buNone/>
              <a:defRPr sz="5945" b="1"/>
            </a:lvl1pPr>
            <a:lvl2pPr marL="1132205" indent="0">
              <a:buNone/>
              <a:defRPr sz="4955" b="1"/>
            </a:lvl2pPr>
            <a:lvl3pPr marL="2264410" indent="0">
              <a:buNone/>
              <a:defRPr sz="4460" b="1"/>
            </a:lvl3pPr>
            <a:lvl4pPr marL="3396615" indent="0">
              <a:buNone/>
              <a:defRPr sz="3960" b="1"/>
            </a:lvl4pPr>
            <a:lvl5pPr marL="4528820" indent="0">
              <a:buNone/>
              <a:defRPr sz="3960" b="1"/>
            </a:lvl5pPr>
            <a:lvl6pPr marL="5661025" indent="0">
              <a:buNone/>
              <a:defRPr sz="3960" b="1"/>
            </a:lvl6pPr>
            <a:lvl7pPr marL="6793230" indent="0">
              <a:buNone/>
              <a:defRPr sz="3960" b="1"/>
            </a:lvl7pPr>
            <a:lvl8pPr marL="7925435" indent="0">
              <a:buNone/>
              <a:defRPr sz="3960" b="1"/>
            </a:lvl8pPr>
            <a:lvl9pPr marL="9057640" indent="0">
              <a:buNone/>
              <a:defRPr sz="3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285036" y="6449989"/>
            <a:ext cx="12835814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35814" y="2542392"/>
            <a:ext cx="15285036" cy="12548457"/>
          </a:xfrm>
        </p:spPr>
        <p:txBody>
          <a:bodyPr/>
          <a:lstStyle>
            <a:lvl1pPr>
              <a:defRPr sz="7925"/>
            </a:lvl1pPr>
            <a:lvl2pPr>
              <a:defRPr sz="6935"/>
            </a:lvl2pPr>
            <a:lvl3pPr>
              <a:defRPr sz="5945"/>
            </a:lvl3pPr>
            <a:lvl4pPr>
              <a:defRPr sz="4955"/>
            </a:lvl4pPr>
            <a:lvl5pPr>
              <a:defRPr sz="4955"/>
            </a:lvl5pPr>
            <a:lvl6pPr>
              <a:defRPr sz="4955"/>
            </a:lvl6pPr>
            <a:lvl7pPr>
              <a:defRPr sz="4955"/>
            </a:lvl7pPr>
            <a:lvl8pPr>
              <a:defRPr sz="4955"/>
            </a:lvl8pPr>
            <a:lvl9pPr>
              <a:defRPr sz="495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0"/>
            </a:lvl1pPr>
            <a:lvl2pPr marL="1132205" indent="0">
              <a:buNone/>
              <a:defRPr sz="3465"/>
            </a:lvl2pPr>
            <a:lvl3pPr marL="2264410" indent="0">
              <a:buNone/>
              <a:defRPr sz="2970"/>
            </a:lvl3pPr>
            <a:lvl4pPr marL="3396615" indent="0">
              <a:buNone/>
              <a:defRPr sz="2475"/>
            </a:lvl4pPr>
            <a:lvl5pPr marL="4528820" indent="0">
              <a:buNone/>
              <a:defRPr sz="2475"/>
            </a:lvl5pPr>
            <a:lvl6pPr marL="5661025" indent="0">
              <a:buNone/>
              <a:defRPr sz="2475"/>
            </a:lvl6pPr>
            <a:lvl7pPr marL="6793230" indent="0">
              <a:buNone/>
              <a:defRPr sz="2475"/>
            </a:lvl7pPr>
            <a:lvl8pPr marL="7925435" indent="0">
              <a:buNone/>
              <a:defRPr sz="2475"/>
            </a:lvl8pPr>
            <a:lvl9pPr marL="9057640" indent="0">
              <a:buNone/>
              <a:defRPr sz="24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35814" y="2542392"/>
            <a:ext cx="15285036" cy="12548457"/>
          </a:xfrm>
        </p:spPr>
        <p:txBody>
          <a:bodyPr anchor="t"/>
          <a:lstStyle>
            <a:lvl1pPr marL="0" indent="0">
              <a:buNone/>
              <a:defRPr sz="7925"/>
            </a:lvl1pPr>
            <a:lvl2pPr marL="1132205" indent="0">
              <a:buNone/>
              <a:defRPr sz="6935"/>
            </a:lvl2pPr>
            <a:lvl3pPr marL="2264410" indent="0">
              <a:buNone/>
              <a:defRPr sz="5945"/>
            </a:lvl3pPr>
            <a:lvl4pPr marL="3396615" indent="0">
              <a:buNone/>
              <a:defRPr sz="4955"/>
            </a:lvl4pPr>
            <a:lvl5pPr marL="4528820" indent="0">
              <a:buNone/>
              <a:defRPr sz="4955"/>
            </a:lvl5pPr>
            <a:lvl6pPr marL="5661025" indent="0">
              <a:buNone/>
              <a:defRPr sz="4955"/>
            </a:lvl6pPr>
            <a:lvl7pPr marL="6793230" indent="0">
              <a:buNone/>
              <a:defRPr sz="4955"/>
            </a:lvl7pPr>
            <a:lvl8pPr marL="7925435" indent="0">
              <a:buNone/>
              <a:defRPr sz="4955"/>
            </a:lvl8pPr>
            <a:lvl9pPr marL="9057640" indent="0">
              <a:buNone/>
              <a:defRPr sz="495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0"/>
            </a:lvl1pPr>
            <a:lvl2pPr marL="1132205" indent="0">
              <a:buNone/>
              <a:defRPr sz="3465"/>
            </a:lvl2pPr>
            <a:lvl3pPr marL="2264410" indent="0">
              <a:buNone/>
              <a:defRPr sz="2970"/>
            </a:lvl3pPr>
            <a:lvl4pPr marL="3396615" indent="0">
              <a:buNone/>
              <a:defRPr sz="2475"/>
            </a:lvl4pPr>
            <a:lvl5pPr marL="4528820" indent="0">
              <a:buNone/>
              <a:defRPr sz="2475"/>
            </a:lvl5pPr>
            <a:lvl6pPr marL="5661025" indent="0">
              <a:buNone/>
              <a:defRPr sz="2475"/>
            </a:lvl6pPr>
            <a:lvl7pPr marL="6793230" indent="0">
              <a:buNone/>
              <a:defRPr sz="2475"/>
            </a:lvl7pPr>
            <a:lvl8pPr marL="7925435" indent="0">
              <a:buNone/>
              <a:defRPr sz="2475"/>
            </a:lvl8pPr>
            <a:lvl9pPr marL="9057640" indent="0">
              <a:buNone/>
              <a:defRPr sz="24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06624" y="940112"/>
            <a:ext cx="6510293" cy="149641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5745" y="940112"/>
            <a:ext cx="19153471" cy="149641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5746" y="940114"/>
            <a:ext cx="26041172" cy="34130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5746" y="4700562"/>
            <a:ext cx="26041172" cy="1120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5746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01320" y="16366132"/>
            <a:ext cx="10190024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23568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264410" rtl="0" eaLnBrk="1" latinLnBrk="0" hangingPunct="1">
        <a:lnSpc>
          <a:spcPct val="90000"/>
        </a:lnSpc>
        <a:spcBef>
          <a:spcPct val="0"/>
        </a:spcBef>
        <a:buNone/>
        <a:defRPr sz="108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6420" indent="-566420" algn="l" defTabSz="2264410" rtl="0" eaLnBrk="1" latinLnBrk="0" hangingPunct="1">
        <a:lnSpc>
          <a:spcPct val="90000"/>
        </a:lnSpc>
        <a:spcBef>
          <a:spcPts val="2475"/>
        </a:spcBef>
        <a:buFont typeface="Arial" panose="020B0604020202020204" pitchFamily="34" charset="0"/>
        <a:buChar char="•"/>
        <a:defRPr sz="6935" kern="1200">
          <a:solidFill>
            <a:schemeClr val="tx1"/>
          </a:solidFill>
          <a:latin typeface="+mn-lt"/>
          <a:ea typeface="+mn-ea"/>
          <a:cs typeface="+mn-cs"/>
        </a:defRPr>
      </a:lvl1pPr>
      <a:lvl2pPr marL="169862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5945" kern="1200">
          <a:solidFill>
            <a:schemeClr val="tx1"/>
          </a:solidFill>
          <a:latin typeface="+mn-lt"/>
          <a:ea typeface="+mn-ea"/>
          <a:cs typeface="+mn-cs"/>
        </a:defRPr>
      </a:lvl2pPr>
      <a:lvl3pPr marL="283083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955" kern="1200">
          <a:solidFill>
            <a:schemeClr val="tx1"/>
          </a:solidFill>
          <a:latin typeface="+mn-lt"/>
          <a:ea typeface="+mn-ea"/>
          <a:cs typeface="+mn-cs"/>
        </a:defRPr>
      </a:lvl3pPr>
      <a:lvl4pPr marL="396303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4pPr>
      <a:lvl5pPr marL="509524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5pPr>
      <a:lvl6pPr marL="622744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6pPr>
      <a:lvl7pPr marL="735965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7pPr>
      <a:lvl8pPr marL="849185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8pPr>
      <a:lvl9pPr marL="962406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1pPr>
      <a:lvl2pPr marL="113220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2pPr>
      <a:lvl3pPr marL="226441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3pPr>
      <a:lvl4pPr marL="339661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4pPr>
      <a:lvl5pPr marL="452882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5pPr>
      <a:lvl6pPr marL="566102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6pPr>
      <a:lvl7pPr marL="679323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7pPr>
      <a:lvl8pPr marL="792543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8pPr>
      <a:lvl9pPr marL="905764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7.sv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 679">
            <a:extLst>
              <a:ext uri="{FF2B5EF4-FFF2-40B4-BE49-F238E27FC236}">
                <a16:creationId xmlns:a16="http://schemas.microsoft.com/office/drawing/2014/main" id="{ECD0AAA4-06B1-6C75-12F2-F6B6B944C900}"/>
              </a:ext>
            </a:extLst>
          </p:cNvPr>
          <p:cNvSpPr/>
          <p:nvPr/>
        </p:nvSpPr>
        <p:spPr>
          <a:xfrm>
            <a:off x="16728378" y="3594289"/>
            <a:ext cx="4593504" cy="4741690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603" name="Rounded Rectangle 602"/>
          <p:cNvSpPr/>
          <p:nvPr/>
        </p:nvSpPr>
        <p:spPr>
          <a:xfrm>
            <a:off x="16947667" y="7869393"/>
            <a:ext cx="4164517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6947667" y="7077752"/>
            <a:ext cx="4164517" cy="378000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6823676" y="6765598"/>
            <a:ext cx="4393854" cy="156013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11940367" y="3594290"/>
            <a:ext cx="4393854" cy="474169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91871" y="6355984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12059998" y="5222989"/>
            <a:ext cx="4156540" cy="145004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70302020209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Copyright</a:t>
            </a:r>
            <a:r>
              <a:rPr lang="en-US" altLang="zh-CN" dirty="0">
                <a:latin typeface="Trebuchet MS" panose="020B0703020202090204" pitchFamily="34" charset="0"/>
              </a:rPr>
              <a:t>-Owned </a:t>
            </a:r>
            <a:r>
              <a:rPr lang="en-US" dirty="0">
                <a:latin typeface="Trebuchet MS" panose="020B0703020202090204" pitchFamily="34" charset="0"/>
              </a:rPr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614801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For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If Else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Try except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6669792"/>
            <a:ext cx="1130986" cy="1130986"/>
          </a:xfrm>
          <a:prstGeom prst="rect">
            <a:avLst/>
          </a:prstGeom>
        </p:spPr>
      </p:pic>
      <p:cxnSp>
        <p:nvCxnSpPr>
          <p:cNvPr id="136" name="Straight Arrow Connector 135"/>
          <p:cNvCxnSpPr>
            <a:cxnSpLocks/>
            <a:endCxn id="390" idx="1"/>
          </p:cNvCxnSpPr>
          <p:nvPr/>
        </p:nvCxnSpPr>
        <p:spPr>
          <a:xfrm>
            <a:off x="21321882" y="5726215"/>
            <a:ext cx="38014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70302020209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70302020209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70302020209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889730" y="6660748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591667" y="7068989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165109" y="7073961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7099416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7810373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Codebase</a:t>
            </a:r>
          </a:p>
        </p:txBody>
      </p: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4067449" y="4703680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cxnSpLocks/>
            <a:stCxn id="47" idx="3"/>
            <a:endCxn id="642" idx="1"/>
          </p:cNvCxnSpPr>
          <p:nvPr/>
        </p:nvCxnSpPr>
        <p:spPr>
          <a:xfrm flipV="1">
            <a:off x="10950972" y="5965137"/>
            <a:ext cx="989395" cy="1270148"/>
          </a:xfrm>
          <a:prstGeom prst="bentConnector3">
            <a:avLst>
              <a:gd name="adj1" fmla="val 43734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Elbow Connector 699"/>
          <p:cNvCxnSpPr>
            <a:cxnSpLocks/>
            <a:stCxn id="642" idx="3"/>
            <a:endCxn id="680" idx="1"/>
          </p:cNvCxnSpPr>
          <p:nvPr/>
        </p:nvCxnSpPr>
        <p:spPr>
          <a:xfrm flipV="1">
            <a:off x="16334221" y="5965134"/>
            <a:ext cx="394157" cy="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4525586" y="7697772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7770497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7810373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023" y="7121091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73103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308" y="8439061"/>
            <a:ext cx="6088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733468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70302020209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70302020209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035782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70302020209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70302020209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673230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70302020209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7557040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6713021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6888117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7116077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7538409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7810373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Code Resources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72403" y="5480528"/>
            <a:ext cx="2099944" cy="230832"/>
          </a:xfrm>
          <a:prstGeom prst="rect">
            <a:avLst/>
          </a:prstGeom>
          <a:noFill/>
          <a:ln w="12700">
            <a:noFill/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15304286" y="5302475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⌷in</a:t>
            </a:r>
          </a:p>
        </p:txBody>
      </p:sp>
      <p:sp>
        <p:nvSpPr>
          <p:cNvPr id="471" name="TextBox 470"/>
          <p:cNvSpPr txBox="1"/>
          <p:nvPr/>
        </p:nvSpPr>
        <p:spPr>
          <a:xfrm>
            <a:off x="15304286" y="5532751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name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15304286" y="5763027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Id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15681485" y="5302475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703020202090204" pitchFamily="34" charset="0"/>
              </a:rPr>
              <a:t>0.84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15681485" y="5532751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703020202090204" pitchFamily="34" charset="0"/>
              </a:rPr>
              <a:t>0.04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15681485" y="5763027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703020202090204" pitchFamily="34" charset="0"/>
              </a:rPr>
              <a:t>0.03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3790141" y="5622071"/>
            <a:ext cx="1440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13714678" y="5350791"/>
            <a:ext cx="1587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Trebuchet MS" panose="020B0703020202090204" pitchFamily="34" charset="0"/>
              </a:rPr>
              <a:t>Next token selection: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6921641" y="6730610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112004" y="7170937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572872" y="7970083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457475" y="717093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620554" y="7970083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7864113" y="717093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003382" y="717093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421755" y="797008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115494" y="7170937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308717" y="7170937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9484831" y="7970083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19733131" y="717269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8820521" y="7970083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2116825" y="610998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2597772" y="6109983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2457487" y="610998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3596268" y="6109983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2871470" y="610998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3010739" y="610998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3392695" y="6109983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4122851" y="6109983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4316074" y="610998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4498504" y="6109983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14740488" y="6109983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16001610" y="610998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3800761" y="610998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2116825" y="634227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2597772" y="6342273"/>
            <a:ext cx="223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457487" y="634227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3596268" y="6342273"/>
            <a:ext cx="14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871470" y="634227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3010739" y="6342273"/>
            <a:ext cx="3120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3392695" y="6342273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122851" y="6342273"/>
            <a:ext cx="187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276215" y="6342273"/>
            <a:ext cx="243139" cy="230400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498504" y="6342273"/>
            <a:ext cx="2016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740488" y="6342273"/>
            <a:ext cx="65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  <a:endParaRPr lang="en-US" sz="10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5961751" y="634227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3801778" y="634227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585050" y="7170937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628700" y="7170937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419482" y="7170937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491147" y="7170937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8793404" y="7170937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7684022" y="7401769"/>
            <a:ext cx="12628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>
            <a:off x="18478882" y="7401769"/>
            <a:ext cx="2727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8690827" y="7401769"/>
            <a:ext cx="8073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>
            <a:off x="18937404" y="7401337"/>
            <a:ext cx="27117" cy="56874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19586363" y="7401769"/>
            <a:ext cx="5584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0" name="Elbow Connector 629"/>
          <p:cNvCxnSpPr>
            <a:cxnSpLocks/>
            <a:stCxn id="4" idx="3"/>
            <a:endCxn id="642" idx="1"/>
          </p:cNvCxnSpPr>
          <p:nvPr/>
        </p:nvCxnSpPr>
        <p:spPr>
          <a:xfrm>
            <a:off x="10844683" y="4476603"/>
            <a:ext cx="1095684" cy="148853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3" name="TextBox 662"/>
          <p:cNvSpPr txBox="1"/>
          <p:nvPr/>
        </p:nvSpPr>
        <p:spPr>
          <a:xfrm>
            <a:off x="12709210" y="4248751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Copyright</a:t>
            </a:r>
            <a:r>
              <a:rPr lang="en-US" altLang="zh-CN" dirty="0">
                <a:latin typeface="Trebuchet MS" panose="020B0703020202090204" pitchFamily="34" charset="0"/>
              </a:rPr>
              <a:t>-Owned </a:t>
            </a:r>
            <a:r>
              <a:rPr lang="en-US" dirty="0">
                <a:latin typeface="Trebuchet MS" panose="020B0703020202090204" pitchFamily="34" charset="0"/>
              </a:rPr>
              <a:t>Code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19183039" y="8747886"/>
            <a:ext cx="21691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Our Solution</a:t>
            </a:r>
          </a:p>
        </p:txBody>
      </p:sp>
      <p:cxnSp>
        <p:nvCxnSpPr>
          <p:cNvPr id="725" name="Elbow Connector 724"/>
          <p:cNvCxnSpPr>
            <a:cxnSpLocks/>
            <a:stCxn id="9" idx="0"/>
            <a:endCxn id="680" idx="0"/>
          </p:cNvCxnSpPr>
          <p:nvPr/>
        </p:nvCxnSpPr>
        <p:spPr>
          <a:xfrm rot="5400000" flipH="1" flipV="1">
            <a:off x="11243537" y="-3993159"/>
            <a:ext cx="194145" cy="1536904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0" name="Straight Arrow Connector 749"/>
          <p:cNvCxnSpPr/>
          <p:nvPr/>
        </p:nvCxnSpPr>
        <p:spPr>
          <a:xfrm flipH="1">
            <a:off x="14922058" y="588638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19167950" y="1289311"/>
            <a:ext cx="322265" cy="14554588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12723468" y="3735718"/>
            <a:ext cx="2955029" cy="48763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Token Preprocessing</a:t>
            </a:r>
          </a:p>
        </p:txBody>
      </p:sp>
      <p:sp>
        <p:nvSpPr>
          <p:cNvPr id="761" name="TextBox 760"/>
          <p:cNvSpPr txBox="1"/>
          <p:nvPr/>
        </p:nvSpPr>
        <p:spPr>
          <a:xfrm>
            <a:off x="12061257" y="5780982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Token and</a:t>
            </a:r>
            <a:r>
              <a:rPr lang="zh-CN" altLang="en-US" sz="1600" dirty="0">
                <a:latin typeface="Trebuchet MS" panose="020B0703020202090204" pitchFamily="34" charset="0"/>
              </a:rPr>
              <a:t> </a:t>
            </a:r>
            <a:r>
              <a:rPr lang="en-US" altLang="zh-CN" sz="1600" dirty="0">
                <a:latin typeface="Trebuchet MS" panose="020B0703020202090204" pitchFamily="34" charset="0"/>
              </a:rPr>
              <a:t>Probabilities</a:t>
            </a:r>
            <a:endParaRPr lang="en-US" sz="1600" dirty="0">
              <a:latin typeface="Trebuchet MS" panose="020B0703020202090204" pitchFamily="34" charset="0"/>
            </a:endParaRPr>
          </a:p>
        </p:txBody>
      </p:sp>
      <p:cxnSp>
        <p:nvCxnSpPr>
          <p:cNvPr id="384" name="Straight Arrow Connector 383"/>
          <p:cNvCxnSpPr>
            <a:cxnSpLocks/>
            <a:stCxn id="65" idx="2"/>
            <a:endCxn id="66" idx="0"/>
          </p:cNvCxnSpPr>
          <p:nvPr/>
        </p:nvCxnSpPr>
        <p:spPr>
          <a:xfrm flipH="1">
            <a:off x="20842374" y="7403528"/>
            <a:ext cx="3009" cy="56655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0" name="Rounded Rectangle 389"/>
          <p:cNvSpPr/>
          <p:nvPr/>
        </p:nvSpPr>
        <p:spPr>
          <a:xfrm>
            <a:off x="21702025" y="4468126"/>
            <a:ext cx="4970244" cy="251617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D3BC0A-BC67-7613-2B42-483BAC6C4DC6}"/>
              </a:ext>
            </a:extLst>
          </p:cNvPr>
          <p:cNvSpPr txBox="1"/>
          <p:nvPr/>
        </p:nvSpPr>
        <p:spPr>
          <a:xfrm>
            <a:off x="15427327" y="6339627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E32C39-1148-249E-3296-A28EC4ED464C}"/>
              </a:ext>
            </a:extLst>
          </p:cNvPr>
          <p:cNvSpPr txBox="1"/>
          <p:nvPr/>
        </p:nvSpPr>
        <p:spPr>
          <a:xfrm>
            <a:off x="15427327" y="610856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95055C-D411-3845-6B78-DC7F05385580}"/>
              </a:ext>
            </a:extLst>
          </p:cNvPr>
          <p:cNvSpPr txBox="1"/>
          <p:nvPr/>
        </p:nvSpPr>
        <p:spPr>
          <a:xfrm>
            <a:off x="15535888" y="6108567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3825B6-BC8B-5615-4722-EE8B03D4C430}"/>
              </a:ext>
            </a:extLst>
          </p:cNvPr>
          <p:cNvSpPr txBox="1"/>
          <p:nvPr/>
        </p:nvSpPr>
        <p:spPr>
          <a:xfrm>
            <a:off x="15792886" y="6108567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E5A533-A018-4B34-9B0A-C6348A2943FB}"/>
              </a:ext>
            </a:extLst>
          </p:cNvPr>
          <p:cNvSpPr txBox="1"/>
          <p:nvPr/>
        </p:nvSpPr>
        <p:spPr>
          <a:xfrm>
            <a:off x="15535888" y="6339627"/>
            <a:ext cx="23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2B2997E-3AE7-92E8-936C-66088D1A6DA9}"/>
              </a:ext>
            </a:extLst>
          </p:cNvPr>
          <p:cNvSpPr txBox="1"/>
          <p:nvPr/>
        </p:nvSpPr>
        <p:spPr>
          <a:xfrm>
            <a:off x="15792886" y="6339627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6DEF950C-7D78-408B-27F1-AC9FCB5D7EFF}"/>
              </a:ext>
            </a:extLst>
          </p:cNvPr>
          <p:cNvSpPr/>
          <p:nvPr/>
        </p:nvSpPr>
        <p:spPr>
          <a:xfrm>
            <a:off x="12050464" y="7193649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70302020209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51D243E-2EEF-858E-C777-92CF38E20EA8}"/>
              </a:ext>
            </a:extLst>
          </p:cNvPr>
          <p:cNvSpPr txBox="1"/>
          <p:nvPr/>
        </p:nvSpPr>
        <p:spPr>
          <a:xfrm>
            <a:off x="12204288" y="7543809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E26F36-1CBF-D504-F3BA-1153B9DB2FF5}"/>
              </a:ext>
            </a:extLst>
          </p:cNvPr>
          <p:cNvSpPr txBox="1"/>
          <p:nvPr/>
        </p:nvSpPr>
        <p:spPr>
          <a:xfrm>
            <a:off x="12685235" y="7543809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C943EA9-8A8F-7A5A-8D91-880C3C367663}"/>
              </a:ext>
            </a:extLst>
          </p:cNvPr>
          <p:cNvSpPr txBox="1"/>
          <p:nvPr/>
        </p:nvSpPr>
        <p:spPr>
          <a:xfrm>
            <a:off x="12544950" y="754380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D94177-3DDD-9E4A-541D-9F2B0E0CE4E8}"/>
              </a:ext>
            </a:extLst>
          </p:cNvPr>
          <p:cNvSpPr txBox="1"/>
          <p:nvPr/>
        </p:nvSpPr>
        <p:spPr>
          <a:xfrm>
            <a:off x="13683731" y="7543809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4949360-F91F-B7CF-B988-7E2D58866217}"/>
              </a:ext>
            </a:extLst>
          </p:cNvPr>
          <p:cNvSpPr txBox="1"/>
          <p:nvPr/>
        </p:nvSpPr>
        <p:spPr>
          <a:xfrm>
            <a:off x="12958933" y="754380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1CE5A88-E7A0-6759-6401-849CFD64EF28}"/>
              </a:ext>
            </a:extLst>
          </p:cNvPr>
          <p:cNvSpPr txBox="1"/>
          <p:nvPr/>
        </p:nvSpPr>
        <p:spPr>
          <a:xfrm>
            <a:off x="13098202" y="7543809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F808616-D913-A681-888B-609B178083B9}"/>
              </a:ext>
            </a:extLst>
          </p:cNvPr>
          <p:cNvSpPr txBox="1"/>
          <p:nvPr/>
        </p:nvSpPr>
        <p:spPr>
          <a:xfrm>
            <a:off x="13502383" y="7543809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6EB549-E5C3-D38A-86CC-26F9A7389657}"/>
              </a:ext>
            </a:extLst>
          </p:cNvPr>
          <p:cNvSpPr txBox="1"/>
          <p:nvPr/>
        </p:nvSpPr>
        <p:spPr>
          <a:xfrm>
            <a:off x="14210314" y="7543809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09B9DA-047B-0363-A604-11CC4C295D2E}"/>
              </a:ext>
            </a:extLst>
          </p:cNvPr>
          <p:cNvSpPr txBox="1"/>
          <p:nvPr/>
        </p:nvSpPr>
        <p:spPr>
          <a:xfrm>
            <a:off x="14403537" y="7543809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B6E3802-51F8-7D2F-6480-C3F890D4222A}"/>
              </a:ext>
            </a:extLst>
          </p:cNvPr>
          <p:cNvSpPr txBox="1"/>
          <p:nvPr/>
        </p:nvSpPr>
        <p:spPr>
          <a:xfrm>
            <a:off x="14585967" y="7543809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DD21CE5-798C-3818-D9FF-806097306FE7}"/>
              </a:ext>
            </a:extLst>
          </p:cNvPr>
          <p:cNvSpPr txBox="1"/>
          <p:nvPr/>
        </p:nvSpPr>
        <p:spPr>
          <a:xfrm>
            <a:off x="14827951" y="7543809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070418-DACC-7BC1-F328-B61E3E452903}"/>
              </a:ext>
            </a:extLst>
          </p:cNvPr>
          <p:cNvSpPr txBox="1"/>
          <p:nvPr/>
        </p:nvSpPr>
        <p:spPr>
          <a:xfrm>
            <a:off x="16026443" y="750623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C04FFD8-A6B2-0E6E-8126-353E0E22869A}"/>
              </a:ext>
            </a:extLst>
          </p:cNvPr>
          <p:cNvSpPr txBox="1"/>
          <p:nvPr/>
        </p:nvSpPr>
        <p:spPr>
          <a:xfrm>
            <a:off x="13888224" y="754380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1E740073-3479-A9B9-91E0-60FA02EBB936}"/>
              </a:ext>
            </a:extLst>
          </p:cNvPr>
          <p:cNvSpPr txBox="1"/>
          <p:nvPr/>
        </p:nvSpPr>
        <p:spPr>
          <a:xfrm>
            <a:off x="15514790" y="754239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480" name="TextBox 479">
            <a:extLst>
              <a:ext uri="{FF2B5EF4-FFF2-40B4-BE49-F238E27FC236}">
                <a16:creationId xmlns:a16="http://schemas.microsoft.com/office/drawing/2014/main" id="{8CEF84DF-BCA5-CCFD-5616-B1EF29A36A10}"/>
              </a:ext>
            </a:extLst>
          </p:cNvPr>
          <p:cNvSpPr txBox="1"/>
          <p:nvPr/>
        </p:nvSpPr>
        <p:spPr>
          <a:xfrm>
            <a:off x="15623351" y="7542393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81" name="TextBox 480">
            <a:extLst>
              <a:ext uri="{FF2B5EF4-FFF2-40B4-BE49-F238E27FC236}">
                <a16:creationId xmlns:a16="http://schemas.microsoft.com/office/drawing/2014/main" id="{1AB3723C-E118-0D27-EC73-C8493E309010}"/>
              </a:ext>
            </a:extLst>
          </p:cNvPr>
          <p:cNvSpPr txBox="1"/>
          <p:nvPr/>
        </p:nvSpPr>
        <p:spPr>
          <a:xfrm>
            <a:off x="15880349" y="754239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2059603B-0D31-D106-C7FE-67FE90B7BCE0}"/>
              </a:ext>
            </a:extLst>
          </p:cNvPr>
          <p:cNvSpPr txBox="1"/>
          <p:nvPr/>
        </p:nvSpPr>
        <p:spPr>
          <a:xfrm>
            <a:off x="20931623" y="717269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D03EFA0F-07AF-FAA2-AC33-4B2A529E5A89}"/>
              </a:ext>
            </a:extLst>
          </p:cNvPr>
          <p:cNvSpPr txBox="1"/>
          <p:nvPr/>
        </p:nvSpPr>
        <p:spPr>
          <a:xfrm>
            <a:off x="20419970" y="717269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F90C3F3-F914-2940-2445-72265EB8DEBC}"/>
              </a:ext>
            </a:extLst>
          </p:cNvPr>
          <p:cNvSpPr txBox="1"/>
          <p:nvPr/>
        </p:nvSpPr>
        <p:spPr>
          <a:xfrm>
            <a:off x="20528531" y="717269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EAC60AE-0EF2-5FFA-5F35-ECD52E19B33B}"/>
              </a:ext>
            </a:extLst>
          </p:cNvPr>
          <p:cNvSpPr txBox="1"/>
          <p:nvPr/>
        </p:nvSpPr>
        <p:spPr>
          <a:xfrm>
            <a:off x="20785529" y="717269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E9DFF0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1EBA749-6A64-7CA6-0780-4BF658D20D8A}"/>
              </a:ext>
            </a:extLst>
          </p:cNvPr>
          <p:cNvSpPr txBox="1"/>
          <p:nvPr/>
        </p:nvSpPr>
        <p:spPr>
          <a:xfrm>
            <a:off x="20782520" y="797008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F7F9BC3-08E8-E044-ABAF-DA9F724EA731}"/>
              </a:ext>
            </a:extLst>
          </p:cNvPr>
          <p:cNvSpPr txBox="1"/>
          <p:nvPr/>
        </p:nvSpPr>
        <p:spPr>
          <a:xfrm>
            <a:off x="20919108" y="794086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4DBB1C9F-AB86-F442-30E3-6C02F2842275}"/>
              </a:ext>
            </a:extLst>
          </p:cNvPr>
          <p:cNvSpPr/>
          <p:nvPr/>
        </p:nvSpPr>
        <p:spPr>
          <a:xfrm>
            <a:off x="18122312" y="4254503"/>
            <a:ext cx="2650122" cy="484828"/>
          </a:xfrm>
          <a:prstGeom prst="roundRect">
            <a:avLst>
              <a:gd name="adj" fmla="val 15542"/>
            </a:avLst>
          </a:prstGeom>
          <a:noFill/>
          <a:ln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effectLst/>
                <a:latin typeface="Trebuchet MS" panose="020B0703020202090204" pitchFamily="34" charset="0"/>
              </a:rPr>
              <a:t>Syntax Conventions </a:t>
            </a:r>
            <a:endParaRPr lang="en-US" dirty="0">
              <a:solidFill>
                <a:schemeClr val="tx1"/>
              </a:solidFill>
              <a:latin typeface="Trebuchet MS" panose="020B0703020202090204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09897CF-5170-78B5-5CAC-2FC1063A8CCF}"/>
              </a:ext>
            </a:extLst>
          </p:cNvPr>
          <p:cNvSpPr txBox="1"/>
          <p:nvPr/>
        </p:nvSpPr>
        <p:spPr>
          <a:xfrm>
            <a:off x="12352322" y="7934679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22900DB-DE35-EC1E-288A-7D1BA1599C39}"/>
              </a:ext>
            </a:extLst>
          </p:cNvPr>
          <p:cNvSpPr txBox="1"/>
          <p:nvPr/>
        </p:nvSpPr>
        <p:spPr>
          <a:xfrm>
            <a:off x="12156854" y="793467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B5A7AA8-2E84-9C59-9857-834ADD285B61}"/>
              </a:ext>
            </a:extLst>
          </p:cNvPr>
          <p:cNvSpPr txBox="1"/>
          <p:nvPr/>
        </p:nvSpPr>
        <p:spPr>
          <a:xfrm>
            <a:off x="13197208" y="793467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1997148-C323-0100-498C-2B2AF5C5301F}"/>
              </a:ext>
            </a:extLst>
          </p:cNvPr>
          <p:cNvSpPr txBox="1"/>
          <p:nvPr/>
        </p:nvSpPr>
        <p:spPr>
          <a:xfrm>
            <a:off x="13029458" y="7928334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C135F43-1CF7-9515-C72D-FAACBAA9DA01}"/>
              </a:ext>
            </a:extLst>
          </p:cNvPr>
          <p:cNvSpPr txBox="1"/>
          <p:nvPr/>
        </p:nvSpPr>
        <p:spPr>
          <a:xfrm>
            <a:off x="13743166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360CF13-B258-4EB7-92E9-F359E389E115}"/>
              </a:ext>
            </a:extLst>
          </p:cNvPr>
          <p:cNvSpPr txBox="1"/>
          <p:nvPr/>
        </p:nvSpPr>
        <p:spPr>
          <a:xfrm>
            <a:off x="13915358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2627BF4-02B2-9D38-5784-AB4E130BCA6C}"/>
              </a:ext>
            </a:extLst>
          </p:cNvPr>
          <p:cNvSpPr txBox="1"/>
          <p:nvPr/>
        </p:nvSpPr>
        <p:spPr>
          <a:xfrm>
            <a:off x="14087550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51BFFC5-5E40-C8C6-DDC0-1F878C06D045}"/>
              </a:ext>
            </a:extLst>
          </p:cNvPr>
          <p:cNvSpPr txBox="1"/>
          <p:nvPr/>
        </p:nvSpPr>
        <p:spPr>
          <a:xfrm>
            <a:off x="14259741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8420525-48B5-6E74-9EB5-429A9207810D}"/>
              </a:ext>
            </a:extLst>
          </p:cNvPr>
          <p:cNvSpPr txBox="1"/>
          <p:nvPr/>
        </p:nvSpPr>
        <p:spPr>
          <a:xfrm>
            <a:off x="14531594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6CD38D7-FFB0-61CD-145F-DABB92D6CDCE}"/>
              </a:ext>
            </a:extLst>
          </p:cNvPr>
          <p:cNvSpPr txBox="1"/>
          <p:nvPr/>
        </p:nvSpPr>
        <p:spPr>
          <a:xfrm>
            <a:off x="14720518" y="7934679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C1E0695-90D5-7EDA-ADF3-F3D68114E625}"/>
              </a:ext>
            </a:extLst>
          </p:cNvPr>
          <p:cNvSpPr txBox="1"/>
          <p:nvPr/>
        </p:nvSpPr>
        <p:spPr>
          <a:xfrm>
            <a:off x="14925627" y="793467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FF58A5F-5CB5-4A62-0094-0C567F437F35}"/>
              </a:ext>
            </a:extLst>
          </p:cNvPr>
          <p:cNvSpPr txBox="1"/>
          <p:nvPr/>
        </p:nvSpPr>
        <p:spPr>
          <a:xfrm>
            <a:off x="15080534" y="7934679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0A6F453-14C3-45E9-64DB-B8B772FD65BC}"/>
              </a:ext>
            </a:extLst>
          </p:cNvPr>
          <p:cNvSpPr txBox="1"/>
          <p:nvPr/>
        </p:nvSpPr>
        <p:spPr>
          <a:xfrm>
            <a:off x="15839436" y="793467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C059BFF-B55E-9B01-247B-60157D48672E}"/>
              </a:ext>
            </a:extLst>
          </p:cNvPr>
          <p:cNvSpPr txBox="1"/>
          <p:nvPr/>
        </p:nvSpPr>
        <p:spPr>
          <a:xfrm>
            <a:off x="15997047" y="793467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:</a:t>
            </a:r>
          </a:p>
        </p:txBody>
      </p:sp>
      <p:cxnSp>
        <p:nvCxnSpPr>
          <p:cNvPr id="98" name="Curved Connector 97">
            <a:extLst>
              <a:ext uri="{FF2B5EF4-FFF2-40B4-BE49-F238E27FC236}">
                <a16:creationId xmlns:a16="http://schemas.microsoft.com/office/drawing/2014/main" id="{74629F00-2A8C-53CA-58CC-BC0381DB9690}"/>
              </a:ext>
            </a:extLst>
          </p:cNvPr>
          <p:cNvCxnSpPr>
            <a:stCxn id="44" idx="2"/>
            <a:endCxn id="77" idx="0"/>
          </p:cNvCxnSpPr>
          <p:nvPr/>
        </p:nvCxnSpPr>
        <p:spPr>
          <a:xfrm rot="16200000" flipH="1">
            <a:off x="12326668" y="7796272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urved Connector 98">
            <a:extLst>
              <a:ext uri="{FF2B5EF4-FFF2-40B4-BE49-F238E27FC236}">
                <a16:creationId xmlns:a16="http://schemas.microsoft.com/office/drawing/2014/main" id="{6F3E9449-F8BF-B35E-ABC0-131D028B78D1}"/>
              </a:ext>
            </a:extLst>
          </p:cNvPr>
          <p:cNvCxnSpPr>
            <a:cxnSpLocks/>
            <a:stCxn id="44" idx="2"/>
            <a:endCxn id="78" idx="0"/>
          </p:cNvCxnSpPr>
          <p:nvPr/>
        </p:nvCxnSpPr>
        <p:spPr>
          <a:xfrm rot="5400000">
            <a:off x="12197275" y="7783654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urved Connector 101">
            <a:extLst>
              <a:ext uri="{FF2B5EF4-FFF2-40B4-BE49-F238E27FC236}">
                <a16:creationId xmlns:a16="http://schemas.microsoft.com/office/drawing/2014/main" id="{9F948C45-E98E-AF0B-3F8F-1F9931364749}"/>
              </a:ext>
            </a:extLst>
          </p:cNvPr>
          <p:cNvCxnSpPr>
            <a:cxnSpLocks/>
            <a:stCxn id="52" idx="2"/>
            <a:endCxn id="80" idx="0"/>
          </p:cNvCxnSpPr>
          <p:nvPr/>
        </p:nvCxnSpPr>
        <p:spPr>
          <a:xfrm rot="5400000">
            <a:off x="13091722" y="7765819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urved Connector 102">
            <a:extLst>
              <a:ext uri="{FF2B5EF4-FFF2-40B4-BE49-F238E27FC236}">
                <a16:creationId xmlns:a16="http://schemas.microsoft.com/office/drawing/2014/main" id="{75F07408-EEB0-71C0-6E88-FC66747A70D2}"/>
              </a:ext>
            </a:extLst>
          </p:cNvPr>
          <p:cNvCxnSpPr>
            <a:cxnSpLocks/>
            <a:stCxn id="52" idx="2"/>
            <a:endCxn id="79" idx="0"/>
          </p:cNvCxnSpPr>
          <p:nvPr/>
        </p:nvCxnSpPr>
        <p:spPr>
          <a:xfrm rot="16200000" flipH="1">
            <a:off x="13203282" y="7825595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urved Connector 112">
            <a:extLst>
              <a:ext uri="{FF2B5EF4-FFF2-40B4-BE49-F238E27FC236}">
                <a16:creationId xmlns:a16="http://schemas.microsoft.com/office/drawing/2014/main" id="{3E7D52EC-9D98-FD44-045B-36BFF4D9593B}"/>
              </a:ext>
            </a:extLst>
          </p:cNvPr>
          <p:cNvCxnSpPr>
            <a:cxnSpLocks/>
            <a:stCxn id="59" idx="2"/>
            <a:endCxn id="81" idx="0"/>
          </p:cNvCxnSpPr>
          <p:nvPr/>
        </p:nvCxnSpPr>
        <p:spPr>
          <a:xfrm rot="5400000">
            <a:off x="13834181" y="7736636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urved Connector 115">
            <a:extLst>
              <a:ext uri="{FF2B5EF4-FFF2-40B4-BE49-F238E27FC236}">
                <a16:creationId xmlns:a16="http://schemas.microsoft.com/office/drawing/2014/main" id="{EE2B93A2-43A1-11C4-3231-35BC93F668DC}"/>
              </a:ext>
            </a:extLst>
          </p:cNvPr>
          <p:cNvCxnSpPr>
            <a:cxnSpLocks/>
            <a:stCxn id="59" idx="2"/>
            <a:endCxn id="84" idx="0"/>
          </p:cNvCxnSpPr>
          <p:nvPr/>
        </p:nvCxnSpPr>
        <p:spPr>
          <a:xfrm rot="5400000">
            <a:off x="13920277" y="7822732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urved Connector 119">
            <a:extLst>
              <a:ext uri="{FF2B5EF4-FFF2-40B4-BE49-F238E27FC236}">
                <a16:creationId xmlns:a16="http://schemas.microsoft.com/office/drawing/2014/main" id="{404F3E72-1E44-E574-572D-C237DABD6CB4}"/>
              </a:ext>
            </a:extLst>
          </p:cNvPr>
          <p:cNvCxnSpPr>
            <a:cxnSpLocks/>
            <a:stCxn id="59" idx="2"/>
            <a:endCxn id="85" idx="0"/>
          </p:cNvCxnSpPr>
          <p:nvPr/>
        </p:nvCxnSpPr>
        <p:spPr>
          <a:xfrm rot="16200000" flipH="1">
            <a:off x="14006373" y="7800060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urved Connector 123">
            <a:extLst>
              <a:ext uri="{FF2B5EF4-FFF2-40B4-BE49-F238E27FC236}">
                <a16:creationId xmlns:a16="http://schemas.microsoft.com/office/drawing/2014/main" id="{8A8F813E-B99C-CE13-05EC-2B1F4ECBC6C1}"/>
              </a:ext>
            </a:extLst>
          </p:cNvPr>
          <p:cNvCxnSpPr>
            <a:cxnSpLocks/>
            <a:stCxn id="59" idx="2"/>
            <a:endCxn id="86" idx="0"/>
          </p:cNvCxnSpPr>
          <p:nvPr/>
        </p:nvCxnSpPr>
        <p:spPr>
          <a:xfrm rot="16200000" flipH="1">
            <a:off x="14092468" y="7713964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Curved Connector 515">
            <a:extLst>
              <a:ext uri="{FF2B5EF4-FFF2-40B4-BE49-F238E27FC236}">
                <a16:creationId xmlns:a16="http://schemas.microsoft.com/office/drawing/2014/main" id="{BAA3C225-3570-5ED9-54C0-1B1240E3C87F}"/>
              </a:ext>
            </a:extLst>
          </p:cNvPr>
          <p:cNvCxnSpPr>
            <a:cxnSpLocks/>
            <a:stCxn id="56" idx="2"/>
            <a:endCxn id="87" idx="0"/>
          </p:cNvCxnSpPr>
          <p:nvPr/>
        </p:nvCxnSpPr>
        <p:spPr>
          <a:xfrm rot="5400000">
            <a:off x="14555883" y="7803795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" name="Curved Connector 528">
            <a:extLst>
              <a:ext uri="{FF2B5EF4-FFF2-40B4-BE49-F238E27FC236}">
                <a16:creationId xmlns:a16="http://schemas.microsoft.com/office/drawing/2014/main" id="{437D22E2-6429-231F-5A29-F92F60B63CD5}"/>
              </a:ext>
            </a:extLst>
          </p:cNvPr>
          <p:cNvCxnSpPr>
            <a:cxnSpLocks/>
            <a:stCxn id="56" idx="2"/>
            <a:endCxn id="88" idx="0"/>
          </p:cNvCxnSpPr>
          <p:nvPr/>
        </p:nvCxnSpPr>
        <p:spPr>
          <a:xfrm rot="16200000" flipH="1">
            <a:off x="14656756" y="7804651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Curved Connector 532">
            <a:extLst>
              <a:ext uri="{FF2B5EF4-FFF2-40B4-BE49-F238E27FC236}">
                <a16:creationId xmlns:a16="http://schemas.microsoft.com/office/drawing/2014/main" id="{5612C355-4972-81A4-42C4-141F5A28A016}"/>
              </a:ext>
            </a:extLst>
          </p:cNvPr>
          <p:cNvCxnSpPr>
            <a:cxnSpLocks/>
            <a:stCxn id="57" idx="2"/>
            <a:endCxn id="89" idx="0"/>
          </p:cNvCxnSpPr>
          <p:nvPr/>
        </p:nvCxnSpPr>
        <p:spPr>
          <a:xfrm rot="5400000">
            <a:off x="14986187" y="7763515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Curved Connector 535">
            <a:extLst>
              <a:ext uri="{FF2B5EF4-FFF2-40B4-BE49-F238E27FC236}">
                <a16:creationId xmlns:a16="http://schemas.microsoft.com/office/drawing/2014/main" id="{7B980DB1-90A1-E4D6-DB5C-5CEBD46D57C1}"/>
              </a:ext>
            </a:extLst>
          </p:cNvPr>
          <p:cNvCxnSpPr>
            <a:cxnSpLocks/>
            <a:stCxn id="57" idx="2"/>
            <a:endCxn id="91" idx="0"/>
          </p:cNvCxnSpPr>
          <p:nvPr/>
        </p:nvCxnSpPr>
        <p:spPr>
          <a:xfrm rot="16200000" flipH="1">
            <a:off x="15188274" y="7743717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Curved Connector 541">
            <a:extLst>
              <a:ext uri="{FF2B5EF4-FFF2-40B4-BE49-F238E27FC236}">
                <a16:creationId xmlns:a16="http://schemas.microsoft.com/office/drawing/2014/main" id="{452C586F-6604-3AD1-E73C-335B74C171A6}"/>
              </a:ext>
            </a:extLst>
          </p:cNvPr>
          <p:cNvCxnSpPr>
            <a:cxnSpLocks/>
            <a:stCxn id="481" idx="2"/>
            <a:endCxn id="92" idx="0"/>
          </p:cNvCxnSpPr>
          <p:nvPr/>
        </p:nvCxnSpPr>
        <p:spPr>
          <a:xfrm rot="5400000">
            <a:off x="15828600" y="7823076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0" name="Curved Connector 559">
            <a:extLst>
              <a:ext uri="{FF2B5EF4-FFF2-40B4-BE49-F238E27FC236}">
                <a16:creationId xmlns:a16="http://schemas.microsoft.com/office/drawing/2014/main" id="{5800B847-6271-8404-AB2E-414DB0D96378}"/>
              </a:ext>
            </a:extLst>
          </p:cNvPr>
          <p:cNvCxnSpPr>
            <a:cxnSpLocks/>
            <a:stCxn id="481" idx="2"/>
            <a:endCxn id="93" idx="0"/>
          </p:cNvCxnSpPr>
          <p:nvPr/>
        </p:nvCxnSpPr>
        <p:spPr>
          <a:xfrm rot="16200000" flipH="1">
            <a:off x="15907405" y="7806022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2" name="TextBox 581">
            <a:extLst>
              <a:ext uri="{FF2B5EF4-FFF2-40B4-BE49-F238E27FC236}">
                <a16:creationId xmlns:a16="http://schemas.microsoft.com/office/drawing/2014/main" id="{918E0900-5F4B-59E5-42F7-7813F66D1D18}"/>
              </a:ext>
            </a:extLst>
          </p:cNvPr>
          <p:cNvSpPr txBox="1"/>
          <p:nvPr/>
        </p:nvSpPr>
        <p:spPr>
          <a:xfrm>
            <a:off x="13465455" y="793287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</a:t>
            </a:r>
          </a:p>
        </p:txBody>
      </p:sp>
      <p:sp>
        <p:nvSpPr>
          <p:cNvPr id="583" name="TextBox 582">
            <a:extLst>
              <a:ext uri="{FF2B5EF4-FFF2-40B4-BE49-F238E27FC236}">
                <a16:creationId xmlns:a16="http://schemas.microsoft.com/office/drawing/2014/main" id="{EBA7915F-9969-299D-B128-4CC7AFA4F029}"/>
              </a:ext>
            </a:extLst>
          </p:cNvPr>
          <p:cNvSpPr txBox="1"/>
          <p:nvPr/>
        </p:nvSpPr>
        <p:spPr>
          <a:xfrm>
            <a:off x="13611192" y="793287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:</a:t>
            </a:r>
          </a:p>
        </p:txBody>
      </p:sp>
      <p:cxnSp>
        <p:nvCxnSpPr>
          <p:cNvPr id="584" name="Curved Connector 583">
            <a:extLst>
              <a:ext uri="{FF2B5EF4-FFF2-40B4-BE49-F238E27FC236}">
                <a16:creationId xmlns:a16="http://schemas.microsoft.com/office/drawing/2014/main" id="{49688D90-00D4-216E-8DB9-5C35E34861E6}"/>
              </a:ext>
            </a:extLst>
          </p:cNvPr>
          <p:cNvCxnSpPr>
            <a:cxnSpLocks/>
            <a:endCxn id="582" idx="0"/>
          </p:cNvCxnSpPr>
          <p:nvPr/>
        </p:nvCxnSpPr>
        <p:spPr>
          <a:xfrm rot="5400000">
            <a:off x="13454619" y="7821275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Curved Connector 584">
            <a:extLst>
              <a:ext uri="{FF2B5EF4-FFF2-40B4-BE49-F238E27FC236}">
                <a16:creationId xmlns:a16="http://schemas.microsoft.com/office/drawing/2014/main" id="{DDA0C116-FA7B-187B-A562-9BF56D55F496}"/>
              </a:ext>
            </a:extLst>
          </p:cNvPr>
          <p:cNvCxnSpPr>
            <a:cxnSpLocks/>
            <a:endCxn id="583" idx="0"/>
          </p:cNvCxnSpPr>
          <p:nvPr/>
        </p:nvCxnSpPr>
        <p:spPr>
          <a:xfrm rot="16200000" flipH="1">
            <a:off x="13536671" y="7819341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Arrow Connector 586">
            <a:extLst>
              <a:ext uri="{FF2B5EF4-FFF2-40B4-BE49-F238E27FC236}">
                <a16:creationId xmlns:a16="http://schemas.microsoft.com/office/drawing/2014/main" id="{A21760A7-0473-4F4F-E517-5DCACC17995C}"/>
              </a:ext>
            </a:extLst>
          </p:cNvPr>
          <p:cNvCxnSpPr/>
          <p:nvPr/>
        </p:nvCxnSpPr>
        <p:spPr>
          <a:xfrm>
            <a:off x="14018144" y="668487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1" name="TextBox 620">
            <a:extLst>
              <a:ext uri="{FF2B5EF4-FFF2-40B4-BE49-F238E27FC236}">
                <a16:creationId xmlns:a16="http://schemas.microsoft.com/office/drawing/2014/main" id="{67625804-B46F-8CBD-0298-FFB2B7834C49}"/>
              </a:ext>
            </a:extLst>
          </p:cNvPr>
          <p:cNvSpPr txBox="1"/>
          <p:nvPr/>
        </p:nvSpPr>
        <p:spPr>
          <a:xfrm>
            <a:off x="14171427" y="6743867"/>
            <a:ext cx="158400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703020202090204" pitchFamily="34" charset="0"/>
              </a:rPr>
              <a:t>Decomposing</a:t>
            </a:r>
          </a:p>
        </p:txBody>
      </p:sp>
      <p:sp>
        <p:nvSpPr>
          <p:cNvPr id="622" name="TextBox 621">
            <a:extLst>
              <a:ext uri="{FF2B5EF4-FFF2-40B4-BE49-F238E27FC236}">
                <a16:creationId xmlns:a16="http://schemas.microsoft.com/office/drawing/2014/main" id="{8359BA50-B296-735E-EC9C-2256D399EA96}"/>
              </a:ext>
            </a:extLst>
          </p:cNvPr>
          <p:cNvSpPr txBox="1"/>
          <p:nvPr/>
        </p:nvSpPr>
        <p:spPr>
          <a:xfrm>
            <a:off x="14197222" y="4714336"/>
            <a:ext cx="158400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703020202090204" pitchFamily="34" charset="0"/>
              </a:rPr>
              <a:t>Getting Probs</a:t>
            </a:r>
          </a:p>
        </p:txBody>
      </p:sp>
      <p:sp>
        <p:nvSpPr>
          <p:cNvPr id="623" name="Rounded Rectangle 622">
            <a:extLst>
              <a:ext uri="{FF2B5EF4-FFF2-40B4-BE49-F238E27FC236}">
                <a16:creationId xmlns:a16="http://schemas.microsoft.com/office/drawing/2014/main" id="{4B08F7FF-D924-7C6E-1F69-6B7911705DBF}"/>
              </a:ext>
            </a:extLst>
          </p:cNvPr>
          <p:cNvSpPr/>
          <p:nvPr/>
        </p:nvSpPr>
        <p:spPr>
          <a:xfrm>
            <a:off x="17323616" y="3735717"/>
            <a:ext cx="3408643" cy="625369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Syntax-Convention-based Token Pruning</a:t>
            </a:r>
          </a:p>
        </p:txBody>
      </p:sp>
      <p:cxnSp>
        <p:nvCxnSpPr>
          <p:cNvPr id="626" name="Straight Arrow Connector 625">
            <a:extLst>
              <a:ext uri="{FF2B5EF4-FFF2-40B4-BE49-F238E27FC236}">
                <a16:creationId xmlns:a16="http://schemas.microsoft.com/office/drawing/2014/main" id="{5E0860D2-7277-D12A-73F3-981CBB9D5F20}"/>
              </a:ext>
            </a:extLst>
          </p:cNvPr>
          <p:cNvCxnSpPr/>
          <p:nvPr/>
        </p:nvCxnSpPr>
        <p:spPr>
          <a:xfrm>
            <a:off x="20271113" y="471536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4" name="TextBox 633">
            <a:extLst>
              <a:ext uri="{FF2B5EF4-FFF2-40B4-BE49-F238E27FC236}">
                <a16:creationId xmlns:a16="http://schemas.microsoft.com/office/drawing/2014/main" id="{18B19DA1-D821-8D4A-72D0-38DF0ADA7EE8}"/>
              </a:ext>
            </a:extLst>
          </p:cNvPr>
          <p:cNvSpPr txBox="1"/>
          <p:nvPr/>
        </p:nvSpPr>
        <p:spPr>
          <a:xfrm>
            <a:off x="12104944" y="7205686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Decomposed Tokens</a:t>
            </a:r>
          </a:p>
        </p:txBody>
      </p:sp>
      <p:sp>
        <p:nvSpPr>
          <p:cNvPr id="636" name="Rounded Rectangle 635">
            <a:extLst>
              <a:ext uri="{FF2B5EF4-FFF2-40B4-BE49-F238E27FC236}">
                <a16:creationId xmlns:a16="http://schemas.microsoft.com/office/drawing/2014/main" id="{772F7D95-A837-CBCB-2BAC-7957184206F3}"/>
              </a:ext>
            </a:extLst>
          </p:cNvPr>
          <p:cNvSpPr/>
          <p:nvPr/>
        </p:nvSpPr>
        <p:spPr>
          <a:xfrm>
            <a:off x="16943287" y="5206592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703020202090204" pitchFamily="34" charset="0"/>
            </a:endParaRPr>
          </a:p>
        </p:txBody>
      </p:sp>
      <p:sp>
        <p:nvSpPr>
          <p:cNvPr id="637" name="TextBox 636">
            <a:extLst>
              <a:ext uri="{FF2B5EF4-FFF2-40B4-BE49-F238E27FC236}">
                <a16:creationId xmlns:a16="http://schemas.microsoft.com/office/drawing/2014/main" id="{3EB10A65-2079-3E96-DBDA-F747102C82A3}"/>
              </a:ext>
            </a:extLst>
          </p:cNvPr>
          <p:cNvSpPr txBox="1"/>
          <p:nvPr/>
        </p:nvSpPr>
        <p:spPr>
          <a:xfrm>
            <a:off x="17097111" y="5556752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38" name="TextBox 637">
            <a:extLst>
              <a:ext uri="{FF2B5EF4-FFF2-40B4-BE49-F238E27FC236}">
                <a16:creationId xmlns:a16="http://schemas.microsoft.com/office/drawing/2014/main" id="{34532BD8-C9A3-307D-AAEE-E0A1B01CE753}"/>
              </a:ext>
            </a:extLst>
          </p:cNvPr>
          <p:cNvSpPr txBox="1"/>
          <p:nvPr/>
        </p:nvSpPr>
        <p:spPr>
          <a:xfrm>
            <a:off x="17578058" y="5556752"/>
            <a:ext cx="223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39" name="TextBox 638">
            <a:extLst>
              <a:ext uri="{FF2B5EF4-FFF2-40B4-BE49-F238E27FC236}">
                <a16:creationId xmlns:a16="http://schemas.microsoft.com/office/drawing/2014/main" id="{342A54CE-8A65-DBC5-A560-A4C2E3864CAB}"/>
              </a:ext>
            </a:extLst>
          </p:cNvPr>
          <p:cNvSpPr txBox="1"/>
          <p:nvPr/>
        </p:nvSpPr>
        <p:spPr>
          <a:xfrm>
            <a:off x="17437773" y="555675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F2920A4-4B65-BD2D-F12F-906AF1518520}"/>
              </a:ext>
            </a:extLst>
          </p:cNvPr>
          <p:cNvSpPr txBox="1"/>
          <p:nvPr/>
        </p:nvSpPr>
        <p:spPr>
          <a:xfrm>
            <a:off x="18576554" y="5556752"/>
            <a:ext cx="1404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3B9ADE9-787D-ED13-C256-2CC1F429446A}"/>
              </a:ext>
            </a:extLst>
          </p:cNvPr>
          <p:cNvSpPr txBox="1"/>
          <p:nvPr/>
        </p:nvSpPr>
        <p:spPr>
          <a:xfrm>
            <a:off x="17851756" y="555675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0DB12798-4E56-E6AB-16D1-543E190BDD48}"/>
              </a:ext>
            </a:extLst>
          </p:cNvPr>
          <p:cNvSpPr txBox="1"/>
          <p:nvPr/>
        </p:nvSpPr>
        <p:spPr>
          <a:xfrm>
            <a:off x="17991025" y="5556752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BCE945EC-354C-0870-44E9-4A7273404C56}"/>
              </a:ext>
            </a:extLst>
          </p:cNvPr>
          <p:cNvSpPr txBox="1"/>
          <p:nvPr/>
        </p:nvSpPr>
        <p:spPr>
          <a:xfrm>
            <a:off x="18395206" y="5556752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156294E-1A1F-6166-E4BA-812E2D6B5C8E}"/>
              </a:ext>
            </a:extLst>
          </p:cNvPr>
          <p:cNvSpPr txBox="1"/>
          <p:nvPr/>
        </p:nvSpPr>
        <p:spPr>
          <a:xfrm>
            <a:off x="19103137" y="5556752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B0AFAC2E-6883-CA3B-693B-7A1EC8F7F115}"/>
              </a:ext>
            </a:extLst>
          </p:cNvPr>
          <p:cNvSpPr txBox="1"/>
          <p:nvPr/>
        </p:nvSpPr>
        <p:spPr>
          <a:xfrm>
            <a:off x="19296360" y="5556752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3D6B272-26E2-5FA5-9835-C73B9752AE46}"/>
              </a:ext>
            </a:extLst>
          </p:cNvPr>
          <p:cNvSpPr txBox="1"/>
          <p:nvPr/>
        </p:nvSpPr>
        <p:spPr>
          <a:xfrm>
            <a:off x="19478790" y="5556752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82FC62A7-99E1-75A4-8353-651B17564194}"/>
              </a:ext>
            </a:extLst>
          </p:cNvPr>
          <p:cNvSpPr txBox="1"/>
          <p:nvPr/>
        </p:nvSpPr>
        <p:spPr>
          <a:xfrm>
            <a:off x="19720774" y="5556752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7F032E0-A41D-B4C4-7CDB-EEF1AB2B9A8E}"/>
              </a:ext>
            </a:extLst>
          </p:cNvPr>
          <p:cNvSpPr txBox="1"/>
          <p:nvPr/>
        </p:nvSpPr>
        <p:spPr>
          <a:xfrm>
            <a:off x="20919266" y="551917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256B9D15-DE71-FFBF-84D9-854B3347FB0C}"/>
              </a:ext>
            </a:extLst>
          </p:cNvPr>
          <p:cNvSpPr txBox="1"/>
          <p:nvPr/>
        </p:nvSpPr>
        <p:spPr>
          <a:xfrm>
            <a:off x="18781047" y="5556752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C779FCC-44FE-82C0-AE43-20926F895F3F}"/>
              </a:ext>
            </a:extLst>
          </p:cNvPr>
          <p:cNvSpPr txBox="1"/>
          <p:nvPr/>
        </p:nvSpPr>
        <p:spPr>
          <a:xfrm>
            <a:off x="20407613" y="5555336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5BE67F0E-4E69-DC47-6A89-0755443D0095}"/>
              </a:ext>
            </a:extLst>
          </p:cNvPr>
          <p:cNvSpPr txBox="1"/>
          <p:nvPr/>
        </p:nvSpPr>
        <p:spPr>
          <a:xfrm>
            <a:off x="20516174" y="555533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D9367BA-B51F-6827-D1E5-0CC0ECCEADDE}"/>
              </a:ext>
            </a:extLst>
          </p:cNvPr>
          <p:cNvSpPr txBox="1"/>
          <p:nvPr/>
        </p:nvSpPr>
        <p:spPr>
          <a:xfrm>
            <a:off x="20773172" y="555533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4C8316B9-07D1-746F-102E-4CB9F6171951}"/>
              </a:ext>
            </a:extLst>
          </p:cNvPr>
          <p:cNvSpPr txBox="1"/>
          <p:nvPr/>
        </p:nvSpPr>
        <p:spPr>
          <a:xfrm>
            <a:off x="17245145" y="5947622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AB86F1D0-C9AE-A756-8522-200F7E67269C}"/>
              </a:ext>
            </a:extLst>
          </p:cNvPr>
          <p:cNvSpPr txBox="1"/>
          <p:nvPr/>
        </p:nvSpPr>
        <p:spPr>
          <a:xfrm>
            <a:off x="17049677" y="594762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DB0FFB9F-E05C-5AA5-EF4D-8474350BA97C}"/>
              </a:ext>
            </a:extLst>
          </p:cNvPr>
          <p:cNvSpPr txBox="1"/>
          <p:nvPr/>
        </p:nvSpPr>
        <p:spPr>
          <a:xfrm>
            <a:off x="18090031" y="5947622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72EBC298-0786-4D7C-9E85-BA45110C90B6}"/>
              </a:ext>
            </a:extLst>
          </p:cNvPr>
          <p:cNvSpPr txBox="1"/>
          <p:nvPr/>
        </p:nvSpPr>
        <p:spPr>
          <a:xfrm>
            <a:off x="17922281" y="5941277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0" name="TextBox 639">
            <a:extLst>
              <a:ext uri="{FF2B5EF4-FFF2-40B4-BE49-F238E27FC236}">
                <a16:creationId xmlns:a16="http://schemas.microsoft.com/office/drawing/2014/main" id="{51148943-2732-9137-E166-E44424FD4FC3}"/>
              </a:ext>
            </a:extLst>
          </p:cNvPr>
          <p:cNvSpPr txBox="1"/>
          <p:nvPr/>
        </p:nvSpPr>
        <p:spPr>
          <a:xfrm>
            <a:off x="18635989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1" name="TextBox 640">
            <a:extLst>
              <a:ext uri="{FF2B5EF4-FFF2-40B4-BE49-F238E27FC236}">
                <a16:creationId xmlns:a16="http://schemas.microsoft.com/office/drawing/2014/main" id="{CEF185FD-10D8-BCB0-FCF9-B66125950E86}"/>
              </a:ext>
            </a:extLst>
          </p:cNvPr>
          <p:cNvSpPr txBox="1"/>
          <p:nvPr/>
        </p:nvSpPr>
        <p:spPr>
          <a:xfrm>
            <a:off x="18808181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3" name="TextBox 642">
            <a:extLst>
              <a:ext uri="{FF2B5EF4-FFF2-40B4-BE49-F238E27FC236}">
                <a16:creationId xmlns:a16="http://schemas.microsoft.com/office/drawing/2014/main" id="{32CD70FC-5C84-B413-B4A1-3968B85A4099}"/>
              </a:ext>
            </a:extLst>
          </p:cNvPr>
          <p:cNvSpPr txBox="1"/>
          <p:nvPr/>
        </p:nvSpPr>
        <p:spPr>
          <a:xfrm>
            <a:off x="18980373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6" name="TextBox 645">
            <a:extLst>
              <a:ext uri="{FF2B5EF4-FFF2-40B4-BE49-F238E27FC236}">
                <a16:creationId xmlns:a16="http://schemas.microsoft.com/office/drawing/2014/main" id="{C7718B22-D8A8-3A5B-D273-D47C305D70A0}"/>
              </a:ext>
            </a:extLst>
          </p:cNvPr>
          <p:cNvSpPr txBox="1"/>
          <p:nvPr/>
        </p:nvSpPr>
        <p:spPr>
          <a:xfrm>
            <a:off x="19152564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7" name="TextBox 646">
            <a:extLst>
              <a:ext uri="{FF2B5EF4-FFF2-40B4-BE49-F238E27FC236}">
                <a16:creationId xmlns:a16="http://schemas.microsoft.com/office/drawing/2014/main" id="{294B7990-C3E5-F46D-3B2B-42380EE08FA8}"/>
              </a:ext>
            </a:extLst>
          </p:cNvPr>
          <p:cNvSpPr txBox="1"/>
          <p:nvPr/>
        </p:nvSpPr>
        <p:spPr>
          <a:xfrm>
            <a:off x="19424417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8" name="TextBox 647">
            <a:extLst>
              <a:ext uri="{FF2B5EF4-FFF2-40B4-BE49-F238E27FC236}">
                <a16:creationId xmlns:a16="http://schemas.microsoft.com/office/drawing/2014/main" id="{0E9A366B-9450-E325-181E-083939F41726}"/>
              </a:ext>
            </a:extLst>
          </p:cNvPr>
          <p:cNvSpPr txBox="1"/>
          <p:nvPr/>
        </p:nvSpPr>
        <p:spPr>
          <a:xfrm>
            <a:off x="19613341" y="5947622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9" name="TextBox 648">
            <a:extLst>
              <a:ext uri="{FF2B5EF4-FFF2-40B4-BE49-F238E27FC236}">
                <a16:creationId xmlns:a16="http://schemas.microsoft.com/office/drawing/2014/main" id="{F26EE3EE-797F-4781-4BD8-D7C9F6C6AD03}"/>
              </a:ext>
            </a:extLst>
          </p:cNvPr>
          <p:cNvSpPr txBox="1"/>
          <p:nvPr/>
        </p:nvSpPr>
        <p:spPr>
          <a:xfrm>
            <a:off x="19818450" y="594762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50" name="TextBox 649">
            <a:extLst>
              <a:ext uri="{FF2B5EF4-FFF2-40B4-BE49-F238E27FC236}">
                <a16:creationId xmlns:a16="http://schemas.microsoft.com/office/drawing/2014/main" id="{55951DB0-0D57-8B4D-2A21-D4F1EEEBC1A7}"/>
              </a:ext>
            </a:extLst>
          </p:cNvPr>
          <p:cNvSpPr txBox="1"/>
          <p:nvPr/>
        </p:nvSpPr>
        <p:spPr>
          <a:xfrm>
            <a:off x="19973357" y="5947622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51" name="TextBox 650">
            <a:extLst>
              <a:ext uri="{FF2B5EF4-FFF2-40B4-BE49-F238E27FC236}">
                <a16:creationId xmlns:a16="http://schemas.microsoft.com/office/drawing/2014/main" id="{103B4179-6D31-22E2-26FE-079C6CDD2377}"/>
              </a:ext>
            </a:extLst>
          </p:cNvPr>
          <p:cNvSpPr txBox="1"/>
          <p:nvPr/>
        </p:nvSpPr>
        <p:spPr>
          <a:xfrm>
            <a:off x="20732259" y="594762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</a:t>
            </a:r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EFD9C034-08AF-EEE0-16B5-9A237955906A}"/>
              </a:ext>
            </a:extLst>
          </p:cNvPr>
          <p:cNvSpPr txBox="1"/>
          <p:nvPr/>
        </p:nvSpPr>
        <p:spPr>
          <a:xfrm>
            <a:off x="20889870" y="594762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:</a:t>
            </a:r>
          </a:p>
        </p:txBody>
      </p:sp>
      <p:cxnSp>
        <p:nvCxnSpPr>
          <p:cNvPr id="654" name="Curved Connector 653">
            <a:extLst>
              <a:ext uri="{FF2B5EF4-FFF2-40B4-BE49-F238E27FC236}">
                <a16:creationId xmlns:a16="http://schemas.microsoft.com/office/drawing/2014/main" id="{D931CB87-1748-533A-73BD-169A98D0EBDE}"/>
              </a:ext>
            </a:extLst>
          </p:cNvPr>
          <p:cNvCxnSpPr>
            <a:stCxn id="637" idx="2"/>
            <a:endCxn id="180" idx="0"/>
          </p:cNvCxnSpPr>
          <p:nvPr/>
        </p:nvCxnSpPr>
        <p:spPr>
          <a:xfrm rot="16200000" flipH="1">
            <a:off x="17219491" y="5809215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Curved Connector 654">
            <a:extLst>
              <a:ext uri="{FF2B5EF4-FFF2-40B4-BE49-F238E27FC236}">
                <a16:creationId xmlns:a16="http://schemas.microsoft.com/office/drawing/2014/main" id="{7B1904D1-2E0B-34B0-92EC-6580863337FA}"/>
              </a:ext>
            </a:extLst>
          </p:cNvPr>
          <p:cNvCxnSpPr>
            <a:cxnSpLocks/>
            <a:stCxn id="637" idx="2"/>
            <a:endCxn id="181" idx="0"/>
          </p:cNvCxnSpPr>
          <p:nvPr/>
        </p:nvCxnSpPr>
        <p:spPr>
          <a:xfrm rot="5400000">
            <a:off x="17090098" y="5796597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6" name="Curved Connector 655">
            <a:extLst>
              <a:ext uri="{FF2B5EF4-FFF2-40B4-BE49-F238E27FC236}">
                <a16:creationId xmlns:a16="http://schemas.microsoft.com/office/drawing/2014/main" id="{0E10D639-9A57-1388-BC45-2FC2F5B8714A}"/>
              </a:ext>
            </a:extLst>
          </p:cNvPr>
          <p:cNvCxnSpPr>
            <a:cxnSpLocks/>
            <a:stCxn id="163" idx="2"/>
            <a:endCxn id="190" idx="0"/>
          </p:cNvCxnSpPr>
          <p:nvPr/>
        </p:nvCxnSpPr>
        <p:spPr>
          <a:xfrm rot="5400000">
            <a:off x="17984545" y="5778762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Curved Connector 656">
            <a:extLst>
              <a:ext uri="{FF2B5EF4-FFF2-40B4-BE49-F238E27FC236}">
                <a16:creationId xmlns:a16="http://schemas.microsoft.com/office/drawing/2014/main" id="{9EDFDA6F-2AD7-131A-2FB3-EDAE9F246811}"/>
              </a:ext>
            </a:extLst>
          </p:cNvPr>
          <p:cNvCxnSpPr>
            <a:cxnSpLocks/>
            <a:stCxn id="163" idx="2"/>
            <a:endCxn id="184" idx="0"/>
          </p:cNvCxnSpPr>
          <p:nvPr/>
        </p:nvCxnSpPr>
        <p:spPr>
          <a:xfrm rot="16200000" flipH="1">
            <a:off x="18096105" y="5838538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Curved Connector 657">
            <a:extLst>
              <a:ext uri="{FF2B5EF4-FFF2-40B4-BE49-F238E27FC236}">
                <a16:creationId xmlns:a16="http://schemas.microsoft.com/office/drawing/2014/main" id="{7EBCEA9B-E155-2260-F3C1-058139911A89}"/>
              </a:ext>
            </a:extLst>
          </p:cNvPr>
          <p:cNvCxnSpPr>
            <a:cxnSpLocks/>
            <a:stCxn id="175" idx="2"/>
            <a:endCxn id="640" idx="0"/>
          </p:cNvCxnSpPr>
          <p:nvPr/>
        </p:nvCxnSpPr>
        <p:spPr>
          <a:xfrm rot="5400000">
            <a:off x="18727004" y="5749579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9" name="Curved Connector 658">
            <a:extLst>
              <a:ext uri="{FF2B5EF4-FFF2-40B4-BE49-F238E27FC236}">
                <a16:creationId xmlns:a16="http://schemas.microsoft.com/office/drawing/2014/main" id="{980B12FF-8BF1-4C8F-4503-B792C15DEDC6}"/>
              </a:ext>
            </a:extLst>
          </p:cNvPr>
          <p:cNvCxnSpPr>
            <a:cxnSpLocks/>
            <a:stCxn id="175" idx="2"/>
            <a:endCxn id="641" idx="0"/>
          </p:cNvCxnSpPr>
          <p:nvPr/>
        </p:nvCxnSpPr>
        <p:spPr>
          <a:xfrm rot="5400000">
            <a:off x="18813100" y="5835675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Curved Connector 659">
            <a:extLst>
              <a:ext uri="{FF2B5EF4-FFF2-40B4-BE49-F238E27FC236}">
                <a16:creationId xmlns:a16="http://schemas.microsoft.com/office/drawing/2014/main" id="{3FDF4D28-F8A1-1ED5-EDBE-252EA6D4A6DD}"/>
              </a:ext>
            </a:extLst>
          </p:cNvPr>
          <p:cNvCxnSpPr>
            <a:cxnSpLocks/>
            <a:stCxn id="175" idx="2"/>
            <a:endCxn id="643" idx="0"/>
          </p:cNvCxnSpPr>
          <p:nvPr/>
        </p:nvCxnSpPr>
        <p:spPr>
          <a:xfrm rot="16200000" flipH="1">
            <a:off x="18899196" y="5813003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Curved Connector 660">
            <a:extLst>
              <a:ext uri="{FF2B5EF4-FFF2-40B4-BE49-F238E27FC236}">
                <a16:creationId xmlns:a16="http://schemas.microsoft.com/office/drawing/2014/main" id="{4C71507B-79D7-93B2-1D31-4019F2D2CF46}"/>
              </a:ext>
            </a:extLst>
          </p:cNvPr>
          <p:cNvCxnSpPr>
            <a:cxnSpLocks/>
            <a:stCxn id="175" idx="2"/>
            <a:endCxn id="646" idx="0"/>
          </p:cNvCxnSpPr>
          <p:nvPr/>
        </p:nvCxnSpPr>
        <p:spPr>
          <a:xfrm rot="16200000" flipH="1">
            <a:off x="18985291" y="5726907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2" name="Curved Connector 661">
            <a:extLst>
              <a:ext uri="{FF2B5EF4-FFF2-40B4-BE49-F238E27FC236}">
                <a16:creationId xmlns:a16="http://schemas.microsoft.com/office/drawing/2014/main" id="{C6597B14-3AEC-E1CD-D352-F8E6CD294E1E}"/>
              </a:ext>
            </a:extLst>
          </p:cNvPr>
          <p:cNvCxnSpPr>
            <a:cxnSpLocks/>
            <a:stCxn id="170" idx="2"/>
            <a:endCxn id="647" idx="0"/>
          </p:cNvCxnSpPr>
          <p:nvPr/>
        </p:nvCxnSpPr>
        <p:spPr>
          <a:xfrm rot="5400000">
            <a:off x="19448706" y="5816738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6" name="Curved Connector 665">
            <a:extLst>
              <a:ext uri="{FF2B5EF4-FFF2-40B4-BE49-F238E27FC236}">
                <a16:creationId xmlns:a16="http://schemas.microsoft.com/office/drawing/2014/main" id="{4277F0E8-DCC8-7833-2A15-2E7B56F5F2AC}"/>
              </a:ext>
            </a:extLst>
          </p:cNvPr>
          <p:cNvCxnSpPr>
            <a:cxnSpLocks/>
            <a:stCxn id="170" idx="2"/>
            <a:endCxn id="648" idx="0"/>
          </p:cNvCxnSpPr>
          <p:nvPr/>
        </p:nvCxnSpPr>
        <p:spPr>
          <a:xfrm rot="16200000" flipH="1">
            <a:off x="19549579" y="5817594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Curved Connector 666">
            <a:extLst>
              <a:ext uri="{FF2B5EF4-FFF2-40B4-BE49-F238E27FC236}">
                <a16:creationId xmlns:a16="http://schemas.microsoft.com/office/drawing/2014/main" id="{14CCF5EB-21DC-ECB5-A0AB-35EA2FA9EF42}"/>
              </a:ext>
            </a:extLst>
          </p:cNvPr>
          <p:cNvCxnSpPr>
            <a:cxnSpLocks/>
            <a:stCxn id="172" idx="2"/>
            <a:endCxn id="649" idx="0"/>
          </p:cNvCxnSpPr>
          <p:nvPr/>
        </p:nvCxnSpPr>
        <p:spPr>
          <a:xfrm rot="5400000">
            <a:off x="19879010" y="5776458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Curved Connector 667">
            <a:extLst>
              <a:ext uri="{FF2B5EF4-FFF2-40B4-BE49-F238E27FC236}">
                <a16:creationId xmlns:a16="http://schemas.microsoft.com/office/drawing/2014/main" id="{81A28EDD-D96F-C7EE-9D6C-4404A41B0D8A}"/>
              </a:ext>
            </a:extLst>
          </p:cNvPr>
          <p:cNvCxnSpPr>
            <a:cxnSpLocks/>
            <a:stCxn id="172" idx="2"/>
            <a:endCxn id="650" idx="0"/>
          </p:cNvCxnSpPr>
          <p:nvPr/>
        </p:nvCxnSpPr>
        <p:spPr>
          <a:xfrm rot="16200000" flipH="1">
            <a:off x="20081097" y="5756660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Curved Connector 668">
            <a:extLst>
              <a:ext uri="{FF2B5EF4-FFF2-40B4-BE49-F238E27FC236}">
                <a16:creationId xmlns:a16="http://schemas.microsoft.com/office/drawing/2014/main" id="{BE3B1324-1F13-0E08-875F-879544370F2B}"/>
              </a:ext>
            </a:extLst>
          </p:cNvPr>
          <p:cNvCxnSpPr>
            <a:cxnSpLocks/>
            <a:stCxn id="179" idx="2"/>
            <a:endCxn id="651" idx="0"/>
          </p:cNvCxnSpPr>
          <p:nvPr/>
        </p:nvCxnSpPr>
        <p:spPr>
          <a:xfrm rot="5400000">
            <a:off x="20721423" y="5836019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Curved Connector 669">
            <a:extLst>
              <a:ext uri="{FF2B5EF4-FFF2-40B4-BE49-F238E27FC236}">
                <a16:creationId xmlns:a16="http://schemas.microsoft.com/office/drawing/2014/main" id="{236384C8-5D25-C2A4-3D03-BF6A3AC79569}"/>
              </a:ext>
            </a:extLst>
          </p:cNvPr>
          <p:cNvCxnSpPr>
            <a:cxnSpLocks/>
            <a:stCxn id="179" idx="2"/>
            <a:endCxn id="653" idx="0"/>
          </p:cNvCxnSpPr>
          <p:nvPr/>
        </p:nvCxnSpPr>
        <p:spPr>
          <a:xfrm rot="16200000" flipH="1">
            <a:off x="20800228" y="5818965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1" name="TextBox 670">
            <a:extLst>
              <a:ext uri="{FF2B5EF4-FFF2-40B4-BE49-F238E27FC236}">
                <a16:creationId xmlns:a16="http://schemas.microsoft.com/office/drawing/2014/main" id="{C58183E4-8E94-DADC-0E0D-DB663F82088F}"/>
              </a:ext>
            </a:extLst>
          </p:cNvPr>
          <p:cNvSpPr txBox="1"/>
          <p:nvPr/>
        </p:nvSpPr>
        <p:spPr>
          <a:xfrm>
            <a:off x="18358278" y="594582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99F99C61-2F40-A097-D888-A531C5320BC2}"/>
              </a:ext>
            </a:extLst>
          </p:cNvPr>
          <p:cNvSpPr txBox="1"/>
          <p:nvPr/>
        </p:nvSpPr>
        <p:spPr>
          <a:xfrm>
            <a:off x="18504015" y="594582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:</a:t>
            </a:r>
          </a:p>
        </p:txBody>
      </p:sp>
      <p:cxnSp>
        <p:nvCxnSpPr>
          <p:cNvPr id="673" name="Curved Connector 672">
            <a:extLst>
              <a:ext uri="{FF2B5EF4-FFF2-40B4-BE49-F238E27FC236}">
                <a16:creationId xmlns:a16="http://schemas.microsoft.com/office/drawing/2014/main" id="{D4FA3C5C-1496-5D4C-6831-8F28E013C6CC}"/>
              </a:ext>
            </a:extLst>
          </p:cNvPr>
          <p:cNvCxnSpPr>
            <a:cxnSpLocks/>
            <a:endCxn id="671" idx="0"/>
          </p:cNvCxnSpPr>
          <p:nvPr/>
        </p:nvCxnSpPr>
        <p:spPr>
          <a:xfrm rot="5400000">
            <a:off x="18347442" y="5834218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Curved Connector 673">
            <a:extLst>
              <a:ext uri="{FF2B5EF4-FFF2-40B4-BE49-F238E27FC236}">
                <a16:creationId xmlns:a16="http://schemas.microsoft.com/office/drawing/2014/main" id="{14509657-7469-6990-0571-5DB5C85F7AFA}"/>
              </a:ext>
            </a:extLst>
          </p:cNvPr>
          <p:cNvCxnSpPr>
            <a:cxnSpLocks/>
            <a:endCxn id="672" idx="0"/>
          </p:cNvCxnSpPr>
          <p:nvPr/>
        </p:nvCxnSpPr>
        <p:spPr>
          <a:xfrm rot="16200000" flipH="1">
            <a:off x="18429494" y="5832284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5" name="TextBox 674">
            <a:extLst>
              <a:ext uri="{FF2B5EF4-FFF2-40B4-BE49-F238E27FC236}">
                <a16:creationId xmlns:a16="http://schemas.microsoft.com/office/drawing/2014/main" id="{5C890F74-8458-B061-8408-4334E076D881}"/>
              </a:ext>
            </a:extLst>
          </p:cNvPr>
          <p:cNvSpPr txBox="1"/>
          <p:nvPr/>
        </p:nvSpPr>
        <p:spPr>
          <a:xfrm>
            <a:off x="16997767" y="5218629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Decomposed Tokens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6908612" y="7516346"/>
            <a:ext cx="1493935" cy="25200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Pruned Tokens</a:t>
            </a:r>
          </a:p>
        </p:txBody>
      </p:sp>
      <p:cxnSp>
        <p:nvCxnSpPr>
          <p:cNvPr id="679" name="Straight Arrow Connector 678">
            <a:extLst>
              <a:ext uri="{FF2B5EF4-FFF2-40B4-BE49-F238E27FC236}">
                <a16:creationId xmlns:a16="http://schemas.microsoft.com/office/drawing/2014/main" id="{8B210727-8A48-C144-BF5B-3816EABFDBA9}"/>
              </a:ext>
            </a:extLst>
          </p:cNvPr>
          <p:cNvCxnSpPr/>
          <p:nvPr/>
        </p:nvCxnSpPr>
        <p:spPr>
          <a:xfrm>
            <a:off x="20320906" y="6303023"/>
            <a:ext cx="0" cy="43200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5" name="TextBox 624">
            <a:extLst>
              <a:ext uri="{FF2B5EF4-FFF2-40B4-BE49-F238E27FC236}">
                <a16:creationId xmlns:a16="http://schemas.microsoft.com/office/drawing/2014/main" id="{40B635C0-565D-BB0B-8972-A718C8F5F968}"/>
              </a:ext>
            </a:extLst>
          </p:cNvPr>
          <p:cNvSpPr txBox="1"/>
          <p:nvPr/>
        </p:nvSpPr>
        <p:spPr>
          <a:xfrm>
            <a:off x="17055497" y="4722340"/>
            <a:ext cx="3142718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703020202090204" pitchFamily="34" charset="0"/>
              </a:rPr>
              <a:t>Matching Decomposed Tokens</a:t>
            </a: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4817E0FF-6430-1637-453B-9CCBB421B544}"/>
              </a:ext>
            </a:extLst>
          </p:cNvPr>
          <p:cNvSpPr txBox="1"/>
          <p:nvPr/>
        </p:nvSpPr>
        <p:spPr>
          <a:xfrm>
            <a:off x="17061130" y="6360205"/>
            <a:ext cx="2927236" cy="3708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703020202090204" pitchFamily="34" charset="0"/>
              </a:rPr>
              <a:t>Syntax-Oriented Pruning</a:t>
            </a:r>
          </a:p>
        </p:txBody>
      </p:sp>
      <p:sp>
        <p:nvSpPr>
          <p:cNvPr id="685" name="Rounded Rectangle 684">
            <a:extLst>
              <a:ext uri="{FF2B5EF4-FFF2-40B4-BE49-F238E27FC236}">
                <a16:creationId xmlns:a16="http://schemas.microsoft.com/office/drawing/2014/main" id="{10F62AEC-C1B7-BB3B-F140-FFC053FDC4B7}"/>
              </a:ext>
            </a:extLst>
          </p:cNvPr>
          <p:cNvSpPr/>
          <p:nvPr/>
        </p:nvSpPr>
        <p:spPr>
          <a:xfrm>
            <a:off x="21995102" y="4578059"/>
            <a:ext cx="4492065" cy="48763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Member Probabilities Calculation</a:t>
            </a:r>
          </a:p>
        </p:txBody>
      </p:sp>
      <p:sp>
        <p:nvSpPr>
          <p:cNvPr id="686" name="Rounded Rectangle 685">
            <a:extLst>
              <a:ext uri="{FF2B5EF4-FFF2-40B4-BE49-F238E27FC236}">
                <a16:creationId xmlns:a16="http://schemas.microsoft.com/office/drawing/2014/main" id="{C201A083-0993-7893-77C3-6F78042A697C}"/>
              </a:ext>
            </a:extLst>
          </p:cNvPr>
          <p:cNvSpPr/>
          <p:nvPr/>
        </p:nvSpPr>
        <p:spPr>
          <a:xfrm>
            <a:off x="22364075" y="5325119"/>
            <a:ext cx="3409965" cy="48763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Trebuchet MS" panose="020B0703020202090204" pitchFamily="34" charset="0"/>
              </a:rPr>
              <a:t>Syntax-convention-pruned Member Probabilities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3E231B9-5269-A923-E3BF-30254894058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345647" y="5960913"/>
            <a:ext cx="3683000" cy="952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751" name="Rounded Rectangle 750"/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57" name="Rounded Rectangle 756"/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70302020209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Copyright</a:t>
            </a:r>
            <a:r>
              <a:rPr lang="en-US" altLang="zh-CN" dirty="0">
                <a:latin typeface="Trebuchet MS" panose="020B0703020202090204" pitchFamily="34" charset="0"/>
              </a:rPr>
              <a:t>-Owned </a:t>
            </a:r>
            <a:r>
              <a:rPr lang="en-US" dirty="0">
                <a:latin typeface="Trebuchet MS" panose="020B0703020202090204" pitchFamily="34" charset="0"/>
              </a:rPr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614801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For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If Else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Try except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595976" y="5799288"/>
            <a:ext cx="17780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Trebuchet MS" panose="020B0703020202090204" pitchFamily="34" charset="0"/>
              </a:rPr>
              <a:t>Enumerating each tokens</a:t>
            </a:r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70302020209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70302020209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70302020209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547" name="TextBox 546"/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latin typeface="Trebuchet MS" panose="020B0703020202090204" pitchFamily="34" charset="0"/>
              </a:rPr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/>
          <p:cNvSpPr txBox="1"/>
          <p:nvPr/>
        </p:nvSpPr>
        <p:spPr>
          <a:xfrm>
            <a:off x="17334765" y="4944971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7851780" y="4944971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7680236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8867378" y="4944971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8167595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8668579" y="4944971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19423011" y="4944971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19692743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19916138" y="4944971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0208508" y="4944971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0947275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21189429" y="4944971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1570694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1762806" y="4944971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2600927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2740941" y="4944971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2886565" y="4944971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3074222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Original Tokens</a:t>
            </a:r>
          </a:p>
        </p:txBody>
      </p:sp>
      <p:cxnSp>
        <p:nvCxnSpPr>
          <p:cNvPr id="700" name="Elbow Connector 699"/>
          <p:cNvCxnSpPr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/>
          <p:cNvSpPr txBox="1"/>
          <p:nvPr/>
        </p:nvSpPr>
        <p:spPr>
          <a:xfrm>
            <a:off x="25340281" y="8586982"/>
            <a:ext cx="7152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703020202090204" pitchFamily="34" charset="0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73103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308" y="9353459"/>
            <a:ext cx="6088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70302020209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70302020209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70302020209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70302020209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70302020209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8471438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8452807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Code Resources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2060606" y="6710646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577621" y="6710646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406077" y="671064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3593219" y="6710646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2893436" y="671064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3394420" y="671064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2408231" y="6982659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2679762" y="6982659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2890379" y="698265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033669" y="6982659"/>
            <a:ext cx="15016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3255508" y="6982659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3547878" y="6982659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4290692" y="698265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4428373" y="698265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4731963" y="6982659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2719294" y="7259514"/>
            <a:ext cx="11329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2916427" y="7259514"/>
            <a:ext cx="26558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Trebuchet MS" panose="020B0703020202090204" pitchFamily="34" charset="0"/>
              </a:rPr>
              <a:t>len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3249013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(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3383629" y="7259514"/>
            <a:ext cx="7963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3519847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)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Trebuchet MS" panose="020B0703020202090204" pitchFamily="34" charset="0"/>
              </a:rPr>
              <a:t>&gt;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3890067" y="7259514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4270744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4388529" y="7259514"/>
            <a:ext cx="25115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4669818" y="7259514"/>
            <a:ext cx="972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4827677" y="7259514"/>
            <a:ext cx="19024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5078510" y="7259514"/>
            <a:ext cx="972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5565749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5705174" y="7259514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5850208" y="7259514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4935369" y="6982659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044130" y="7259514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5249193" y="7259514"/>
            <a:ext cx="2335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488" name="TextBox 487"/>
          <p:cNvSpPr txBox="1"/>
          <p:nvPr/>
        </p:nvSpPr>
        <p:spPr>
          <a:xfrm>
            <a:off x="12103288" y="8261145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89" name="TextBox 488"/>
          <p:cNvSpPr txBox="1"/>
          <p:nvPr/>
        </p:nvSpPr>
        <p:spPr>
          <a:xfrm>
            <a:off x="12620303" y="8261145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0" name="TextBox 489"/>
          <p:cNvSpPr txBox="1"/>
          <p:nvPr/>
        </p:nvSpPr>
        <p:spPr>
          <a:xfrm>
            <a:off x="12448759" y="8261145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13635901" y="8261145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12936118" y="8261145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493" name="TextBox 492"/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13437102" y="8261145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12450913" y="8533158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12722444" y="8533158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12933061" y="853315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13076351" y="8533158"/>
            <a:ext cx="15016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13298190" y="8533158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3590560" y="8533158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14333374" y="853315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14471055" y="8533158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14774645" y="8533158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12763154" y="8810013"/>
            <a:ext cx="11329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2960876" y="8810013"/>
            <a:ext cx="26558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Trebuchet MS" panose="020B0703020202090204" pitchFamily="34" charset="0"/>
              </a:rPr>
              <a:t>len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13294050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(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13429255" y="8810013"/>
            <a:ext cx="7963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13566062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)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Trebuchet MS" panose="020B0703020202090204" pitchFamily="34" charset="0"/>
              </a:rPr>
              <a:t>&gt;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3937461" y="8810013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14318726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sp>
        <p:nvSpPr>
          <p:cNvPr id="512" name="TextBox 511"/>
          <p:cNvSpPr txBox="1"/>
          <p:nvPr/>
        </p:nvSpPr>
        <p:spPr>
          <a:xfrm>
            <a:off x="14510838" y="8810013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5348959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15488973" y="8810013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5634597" y="881001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14978051" y="8533158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15829118" y="8810013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0097927" y="5315952"/>
            <a:ext cx="3623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Getting Conditioned Probabilities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22173153" y="5873230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471" name="TextBox 470"/>
          <p:cNvSpPr txBox="1"/>
          <p:nvPr/>
        </p:nvSpPr>
        <p:spPr>
          <a:xfrm>
            <a:off x="22173153" y="6103506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solidFill>
                  <a:srgbClr val="3B3B3B"/>
                </a:solidFill>
                <a:latin typeface="Trebuchet MS" panose="020B0703020202090204" pitchFamily="34" charset="0"/>
              </a:rPr>
              <a:t>name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22173153" y="6333782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Id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703020202090204" pitchFamily="34" charset="0"/>
              </a:rPr>
              <a:t>0.84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703020202090204" pitchFamily="34" charset="0"/>
              </a:rPr>
              <a:t>0.04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703020202090204" pitchFamily="34" charset="0"/>
              </a:rPr>
              <a:t>0.03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rebuchet MS" panose="020B0703020202090204" pitchFamily="34" charset="0"/>
              </a:rPr>
              <a:t>Next Token Selection:</a:t>
            </a:r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0097927" y="7438484"/>
            <a:ext cx="3361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Syntax-Oriented Token Pruning</a:t>
            </a:r>
          </a:p>
        </p:txBody>
      </p:sp>
      <p:pic>
        <p:nvPicPr>
          <p:cNvPr id="122" name="Picture 1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/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427351" y="8202566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944366" y="8761082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772822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959964" y="8761082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8260181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761165" y="8761082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515597" y="8202566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785329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20008724" y="8761082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20301094" y="820256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48" name="TextBox 547"/>
          <p:cNvSpPr txBox="1"/>
          <p:nvPr/>
        </p:nvSpPr>
        <p:spPr>
          <a:xfrm>
            <a:off x="21039861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1282015" y="8202566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0" name="TextBox 549"/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2693513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22833527" y="8202566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6" name="TextBox 555"/>
          <p:cNvSpPr txBox="1"/>
          <p:nvPr/>
        </p:nvSpPr>
        <p:spPr>
          <a:xfrm>
            <a:off x="22979151" y="8761082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23166808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7370095" y="682214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7887110" y="6822143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7715566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8902708" y="6822143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8202925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8703909" y="682214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9458341" y="6822143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9728073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9951468" y="6822143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20243838" y="6822143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72" name="TextBox 571"/>
          <p:cNvSpPr txBox="1"/>
          <p:nvPr/>
        </p:nvSpPr>
        <p:spPr>
          <a:xfrm>
            <a:off x="20982605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21224759" y="6822143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74" name="TextBox 573"/>
          <p:cNvSpPr txBox="1"/>
          <p:nvPr/>
        </p:nvSpPr>
        <p:spPr>
          <a:xfrm>
            <a:off x="21606024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21798136" y="6822143"/>
            <a:ext cx="724040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2636257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776271" y="6822143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2921895" y="682214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109552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187144" y="8696209"/>
            <a:ext cx="14939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Pruned Tokens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20110256" y="8433398"/>
            <a:ext cx="916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26629684" y="6845629"/>
            <a:ext cx="28802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</a:rPr>
              <a:t>⌷</a:t>
            </a:r>
            <a:r>
              <a:rPr lang="en-US" sz="900" dirty="0">
                <a:latin typeface="Trebuchet MS" panose="020B0703020202090204" pitchFamily="34" charset="0"/>
              </a:rPr>
              <a:t>add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6256369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5620253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⌷row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6390929" y="6845629"/>
            <a:ext cx="18703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for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4782067" y="6845629"/>
            <a:ext cx="65992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</a:rPr>
              <a:t>⌷</a:t>
            </a:r>
            <a:r>
              <a:rPr lang="en-US" sz="900" dirty="0">
                <a:latin typeface="Trebuchet MS" panose="020B0703020202090204" pitchFamily="34" charset="0"/>
              </a:rPr>
              <a:t>enumerate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25890977" y="6845629"/>
            <a:ext cx="29283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⌷self</a:t>
            </a:r>
          </a:p>
        </p:txBody>
      </p:sp>
      <p:sp>
        <p:nvSpPr>
          <p:cNvPr id="579" name="TextBox 578"/>
          <p:cNvSpPr txBox="1"/>
          <p:nvPr/>
        </p:nvSpPr>
        <p:spPr>
          <a:xfrm>
            <a:off x="27338026" y="6845629"/>
            <a:ext cx="72404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Trebuchet MS" panose="020B0703020202090204" pitchFamily="34" charset="0"/>
              </a:rPr>
              <a:t>max_col_size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25740386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581" name="TextBox 580"/>
          <p:cNvSpPr txBox="1"/>
          <p:nvPr/>
        </p:nvSpPr>
        <p:spPr>
          <a:xfrm>
            <a:off x="25504128" y="6845629"/>
            <a:ext cx="7001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Trebuchet MS" panose="020B0703020202090204" pitchFamily="34" charset="0"/>
              </a:rPr>
              <a:t>i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590" name="Rectangle 589"/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1" name="Rectangle 590"/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2" name="Rectangle 591"/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5" name="Rectangle 594"/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6" name="Rectangle 595"/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7" name="Rectangle 596"/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8" name="Rectangle 597"/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600" name="Rectangle 599"/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Tokenizing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Copyright</a:t>
            </a:r>
            <a:r>
              <a:rPr lang="en-US" altLang="zh-CN" dirty="0">
                <a:solidFill>
                  <a:schemeClr val="bg1"/>
                </a:solidFill>
                <a:latin typeface="Trebuchet MS" panose="020B0703020202090204" pitchFamily="34" charset="0"/>
              </a:rPr>
              <a:t>-Owned </a:t>
            </a:r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Code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4115075" y="7642101"/>
            <a:ext cx="2153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Resuming variables</a:t>
            </a:r>
          </a:p>
        </p:txBody>
      </p:sp>
      <p:cxnSp>
        <p:nvCxnSpPr>
          <p:cNvPr id="665" name="Straight Arrow Connector 664"/>
          <p:cNvCxnSpPr/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/>
          <p:cNvSpPr txBox="1"/>
          <p:nvPr/>
        </p:nvSpPr>
        <p:spPr>
          <a:xfrm>
            <a:off x="19183039" y="9682164"/>
            <a:ext cx="21691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Our Solution</a:t>
            </a:r>
          </a:p>
        </p:txBody>
      </p:sp>
      <p:cxnSp>
        <p:nvCxnSpPr>
          <p:cNvPr id="693" name="Straight Arrow Connector 692"/>
          <p:cNvCxnSpPr/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/>
          <p:cNvCxnSpPr>
            <a:stCxn id="9" idx="0"/>
            <a:endCxn id="728" idx="0"/>
          </p:cNvCxnSpPr>
          <p:nvPr/>
        </p:nvCxnSpPr>
        <p:spPr>
          <a:xfrm rot="5400000" flipH="1" flipV="1">
            <a:off x="8788681" y="-1538303"/>
            <a:ext cx="194145" cy="10459330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/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rebuchet MS" panose="020B0703020202090204" pitchFamily="34" charset="0"/>
              </a:rPr>
              <a:t>Tokens with High Likelihood</a:t>
            </a: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/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Syntax-bonding Probability Pruning</a:t>
            </a:r>
          </a:p>
        </p:txBody>
      </p:sp>
      <p:cxnSp>
        <p:nvCxnSpPr>
          <p:cNvPr id="754" name="Straight Arrow Connector 753"/>
          <p:cNvCxnSpPr/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Variable</a:t>
            </a:r>
            <a:r>
              <a:rPr lang="zh-CN" alt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 </a:t>
            </a:r>
            <a:r>
              <a:rPr lang="en-US" altLang="zh-CN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Resumption</a:t>
            </a:r>
            <a:endParaRPr lang="en-US" sz="2000" i="1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rebuchet MS" panose="020B0703020202090204" pitchFamily="34" charset="0"/>
              </a:rPr>
              <a:t>Code Tokens</a:t>
            </a:r>
          </a:p>
        </p:txBody>
      </p:sp>
      <p:sp>
        <p:nvSpPr>
          <p:cNvPr id="760" name="Rounded Rectangle 759"/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61" name="TextBox 760"/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Token</a:t>
            </a:r>
            <a:r>
              <a:rPr lang="zh-CN" altLang="en-US" sz="1600" dirty="0">
                <a:latin typeface="Trebuchet MS" panose="020B0703020202090204" pitchFamily="34" charset="0"/>
              </a:rPr>
              <a:t> </a:t>
            </a:r>
            <a:r>
              <a:rPr lang="en-US" altLang="zh-CN" sz="1600" dirty="0">
                <a:latin typeface="Trebuchet MS" panose="020B0703020202090204" pitchFamily="34" charset="0"/>
              </a:rPr>
              <a:t>Probabilities</a:t>
            </a:r>
            <a:endParaRPr lang="en-US" sz="1600" dirty="0">
              <a:latin typeface="Trebuchet MS" panose="020B0703020202090204" pitchFamily="34" charset="0"/>
            </a:endParaRPr>
          </a:p>
        </p:txBody>
      </p:sp>
      <p:sp>
        <p:nvSpPr>
          <p:cNvPr id="762" name="TextBox 761"/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Ranked</a:t>
            </a:r>
            <a:r>
              <a:rPr lang="zh-CN" altLang="en-US" dirty="0">
                <a:latin typeface="Trebuchet MS" panose="020B0703020202090204" pitchFamily="34" charset="0"/>
              </a:rPr>
              <a:t> </a:t>
            </a:r>
            <a:r>
              <a:rPr lang="en-US" altLang="zh-CN" dirty="0">
                <a:latin typeface="Trebuchet MS" panose="020B0703020202090204" pitchFamily="34" charset="0"/>
              </a:rPr>
              <a:t>Token Probabilities</a:t>
            </a:r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765" name="TextBox 764"/>
          <p:cNvSpPr txBox="1"/>
          <p:nvPr/>
        </p:nvSpPr>
        <p:spPr>
          <a:xfrm>
            <a:off x="21663280" y="8761082"/>
            <a:ext cx="7803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cxnSp>
        <p:nvCxnSpPr>
          <p:cNvPr id="384" name="Straight Arrow Connector 383"/>
          <p:cNvCxnSpPr>
            <a:stCxn id="550" idx="2"/>
            <a:endCxn id="765" idx="0"/>
          </p:cNvCxnSpPr>
          <p:nvPr/>
        </p:nvCxnSpPr>
        <p:spPr>
          <a:xfrm flipH="1">
            <a:off x="21702295" y="8433398"/>
            <a:ext cx="1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 rot="16200000">
            <a:off x="24107235" y="4904644"/>
            <a:ext cx="643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Prob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391" name="TextBox 390"/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Truncating and Averaging Probabilities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Syntax-bonding Probability Pruning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1855392" y="8761082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28" name="Straight Arrow Connector 27"/>
          <p:cNvCxnSpPr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3083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Programming 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Coding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/>
          <p:cNvCxnSpPr/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token probabilities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iteration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Copyright-Retained Tokenizer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</a:p>
        </p:txBody>
      </p:sp>
      <p:cxnSp>
        <p:nvCxnSpPr>
          <p:cNvPr id="102" name="Elbow Connector 101"/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9" name="Rectangle 128"/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0" name="Rectangle 129"/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1" name="Rectangle 130"/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3" name="Rectangle 132"/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4" name="Rectangle 133"/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/>
          <p:cNvCxnSpPr/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</a:p>
        </p:txBody>
      </p:sp>
      <p:cxnSp>
        <p:nvCxnSpPr>
          <p:cNvPr id="139" name="Elbow Connector 138"/>
          <p:cNvCxnSpPr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</a:p>
          <a:p>
            <a:r>
              <a:rPr lang="en-US" dirty="0"/>
              <a:t>	n = </a:t>
            </a:r>
            <a:r>
              <a:rPr lang="en-US" dirty="0" err="1"/>
              <a:t>len</a:t>
            </a:r>
            <a:r>
              <a:rPr lang="en-US" dirty="0"/>
              <a:t>(row) - </a:t>
            </a:r>
            <a:r>
              <a:rPr lang="en-US" dirty="0" err="1"/>
              <a:t>len</a:t>
            </a:r>
            <a:r>
              <a:rPr lang="en-US" dirty="0"/>
              <a:t>(</a:t>
            </a:r>
            <a:r>
              <a:rPr lang="en-US" dirty="0" err="1"/>
              <a:t>self.max_col_size</a:t>
            </a:r>
            <a:r>
              <a:rPr lang="en-US" dirty="0"/>
              <a:t>)</a:t>
            </a:r>
          </a:p>
          <a:p>
            <a:r>
              <a:rPr lang="en-US" dirty="0"/>
              <a:t>	if n &gt; 0:</a:t>
            </a:r>
          </a:p>
          <a:p>
            <a:r>
              <a:rPr lang="en-US" dirty="0"/>
              <a:t>		</a:t>
            </a:r>
            <a:r>
              <a:rPr lang="en-US" dirty="0" err="1"/>
              <a:t>self.max_col_size</a:t>
            </a:r>
            <a:r>
              <a:rPr lang="en-US" dirty="0"/>
              <a:t> += [0] * n</a:t>
            </a:r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Programming 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Coding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/>
          <p:cNvCxnSpPr/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token probabilities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iteration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Copyright-Retained Tokenizer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</a:p>
        </p:txBody>
      </p:sp>
      <p:cxnSp>
        <p:nvCxnSpPr>
          <p:cNvPr id="102" name="Elbow Connector 101"/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9" name="Rectangle 128"/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0" name="Rectangle 129"/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1" name="Rectangle 130"/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3" name="Rectangle 132"/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4" name="Rectangle 133"/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/>
          <p:cNvCxnSpPr/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</a:p>
        </p:txBody>
      </p:sp>
      <p:cxnSp>
        <p:nvCxnSpPr>
          <p:cNvPr id="139" name="Elbow Connector 138"/>
          <p:cNvCxnSpPr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</a:p>
          <a:p>
            <a:r>
              <a:rPr lang="en-US" dirty="0"/>
              <a:t>	…</a:t>
            </a:r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81899" y="7383650"/>
            <a:ext cx="305656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62846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22561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06496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9920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0205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897278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10288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93039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6863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175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76558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48332" y="7655663"/>
            <a:ext cx="71923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807176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207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234821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894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423292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765497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900914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36331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17174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376093" y="7932518"/>
            <a:ext cx="38099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787228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2645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592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1337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4612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19467" y="8212592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082233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1765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35306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4864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5740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71477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92413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70005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53733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99603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83331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29200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8185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2772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57359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40028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34266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28692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3279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57866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82674" y="7655663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582674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900810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585710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914299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42888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7718903" y="7413683"/>
            <a:ext cx="5968935" cy="436290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338" y="5708136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6853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251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70253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83211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7739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70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85424" y="3949260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362068" y="613393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08583" y="5453132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666" y="7584190"/>
            <a:ext cx="1130986" cy="1130986"/>
          </a:xfrm>
          <a:prstGeom prst="rect">
            <a:avLst/>
          </a:prstGeom>
        </p:spPr>
      </p:pic>
      <p:cxnSp>
        <p:nvCxnSpPr>
          <p:cNvPr id="51" name="Straight Arrow Connector 50"/>
          <p:cNvCxnSpPr/>
          <p:nvPr/>
        </p:nvCxnSpPr>
        <p:spPr>
          <a:xfrm>
            <a:off x="24383245" y="655539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4725810" y="6016266"/>
            <a:ext cx="93006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1263125" y="579700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10800000">
            <a:off x="21233887" y="6815372"/>
            <a:ext cx="2094696" cy="683382"/>
          </a:xfrm>
          <a:custGeom>
            <a:avLst/>
            <a:gdLst>
              <a:gd name="connsiteX0" fmla="*/ 0 w 3404751"/>
              <a:gd name="connsiteY0" fmla="*/ 3632919 h 3632919"/>
              <a:gd name="connsiteX1" fmla="*/ 3404751 w 3404751"/>
              <a:gd name="connsiteY1" fmla="*/ 0 h 3632919"/>
              <a:gd name="connsiteX2" fmla="*/ 3404751 w 3404751"/>
              <a:gd name="connsiteY2" fmla="*/ 3632919 h 3632919"/>
              <a:gd name="connsiteX3" fmla="*/ 0 w 3404751"/>
              <a:gd name="connsiteY3" fmla="*/ 3632919 h 3632919"/>
              <a:gd name="connsiteX0-1" fmla="*/ 0 w 3404751"/>
              <a:gd name="connsiteY0-2" fmla="*/ 3632919 h 3632919"/>
              <a:gd name="connsiteX1-3" fmla="*/ 3404751 w 3404751"/>
              <a:gd name="connsiteY1-4" fmla="*/ 0 h 3632919"/>
              <a:gd name="connsiteX2-5" fmla="*/ 1982351 w 3404751"/>
              <a:gd name="connsiteY2-6" fmla="*/ 3632919 h 3632919"/>
              <a:gd name="connsiteX3-7" fmla="*/ 0 w 3404751"/>
              <a:gd name="connsiteY3-8" fmla="*/ 3632919 h 363291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404751" h="3632919">
                <a:moveTo>
                  <a:pt x="0" y="3632919"/>
                </a:moveTo>
                <a:lnTo>
                  <a:pt x="3404751" y="0"/>
                </a:lnTo>
                <a:lnTo>
                  <a:pt x="1982351" y="3632919"/>
                </a:lnTo>
                <a:lnTo>
                  <a:pt x="0" y="3632919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7852304" y="6022203"/>
            <a:ext cx="1318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103" name="TextBox 102"/>
          <p:cNvSpPr txBox="1"/>
          <p:nvPr/>
        </p:nvSpPr>
        <p:spPr>
          <a:xfrm>
            <a:off x="20696897" y="8827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7728868" y="5334511"/>
            <a:ext cx="6402505" cy="3818241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7073994" y="7773031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7389366" y="8054304"/>
            <a:ext cx="366722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Truncating and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Averaging (Summing?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18136" y="3811155"/>
            <a:ext cx="3996000" cy="115488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			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618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5756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72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44626" y="8013814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60038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>
            <a:off x="14768139" y="5535668"/>
            <a:ext cx="0" cy="1655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1790608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4" name="TextBox 483"/>
          <p:cNvSpPr txBox="1"/>
          <p:nvPr/>
        </p:nvSpPr>
        <p:spPr>
          <a:xfrm>
            <a:off x="15190341" y="6754864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Variable Token Resumption</a:t>
            </a:r>
          </a:p>
        </p:txBody>
      </p:sp>
      <p:pic>
        <p:nvPicPr>
          <p:cNvPr id="486" name="Picture 48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49924" y="13036598"/>
            <a:ext cx="1071702" cy="1071702"/>
          </a:xfrm>
          <a:prstGeom prst="rect">
            <a:avLst/>
          </a:prstGeom>
        </p:spPr>
      </p:pic>
      <p:sp>
        <p:nvSpPr>
          <p:cNvPr id="546" name="TextBox 545"/>
          <p:cNvSpPr txBox="1"/>
          <p:nvPr/>
        </p:nvSpPr>
        <p:spPr>
          <a:xfrm>
            <a:off x="13998901" y="5016268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14087723" y="8724771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5955296" y="12239087"/>
            <a:ext cx="403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48" idx="1"/>
          </p:cNvCxnSpPr>
          <p:nvPr/>
        </p:nvCxnSpPr>
        <p:spPr>
          <a:xfrm flipV="1">
            <a:off x="11262652" y="4387361"/>
            <a:ext cx="1600688" cy="3762322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1293562" y="5868338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Tokenizing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18226883" y="487971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8707830" y="4879711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856754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9751480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9054904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9195189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9542262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20340497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20623248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4" name="TextBox 613"/>
          <p:cNvSpPr txBox="1"/>
          <p:nvPr/>
        </p:nvSpPr>
        <p:spPr>
          <a:xfrm>
            <a:off x="20837072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2098196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6" name="TextBox 615"/>
          <p:cNvSpPr txBox="1"/>
          <p:nvPr/>
        </p:nvSpPr>
        <p:spPr>
          <a:xfrm>
            <a:off x="21195789" y="4879711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1478541" y="487971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223738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22382279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0" name="TextBox 619"/>
          <p:cNvSpPr txBox="1"/>
          <p:nvPr/>
        </p:nvSpPr>
        <p:spPr>
          <a:xfrm>
            <a:off x="22665030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23718563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2" name="TextBox 621"/>
          <p:cNvSpPr txBox="1"/>
          <p:nvPr/>
        </p:nvSpPr>
        <p:spPr>
          <a:xfrm>
            <a:off x="23923498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3" name="TextBox 622"/>
          <p:cNvSpPr txBox="1"/>
          <p:nvPr/>
        </p:nvSpPr>
        <p:spPr>
          <a:xfrm>
            <a:off x="24266291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4" name="TextBox 623"/>
          <p:cNvSpPr txBox="1"/>
          <p:nvPr/>
        </p:nvSpPr>
        <p:spPr>
          <a:xfrm>
            <a:off x="2440229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5" name="TextBox 624"/>
          <p:cNvSpPr txBox="1"/>
          <p:nvPr/>
        </p:nvSpPr>
        <p:spPr>
          <a:xfrm>
            <a:off x="24538303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6" name="TextBox 625"/>
          <p:cNvSpPr txBox="1"/>
          <p:nvPr/>
        </p:nvSpPr>
        <p:spPr>
          <a:xfrm>
            <a:off x="24674309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7" name="TextBox 626"/>
          <p:cNvSpPr txBox="1"/>
          <p:nvPr/>
        </p:nvSpPr>
        <p:spPr>
          <a:xfrm>
            <a:off x="24879244" y="487971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529096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5426973" y="4879711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6321200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6457206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659321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2287885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679815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20012883" y="4879711"/>
            <a:ext cx="288000" cy="230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23081113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23399838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938396" y="4225969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15009475" y="5868338"/>
            <a:ext cx="2159597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Variable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Resumption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54" name="Rectangle 653"/>
          <p:cNvSpPr/>
          <p:nvPr/>
        </p:nvSpPr>
        <p:spPr>
          <a:xfrm>
            <a:off x="19362068" y="660531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55" name="Rectangle 654"/>
          <p:cNvSpPr/>
          <p:nvPr/>
        </p:nvSpPr>
        <p:spPr>
          <a:xfrm>
            <a:off x="20068718" y="660531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0" name="Rectangle 659"/>
          <p:cNvSpPr/>
          <p:nvPr/>
        </p:nvSpPr>
        <p:spPr>
          <a:xfrm>
            <a:off x="193620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61" name="Rectangle 660"/>
          <p:cNvSpPr/>
          <p:nvPr/>
        </p:nvSpPr>
        <p:spPr>
          <a:xfrm>
            <a:off x="20068718" y="705542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2" name="Rectangle 661"/>
          <p:cNvSpPr/>
          <p:nvPr/>
        </p:nvSpPr>
        <p:spPr>
          <a:xfrm>
            <a:off x="207753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66" name="Rectangle 665"/>
          <p:cNvSpPr/>
          <p:nvPr/>
        </p:nvSpPr>
        <p:spPr>
          <a:xfrm>
            <a:off x="1936206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67" name="Rectangle 666"/>
          <p:cNvSpPr/>
          <p:nvPr/>
        </p:nvSpPr>
        <p:spPr>
          <a:xfrm>
            <a:off x="20068718" y="752679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8" name="Rectangle 667"/>
          <p:cNvSpPr/>
          <p:nvPr/>
        </p:nvSpPr>
        <p:spPr>
          <a:xfrm>
            <a:off x="20775368" y="7526799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69" name="Rectangle 668"/>
          <p:cNvSpPr/>
          <p:nvPr/>
        </p:nvSpPr>
        <p:spPr>
          <a:xfrm>
            <a:off x="2148201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72" name="Rectangle 671"/>
          <p:cNvSpPr/>
          <p:nvPr/>
        </p:nvSpPr>
        <p:spPr>
          <a:xfrm>
            <a:off x="193620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3" name="Rectangle 672"/>
          <p:cNvSpPr/>
          <p:nvPr/>
        </p:nvSpPr>
        <p:spPr>
          <a:xfrm>
            <a:off x="20068718" y="797690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74" name="Rectangle 673"/>
          <p:cNvSpPr/>
          <p:nvPr/>
        </p:nvSpPr>
        <p:spPr>
          <a:xfrm>
            <a:off x="207753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75" name="Rectangle 674"/>
          <p:cNvSpPr/>
          <p:nvPr/>
        </p:nvSpPr>
        <p:spPr>
          <a:xfrm>
            <a:off x="2148201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76" name="Rectangle 675"/>
          <p:cNvSpPr/>
          <p:nvPr/>
        </p:nvSpPr>
        <p:spPr>
          <a:xfrm>
            <a:off x="221886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8" name="Rectangle 677"/>
          <p:cNvSpPr/>
          <p:nvPr/>
        </p:nvSpPr>
        <p:spPr>
          <a:xfrm>
            <a:off x="193620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9" name="Rectangle 678"/>
          <p:cNvSpPr/>
          <p:nvPr/>
        </p:nvSpPr>
        <p:spPr>
          <a:xfrm>
            <a:off x="20068718" y="84482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80" name="Rectangle 679"/>
          <p:cNvSpPr/>
          <p:nvPr/>
        </p:nvSpPr>
        <p:spPr>
          <a:xfrm>
            <a:off x="20775368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81" name="Rectangle 680"/>
          <p:cNvSpPr/>
          <p:nvPr/>
        </p:nvSpPr>
        <p:spPr>
          <a:xfrm>
            <a:off x="2148201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82" name="Rectangle 681"/>
          <p:cNvSpPr/>
          <p:nvPr/>
        </p:nvSpPr>
        <p:spPr>
          <a:xfrm>
            <a:off x="221886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83" name="Rectangle 682"/>
          <p:cNvSpPr/>
          <p:nvPr/>
        </p:nvSpPr>
        <p:spPr>
          <a:xfrm>
            <a:off x="22895319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684" name="TextBox 683"/>
          <p:cNvSpPr txBox="1"/>
          <p:nvPr/>
        </p:nvSpPr>
        <p:spPr>
          <a:xfrm>
            <a:off x="17852304" y="6524632"/>
            <a:ext cx="13983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5" name="TextBox 684"/>
          <p:cNvSpPr txBox="1"/>
          <p:nvPr/>
        </p:nvSpPr>
        <p:spPr>
          <a:xfrm>
            <a:off x="17852304" y="7013411"/>
            <a:ext cx="1353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6" name="TextBox 685"/>
          <p:cNvSpPr txBox="1"/>
          <p:nvPr/>
        </p:nvSpPr>
        <p:spPr>
          <a:xfrm>
            <a:off x="17852304" y="7459133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7" name="TextBox 686"/>
          <p:cNvSpPr txBox="1"/>
          <p:nvPr/>
        </p:nvSpPr>
        <p:spPr>
          <a:xfrm>
            <a:off x="17852304" y="7934857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8" name="TextBox 687"/>
          <p:cNvSpPr txBox="1"/>
          <p:nvPr/>
        </p:nvSpPr>
        <p:spPr>
          <a:xfrm>
            <a:off x="17852304" y="8423636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90" name="TextBox 689"/>
          <p:cNvSpPr txBox="1"/>
          <p:nvPr/>
        </p:nvSpPr>
        <p:spPr>
          <a:xfrm>
            <a:off x="17779704" y="9949328"/>
            <a:ext cx="21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691" name="Rectangle 690"/>
          <p:cNvSpPr/>
          <p:nvPr/>
        </p:nvSpPr>
        <p:spPr>
          <a:xfrm>
            <a:off x="193811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92" name="Rectangle 691"/>
          <p:cNvSpPr/>
          <p:nvPr/>
        </p:nvSpPr>
        <p:spPr>
          <a:xfrm>
            <a:off x="20087768" y="103913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94" name="Rectangle 693"/>
          <p:cNvSpPr/>
          <p:nvPr/>
        </p:nvSpPr>
        <p:spPr>
          <a:xfrm>
            <a:off x="2150106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95" name="Rectangle 694"/>
          <p:cNvSpPr/>
          <p:nvPr/>
        </p:nvSpPr>
        <p:spPr>
          <a:xfrm>
            <a:off x="222077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cxnSp>
        <p:nvCxnSpPr>
          <p:cNvPr id="698" name="Straight Arrow Connector 697"/>
          <p:cNvCxnSpPr/>
          <p:nvPr/>
        </p:nvCxnSpPr>
        <p:spPr>
          <a:xfrm>
            <a:off x="20589062" y="9270138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9" name="TextBox 698"/>
          <p:cNvSpPr txBox="1"/>
          <p:nvPr/>
        </p:nvSpPr>
        <p:spPr>
          <a:xfrm>
            <a:off x="20917697" y="9316945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cxnSp>
        <p:nvCxnSpPr>
          <p:cNvPr id="700" name="Elbow Connector 699"/>
          <p:cNvCxnSpPr>
            <a:stCxn id="60" idx="3"/>
            <a:endCxn id="652" idx="1"/>
          </p:cNvCxnSpPr>
          <p:nvPr/>
        </p:nvCxnSpPr>
        <p:spPr>
          <a:xfrm flipV="1">
            <a:off x="17175898" y="4410635"/>
            <a:ext cx="762498" cy="3638454"/>
          </a:xfrm>
          <a:prstGeom prst="bentConnector3">
            <a:avLst>
              <a:gd name="adj1" fmla="val 31065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5" name="Rectangle 704"/>
          <p:cNvSpPr/>
          <p:nvPr/>
        </p:nvSpPr>
        <p:spPr>
          <a:xfrm>
            <a:off x="26367606" y="6033787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706" name="Rectangle 705"/>
          <p:cNvSpPr/>
          <p:nvPr/>
        </p:nvSpPr>
        <p:spPr>
          <a:xfrm>
            <a:off x="26367606" y="640390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0.48</a:t>
            </a:r>
          </a:p>
        </p:txBody>
      </p:sp>
      <p:sp>
        <p:nvSpPr>
          <p:cNvPr id="707" name="Rectangle 706"/>
          <p:cNvSpPr/>
          <p:nvPr/>
        </p:nvSpPr>
        <p:spPr>
          <a:xfrm>
            <a:off x="26367606" y="6774022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0.38</a:t>
            </a:r>
          </a:p>
        </p:txBody>
      </p:sp>
      <p:sp>
        <p:nvSpPr>
          <p:cNvPr id="710" name="Rectangle 709"/>
          <p:cNvSpPr/>
          <p:nvPr/>
        </p:nvSpPr>
        <p:spPr>
          <a:xfrm>
            <a:off x="26367606" y="5663670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711" name="Rectangle 710"/>
          <p:cNvSpPr/>
          <p:nvPr/>
        </p:nvSpPr>
        <p:spPr>
          <a:xfrm>
            <a:off x="27052268" y="5663670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2" name="Rectangle 711"/>
          <p:cNvSpPr/>
          <p:nvPr/>
        </p:nvSpPr>
        <p:spPr>
          <a:xfrm>
            <a:off x="27052268" y="6033787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3" name="Rectangle 712"/>
          <p:cNvSpPr/>
          <p:nvPr/>
        </p:nvSpPr>
        <p:spPr>
          <a:xfrm>
            <a:off x="27052268" y="6403904"/>
            <a:ext cx="163674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6" name="Rectangle 715"/>
          <p:cNvSpPr/>
          <p:nvPr/>
        </p:nvSpPr>
        <p:spPr>
          <a:xfrm>
            <a:off x="27052268" y="6774022"/>
            <a:ext cx="1292445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9" name="TextBox 718"/>
          <p:cNvSpPr txBox="1"/>
          <p:nvPr/>
        </p:nvSpPr>
        <p:spPr>
          <a:xfrm>
            <a:off x="26787120" y="9032088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30474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8039628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8156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7302" y="8035489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19306" y="6186517"/>
            <a:ext cx="81644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Tasks Using Prior Knowlledge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36" y="9467155"/>
            <a:ext cx="1040112" cy="10401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26960" y="9724934"/>
            <a:ext cx="56272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LLM Trained Using Open Source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922" y="3594290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100922" y="7270382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27008" y="844858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008" y="8149683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27008" y="784620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1869" y="80558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368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805436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2958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23835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93761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27665" y="11491845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910" y="11996486"/>
            <a:ext cx="1040112" cy="1040112"/>
          </a:xfrm>
          <a:prstGeom prst="rect">
            <a:avLst/>
          </a:prstGeom>
        </p:spPr>
      </p:pic>
      <p:sp>
        <p:nvSpPr>
          <p:cNvPr id="406" name="TextBox 405"/>
          <p:cNvSpPr txBox="1"/>
          <p:nvPr/>
        </p:nvSpPr>
        <p:spPr>
          <a:xfrm>
            <a:off x="12980042" y="3855617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3460989" y="3855617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3320704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4504639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3808063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948348" y="385561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4295421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3308431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3591182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3805006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949899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4163723" y="4127630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4446475" y="4127630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5205319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5350213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5632964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3617089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3821435" y="440448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4163640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4299057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4434474" y="4404485"/>
            <a:ext cx="105281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4569890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4774236" y="4404485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5185371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5320788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5594063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5729480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6002755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6480376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6615793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6751209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5846789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955550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6138171" y="4404485"/>
            <a:ext cx="312068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980817" y="4127630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980817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3298953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863340" y="3773444"/>
            <a:ext cx="4338047" cy="1227834"/>
          </a:xfrm>
          <a:prstGeom prst="roundRect">
            <a:avLst>
              <a:gd name="adj" fmla="val 2712"/>
            </a:avLst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>
            <a:stCxn id="4" idx="3"/>
            <a:endCxn id="48" idx="1"/>
          </p:cNvCxnSpPr>
          <p:nvPr/>
        </p:nvCxnSpPr>
        <p:spPr>
          <a:xfrm flipV="1">
            <a:off x="11214136" y="4387361"/>
            <a:ext cx="1649204" cy="123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/>
          <p:cNvGrpSpPr/>
          <p:nvPr/>
        </p:nvGrpSpPr>
        <p:grpSpPr>
          <a:xfrm>
            <a:off x="12837851" y="7435172"/>
            <a:ext cx="4338047" cy="1227834"/>
            <a:chOff x="12661458" y="7114474"/>
            <a:chExt cx="4338047" cy="1227834"/>
          </a:xfrm>
        </p:grpSpPr>
        <p:sp>
          <p:nvSpPr>
            <p:cNvPr id="488" name="TextBox 487"/>
            <p:cNvSpPr txBox="1"/>
            <p:nvPr/>
          </p:nvSpPr>
          <p:spPr>
            <a:xfrm>
              <a:off x="12828913" y="7186215"/>
              <a:ext cx="305656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795E26"/>
                  </a:solidFill>
                  <a:latin typeface="Menlo" panose="020B0609030804020204" pitchFamily="49" charset="0"/>
                </a:rPr>
                <a:t>add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89" name="TextBox 488"/>
            <p:cNvSpPr txBox="1"/>
            <p:nvPr/>
          </p:nvSpPr>
          <p:spPr>
            <a:xfrm>
              <a:off x="13309860" y="7186215"/>
              <a:ext cx="312068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001080"/>
                  </a:solidFill>
                </a:rPr>
                <a:t>self</a:t>
              </a:r>
              <a:endParaRPr lang="en-US" sz="900" dirty="0">
                <a:solidFill>
                  <a:srgbClr val="3B3B3B"/>
                </a:solidFill>
              </a:endParaRPr>
            </a:p>
          </p:txBody>
        </p:sp>
        <p:sp>
          <p:nvSpPr>
            <p:cNvPr id="490" name="TextBox 489"/>
            <p:cNvSpPr txBox="1"/>
            <p:nvPr/>
          </p:nvSpPr>
          <p:spPr>
            <a:xfrm>
              <a:off x="13169575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3B3B3B"/>
                  </a:solidFill>
                </a:rPr>
                <a:t>(</a:t>
              </a:r>
            </a:p>
          </p:txBody>
        </p:sp>
        <p:sp>
          <p:nvSpPr>
            <p:cNvPr id="491" name="TextBox 490"/>
            <p:cNvSpPr txBox="1"/>
            <p:nvPr/>
          </p:nvSpPr>
          <p:spPr>
            <a:xfrm>
              <a:off x="14353510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492" name="TextBox 491"/>
            <p:cNvSpPr txBox="1"/>
            <p:nvPr/>
          </p:nvSpPr>
          <p:spPr>
            <a:xfrm>
              <a:off x="13656934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/>
                <a:t>,</a:t>
              </a:r>
            </a:p>
          </p:txBody>
        </p:sp>
        <p:sp>
          <p:nvSpPr>
            <p:cNvPr id="493" name="TextBox 492"/>
            <p:cNvSpPr txBox="1"/>
            <p:nvPr/>
          </p:nvSpPr>
          <p:spPr>
            <a:xfrm>
              <a:off x="13797219" y="7186215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4" name="TextBox 493"/>
            <p:cNvSpPr txBox="1"/>
            <p:nvPr/>
          </p:nvSpPr>
          <p:spPr>
            <a:xfrm>
              <a:off x="14144292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3B3B3B"/>
                  </a:solidFill>
                </a:rPr>
                <a:t>):</a:t>
              </a:r>
            </a:p>
          </p:txBody>
        </p:sp>
        <p:sp>
          <p:nvSpPr>
            <p:cNvPr id="495" name="TextBox 494"/>
            <p:cNvSpPr txBox="1"/>
            <p:nvPr/>
          </p:nvSpPr>
          <p:spPr>
            <a:xfrm>
              <a:off x="13157302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for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6" name="TextBox 495"/>
            <p:cNvSpPr txBox="1"/>
            <p:nvPr/>
          </p:nvSpPr>
          <p:spPr>
            <a:xfrm>
              <a:off x="13440053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7" name="TextBox 496"/>
            <p:cNvSpPr txBox="1"/>
            <p:nvPr/>
          </p:nvSpPr>
          <p:spPr>
            <a:xfrm>
              <a:off x="13653877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,</a:t>
              </a:r>
            </a:p>
          </p:txBody>
        </p:sp>
        <p:sp>
          <p:nvSpPr>
            <p:cNvPr id="498" name="TextBox 497"/>
            <p:cNvSpPr txBox="1"/>
            <p:nvPr/>
          </p:nvSpPr>
          <p:spPr>
            <a:xfrm>
              <a:off x="13798770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9" name="TextBox 498"/>
            <p:cNvSpPr txBox="1"/>
            <p:nvPr/>
          </p:nvSpPr>
          <p:spPr>
            <a:xfrm>
              <a:off x="14012594" y="7458228"/>
              <a:ext cx="243139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0" name="TextBox 499"/>
            <p:cNvSpPr txBox="1"/>
            <p:nvPr/>
          </p:nvSpPr>
          <p:spPr>
            <a:xfrm>
              <a:off x="14295346" y="7458228"/>
              <a:ext cx="71923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267F99"/>
                  </a:solidFill>
                  <a:latin typeface="Menlo" panose="020B0609030804020204" pitchFamily="49" charset="0"/>
                </a:rPr>
                <a:t>enumerate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1" name="TextBox 500"/>
            <p:cNvSpPr txBox="1"/>
            <p:nvPr/>
          </p:nvSpPr>
          <p:spPr>
            <a:xfrm>
              <a:off x="15054190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</a:p>
          </p:txBody>
        </p:sp>
        <p:sp>
          <p:nvSpPr>
            <p:cNvPr id="502" name="TextBox 501"/>
            <p:cNvSpPr txBox="1"/>
            <p:nvPr/>
          </p:nvSpPr>
          <p:spPr>
            <a:xfrm>
              <a:off x="15199084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3" name="TextBox 502"/>
            <p:cNvSpPr txBox="1"/>
            <p:nvPr/>
          </p:nvSpPr>
          <p:spPr>
            <a:xfrm>
              <a:off x="15481835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):</a:t>
              </a:r>
            </a:p>
          </p:txBody>
        </p:sp>
        <p:sp>
          <p:nvSpPr>
            <p:cNvPr id="504" name="TextBox 503"/>
            <p:cNvSpPr txBox="1"/>
            <p:nvPr/>
          </p:nvSpPr>
          <p:spPr>
            <a:xfrm>
              <a:off x="13467138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5" name="TextBox 504"/>
            <p:cNvSpPr txBox="1"/>
            <p:nvPr/>
          </p:nvSpPr>
          <p:spPr>
            <a:xfrm>
              <a:off x="13672073" y="7735083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6" name="TextBox 505"/>
            <p:cNvSpPr txBox="1"/>
            <p:nvPr/>
          </p:nvSpPr>
          <p:spPr>
            <a:xfrm>
              <a:off x="14014866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(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7" name="TextBox 506"/>
            <p:cNvSpPr txBox="1"/>
            <p:nvPr/>
          </p:nvSpPr>
          <p:spPr>
            <a:xfrm>
              <a:off x="1415087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8" name="TextBox 507"/>
            <p:cNvSpPr txBox="1"/>
            <p:nvPr/>
          </p:nvSpPr>
          <p:spPr>
            <a:xfrm>
              <a:off x="14286878" y="7735083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)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9" name="TextBox 508"/>
            <p:cNvSpPr txBox="1"/>
            <p:nvPr/>
          </p:nvSpPr>
          <p:spPr>
            <a:xfrm>
              <a:off x="14422884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&gt;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0" name="TextBox 509"/>
            <p:cNvSpPr txBox="1"/>
            <p:nvPr/>
          </p:nvSpPr>
          <p:spPr>
            <a:xfrm>
              <a:off x="14627819" y="7735083"/>
              <a:ext cx="38099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1" name="TextBox 510"/>
            <p:cNvSpPr txBox="1"/>
            <p:nvPr/>
          </p:nvSpPr>
          <p:spPr>
            <a:xfrm>
              <a:off x="1503954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</a:p>
          </p:txBody>
        </p:sp>
        <p:sp>
          <p:nvSpPr>
            <p:cNvPr id="512" name="TextBox 511"/>
            <p:cNvSpPr txBox="1"/>
            <p:nvPr/>
          </p:nvSpPr>
          <p:spPr>
            <a:xfrm>
              <a:off x="15175548" y="7735083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6" name="TextBox 515"/>
            <p:cNvSpPr txBox="1"/>
            <p:nvPr/>
          </p:nvSpPr>
          <p:spPr>
            <a:xfrm>
              <a:off x="15641583" y="8011496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=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7" name="TextBox 516"/>
            <p:cNvSpPr txBox="1"/>
            <p:nvPr/>
          </p:nvSpPr>
          <p:spPr>
            <a:xfrm>
              <a:off x="16069775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</a:p>
          </p:txBody>
        </p:sp>
        <p:sp>
          <p:nvSpPr>
            <p:cNvPr id="518" name="TextBox 517"/>
            <p:cNvSpPr txBox="1"/>
            <p:nvPr/>
          </p:nvSpPr>
          <p:spPr>
            <a:xfrm>
              <a:off x="16205781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9" name="TextBox 518"/>
            <p:cNvSpPr txBox="1"/>
            <p:nvPr/>
          </p:nvSpPr>
          <p:spPr>
            <a:xfrm>
              <a:off x="1634178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]:</a:t>
              </a:r>
            </a:p>
          </p:txBody>
        </p:sp>
        <p:sp>
          <p:nvSpPr>
            <p:cNvPr id="520" name="TextBox 519"/>
            <p:cNvSpPr txBox="1"/>
            <p:nvPr/>
          </p:nvSpPr>
          <p:spPr>
            <a:xfrm>
              <a:off x="15695660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521" name="TextBox 520"/>
            <p:cNvSpPr txBox="1"/>
            <p:nvPr/>
          </p:nvSpPr>
          <p:spPr>
            <a:xfrm>
              <a:off x="1654672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522" name="TextBox 521"/>
            <p:cNvSpPr txBox="1"/>
            <p:nvPr/>
          </p:nvSpPr>
          <p:spPr>
            <a:xfrm>
              <a:off x="13812779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3" name="TextBox 522"/>
            <p:cNvSpPr txBox="1"/>
            <p:nvPr/>
          </p:nvSpPr>
          <p:spPr>
            <a:xfrm>
              <a:off x="14163532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</a:p>
          </p:txBody>
        </p:sp>
        <p:sp>
          <p:nvSpPr>
            <p:cNvPr id="529" name="TextBox 528"/>
            <p:cNvSpPr txBox="1"/>
            <p:nvPr/>
          </p:nvSpPr>
          <p:spPr>
            <a:xfrm>
              <a:off x="15209685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</a:p>
          </p:txBody>
        </p:sp>
        <p:sp>
          <p:nvSpPr>
            <p:cNvPr id="530" name="TextBox 529"/>
            <p:cNvSpPr txBox="1"/>
            <p:nvPr/>
          </p:nvSpPr>
          <p:spPr>
            <a:xfrm>
              <a:off x="1535365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1" name="TextBox 530"/>
            <p:cNvSpPr txBox="1"/>
            <p:nvPr/>
          </p:nvSpPr>
          <p:spPr>
            <a:xfrm>
              <a:off x="15497617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</a:t>
              </a:r>
            </a:p>
          </p:txBody>
        </p:sp>
        <p:sp>
          <p:nvSpPr>
            <p:cNvPr id="533" name="TextBox 532"/>
            <p:cNvSpPr txBox="1"/>
            <p:nvPr/>
          </p:nvSpPr>
          <p:spPr>
            <a:xfrm>
              <a:off x="15854478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4" name="TextBox 533"/>
            <p:cNvSpPr txBox="1"/>
            <p:nvPr/>
          </p:nvSpPr>
          <p:spPr>
            <a:xfrm>
              <a:off x="1620523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</a:p>
          </p:txBody>
        </p:sp>
        <p:sp>
          <p:nvSpPr>
            <p:cNvPr id="535" name="TextBox 534"/>
            <p:cNvSpPr txBox="1"/>
            <p:nvPr/>
          </p:nvSpPr>
          <p:spPr>
            <a:xfrm>
              <a:off x="16349197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6" name="TextBox 535"/>
            <p:cNvSpPr txBox="1"/>
            <p:nvPr/>
          </p:nvSpPr>
          <p:spPr>
            <a:xfrm>
              <a:off x="16493169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</a:t>
              </a:r>
            </a:p>
          </p:txBody>
        </p:sp>
        <p:sp>
          <p:nvSpPr>
            <p:cNvPr id="537" name="TextBox 536"/>
            <p:cNvSpPr txBox="1"/>
            <p:nvPr/>
          </p:nvSpPr>
          <p:spPr>
            <a:xfrm>
              <a:off x="12829688" y="7458228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38" name="TextBox 537"/>
            <p:cNvSpPr txBox="1"/>
            <p:nvPr/>
          </p:nvSpPr>
          <p:spPr>
            <a:xfrm>
              <a:off x="12829688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39" name="TextBox 538"/>
            <p:cNvSpPr txBox="1"/>
            <p:nvPr/>
          </p:nvSpPr>
          <p:spPr>
            <a:xfrm>
              <a:off x="13148413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0" name="TextBox 539"/>
            <p:cNvSpPr txBox="1"/>
            <p:nvPr/>
          </p:nvSpPr>
          <p:spPr>
            <a:xfrm>
              <a:off x="1283272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1" name="TextBox 540"/>
            <p:cNvSpPr txBox="1"/>
            <p:nvPr/>
          </p:nvSpPr>
          <p:spPr>
            <a:xfrm>
              <a:off x="13159409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2" name="TextBox 541"/>
            <p:cNvSpPr txBox="1"/>
            <p:nvPr/>
          </p:nvSpPr>
          <p:spPr>
            <a:xfrm>
              <a:off x="1348609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3" name="TextBox 542"/>
            <p:cNvSpPr txBox="1"/>
            <p:nvPr/>
          </p:nvSpPr>
          <p:spPr>
            <a:xfrm>
              <a:off x="14307498" y="8011496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2661458" y="7114474"/>
              <a:ext cx="4338047" cy="1227834"/>
            </a:xfrm>
            <a:prstGeom prst="roundRect">
              <a:avLst>
                <a:gd name="adj" fmla="val 2712"/>
              </a:avLst>
            </a:prstGeom>
            <a:noFill/>
            <a:ln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2" name="Rounded Rectangle 601"/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4" name="Rounded Rectangle 643"/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1" name="Rounded Rectangle 750"/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2" name="Rounded Rectangle 641"/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7" name="Rounded Rectangle 756"/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9" name="Rounded Rectangle 748"/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-Owned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595976" y="5799288"/>
            <a:ext cx="16369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Enumerating each tokens</a:t>
            </a:r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7" name="TextBox 546"/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/>
          <p:cNvSpPr txBox="1"/>
          <p:nvPr/>
        </p:nvSpPr>
        <p:spPr>
          <a:xfrm>
            <a:off x="17325949" y="494497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7806896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7666611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8850546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8153970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8641328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19394959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19651867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19896101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0178853" y="494497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0906399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21145346" y="494497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1557069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1693075" y="4944971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2587302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2723308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2859314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3033346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Tokens</a:t>
            </a:r>
          </a:p>
        </p:txBody>
      </p:sp>
      <p:cxnSp>
        <p:nvCxnSpPr>
          <p:cNvPr id="700" name="Elbow Connector 699"/>
          <p:cNvCxnSpPr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/>
          <p:cNvSpPr txBox="1"/>
          <p:nvPr/>
        </p:nvSpPr>
        <p:spPr>
          <a:xfrm>
            <a:off x="25340281" y="8586982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67603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308" y="9353459"/>
            <a:ext cx="5611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84714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2051790" y="671064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532737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392452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3576387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2879811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3367169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2380179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2662930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2876754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02164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323547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3518223" y="6982659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4277067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442196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4704712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268883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2893183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3235388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3370805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3506222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3845984" y="7259514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4257119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4392536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466581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4801228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5074503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5552124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568754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582295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491853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02729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5209919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8" name="TextBox 487"/>
          <p:cNvSpPr txBox="1"/>
          <p:nvPr/>
        </p:nvSpPr>
        <p:spPr>
          <a:xfrm>
            <a:off x="12094472" y="8261145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89" name="TextBox 488"/>
          <p:cNvSpPr txBox="1"/>
          <p:nvPr/>
        </p:nvSpPr>
        <p:spPr>
          <a:xfrm>
            <a:off x="12575419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0" name="TextBox 489"/>
          <p:cNvSpPr txBox="1"/>
          <p:nvPr/>
        </p:nvSpPr>
        <p:spPr>
          <a:xfrm>
            <a:off x="12435134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13619069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12922493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93" name="TextBox 492"/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13409851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12422861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12705612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12919436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1306432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1327815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3560905" y="8533158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14319749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1446464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14747394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12732697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2937632" y="881001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13280425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1341643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13552437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3893378" y="881001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1430510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12" name="TextBox 511"/>
          <p:cNvSpPr txBox="1"/>
          <p:nvPr/>
        </p:nvSpPr>
        <p:spPr>
          <a:xfrm>
            <a:off x="14441107" y="8810013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5335334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15471340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560734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1496121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1581228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20097927" y="5315952"/>
            <a:ext cx="3302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Getting Conditioned Probabilities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900" dirty="0">
                <a:solidFill>
                  <a:srgbClr val="3B3B3B"/>
                </a:solidFill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22309565" y="58732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TextBox 470"/>
          <p:cNvSpPr txBox="1"/>
          <p:nvPr/>
        </p:nvSpPr>
        <p:spPr>
          <a:xfrm>
            <a:off x="22309565" y="610350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2" name="TextBox 471"/>
          <p:cNvSpPr txBox="1"/>
          <p:nvPr/>
        </p:nvSpPr>
        <p:spPr>
          <a:xfrm>
            <a:off x="22309565" y="6333782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5" name="Rectangle 474"/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0.98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?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Next Token Selection:</a:t>
            </a:r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0097927" y="7438484"/>
            <a:ext cx="3068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Syntax-Oriented Token Pruning</a:t>
            </a:r>
          </a:p>
        </p:txBody>
      </p:sp>
      <p:pic>
        <p:nvPicPr>
          <p:cNvPr id="122" name="Picture 1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/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418535" y="820256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899482" y="8761082"/>
            <a:ext cx="31206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759197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943132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8246556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733914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487545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744453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9988687" y="8761082"/>
            <a:ext cx="243139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20271439" y="8202566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8" name="TextBox 547"/>
          <p:cNvSpPr txBox="1"/>
          <p:nvPr/>
        </p:nvSpPr>
        <p:spPr>
          <a:xfrm>
            <a:off x="20998985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1237932" y="8202566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0" name="TextBox 549"/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2679888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22815894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6" name="TextBox 555"/>
          <p:cNvSpPr txBox="1"/>
          <p:nvPr/>
        </p:nvSpPr>
        <p:spPr>
          <a:xfrm>
            <a:off x="22951900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23125932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7361279" y="682214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7842226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7701941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8885876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8189300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8676658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9430289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9687197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9931431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20214183" y="682214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2" name="TextBox 571"/>
          <p:cNvSpPr txBox="1"/>
          <p:nvPr/>
        </p:nvSpPr>
        <p:spPr>
          <a:xfrm>
            <a:off x="20941729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21180676" y="682214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4" name="TextBox 573"/>
          <p:cNvSpPr txBox="1"/>
          <p:nvPr/>
        </p:nvSpPr>
        <p:spPr>
          <a:xfrm>
            <a:off x="21592399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21728405" y="682214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2622632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758638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2894644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068676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187144" y="8696209"/>
            <a:ext cx="1400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Pruned Tokens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2011025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26620868" y="6845629"/>
            <a:ext cx="30565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add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6242744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(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5606628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,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⌷row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6362877" y="6845629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for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4752412" y="6845629"/>
            <a:ext cx="71923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enumerate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25846894" y="6845629"/>
            <a:ext cx="38099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⌷self</a:t>
            </a:r>
          </a:p>
        </p:txBody>
      </p:sp>
      <p:sp>
        <p:nvSpPr>
          <p:cNvPr id="579" name="TextBox 578"/>
          <p:cNvSpPr txBox="1"/>
          <p:nvPr/>
        </p:nvSpPr>
        <p:spPr>
          <a:xfrm>
            <a:off x="27268295" y="6845629"/>
            <a:ext cx="86350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max_col_size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25726761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81" name="TextBox 580"/>
          <p:cNvSpPr txBox="1"/>
          <p:nvPr/>
        </p:nvSpPr>
        <p:spPr>
          <a:xfrm>
            <a:off x="25486495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i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90" name="Rectangle 589"/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1" name="Rectangle 590"/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2" name="Rectangle 591"/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5" name="Rectangle 594"/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6" name="Rectangle 595"/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7" name="Rectangle 596"/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8" name="Rectangle 597"/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00" name="Rectangle 599"/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/>
              <a:t>Tokenizing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Copyright</a:t>
            </a:r>
            <a:r>
              <a:rPr lang="en-US" altLang="zh-CN" dirty="0">
                <a:solidFill>
                  <a:schemeClr val="bg1"/>
                </a:solidFill>
              </a:rPr>
              <a:t>-Owned </a:t>
            </a:r>
            <a:r>
              <a:rPr lang="en-US" dirty="0">
                <a:solidFill>
                  <a:schemeClr val="bg1"/>
                </a:solidFill>
              </a:rPr>
              <a:t>Code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4115075" y="7642101"/>
            <a:ext cx="1988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Resuming variables</a:t>
            </a:r>
          </a:p>
        </p:txBody>
      </p:sp>
      <p:cxnSp>
        <p:nvCxnSpPr>
          <p:cNvPr id="665" name="Straight Arrow Connector 664"/>
          <p:cNvCxnSpPr/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/>
          <p:cNvSpPr txBox="1"/>
          <p:nvPr/>
        </p:nvSpPr>
        <p:spPr>
          <a:xfrm>
            <a:off x="19183039" y="9682164"/>
            <a:ext cx="2023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Our Solution</a:t>
            </a:r>
          </a:p>
        </p:txBody>
      </p:sp>
      <p:cxnSp>
        <p:nvCxnSpPr>
          <p:cNvPr id="693" name="Straight Arrow Connector 692"/>
          <p:cNvCxnSpPr/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/>
          <p:cNvCxnSpPr>
            <a:stCxn id="9" idx="0"/>
            <a:endCxn id="728" idx="0"/>
          </p:cNvCxnSpPr>
          <p:nvPr/>
        </p:nvCxnSpPr>
        <p:spPr>
          <a:xfrm rot="5400000" flipH="1" flipV="1">
            <a:off x="8756060" y="-1570924"/>
            <a:ext cx="194145" cy="1052457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/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Tokens with High Likelihood</a:t>
            </a: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/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cxnSp>
        <p:nvCxnSpPr>
          <p:cNvPr id="754" name="Straight Arrow Connector 753"/>
          <p:cNvCxnSpPr/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8" name="Rounded Rectangle 757"/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bg1"/>
                </a:solidFill>
              </a:rPr>
              <a:t>Variable</a:t>
            </a:r>
            <a:r>
              <a:rPr lang="zh-CN" altLang="en-US" sz="2400" i="1" dirty="0">
                <a:solidFill>
                  <a:schemeClr val="bg1"/>
                </a:solidFill>
              </a:rPr>
              <a:t> </a:t>
            </a:r>
            <a:r>
              <a:rPr lang="en-US" altLang="zh-CN" sz="2400" i="1" dirty="0">
                <a:solidFill>
                  <a:schemeClr val="bg1"/>
                </a:solidFill>
              </a:rPr>
              <a:t>Resumption</a:t>
            </a:r>
            <a:endParaRPr lang="en-US" sz="2400" i="1" dirty="0">
              <a:solidFill>
                <a:schemeClr val="bg1"/>
              </a:solidFill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Code Tokens</a:t>
            </a:r>
          </a:p>
        </p:txBody>
      </p:sp>
      <p:sp>
        <p:nvSpPr>
          <p:cNvPr id="760" name="Rounded Rectangle 759"/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1" name="TextBox 760"/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Token</a:t>
            </a:r>
            <a:r>
              <a:rPr lang="zh-CN" altLang="en-US" sz="1600" dirty="0"/>
              <a:t> </a:t>
            </a:r>
            <a:r>
              <a:rPr lang="en-US" altLang="zh-CN" sz="1600" dirty="0"/>
              <a:t>Probabilities</a:t>
            </a:r>
            <a:endParaRPr lang="en-US" sz="1600" dirty="0"/>
          </a:p>
        </p:txBody>
      </p:sp>
      <p:sp>
        <p:nvSpPr>
          <p:cNvPr id="762" name="TextBox 761"/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Ranked</a:t>
            </a:r>
            <a:r>
              <a:rPr lang="zh-CN" altLang="en-US" dirty="0"/>
              <a:t> </a:t>
            </a:r>
            <a:r>
              <a:rPr lang="en-US" altLang="zh-CN" dirty="0"/>
              <a:t>Token Probabilities</a:t>
            </a:r>
            <a:endParaRPr lang="en-US" dirty="0"/>
          </a:p>
        </p:txBody>
      </p:sp>
      <p:sp>
        <p:nvSpPr>
          <p:cNvPr id="765" name="TextBox 764"/>
          <p:cNvSpPr txBox="1"/>
          <p:nvPr/>
        </p:nvSpPr>
        <p:spPr>
          <a:xfrm>
            <a:off x="21649655" y="8761082"/>
            <a:ext cx="105281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cxnSp>
        <p:nvCxnSpPr>
          <p:cNvPr id="384" name="Straight Arrow Connector 383"/>
          <p:cNvCxnSpPr>
            <a:stCxn id="550" idx="2"/>
            <a:endCxn id="765" idx="0"/>
          </p:cNvCxnSpPr>
          <p:nvPr/>
        </p:nvCxnSpPr>
        <p:spPr>
          <a:xfrm>
            <a:off x="21702296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 rot="16200000">
            <a:off x="24117301" y="4904644"/>
            <a:ext cx="623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1" name="TextBox 390"/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Truncating and Averaging Probabilities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16299543" y="10972800"/>
            <a:ext cx="1502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Member </a:t>
            </a:r>
          </a:p>
          <a:p>
            <a:r>
              <a:rPr lang="en-US" dirty="0"/>
              <a:t>Non-member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785661" y="8761082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cxnSp>
        <p:nvCxnSpPr>
          <p:cNvPr id="28" name="Straight Arrow Connector 27"/>
          <p:cNvCxnSpPr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4721840" y="10241280"/>
            <a:ext cx="3109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Self.max -&gt; self . max</a:t>
            </a:r>
          </a:p>
          <a:p>
            <a:r>
              <a:rPr lang="en-US" dirty="0"/>
              <a:t>Self.max_size -&gt; self. Max _ size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42800" y="9895840"/>
            <a:ext cx="2222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zh-CN" altLang="en-US" dirty="0"/>
              <a:t>：完整</a:t>
            </a:r>
            <a:r>
              <a:rPr lang="en-US" altLang="zh-CN" dirty="0"/>
              <a:t>variable </a:t>
            </a:r>
          </a:p>
          <a:p>
            <a:r>
              <a:rPr lang="en-US" dirty="0"/>
              <a:t>Token</a:t>
            </a:r>
            <a:r>
              <a:rPr lang="zh-CN" altLang="en-US" dirty="0"/>
              <a:t>：</a:t>
            </a:r>
            <a:r>
              <a:rPr lang="en-US" altLang="zh-CN" dirty="0"/>
              <a:t> variable</a:t>
            </a:r>
            <a:r>
              <a:rPr lang="zh-CN" altLang="en-US" dirty="0"/>
              <a:t>拆分</a:t>
            </a:r>
            <a:endParaRPr lang="en-US" dirty="0"/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TFmMWJmZjM1MTUzOGJhZGQ2YzVjZTI0ZGVkOTAwZTkifQ==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7CBF7FC-AB80-834B-9699-04AEF3BB5597}">
  <we:reference id="wa104381909" version="3.18.2.0" store="en-001" storeType="OMEX"/>
  <we:alternateReferences>
    <we:reference id="wa104381909" version="3.18.2.0" store="en-001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231</TotalTime>
  <Words>1868</Words>
  <Application>Microsoft Macintosh PowerPoint</Application>
  <PresentationFormat>Custom</PresentationFormat>
  <Paragraphs>979</Paragraphs>
  <Slides>7</Slides>
  <Notes>5</Notes>
  <HiddenSlides>6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Bradley Hand</vt:lpstr>
      <vt:lpstr>Calibri</vt:lpstr>
      <vt:lpstr>Calibri Light</vt:lpstr>
      <vt:lpstr>Consolas</vt:lpstr>
      <vt:lpstr>Menlo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Kaifeng Huang</dc:creator>
  <cp:lastModifiedBy>Kaifeng Huang</cp:lastModifiedBy>
  <cp:revision>39</cp:revision>
  <dcterms:created xsi:type="dcterms:W3CDTF">2025-06-02T15:22:00Z</dcterms:created>
  <dcterms:modified xsi:type="dcterms:W3CDTF">2025-07-23T09:21:58Z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493A1395599146C3BE4DF5A32EBEC8B3_12</vt:lpwstr>
  </property>
  <property fmtid="{D5CDD505-2E9C-101B-9397-08002B2CF9AE}" pid="3" name="KSOProductBuildVer">
    <vt:lpwstr>2052-12.1.0.16929</vt:lpwstr>
  </property>
</Properties>
</file>