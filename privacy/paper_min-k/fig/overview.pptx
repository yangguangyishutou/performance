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61" r:id="rId3"/>
    <p:sldId id="268" r:id="rId5"/>
    <p:sldId id="262" r:id="rId6"/>
    <p:sldId id="256" r:id="rId7"/>
    <p:sldId id="257" r:id="rId8"/>
    <p:sldId id="259" r:id="rId9"/>
    <p:sldId id="258" r:id="rId10"/>
    <p:sldId id="260" r:id="rId11"/>
  </p:sldIdLst>
  <p:sldSz cx="30192345" cy="17657445"/>
  <p:notesSz cx="6858000" cy="9144000"/>
  <p:custDataLst>
    <p:tags r:id="rId1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DF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53"/>
    <p:restoredTop sz="89930"/>
  </p:normalViewPr>
  <p:slideViewPr>
    <p:cSldViewPr snapToGrid="0">
      <p:cViewPr>
        <p:scale>
          <a:sx n="130" d="100"/>
          <a:sy n="130" d="100"/>
        </p:scale>
        <p:origin x="-14040" y="-3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gs" Target="tags/tag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24B96-F7A0-634D-924D-D34EE602F0F5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90575" y="1143000"/>
            <a:ext cx="5276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D576B-21C6-B14A-910C-AADE6C8F183E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  <a:endParaRPr lang="en-US" dirty="0"/>
          </a:p>
          <a:p>
            <a:r>
              <a:rPr lang="en-US" dirty="0"/>
              <a:t>Condition</a:t>
            </a:r>
            <a:endParaRPr lang="en-US" dirty="0"/>
          </a:p>
          <a:p>
            <a:r>
              <a:rPr lang="en-US" dirty="0"/>
              <a:t>Consequent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  <a:endParaRPr lang="en-US" dirty="0"/>
          </a:p>
          <a:p>
            <a:r>
              <a:rPr lang="en-US" dirty="0"/>
              <a:t>Condition</a:t>
            </a:r>
            <a:endParaRPr lang="en-US" dirty="0"/>
          </a:p>
          <a:p>
            <a:r>
              <a:rPr lang="en-US" dirty="0"/>
              <a:t>Consequent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90575" y="1143000"/>
            <a:ext cx="5276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4083" y="2889825"/>
            <a:ext cx="22644497" cy="6147517"/>
          </a:xfrm>
        </p:spPr>
        <p:txBody>
          <a:bodyPr anchor="b"/>
          <a:lstStyle>
            <a:lvl1pPr algn="ctr"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4083" y="9274414"/>
            <a:ext cx="22644497" cy="4263204"/>
          </a:xfrm>
        </p:spPr>
        <p:txBody>
          <a:bodyPr/>
          <a:lstStyle>
            <a:lvl1pPr marL="0" indent="0" algn="ctr">
              <a:buNone/>
              <a:defRPr sz="5945"/>
            </a:lvl1pPr>
            <a:lvl2pPr marL="1132205" indent="0" algn="ctr">
              <a:buNone/>
              <a:defRPr sz="4955"/>
            </a:lvl2pPr>
            <a:lvl3pPr marL="2264410" indent="0" algn="ctr">
              <a:buNone/>
              <a:defRPr sz="4460"/>
            </a:lvl3pPr>
            <a:lvl4pPr marL="3396615" indent="0" algn="ctr">
              <a:buNone/>
              <a:defRPr sz="3960"/>
            </a:lvl4pPr>
            <a:lvl5pPr marL="4528820" indent="0" algn="ctr">
              <a:buNone/>
              <a:defRPr sz="3960"/>
            </a:lvl5pPr>
            <a:lvl6pPr marL="5661025" indent="0" algn="ctr">
              <a:buNone/>
              <a:defRPr sz="3960"/>
            </a:lvl6pPr>
            <a:lvl7pPr marL="6793230" indent="0" algn="ctr">
              <a:buNone/>
              <a:defRPr sz="3960"/>
            </a:lvl7pPr>
            <a:lvl8pPr marL="7925435" indent="0" algn="ctr">
              <a:buNone/>
              <a:defRPr sz="3960"/>
            </a:lvl8pPr>
            <a:lvl9pPr marL="9057640" indent="0" algn="ctr">
              <a:buNone/>
              <a:defRPr sz="3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0020" y="4402181"/>
            <a:ext cx="26041172" cy="7345138"/>
          </a:xfrm>
        </p:spPr>
        <p:txBody>
          <a:bodyPr anchor="b"/>
          <a:lstStyle>
            <a:lvl1pPr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0020" y="11816807"/>
            <a:ext cx="26041172" cy="3862634"/>
          </a:xfrm>
        </p:spPr>
        <p:txBody>
          <a:bodyPr/>
          <a:lstStyle>
            <a:lvl1pPr marL="0" indent="0">
              <a:buNone/>
              <a:defRPr sz="5945">
                <a:solidFill>
                  <a:schemeClr val="tx1">
                    <a:tint val="75000"/>
                  </a:schemeClr>
                </a:solidFill>
              </a:defRPr>
            </a:lvl1pPr>
            <a:lvl2pPr marL="1132205" indent="0">
              <a:buNone/>
              <a:defRPr sz="4955">
                <a:solidFill>
                  <a:schemeClr val="tx1">
                    <a:tint val="75000"/>
                  </a:schemeClr>
                </a:solidFill>
              </a:defRPr>
            </a:lvl2pPr>
            <a:lvl3pPr marL="2264410" indent="0">
              <a:buNone/>
              <a:defRPr sz="4460">
                <a:solidFill>
                  <a:schemeClr val="tx1">
                    <a:tint val="75000"/>
                  </a:schemeClr>
                </a:solidFill>
              </a:defRPr>
            </a:lvl3pPr>
            <a:lvl4pPr marL="339661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4pPr>
            <a:lvl5pPr marL="452882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5pPr>
            <a:lvl6pPr marL="566102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6pPr>
            <a:lvl7pPr marL="679323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7pPr>
            <a:lvl8pPr marL="792543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8pPr>
            <a:lvl9pPr marL="905764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5745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85036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8" y="940114"/>
            <a:ext cx="26041172" cy="34130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680" y="4328606"/>
            <a:ext cx="12772910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9680" y="6449989"/>
            <a:ext cx="12772910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85036" y="4328606"/>
            <a:ext cx="12835814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85036" y="6449989"/>
            <a:ext cx="12835814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35814" y="2542392"/>
            <a:ext cx="15285036" cy="12548457"/>
          </a:xfrm>
        </p:spPr>
        <p:txBody>
          <a:bodyPr/>
          <a:lstStyle>
            <a:lvl1pPr>
              <a:defRPr sz="7925"/>
            </a:lvl1pPr>
            <a:lvl2pPr>
              <a:defRPr sz="6935"/>
            </a:lvl2pPr>
            <a:lvl3pPr>
              <a:defRPr sz="5945"/>
            </a:lvl3pPr>
            <a:lvl4pPr>
              <a:defRPr sz="4955"/>
            </a:lvl4pPr>
            <a:lvl5pPr>
              <a:defRPr sz="4955"/>
            </a:lvl5pPr>
            <a:lvl6pPr>
              <a:defRPr sz="4955"/>
            </a:lvl6pPr>
            <a:lvl7pPr>
              <a:defRPr sz="4955"/>
            </a:lvl7pPr>
            <a:lvl8pPr>
              <a:defRPr sz="4955"/>
            </a:lvl8pPr>
            <a:lvl9pPr>
              <a:defRPr sz="4955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35814" y="2542392"/>
            <a:ext cx="15285036" cy="12548457"/>
          </a:xfrm>
        </p:spPr>
        <p:txBody>
          <a:bodyPr anchor="t"/>
          <a:lstStyle>
            <a:lvl1pPr marL="0" indent="0">
              <a:buNone/>
              <a:defRPr sz="7925"/>
            </a:lvl1pPr>
            <a:lvl2pPr marL="1132205" indent="0">
              <a:buNone/>
              <a:defRPr sz="6935"/>
            </a:lvl2pPr>
            <a:lvl3pPr marL="2264410" indent="0">
              <a:buNone/>
              <a:defRPr sz="5945"/>
            </a:lvl3pPr>
            <a:lvl4pPr marL="3396615" indent="0">
              <a:buNone/>
              <a:defRPr sz="4955"/>
            </a:lvl4pPr>
            <a:lvl5pPr marL="4528820" indent="0">
              <a:buNone/>
              <a:defRPr sz="4955"/>
            </a:lvl5pPr>
            <a:lvl6pPr marL="5661025" indent="0">
              <a:buNone/>
              <a:defRPr sz="4955"/>
            </a:lvl6pPr>
            <a:lvl7pPr marL="6793230" indent="0">
              <a:buNone/>
              <a:defRPr sz="4955"/>
            </a:lvl7pPr>
            <a:lvl8pPr marL="7925435" indent="0">
              <a:buNone/>
              <a:defRPr sz="4955"/>
            </a:lvl8pPr>
            <a:lvl9pPr marL="9057640" indent="0">
              <a:buNone/>
              <a:defRPr sz="495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06624" y="940112"/>
            <a:ext cx="6510293" cy="149641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5745" y="940112"/>
            <a:ext cx="19153471" cy="149641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5746" y="940114"/>
            <a:ext cx="26041172" cy="34130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5746" y="4700562"/>
            <a:ext cx="26041172" cy="1120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5746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BCF0D1-8A85-2640-8DAD-57E45181406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01320" y="16366132"/>
            <a:ext cx="10190024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23568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47F7-C7C0-2445-994E-6F5509F3FC4A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264410" rtl="0" eaLnBrk="1" latinLnBrk="0" hangingPunct="1">
        <a:lnSpc>
          <a:spcPct val="90000"/>
        </a:lnSpc>
        <a:spcBef>
          <a:spcPct val="0"/>
        </a:spcBef>
        <a:buNone/>
        <a:defRPr sz="108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6420" indent="-566420" algn="l" defTabSz="2264410" rtl="0" eaLnBrk="1" latinLnBrk="0" hangingPunct="1">
        <a:lnSpc>
          <a:spcPct val="90000"/>
        </a:lnSpc>
        <a:spcBef>
          <a:spcPts val="2475"/>
        </a:spcBef>
        <a:buFont typeface="Arial" panose="020B0604020202020204" pitchFamily="34" charset="0"/>
        <a:buChar char="•"/>
        <a:defRPr sz="6935" kern="1200">
          <a:solidFill>
            <a:schemeClr val="tx1"/>
          </a:solidFill>
          <a:latin typeface="+mn-lt"/>
          <a:ea typeface="+mn-ea"/>
          <a:cs typeface="+mn-cs"/>
        </a:defRPr>
      </a:lvl1pPr>
      <a:lvl2pPr marL="169862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5945" kern="1200">
          <a:solidFill>
            <a:schemeClr val="tx1"/>
          </a:solidFill>
          <a:latin typeface="+mn-lt"/>
          <a:ea typeface="+mn-ea"/>
          <a:cs typeface="+mn-cs"/>
        </a:defRPr>
      </a:lvl2pPr>
      <a:lvl3pPr marL="283083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955" kern="1200">
          <a:solidFill>
            <a:schemeClr val="tx1"/>
          </a:solidFill>
          <a:latin typeface="+mn-lt"/>
          <a:ea typeface="+mn-ea"/>
          <a:cs typeface="+mn-cs"/>
        </a:defRPr>
      </a:lvl3pPr>
      <a:lvl4pPr marL="396303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509524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622744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735965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849185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62406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1pPr>
      <a:lvl2pPr marL="113220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2pPr>
      <a:lvl3pPr marL="226441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3pPr>
      <a:lvl4pPr marL="339661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452882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566102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679323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792543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05764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sv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1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sv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2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0.png"/><Relationship Id="rId7" Type="http://schemas.openxmlformats.org/officeDocument/2006/relationships/image" Target="../media/image7.sv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3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1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1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7.svg"/><Relationship Id="rId7" Type="http://schemas.openxmlformats.org/officeDocument/2006/relationships/image" Target="../media/image6.png"/><Relationship Id="rId6" Type="http://schemas.openxmlformats.org/officeDocument/2006/relationships/image" Target="../media/image5.png"/><Relationship Id="rId5" Type="http://schemas.openxmlformats.org/officeDocument/2006/relationships/image" Target="../media/image12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5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0.png"/><Relationship Id="rId7" Type="http://schemas.openxmlformats.org/officeDocument/2006/relationships/image" Target="../media/image7.sv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6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/>
          <p:cNvSpPr/>
          <p:nvPr/>
        </p:nvSpPr>
        <p:spPr>
          <a:xfrm>
            <a:off x="16728378" y="359428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03" name="Rounded Rectangle 602"/>
          <p:cNvSpPr/>
          <p:nvPr/>
        </p:nvSpPr>
        <p:spPr>
          <a:xfrm>
            <a:off x="16947667" y="7869393"/>
            <a:ext cx="4164517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6947667" y="7077752"/>
            <a:ext cx="4164517" cy="378000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823676" y="6765598"/>
            <a:ext cx="4393854" cy="156013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359429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63559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2059998" y="5222989"/>
            <a:ext cx="4156540" cy="145004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Language Syntax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Task Specification</a:t>
            </a:r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Copyright</a:t>
            </a:r>
            <a:r>
              <a:rPr lang="en-US" altLang="zh-CN" dirty="0">
                <a:latin typeface="Trebuchet MS" panose="020B0603020202020204" pitchFamily="34" charset="0"/>
              </a:rPr>
              <a:t>-Owned </a:t>
            </a:r>
            <a:r>
              <a:rPr lang="en-US" dirty="0">
                <a:latin typeface="Trebuchet MS" panose="020B0603020202020204" pitchFamily="34" charset="0"/>
              </a:rPr>
              <a:t>Code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For</a:t>
            </a:r>
            <a:endParaRPr lang="en-US" dirty="0">
              <a:latin typeface="Trebuchet MS" panose="020B06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If Else</a:t>
            </a:r>
            <a:endParaRPr lang="en-US" dirty="0">
              <a:latin typeface="Trebuchet MS" panose="020B06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Try except</a:t>
            </a:r>
            <a:endParaRPr lang="en-US" dirty="0">
              <a:latin typeface="Trebuchet MS" panose="020B06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…</a:t>
            </a:r>
            <a:endParaRPr lang="en-US" dirty="0">
              <a:latin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Programming</a:t>
            </a:r>
            <a:endParaRPr lang="en-US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9986" y="6669792"/>
            <a:ext cx="1130986" cy="1130986"/>
          </a:xfrm>
          <a:prstGeom prst="rect">
            <a:avLst/>
          </a:prstGeom>
        </p:spPr>
      </p:pic>
      <p:cxnSp>
        <p:nvCxnSpPr>
          <p:cNvPr id="136" name="Straight Arrow Connector 135"/>
          <p:cNvCxnSpPr>
            <a:endCxn id="390" idx="1"/>
          </p:cNvCxnSpPr>
          <p:nvPr/>
        </p:nvCxnSpPr>
        <p:spPr>
          <a:xfrm>
            <a:off x="21321882" y="5726215"/>
            <a:ext cx="38014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]: 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 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89730" y="66607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591667" y="70689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165109" y="70739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7099416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Collecting</a:t>
            </a:r>
            <a:endParaRPr lang="en-US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469" name="TextBox 468"/>
          <p:cNvSpPr txBox="1"/>
          <p:nvPr/>
        </p:nvSpPr>
        <p:spPr>
          <a:xfrm>
            <a:off x="6555150" y="7810373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Codebase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4067449" y="470368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5965137"/>
            <a:ext cx="989395" cy="1270148"/>
          </a:xfrm>
          <a:prstGeom prst="bentConnector3">
            <a:avLst>
              <a:gd name="adj1" fmla="val 43734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stCxn id="642" idx="3"/>
            <a:endCxn id="680" idx="1"/>
          </p:cNvCxnSpPr>
          <p:nvPr/>
        </p:nvCxnSpPr>
        <p:spPr>
          <a:xfrm flipV="1">
            <a:off x="16334221" y="596513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4525586" y="76977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77704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7810373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LLMs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138023" y="7121091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Training</a:t>
            </a:r>
            <a:endParaRPr lang="en-US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7310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Developer Accomplishing Programming Tasks</a:t>
            </a:r>
            <a:endParaRPr lang="en-US" sz="2800" dirty="0">
              <a:latin typeface="Trebuchet MS" panose="020B060302020202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589308" y="8439061"/>
            <a:ext cx="6088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Training LLMs Using Accesible Corpus</a:t>
            </a:r>
            <a:endParaRPr lang="en-US" sz="2800" dirty="0">
              <a:latin typeface="Trebuchet MS" panose="020B0603020202020204" pitchFamily="34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317956" y="733468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Trebuchet MS" panose="020B060302020202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317956" y="7035782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Trebuchet MS" panose="020B0603020202020204" pitchFamily="34" charset="0"/>
            </a:endParaRPr>
          </a:p>
          <a:p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673230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):…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10769" y="7557040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  <a:endParaRPr lang="en-US" dirty="0">
              <a:latin typeface="Trebuchet MS" panose="020B0603020202020204" pitchFamily="34" charset="0"/>
            </a:endParaRP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316" y="6713021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6888117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3906" y="7116077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7538409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884709" y="7810373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Code Resources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972403" y="5480528"/>
            <a:ext cx="2099944" cy="230832"/>
          </a:xfrm>
          <a:prstGeom prst="rect">
            <a:avLst/>
          </a:prstGeom>
          <a:noFill/>
          <a:ln w="12700">
            <a:noFill/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15304286" y="5302475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⌷in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15304286" y="5532751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name</a:t>
            </a:r>
            <a:endParaRPr lang="en-US" altLang="zh-CN" sz="900" dirty="0">
              <a:latin typeface="Trebuchet MS" panose="020B0603020202020204" pitchFamily="34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15304286" y="5763027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Id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15681485" y="5302475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0.84</a:t>
            </a:r>
            <a:endParaRPr lang="en-US" sz="1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477" name="Rectangle 476"/>
          <p:cNvSpPr/>
          <p:nvPr/>
        </p:nvSpPr>
        <p:spPr>
          <a:xfrm>
            <a:off x="15681485" y="5532751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0.04</a:t>
            </a:r>
            <a:endParaRPr lang="en-US" sz="1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478" name="Rectangle 477"/>
          <p:cNvSpPr/>
          <p:nvPr/>
        </p:nvSpPr>
        <p:spPr>
          <a:xfrm>
            <a:off x="15681485" y="5763027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0.03</a:t>
            </a:r>
            <a:endParaRPr lang="en-US" sz="1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3790141" y="5622071"/>
            <a:ext cx="144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13714678" y="5350791"/>
            <a:ext cx="1587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rebuchet MS" panose="020B0603020202020204" pitchFamily="34" charset="0"/>
              </a:rPr>
              <a:t>Next token selection:</a:t>
            </a:r>
            <a:endParaRPr lang="en-US" sz="1100" dirty="0">
              <a:latin typeface="Trebuchet MS" panose="020B0603020202020204" pitchFamily="34" charset="0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16921641" y="6730610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Retained Tokens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513" name="TextBox 512"/>
          <p:cNvSpPr txBox="1"/>
          <p:nvPr/>
        </p:nvSpPr>
        <p:spPr>
          <a:xfrm>
            <a:off x="17112004" y="7170937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572872" y="7970083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457475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4" name="TextBox 523"/>
          <p:cNvSpPr txBox="1"/>
          <p:nvPr/>
        </p:nvSpPr>
        <p:spPr>
          <a:xfrm>
            <a:off x="18620554" y="7970083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525" name="TextBox 524"/>
          <p:cNvSpPr txBox="1"/>
          <p:nvPr/>
        </p:nvSpPr>
        <p:spPr>
          <a:xfrm>
            <a:off x="17864113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26" name="TextBox 525"/>
          <p:cNvSpPr txBox="1"/>
          <p:nvPr/>
        </p:nvSpPr>
        <p:spPr>
          <a:xfrm>
            <a:off x="18003382" y="717093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421755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8" name="TextBox 527"/>
          <p:cNvSpPr txBox="1"/>
          <p:nvPr/>
        </p:nvSpPr>
        <p:spPr>
          <a:xfrm>
            <a:off x="19115494" y="7170937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308717" y="7170937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44" name="TextBox 543"/>
          <p:cNvSpPr txBox="1"/>
          <p:nvPr/>
        </p:nvSpPr>
        <p:spPr>
          <a:xfrm>
            <a:off x="19484831" y="7970083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19733131" y="717269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8820521" y="7970083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61" name="TextBox 560"/>
          <p:cNvSpPr txBox="1"/>
          <p:nvPr/>
        </p:nvSpPr>
        <p:spPr>
          <a:xfrm>
            <a:off x="12116825" y="610998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2597772" y="6109983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2457487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4" name="TextBox 563"/>
          <p:cNvSpPr txBox="1"/>
          <p:nvPr/>
        </p:nvSpPr>
        <p:spPr>
          <a:xfrm>
            <a:off x="13596268" y="6109983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565" name="TextBox 564"/>
          <p:cNvSpPr txBox="1"/>
          <p:nvPr/>
        </p:nvSpPr>
        <p:spPr>
          <a:xfrm>
            <a:off x="12871470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66" name="TextBox 565"/>
          <p:cNvSpPr txBox="1"/>
          <p:nvPr/>
        </p:nvSpPr>
        <p:spPr>
          <a:xfrm>
            <a:off x="13010739" y="610998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3392695" y="6109983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8" name="TextBox 567"/>
          <p:cNvSpPr txBox="1"/>
          <p:nvPr/>
        </p:nvSpPr>
        <p:spPr>
          <a:xfrm>
            <a:off x="14122851" y="6109983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4316074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70" name="TextBox 569"/>
          <p:cNvSpPr txBox="1"/>
          <p:nvPr/>
        </p:nvSpPr>
        <p:spPr>
          <a:xfrm>
            <a:off x="14498504" y="6109983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14740488" y="6109983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6001610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3800761" y="61099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12116825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2597772" y="6342273"/>
            <a:ext cx="223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12457487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13596268" y="6342273"/>
            <a:ext cx="14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12871470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13010739" y="6342273"/>
            <a:ext cx="3120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13392695" y="6342273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14122851" y="6342273"/>
            <a:ext cx="187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4276215" y="6342273"/>
            <a:ext cx="243139" cy="230400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14498504" y="6342273"/>
            <a:ext cx="2016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14740488" y="6342273"/>
            <a:ext cx="65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10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961751" y="634227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3801778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8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17585050" y="7170937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628700" y="7170937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419482" y="7170937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491147" y="7170937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8793404" y="7170937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7684022" y="7401769"/>
            <a:ext cx="12628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>
            <a:off x="18478882" y="7401769"/>
            <a:ext cx="2727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8690827" y="7401769"/>
            <a:ext cx="8073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>
            <a:off x="18937404" y="7401337"/>
            <a:ext cx="27117" cy="56874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19586363" y="7401769"/>
            <a:ext cx="5584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148853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12709210" y="4248751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Copyright</a:t>
            </a:r>
            <a:r>
              <a:rPr lang="en-US" altLang="zh-CN" dirty="0">
                <a:latin typeface="Trebuchet MS" panose="020B0603020202020204" pitchFamily="34" charset="0"/>
              </a:rPr>
              <a:t>-Owned </a:t>
            </a:r>
            <a:r>
              <a:rPr lang="en-US" dirty="0">
                <a:latin typeface="Trebuchet MS" panose="020B0603020202020204" pitchFamily="34" charset="0"/>
              </a:rPr>
              <a:t>Code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89" name="TextBox 688"/>
          <p:cNvSpPr txBox="1"/>
          <p:nvPr/>
        </p:nvSpPr>
        <p:spPr>
          <a:xfrm>
            <a:off x="19183039" y="8747886"/>
            <a:ext cx="2169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Our Solution</a:t>
            </a:r>
            <a:endParaRPr lang="en-US" sz="2800" dirty="0">
              <a:latin typeface="Trebuchet MS" panose="020B0603020202020204" pitchFamily="34" charset="0"/>
            </a:endParaRPr>
          </a:p>
        </p:txBody>
      </p:sp>
      <p:cxnSp>
        <p:nvCxnSpPr>
          <p:cNvPr id="725" name="Elbow Connector 724"/>
          <p:cNvCxnSpPr>
            <a:stCxn id="9" idx="0"/>
            <a:endCxn id="680" idx="0"/>
          </p:cNvCxnSpPr>
          <p:nvPr/>
        </p:nvCxnSpPr>
        <p:spPr>
          <a:xfrm rot="5400000" flipH="1" flipV="1">
            <a:off x="11243537" y="-3993159"/>
            <a:ext cx="194145" cy="1536904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Straight Arrow Connector 749"/>
          <p:cNvCxnSpPr/>
          <p:nvPr/>
        </p:nvCxnSpPr>
        <p:spPr>
          <a:xfrm flipH="1">
            <a:off x="14922058" y="588638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9167950" y="128931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723468" y="3735718"/>
            <a:ext cx="2955029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Token Preprocessing</a:t>
            </a:r>
            <a:endParaRPr lang="en-US" sz="2000" i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761" name="TextBox 760"/>
          <p:cNvSpPr txBox="1"/>
          <p:nvPr/>
        </p:nvSpPr>
        <p:spPr>
          <a:xfrm>
            <a:off x="12061257" y="5780982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Token and</a:t>
            </a:r>
            <a:r>
              <a:rPr lang="zh-CN" altLang="en-US" sz="1600" dirty="0">
                <a:latin typeface="Trebuchet MS" panose="020B0603020202020204" pitchFamily="34" charset="0"/>
              </a:rPr>
              <a:t> </a:t>
            </a:r>
            <a:r>
              <a:rPr lang="en-US" altLang="zh-CN" sz="1600" dirty="0">
                <a:latin typeface="Trebuchet MS" panose="020B0603020202020204" pitchFamily="34" charset="0"/>
              </a:rPr>
              <a:t>Probabilities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cxnSp>
        <p:nvCxnSpPr>
          <p:cNvPr id="384" name="Straight Arrow Connector 383"/>
          <p:cNvCxnSpPr>
            <a:stCxn id="65" idx="2"/>
            <a:endCxn id="66" idx="0"/>
          </p:cNvCxnSpPr>
          <p:nvPr/>
        </p:nvCxnSpPr>
        <p:spPr>
          <a:xfrm flipH="1">
            <a:off x="20842374" y="7403528"/>
            <a:ext cx="3009" cy="56655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Rounded Rectangle 389"/>
          <p:cNvSpPr/>
          <p:nvPr/>
        </p:nvSpPr>
        <p:spPr>
          <a:xfrm>
            <a:off x="21702025" y="4468126"/>
            <a:ext cx="4970244" cy="251617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427327" y="6339627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427327" y="610856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5535888" y="6108567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792886" y="6108567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535888" y="6339627"/>
            <a:ext cx="23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5792886" y="6339627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12050464" y="7193649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2204288" y="7543809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2685235" y="7543809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2544950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3683731" y="7543809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2958933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3098202" y="7543809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3502383" y="7543809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4210314" y="7543809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4403537" y="7543809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4585967" y="7543809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4827951" y="7543809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6026443" y="750623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3888224" y="754380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79" name="TextBox 478"/>
          <p:cNvSpPr txBox="1"/>
          <p:nvPr/>
        </p:nvSpPr>
        <p:spPr>
          <a:xfrm>
            <a:off x="15514790" y="754239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0" name="TextBox 479"/>
          <p:cNvSpPr txBox="1"/>
          <p:nvPr/>
        </p:nvSpPr>
        <p:spPr>
          <a:xfrm>
            <a:off x="15623351" y="7542393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1" name="TextBox 480"/>
          <p:cNvSpPr txBox="1"/>
          <p:nvPr/>
        </p:nvSpPr>
        <p:spPr>
          <a:xfrm>
            <a:off x="15880349" y="754239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6" name="TextBox 485"/>
          <p:cNvSpPr txBox="1"/>
          <p:nvPr/>
        </p:nvSpPr>
        <p:spPr>
          <a:xfrm>
            <a:off x="20931623" y="717269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87" name="TextBox 486"/>
          <p:cNvSpPr txBox="1"/>
          <p:nvPr/>
        </p:nvSpPr>
        <p:spPr>
          <a:xfrm>
            <a:off x="20419970" y="717269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20528531" y="717269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0785529" y="717269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E9DFF0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E9DFF0"/>
              </a:solidFill>
              <a:latin typeface="Trebuchet MS" panose="020B0603020202020204" pitchFamily="34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0782520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0919108" y="794086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18122312" y="4254503"/>
            <a:ext cx="2650122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Syntax Conventions </a:t>
            </a:r>
            <a:endParaRPr lang="en-US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2352322" y="7934679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12156854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3197208" y="793467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3029458" y="7928334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3743166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13915358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4087550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4259741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4531594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4720518" y="7934679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4925627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5080534" y="7934679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5839436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5997047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98" name="Curved Connector 97"/>
          <p:cNvCxnSpPr>
            <a:stCxn id="44" idx="2"/>
            <a:endCxn id="77" idx="0"/>
          </p:cNvCxnSpPr>
          <p:nvPr/>
        </p:nvCxnSpPr>
        <p:spPr>
          <a:xfrm rot="16200000" flipH="1">
            <a:off x="12326668" y="7796272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urved Connector 98"/>
          <p:cNvCxnSpPr>
            <a:stCxn id="44" idx="2"/>
            <a:endCxn id="78" idx="0"/>
          </p:cNvCxnSpPr>
          <p:nvPr/>
        </p:nvCxnSpPr>
        <p:spPr>
          <a:xfrm rot="5400000">
            <a:off x="12197275" y="7783654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/>
          <p:cNvCxnSpPr>
            <a:stCxn id="52" idx="2"/>
            <a:endCxn id="80" idx="0"/>
          </p:cNvCxnSpPr>
          <p:nvPr/>
        </p:nvCxnSpPr>
        <p:spPr>
          <a:xfrm rot="5400000">
            <a:off x="13091722" y="7765819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/>
          <p:cNvCxnSpPr>
            <a:stCxn id="52" idx="2"/>
            <a:endCxn id="79" idx="0"/>
          </p:cNvCxnSpPr>
          <p:nvPr/>
        </p:nvCxnSpPr>
        <p:spPr>
          <a:xfrm rot="16200000" flipH="1">
            <a:off x="13203282" y="7825595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/>
          <p:cNvCxnSpPr>
            <a:stCxn id="59" idx="2"/>
            <a:endCxn id="81" idx="0"/>
          </p:cNvCxnSpPr>
          <p:nvPr/>
        </p:nvCxnSpPr>
        <p:spPr>
          <a:xfrm rot="5400000">
            <a:off x="13834181" y="7736636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urved Connector 115"/>
          <p:cNvCxnSpPr>
            <a:stCxn id="59" idx="2"/>
            <a:endCxn id="84" idx="0"/>
          </p:cNvCxnSpPr>
          <p:nvPr/>
        </p:nvCxnSpPr>
        <p:spPr>
          <a:xfrm rot="5400000">
            <a:off x="13920277" y="7822732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/>
          <p:cNvCxnSpPr>
            <a:stCxn id="59" idx="2"/>
            <a:endCxn id="85" idx="0"/>
          </p:cNvCxnSpPr>
          <p:nvPr/>
        </p:nvCxnSpPr>
        <p:spPr>
          <a:xfrm rot="16200000" flipH="1">
            <a:off x="14006373" y="7800060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urved Connector 123"/>
          <p:cNvCxnSpPr>
            <a:stCxn id="59" idx="2"/>
            <a:endCxn id="86" idx="0"/>
          </p:cNvCxnSpPr>
          <p:nvPr/>
        </p:nvCxnSpPr>
        <p:spPr>
          <a:xfrm rot="16200000" flipH="1">
            <a:off x="14092468" y="7713964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Curved Connector 515"/>
          <p:cNvCxnSpPr>
            <a:stCxn id="56" idx="2"/>
            <a:endCxn id="87" idx="0"/>
          </p:cNvCxnSpPr>
          <p:nvPr/>
        </p:nvCxnSpPr>
        <p:spPr>
          <a:xfrm rot="5400000">
            <a:off x="14555883" y="7803795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Curved Connector 528"/>
          <p:cNvCxnSpPr>
            <a:stCxn id="56" idx="2"/>
            <a:endCxn id="88" idx="0"/>
          </p:cNvCxnSpPr>
          <p:nvPr/>
        </p:nvCxnSpPr>
        <p:spPr>
          <a:xfrm rot="16200000" flipH="1">
            <a:off x="14656756" y="7804651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urved Connector 532"/>
          <p:cNvCxnSpPr>
            <a:stCxn id="57" idx="2"/>
            <a:endCxn id="89" idx="0"/>
          </p:cNvCxnSpPr>
          <p:nvPr/>
        </p:nvCxnSpPr>
        <p:spPr>
          <a:xfrm rot="5400000">
            <a:off x="14986187" y="7763515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urved Connector 535"/>
          <p:cNvCxnSpPr>
            <a:stCxn id="57" idx="2"/>
            <a:endCxn id="91" idx="0"/>
          </p:cNvCxnSpPr>
          <p:nvPr/>
        </p:nvCxnSpPr>
        <p:spPr>
          <a:xfrm rot="16200000" flipH="1">
            <a:off x="15188274" y="7743717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Curved Connector 541"/>
          <p:cNvCxnSpPr>
            <a:stCxn id="481" idx="2"/>
            <a:endCxn id="92" idx="0"/>
          </p:cNvCxnSpPr>
          <p:nvPr/>
        </p:nvCxnSpPr>
        <p:spPr>
          <a:xfrm rot="5400000">
            <a:off x="15828600" y="7823076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Curved Connector 559"/>
          <p:cNvCxnSpPr>
            <a:stCxn id="481" idx="2"/>
            <a:endCxn id="93" idx="0"/>
          </p:cNvCxnSpPr>
          <p:nvPr/>
        </p:nvCxnSpPr>
        <p:spPr>
          <a:xfrm rot="16200000" flipH="1">
            <a:off x="15907405" y="7806022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13465455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83" name="TextBox 582"/>
          <p:cNvSpPr txBox="1"/>
          <p:nvPr/>
        </p:nvSpPr>
        <p:spPr>
          <a:xfrm>
            <a:off x="13611192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584" name="Curved Connector 583"/>
          <p:cNvCxnSpPr>
            <a:endCxn id="582" idx="0"/>
          </p:cNvCxnSpPr>
          <p:nvPr/>
        </p:nvCxnSpPr>
        <p:spPr>
          <a:xfrm rot="5400000">
            <a:off x="13454619" y="7821275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urved Connector 584"/>
          <p:cNvCxnSpPr>
            <a:endCxn id="583" idx="0"/>
          </p:cNvCxnSpPr>
          <p:nvPr/>
        </p:nvCxnSpPr>
        <p:spPr>
          <a:xfrm rot="16200000" flipH="1">
            <a:off x="13536671" y="7819341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Arrow Connector 586"/>
          <p:cNvCxnSpPr/>
          <p:nvPr/>
        </p:nvCxnSpPr>
        <p:spPr>
          <a:xfrm>
            <a:off x="14018144" y="66848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/>
          <p:cNvSpPr txBox="1"/>
          <p:nvPr/>
        </p:nvSpPr>
        <p:spPr>
          <a:xfrm>
            <a:off x="14171427" y="6743867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Decomposing</a:t>
            </a:r>
            <a:endParaRPr lang="en-US" sz="1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622" name="TextBox 621"/>
          <p:cNvSpPr txBox="1"/>
          <p:nvPr/>
        </p:nvSpPr>
        <p:spPr>
          <a:xfrm>
            <a:off x="14197222" y="4714336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Getting Probs</a:t>
            </a:r>
            <a:endParaRPr lang="en-US" sz="1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623" name="Rounded Rectangle 622"/>
          <p:cNvSpPr/>
          <p:nvPr/>
        </p:nvSpPr>
        <p:spPr>
          <a:xfrm>
            <a:off x="17323616" y="3735717"/>
            <a:ext cx="3408643" cy="625369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Syntax-Convention-based Token Pruning</a:t>
            </a:r>
            <a:endParaRPr lang="en-US" sz="2000" i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626" name="Straight Arrow Connector 625"/>
          <p:cNvCxnSpPr/>
          <p:nvPr/>
        </p:nvCxnSpPr>
        <p:spPr>
          <a:xfrm>
            <a:off x="20271113" y="471536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TextBox 633"/>
          <p:cNvSpPr txBox="1"/>
          <p:nvPr/>
        </p:nvSpPr>
        <p:spPr>
          <a:xfrm>
            <a:off x="12104944" y="7205686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Decomposed Tokens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636" name="Rounded Rectangle 635"/>
          <p:cNvSpPr/>
          <p:nvPr/>
        </p:nvSpPr>
        <p:spPr>
          <a:xfrm>
            <a:off x="16943287" y="5206592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637" name="TextBox 636"/>
          <p:cNvSpPr txBox="1"/>
          <p:nvPr/>
        </p:nvSpPr>
        <p:spPr>
          <a:xfrm>
            <a:off x="17097111" y="5556752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8" name="TextBox 637"/>
          <p:cNvSpPr txBox="1"/>
          <p:nvPr/>
        </p:nvSpPr>
        <p:spPr>
          <a:xfrm>
            <a:off x="17578058" y="5556752"/>
            <a:ext cx="223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9" name="TextBox 638"/>
          <p:cNvSpPr txBox="1"/>
          <p:nvPr/>
        </p:nvSpPr>
        <p:spPr>
          <a:xfrm>
            <a:off x="17437773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18576554" y="5556752"/>
            <a:ext cx="1404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17851756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17991025" y="5556752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18395206" y="5556752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19103137" y="5556752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19296360" y="5556752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70" name="TextBox 169"/>
          <p:cNvSpPr txBox="1"/>
          <p:nvPr/>
        </p:nvSpPr>
        <p:spPr>
          <a:xfrm>
            <a:off x="19478790" y="5556752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19720774" y="5556752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3" name="TextBox 172"/>
          <p:cNvSpPr txBox="1"/>
          <p:nvPr/>
        </p:nvSpPr>
        <p:spPr>
          <a:xfrm>
            <a:off x="20919266" y="551917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18781047" y="5556752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20407613" y="5555336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20516174" y="555533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0773172" y="555533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17245145" y="5947622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17049677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18090031" y="5947622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7922281" y="5941277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0" name="TextBox 639"/>
          <p:cNvSpPr txBox="1"/>
          <p:nvPr/>
        </p:nvSpPr>
        <p:spPr>
          <a:xfrm>
            <a:off x="18635989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1" name="TextBox 640"/>
          <p:cNvSpPr txBox="1"/>
          <p:nvPr/>
        </p:nvSpPr>
        <p:spPr>
          <a:xfrm>
            <a:off x="18808181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3" name="TextBox 642"/>
          <p:cNvSpPr txBox="1"/>
          <p:nvPr/>
        </p:nvSpPr>
        <p:spPr>
          <a:xfrm>
            <a:off x="18980373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6" name="TextBox 645"/>
          <p:cNvSpPr txBox="1"/>
          <p:nvPr/>
        </p:nvSpPr>
        <p:spPr>
          <a:xfrm>
            <a:off x="19152564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7" name="TextBox 646"/>
          <p:cNvSpPr txBox="1"/>
          <p:nvPr/>
        </p:nvSpPr>
        <p:spPr>
          <a:xfrm>
            <a:off x="19424417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8" name="TextBox 647"/>
          <p:cNvSpPr txBox="1"/>
          <p:nvPr/>
        </p:nvSpPr>
        <p:spPr>
          <a:xfrm>
            <a:off x="19613341" y="5947622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9" name="TextBox 648"/>
          <p:cNvSpPr txBox="1"/>
          <p:nvPr/>
        </p:nvSpPr>
        <p:spPr>
          <a:xfrm>
            <a:off x="19818450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0" name="TextBox 649"/>
          <p:cNvSpPr txBox="1"/>
          <p:nvPr/>
        </p:nvSpPr>
        <p:spPr>
          <a:xfrm>
            <a:off x="19973357" y="5947622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1" name="TextBox 650"/>
          <p:cNvSpPr txBox="1"/>
          <p:nvPr/>
        </p:nvSpPr>
        <p:spPr>
          <a:xfrm>
            <a:off x="20732259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3" name="TextBox 652"/>
          <p:cNvSpPr txBox="1"/>
          <p:nvPr/>
        </p:nvSpPr>
        <p:spPr>
          <a:xfrm>
            <a:off x="20889870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654" name="Curved Connector 653"/>
          <p:cNvCxnSpPr>
            <a:stCxn id="637" idx="2"/>
            <a:endCxn id="180" idx="0"/>
          </p:cNvCxnSpPr>
          <p:nvPr/>
        </p:nvCxnSpPr>
        <p:spPr>
          <a:xfrm rot="16200000" flipH="1">
            <a:off x="17219491" y="5809215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Curved Connector 654"/>
          <p:cNvCxnSpPr>
            <a:stCxn id="637" idx="2"/>
            <a:endCxn id="181" idx="0"/>
          </p:cNvCxnSpPr>
          <p:nvPr/>
        </p:nvCxnSpPr>
        <p:spPr>
          <a:xfrm rot="5400000">
            <a:off x="17090098" y="5796597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Curved Connector 655"/>
          <p:cNvCxnSpPr>
            <a:stCxn id="163" idx="2"/>
            <a:endCxn id="190" idx="0"/>
          </p:cNvCxnSpPr>
          <p:nvPr/>
        </p:nvCxnSpPr>
        <p:spPr>
          <a:xfrm rot="5400000">
            <a:off x="17984545" y="5778762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Curved Connector 656"/>
          <p:cNvCxnSpPr>
            <a:stCxn id="163" idx="2"/>
            <a:endCxn id="184" idx="0"/>
          </p:cNvCxnSpPr>
          <p:nvPr/>
        </p:nvCxnSpPr>
        <p:spPr>
          <a:xfrm rot="16200000" flipH="1">
            <a:off x="18096105" y="5838538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Curved Connector 657"/>
          <p:cNvCxnSpPr>
            <a:stCxn id="175" idx="2"/>
            <a:endCxn id="640" idx="0"/>
          </p:cNvCxnSpPr>
          <p:nvPr/>
        </p:nvCxnSpPr>
        <p:spPr>
          <a:xfrm rot="5400000">
            <a:off x="18727004" y="5749579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Curved Connector 658"/>
          <p:cNvCxnSpPr>
            <a:stCxn id="175" idx="2"/>
            <a:endCxn id="641" idx="0"/>
          </p:cNvCxnSpPr>
          <p:nvPr/>
        </p:nvCxnSpPr>
        <p:spPr>
          <a:xfrm rot="5400000">
            <a:off x="18813100" y="5835675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Curved Connector 659"/>
          <p:cNvCxnSpPr>
            <a:stCxn id="175" idx="2"/>
            <a:endCxn id="643" idx="0"/>
          </p:cNvCxnSpPr>
          <p:nvPr/>
        </p:nvCxnSpPr>
        <p:spPr>
          <a:xfrm rot="16200000" flipH="1">
            <a:off x="18899196" y="5813003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Curved Connector 660"/>
          <p:cNvCxnSpPr>
            <a:stCxn id="175" idx="2"/>
            <a:endCxn id="646" idx="0"/>
          </p:cNvCxnSpPr>
          <p:nvPr/>
        </p:nvCxnSpPr>
        <p:spPr>
          <a:xfrm rot="16200000" flipH="1">
            <a:off x="18985291" y="5726907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Curved Connector 661"/>
          <p:cNvCxnSpPr>
            <a:stCxn id="170" idx="2"/>
            <a:endCxn id="647" idx="0"/>
          </p:cNvCxnSpPr>
          <p:nvPr/>
        </p:nvCxnSpPr>
        <p:spPr>
          <a:xfrm rot="5400000">
            <a:off x="19448706" y="5816738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Curved Connector 665"/>
          <p:cNvCxnSpPr>
            <a:stCxn id="170" idx="2"/>
            <a:endCxn id="648" idx="0"/>
          </p:cNvCxnSpPr>
          <p:nvPr/>
        </p:nvCxnSpPr>
        <p:spPr>
          <a:xfrm rot="16200000" flipH="1">
            <a:off x="19549579" y="5817594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Curved Connector 666"/>
          <p:cNvCxnSpPr>
            <a:stCxn id="172" idx="2"/>
            <a:endCxn id="649" idx="0"/>
          </p:cNvCxnSpPr>
          <p:nvPr/>
        </p:nvCxnSpPr>
        <p:spPr>
          <a:xfrm rot="5400000">
            <a:off x="19879010" y="5776458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urved Connector 667"/>
          <p:cNvCxnSpPr>
            <a:stCxn id="172" idx="2"/>
            <a:endCxn id="650" idx="0"/>
          </p:cNvCxnSpPr>
          <p:nvPr/>
        </p:nvCxnSpPr>
        <p:spPr>
          <a:xfrm rot="16200000" flipH="1">
            <a:off x="20081097" y="5756660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Curved Connector 668"/>
          <p:cNvCxnSpPr>
            <a:stCxn id="179" idx="2"/>
            <a:endCxn id="651" idx="0"/>
          </p:cNvCxnSpPr>
          <p:nvPr/>
        </p:nvCxnSpPr>
        <p:spPr>
          <a:xfrm rot="5400000">
            <a:off x="20721423" y="5836019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Curved Connector 669"/>
          <p:cNvCxnSpPr>
            <a:stCxn id="179" idx="2"/>
            <a:endCxn id="653" idx="0"/>
          </p:cNvCxnSpPr>
          <p:nvPr/>
        </p:nvCxnSpPr>
        <p:spPr>
          <a:xfrm rot="16200000" flipH="1">
            <a:off x="20800228" y="5818965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/>
          <p:cNvSpPr txBox="1"/>
          <p:nvPr/>
        </p:nvSpPr>
        <p:spPr>
          <a:xfrm>
            <a:off x="18358278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72" name="TextBox 671"/>
          <p:cNvSpPr txBox="1"/>
          <p:nvPr/>
        </p:nvSpPr>
        <p:spPr>
          <a:xfrm>
            <a:off x="18504015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673" name="Curved Connector 672"/>
          <p:cNvCxnSpPr>
            <a:endCxn id="671" idx="0"/>
          </p:cNvCxnSpPr>
          <p:nvPr/>
        </p:nvCxnSpPr>
        <p:spPr>
          <a:xfrm rot="5400000">
            <a:off x="18347442" y="5834218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Curved Connector 673"/>
          <p:cNvCxnSpPr>
            <a:endCxn id="672" idx="0"/>
          </p:cNvCxnSpPr>
          <p:nvPr/>
        </p:nvCxnSpPr>
        <p:spPr>
          <a:xfrm rot="16200000" flipH="1">
            <a:off x="18429494" y="5832284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5" name="TextBox 674"/>
          <p:cNvSpPr txBox="1"/>
          <p:nvPr/>
        </p:nvSpPr>
        <p:spPr>
          <a:xfrm>
            <a:off x="16997767" y="5218629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Decomposed Tokens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16908612" y="7516346"/>
            <a:ext cx="1493935" cy="25200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Pruned Tokens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cxnSp>
        <p:nvCxnSpPr>
          <p:cNvPr id="679" name="Straight Arrow Connector 678"/>
          <p:cNvCxnSpPr/>
          <p:nvPr/>
        </p:nvCxnSpPr>
        <p:spPr>
          <a:xfrm>
            <a:off x="20320906" y="630302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17055497" y="4722340"/>
            <a:ext cx="3142718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Matching Decomposed Tokens</a:t>
            </a:r>
            <a:endParaRPr lang="en-US" sz="1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681" name="TextBox 680"/>
          <p:cNvSpPr txBox="1"/>
          <p:nvPr/>
        </p:nvSpPr>
        <p:spPr>
          <a:xfrm>
            <a:off x="17061130" y="6360205"/>
            <a:ext cx="2927236" cy="3708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Syntax-Oriented Pruning</a:t>
            </a:r>
            <a:endParaRPr lang="en-US" sz="1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685" name="Rounded Rectangle 684"/>
          <p:cNvSpPr/>
          <p:nvPr/>
        </p:nvSpPr>
        <p:spPr>
          <a:xfrm>
            <a:off x="21995102" y="4578059"/>
            <a:ext cx="4492065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Member Probabilities Calculation</a:t>
            </a:r>
            <a:endParaRPr lang="en-US" sz="2000" i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686" name="Rounded Rectangle 685"/>
          <p:cNvSpPr/>
          <p:nvPr/>
        </p:nvSpPr>
        <p:spPr>
          <a:xfrm>
            <a:off x="22364075" y="5325119"/>
            <a:ext cx="3409965" cy="48763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Syntax-convention-pruned Member Probabilities</a:t>
            </a:r>
            <a:endParaRPr lang="en-US" sz="2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39960" y="5864430"/>
            <a:ext cx="3683000" cy="95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207114" y="5886381"/>
            <a:ext cx="3965929" cy="10329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 679"/>
          <p:cNvSpPr/>
          <p:nvPr/>
        </p:nvSpPr>
        <p:spPr>
          <a:xfrm>
            <a:off x="12466893" y="963059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03" name="Rounded Rectangle 602"/>
          <p:cNvSpPr/>
          <p:nvPr/>
        </p:nvSpPr>
        <p:spPr>
          <a:xfrm>
            <a:off x="12686182" y="13905703"/>
            <a:ext cx="4164517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2686182" y="13114062"/>
            <a:ext cx="4164517" cy="378000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2562191" y="12801908"/>
            <a:ext cx="4393854" cy="156013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7678882" y="963060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683826" y="54923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683825" y="27306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7798513" y="11259299"/>
            <a:ext cx="4156540" cy="145004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7916" y="37066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00973" y="4201563"/>
            <a:ext cx="3218267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rebuchet MS" panose="020B0603020202020204" pitchFamily="34" charset="0"/>
              </a:rPr>
              <a:t>语言</a:t>
            </a:r>
            <a:r>
              <a:rPr lang="zh-CN" altLang="en-US" dirty="0">
                <a:latin typeface="Trebuchet MS" panose="020B0603020202020204" pitchFamily="34" charset="0"/>
              </a:rPr>
              <a:t>语法</a:t>
            </a:r>
            <a:endParaRPr lang="zh-CN" altLang="en-US" dirty="0">
              <a:latin typeface="Trebuchet MS" panose="020B0603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534369" y="4124728"/>
            <a:ext cx="205253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任务说明</a:t>
            </a:r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13782223" y="36045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6719450" y="4152668"/>
            <a:ext cx="264096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版权所有代码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140642" y="2924834"/>
            <a:ext cx="1614801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For</a:t>
            </a:r>
            <a:endParaRPr lang="en-US" dirty="0">
              <a:latin typeface="Trebuchet MS" panose="020B06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If Else</a:t>
            </a:r>
            <a:endParaRPr lang="en-US" dirty="0">
              <a:latin typeface="Trebuchet MS" panose="020B06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Try except</a:t>
            </a:r>
            <a:endParaRPr lang="en-US" dirty="0">
              <a:latin typeface="Trebuchet MS" panose="020B06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…</a:t>
            </a:r>
            <a:endParaRPr lang="en-US" dirty="0">
              <a:latin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2673" y="29758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097394" y="30856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编程</a:t>
            </a:r>
            <a:endParaRPr lang="zh-CN" altLang="en-US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11941" y="5806192"/>
            <a:ext cx="1130986" cy="1130986"/>
          </a:xfrm>
          <a:prstGeom prst="rect">
            <a:avLst/>
          </a:prstGeom>
        </p:spPr>
      </p:pic>
      <p:cxnSp>
        <p:nvCxnSpPr>
          <p:cNvPr id="136" name="Straight Arrow Connector 135"/>
          <p:cNvCxnSpPr>
            <a:endCxn id="390" idx="1"/>
          </p:cNvCxnSpPr>
          <p:nvPr/>
        </p:nvCxnSpPr>
        <p:spPr>
          <a:xfrm>
            <a:off x="17060397" y="11762525"/>
            <a:ext cx="38014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6140638" y="31235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]: 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 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181685" y="57971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5883622" y="62053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6457064" y="62103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14131693" y="6235816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收集</a:t>
            </a:r>
            <a:endParaRPr lang="zh-CN" altLang="en-US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469" name="TextBox 468"/>
          <p:cNvSpPr txBox="1"/>
          <p:nvPr/>
        </p:nvSpPr>
        <p:spPr>
          <a:xfrm>
            <a:off x="15847105" y="6946773"/>
            <a:ext cx="1323517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代码库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476" name="Cross 475"/>
          <p:cNvSpPr/>
          <p:nvPr/>
        </p:nvSpPr>
        <p:spPr>
          <a:xfrm>
            <a:off x="11373511" y="33405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9805964" y="1073999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stCxn id="642" idx="3"/>
            <a:endCxn id="680" idx="1"/>
          </p:cNvCxnSpPr>
          <p:nvPr/>
        </p:nvCxnSpPr>
        <p:spPr>
          <a:xfrm flipV="1">
            <a:off x="12072736" y="1200144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3817541" y="68341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7172304" y="69068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062065" y="6946900"/>
            <a:ext cx="14484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rebuchet MS" panose="020B0603020202020204" pitchFamily="34" charset="0"/>
              </a:rPr>
              <a:t>大语言模型</a:t>
            </a:r>
            <a:endParaRPr lang="zh-CN" altLang="en-US" dirty="0">
              <a:latin typeface="Trebuchet MS" panose="020B06030202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7429978" y="6257491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训练</a:t>
            </a:r>
            <a:endParaRPr lang="zh-CN" altLang="en-US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401344" y="4886559"/>
            <a:ext cx="37388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latin typeface="Trebuchet MS" panose="020B0603020202020204" pitchFamily="34" charset="0"/>
              </a:rPr>
              <a:t>开发人员完成编程任务</a:t>
            </a:r>
            <a:endParaRPr lang="en-US" sz="2800" dirty="0">
              <a:latin typeface="Trebuchet MS" panose="020B060302020202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881263" y="7575461"/>
            <a:ext cx="58724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800" dirty="0">
                <a:latin typeface="Trebuchet MS" panose="020B0603020202020204" pitchFamily="34" charset="0"/>
              </a:rPr>
              <a:t>使用可获取语料库训练大型语言模型</a:t>
            </a:r>
            <a:endParaRPr lang="en-US" sz="2800" dirty="0">
              <a:latin typeface="Trebuchet MS" panose="020B0603020202020204" pitchFamily="34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609911" y="647108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Trebuchet MS" panose="020B060302020202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9911" y="6172182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Trebuchet MS" panose="020B0603020202020204" pitchFamily="34" charset="0"/>
            </a:endParaRPr>
          </a:p>
          <a:p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09911" y="586870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):…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2002724" y="6693440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  <a:endParaRPr lang="en-US" dirty="0">
              <a:latin typeface="Trebuchet MS" panose="020B0603020202020204" pitchFamily="34" charset="0"/>
            </a:endParaRP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8271" y="5849421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388339" y="6024517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15861" y="6252477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906738" y="6674809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1176664" y="6946773"/>
            <a:ext cx="21391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代码资源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7710918" y="11516838"/>
            <a:ext cx="2099944" cy="230832"/>
          </a:xfrm>
          <a:prstGeom prst="rect">
            <a:avLst/>
          </a:prstGeom>
          <a:noFill/>
          <a:ln w="12700">
            <a:noFill/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11042801" y="11338785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⌷in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11042801" y="11569061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name</a:t>
            </a:r>
            <a:endParaRPr lang="en-US" altLang="zh-CN" sz="900" dirty="0">
              <a:latin typeface="Trebuchet MS" panose="020B0603020202020204" pitchFamily="34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11042801" y="11799337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Id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11420000" y="11338785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0.84</a:t>
            </a:r>
            <a:endParaRPr lang="en-US" sz="1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477" name="Rectangle 476"/>
          <p:cNvSpPr/>
          <p:nvPr/>
        </p:nvSpPr>
        <p:spPr>
          <a:xfrm>
            <a:off x="11420000" y="11569061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0.04</a:t>
            </a:r>
            <a:endParaRPr lang="en-US" sz="1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478" name="Rectangle 477"/>
          <p:cNvSpPr/>
          <p:nvPr/>
        </p:nvSpPr>
        <p:spPr>
          <a:xfrm>
            <a:off x="11420000" y="11799337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0.03</a:t>
            </a:r>
            <a:endParaRPr lang="en-US" sz="1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9528656" y="11658381"/>
            <a:ext cx="144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9453193" y="11387101"/>
            <a:ext cx="1587537" cy="260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latin typeface="Trebuchet MS" panose="020B0603020202020204" pitchFamily="34" charset="0"/>
              </a:rPr>
              <a:t>下一个令牌</a:t>
            </a:r>
            <a:r>
              <a:rPr lang="zh-CN" altLang="en-US" sz="1100" dirty="0">
                <a:latin typeface="Trebuchet MS" panose="020B0603020202020204" pitchFamily="34" charset="0"/>
              </a:rPr>
              <a:t>选择：</a:t>
            </a:r>
            <a:endParaRPr lang="zh-CN" altLang="en-US" sz="1100" dirty="0">
              <a:latin typeface="Trebuchet MS" panose="020B0603020202020204" pitchFamily="34" charset="0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12660156" y="12766920"/>
            <a:ext cx="176291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保留令牌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513" name="TextBox 512"/>
          <p:cNvSpPr txBox="1"/>
          <p:nvPr/>
        </p:nvSpPr>
        <p:spPr>
          <a:xfrm>
            <a:off x="12850519" y="13207247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3311387" y="14006393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3195990" y="1320724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4" name="TextBox 523"/>
          <p:cNvSpPr txBox="1"/>
          <p:nvPr/>
        </p:nvSpPr>
        <p:spPr>
          <a:xfrm>
            <a:off x="14359069" y="14006393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525" name="TextBox 524"/>
          <p:cNvSpPr txBox="1"/>
          <p:nvPr/>
        </p:nvSpPr>
        <p:spPr>
          <a:xfrm>
            <a:off x="13602628" y="1320724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26" name="TextBox 525"/>
          <p:cNvSpPr txBox="1"/>
          <p:nvPr/>
        </p:nvSpPr>
        <p:spPr>
          <a:xfrm>
            <a:off x="13741897" y="1320724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4160270" y="1400639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8" name="TextBox 527"/>
          <p:cNvSpPr txBox="1"/>
          <p:nvPr/>
        </p:nvSpPr>
        <p:spPr>
          <a:xfrm>
            <a:off x="14854009" y="13207247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5047232" y="13207247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44" name="TextBox 543"/>
          <p:cNvSpPr txBox="1"/>
          <p:nvPr/>
        </p:nvSpPr>
        <p:spPr>
          <a:xfrm>
            <a:off x="15223346" y="14006393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15471646" y="1320900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4559036" y="14006393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61" name="TextBox 560"/>
          <p:cNvSpPr txBox="1"/>
          <p:nvPr/>
        </p:nvSpPr>
        <p:spPr>
          <a:xfrm>
            <a:off x="7855340" y="1214629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8336287" y="12146293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8196002" y="1214629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4" name="TextBox 563"/>
          <p:cNvSpPr txBox="1"/>
          <p:nvPr/>
        </p:nvSpPr>
        <p:spPr>
          <a:xfrm>
            <a:off x="9334783" y="12146293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565" name="TextBox 564"/>
          <p:cNvSpPr txBox="1"/>
          <p:nvPr/>
        </p:nvSpPr>
        <p:spPr>
          <a:xfrm>
            <a:off x="8609985" y="1214629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66" name="TextBox 565"/>
          <p:cNvSpPr txBox="1"/>
          <p:nvPr/>
        </p:nvSpPr>
        <p:spPr>
          <a:xfrm>
            <a:off x="8749254" y="1214629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9131210" y="12146293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8" name="TextBox 567"/>
          <p:cNvSpPr txBox="1"/>
          <p:nvPr/>
        </p:nvSpPr>
        <p:spPr>
          <a:xfrm>
            <a:off x="9861366" y="12146293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0054589" y="1214629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70" name="TextBox 569"/>
          <p:cNvSpPr txBox="1"/>
          <p:nvPr/>
        </p:nvSpPr>
        <p:spPr>
          <a:xfrm>
            <a:off x="10237019" y="12146293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10479003" y="12146293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1740125" y="1214629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9539276" y="1214629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7855340" y="123785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8336287" y="12378583"/>
            <a:ext cx="223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8196002" y="1237858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9334783" y="12378583"/>
            <a:ext cx="14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8609985" y="1237858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8749254" y="12378583"/>
            <a:ext cx="3120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9131210" y="12378583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9861366" y="12378583"/>
            <a:ext cx="187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0014730" y="12378583"/>
            <a:ext cx="243139" cy="230400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10237019" y="12378583"/>
            <a:ext cx="2016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10479003" y="12378583"/>
            <a:ext cx="65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10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1700266" y="1237858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9540293" y="123785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8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13323565" y="13207247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4367215" y="13207247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4157997" y="13207247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5229662" y="13207247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4531919" y="13207247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3422537" y="13438079"/>
            <a:ext cx="12628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>
            <a:off x="14217397" y="13438079"/>
            <a:ext cx="2727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4429342" y="13438079"/>
            <a:ext cx="8073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>
            <a:off x="14675919" y="13437647"/>
            <a:ext cx="27117" cy="56874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15324878" y="13438079"/>
            <a:ext cx="5584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8447725" y="10285061"/>
            <a:ext cx="264096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版权所有代码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89" name="TextBox 688"/>
          <p:cNvSpPr txBox="1"/>
          <p:nvPr/>
        </p:nvSpPr>
        <p:spPr>
          <a:xfrm>
            <a:off x="14106214" y="14865476"/>
            <a:ext cx="19608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latin typeface="Trebuchet MS" panose="020B0603020202020204" pitchFamily="34" charset="0"/>
              </a:rPr>
              <a:t>我们的</a:t>
            </a:r>
            <a:r>
              <a:rPr lang="zh-CN" altLang="en-US" sz="2800" dirty="0">
                <a:latin typeface="Trebuchet MS" panose="020B0603020202020204" pitchFamily="34" charset="0"/>
              </a:rPr>
              <a:t>方法</a:t>
            </a:r>
            <a:endParaRPr lang="zh-CN" altLang="en-US" sz="2800" dirty="0">
              <a:latin typeface="Trebuchet MS" panose="020B0603020202020204" pitchFamily="34" charset="0"/>
            </a:endParaRP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10660573" y="1192269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4906465" y="732562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8461983" y="9772028"/>
            <a:ext cx="2955029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令牌预处理</a:t>
            </a:r>
            <a:endParaRPr lang="en-US" sz="2000" i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761" name="TextBox 760"/>
          <p:cNvSpPr txBox="1"/>
          <p:nvPr/>
        </p:nvSpPr>
        <p:spPr>
          <a:xfrm>
            <a:off x="7799772" y="11817292"/>
            <a:ext cx="290967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600" dirty="0">
                <a:latin typeface="Trebuchet MS" panose="020B0603020202020204" pitchFamily="34" charset="0"/>
              </a:rPr>
              <a:t>令牌与概率</a:t>
            </a:r>
            <a:endParaRPr sz="1600" dirty="0">
              <a:latin typeface="Trebuchet MS" panose="020B0603020202020204" pitchFamily="34" charset="0"/>
            </a:endParaRPr>
          </a:p>
        </p:txBody>
      </p:sp>
      <p:cxnSp>
        <p:nvCxnSpPr>
          <p:cNvPr id="384" name="Straight Arrow Connector 383"/>
          <p:cNvCxnSpPr>
            <a:stCxn id="65" idx="2"/>
            <a:endCxn id="66" idx="0"/>
          </p:cNvCxnSpPr>
          <p:nvPr/>
        </p:nvCxnSpPr>
        <p:spPr>
          <a:xfrm flipH="1">
            <a:off x="16580889" y="13439838"/>
            <a:ext cx="3009" cy="56655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Rounded Rectangle 389"/>
          <p:cNvSpPr/>
          <p:nvPr/>
        </p:nvSpPr>
        <p:spPr>
          <a:xfrm>
            <a:off x="17440540" y="10504436"/>
            <a:ext cx="4970244" cy="251617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165842" y="12375937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1165842" y="1214487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1274403" y="12144877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1531401" y="12144877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1274403" y="12375937"/>
            <a:ext cx="23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1531401" y="12375937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7788979" y="13229959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942803" y="13580119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423750" y="13580119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283465" y="1358011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422246" y="13580119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697448" y="1358011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836717" y="13580119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240898" y="13580119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948829" y="13580119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0142052" y="13580119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0324482" y="13580119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566466" y="13580119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1764958" y="1354254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626739" y="1358011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79" name="TextBox 478"/>
          <p:cNvSpPr txBox="1"/>
          <p:nvPr/>
        </p:nvSpPr>
        <p:spPr>
          <a:xfrm>
            <a:off x="11253305" y="1357870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0" name="TextBox 479"/>
          <p:cNvSpPr txBox="1"/>
          <p:nvPr/>
        </p:nvSpPr>
        <p:spPr>
          <a:xfrm>
            <a:off x="11361866" y="13578703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1" name="TextBox 480"/>
          <p:cNvSpPr txBox="1"/>
          <p:nvPr/>
        </p:nvSpPr>
        <p:spPr>
          <a:xfrm>
            <a:off x="11618864" y="1357870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6" name="TextBox 485"/>
          <p:cNvSpPr txBox="1"/>
          <p:nvPr/>
        </p:nvSpPr>
        <p:spPr>
          <a:xfrm>
            <a:off x="16670138" y="1320900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87" name="TextBox 486"/>
          <p:cNvSpPr txBox="1"/>
          <p:nvPr/>
        </p:nvSpPr>
        <p:spPr>
          <a:xfrm>
            <a:off x="16158485" y="1320900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6267046" y="1320900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6524044" y="1320900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E9DFF0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E9DFF0"/>
              </a:solidFill>
              <a:latin typeface="Trebuchet MS" panose="020B0603020202020204" pitchFamily="34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6521035" y="1400639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6657623" y="1397717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13860827" y="10290813"/>
            <a:ext cx="2650122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effectLst/>
                <a:latin typeface="Trebuchet MS" panose="020B0603020202020204" pitchFamily="34" charset="0"/>
              </a:rPr>
              <a:t>语法约定 </a:t>
            </a:r>
            <a:endParaRPr lang="en-US" sz="1800" dirty="0">
              <a:solidFill>
                <a:schemeClr val="tx1"/>
              </a:solidFill>
              <a:effectLst/>
              <a:latin typeface="Trebuchet MS" panose="020B0603020202020204" pitchFamily="34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8090837" y="13970989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895369" y="1397098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8935723" y="1397098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8767973" y="13964644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9481681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653873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9826065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9998256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0270109" y="1397098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0459033" y="13970989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664142" y="1397098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0819049" y="13970989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1577951" y="1397098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1735562" y="1397098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98" name="Curved Connector 97"/>
          <p:cNvCxnSpPr>
            <a:stCxn id="44" idx="2"/>
            <a:endCxn id="77" idx="0"/>
          </p:cNvCxnSpPr>
          <p:nvPr/>
        </p:nvCxnSpPr>
        <p:spPr>
          <a:xfrm rot="16200000" flipH="1">
            <a:off x="8065183" y="13832582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urved Connector 98"/>
          <p:cNvCxnSpPr>
            <a:stCxn id="44" idx="2"/>
            <a:endCxn id="78" idx="0"/>
          </p:cNvCxnSpPr>
          <p:nvPr/>
        </p:nvCxnSpPr>
        <p:spPr>
          <a:xfrm rot="5400000">
            <a:off x="7935790" y="13819964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/>
          <p:cNvCxnSpPr>
            <a:stCxn id="52" idx="2"/>
            <a:endCxn id="80" idx="0"/>
          </p:cNvCxnSpPr>
          <p:nvPr/>
        </p:nvCxnSpPr>
        <p:spPr>
          <a:xfrm rot="5400000">
            <a:off x="8830237" y="13802129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/>
          <p:cNvCxnSpPr>
            <a:stCxn id="52" idx="2"/>
            <a:endCxn id="79" idx="0"/>
          </p:cNvCxnSpPr>
          <p:nvPr/>
        </p:nvCxnSpPr>
        <p:spPr>
          <a:xfrm rot="16200000" flipH="1">
            <a:off x="8941797" y="13861905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/>
          <p:cNvCxnSpPr>
            <a:stCxn id="59" idx="2"/>
            <a:endCxn id="81" idx="0"/>
          </p:cNvCxnSpPr>
          <p:nvPr/>
        </p:nvCxnSpPr>
        <p:spPr>
          <a:xfrm rot="5400000">
            <a:off x="9572696" y="13772946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urved Connector 115"/>
          <p:cNvCxnSpPr>
            <a:stCxn id="59" idx="2"/>
            <a:endCxn id="84" idx="0"/>
          </p:cNvCxnSpPr>
          <p:nvPr/>
        </p:nvCxnSpPr>
        <p:spPr>
          <a:xfrm rot="5400000">
            <a:off x="9658792" y="13859042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/>
          <p:cNvCxnSpPr>
            <a:stCxn id="59" idx="2"/>
            <a:endCxn id="85" idx="0"/>
          </p:cNvCxnSpPr>
          <p:nvPr/>
        </p:nvCxnSpPr>
        <p:spPr>
          <a:xfrm rot="16200000" flipH="1">
            <a:off x="9744888" y="13836370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urved Connector 123"/>
          <p:cNvCxnSpPr>
            <a:stCxn id="59" idx="2"/>
            <a:endCxn id="86" idx="0"/>
          </p:cNvCxnSpPr>
          <p:nvPr/>
        </p:nvCxnSpPr>
        <p:spPr>
          <a:xfrm rot="16200000" flipH="1">
            <a:off x="9830983" y="13750274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Curved Connector 515"/>
          <p:cNvCxnSpPr>
            <a:stCxn id="56" idx="2"/>
            <a:endCxn id="87" idx="0"/>
          </p:cNvCxnSpPr>
          <p:nvPr/>
        </p:nvCxnSpPr>
        <p:spPr>
          <a:xfrm rot="5400000">
            <a:off x="10294398" y="13840105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Curved Connector 528"/>
          <p:cNvCxnSpPr>
            <a:stCxn id="56" idx="2"/>
            <a:endCxn id="88" idx="0"/>
          </p:cNvCxnSpPr>
          <p:nvPr/>
        </p:nvCxnSpPr>
        <p:spPr>
          <a:xfrm rot="16200000" flipH="1">
            <a:off x="10395271" y="13840961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urved Connector 532"/>
          <p:cNvCxnSpPr>
            <a:stCxn id="57" idx="2"/>
            <a:endCxn id="89" idx="0"/>
          </p:cNvCxnSpPr>
          <p:nvPr/>
        </p:nvCxnSpPr>
        <p:spPr>
          <a:xfrm rot="5400000">
            <a:off x="10724702" y="13799825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urved Connector 535"/>
          <p:cNvCxnSpPr>
            <a:stCxn id="57" idx="2"/>
            <a:endCxn id="91" idx="0"/>
          </p:cNvCxnSpPr>
          <p:nvPr/>
        </p:nvCxnSpPr>
        <p:spPr>
          <a:xfrm rot="16200000" flipH="1">
            <a:off x="10926789" y="13780027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Curved Connector 541"/>
          <p:cNvCxnSpPr>
            <a:stCxn id="481" idx="2"/>
            <a:endCxn id="92" idx="0"/>
          </p:cNvCxnSpPr>
          <p:nvPr/>
        </p:nvCxnSpPr>
        <p:spPr>
          <a:xfrm rot="5400000">
            <a:off x="11567115" y="13859386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Curved Connector 559"/>
          <p:cNvCxnSpPr>
            <a:stCxn id="481" idx="2"/>
            <a:endCxn id="93" idx="0"/>
          </p:cNvCxnSpPr>
          <p:nvPr/>
        </p:nvCxnSpPr>
        <p:spPr>
          <a:xfrm rot="16200000" flipH="1">
            <a:off x="11645920" y="13842332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2" name="TextBox 581"/>
          <p:cNvSpPr txBox="1"/>
          <p:nvPr/>
        </p:nvSpPr>
        <p:spPr>
          <a:xfrm>
            <a:off x="9203970" y="1396918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83" name="TextBox 582"/>
          <p:cNvSpPr txBox="1"/>
          <p:nvPr/>
        </p:nvSpPr>
        <p:spPr>
          <a:xfrm>
            <a:off x="9349707" y="1396918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584" name="Curved Connector 583"/>
          <p:cNvCxnSpPr>
            <a:endCxn id="582" idx="0"/>
          </p:cNvCxnSpPr>
          <p:nvPr/>
        </p:nvCxnSpPr>
        <p:spPr>
          <a:xfrm rot="5400000">
            <a:off x="9193134" y="13857585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urved Connector 584"/>
          <p:cNvCxnSpPr>
            <a:endCxn id="583" idx="0"/>
          </p:cNvCxnSpPr>
          <p:nvPr/>
        </p:nvCxnSpPr>
        <p:spPr>
          <a:xfrm rot="16200000" flipH="1">
            <a:off x="9275186" y="13855651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Arrow Connector 586"/>
          <p:cNvCxnSpPr/>
          <p:nvPr/>
        </p:nvCxnSpPr>
        <p:spPr>
          <a:xfrm>
            <a:off x="9756659" y="1272118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/>
          <p:cNvSpPr txBox="1"/>
          <p:nvPr/>
        </p:nvSpPr>
        <p:spPr>
          <a:xfrm>
            <a:off x="9909942" y="12780177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分解</a:t>
            </a:r>
            <a:endParaRPr lang="en-US" sz="1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622" name="TextBox 621"/>
          <p:cNvSpPr txBox="1"/>
          <p:nvPr/>
        </p:nvSpPr>
        <p:spPr>
          <a:xfrm>
            <a:off x="9935737" y="10750646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zh-CN" alt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获取概率</a:t>
            </a:r>
            <a:r>
              <a:rPr lang="zh-CN" alt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值</a:t>
            </a:r>
            <a:endParaRPr lang="zh-CN" altLang="en-US" sz="1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623" name="Rounded Rectangle 622"/>
          <p:cNvSpPr/>
          <p:nvPr/>
        </p:nvSpPr>
        <p:spPr>
          <a:xfrm>
            <a:off x="13062131" y="9772027"/>
            <a:ext cx="3408643" cy="625369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基于语法规范的标记修剪</a:t>
            </a:r>
            <a:endParaRPr lang="en-US" sz="2000" i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626" name="Straight Arrow Connector 625"/>
          <p:cNvCxnSpPr/>
          <p:nvPr/>
        </p:nvCxnSpPr>
        <p:spPr>
          <a:xfrm>
            <a:off x="16009628" y="107516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TextBox 633"/>
          <p:cNvSpPr txBox="1"/>
          <p:nvPr/>
        </p:nvSpPr>
        <p:spPr>
          <a:xfrm>
            <a:off x="7843459" y="13241996"/>
            <a:ext cx="290967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分解令牌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636" name="Rounded Rectangle 635"/>
          <p:cNvSpPr/>
          <p:nvPr/>
        </p:nvSpPr>
        <p:spPr>
          <a:xfrm>
            <a:off x="12681802" y="11242902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sp>
        <p:nvSpPr>
          <p:cNvPr id="637" name="TextBox 636"/>
          <p:cNvSpPr txBox="1"/>
          <p:nvPr/>
        </p:nvSpPr>
        <p:spPr>
          <a:xfrm>
            <a:off x="12835626" y="11593062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8" name="TextBox 637"/>
          <p:cNvSpPr txBox="1"/>
          <p:nvPr/>
        </p:nvSpPr>
        <p:spPr>
          <a:xfrm>
            <a:off x="13316573" y="11593062"/>
            <a:ext cx="223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9" name="TextBox 638"/>
          <p:cNvSpPr txBox="1"/>
          <p:nvPr/>
        </p:nvSpPr>
        <p:spPr>
          <a:xfrm>
            <a:off x="13176288" y="1159306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14315069" y="11593062"/>
            <a:ext cx="1404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13590271" y="1159306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13729540" y="11593062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14133721" y="11593062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14841652" y="11593062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15034875" y="11593062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70" name="TextBox 169"/>
          <p:cNvSpPr txBox="1"/>
          <p:nvPr/>
        </p:nvSpPr>
        <p:spPr>
          <a:xfrm>
            <a:off x="15217305" y="11593062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15459289" y="11593062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3" name="TextBox 172"/>
          <p:cNvSpPr txBox="1"/>
          <p:nvPr/>
        </p:nvSpPr>
        <p:spPr>
          <a:xfrm>
            <a:off x="16657781" y="1155548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14519562" y="11593062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6146128" y="11591646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16254689" y="1159164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16511687" y="1159164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12983660" y="11983932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12788192" y="1198393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13828546" y="11983932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3660796" y="11977587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0" name="TextBox 639"/>
          <p:cNvSpPr txBox="1"/>
          <p:nvPr/>
        </p:nvSpPr>
        <p:spPr>
          <a:xfrm>
            <a:off x="14374504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1" name="TextBox 640"/>
          <p:cNvSpPr txBox="1"/>
          <p:nvPr/>
        </p:nvSpPr>
        <p:spPr>
          <a:xfrm>
            <a:off x="14546696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3" name="TextBox 642"/>
          <p:cNvSpPr txBox="1"/>
          <p:nvPr/>
        </p:nvSpPr>
        <p:spPr>
          <a:xfrm>
            <a:off x="14718888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6" name="TextBox 645"/>
          <p:cNvSpPr txBox="1"/>
          <p:nvPr/>
        </p:nvSpPr>
        <p:spPr>
          <a:xfrm>
            <a:off x="14891079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7" name="TextBox 646"/>
          <p:cNvSpPr txBox="1"/>
          <p:nvPr/>
        </p:nvSpPr>
        <p:spPr>
          <a:xfrm>
            <a:off x="15162932" y="1198393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8" name="TextBox 647"/>
          <p:cNvSpPr txBox="1"/>
          <p:nvPr/>
        </p:nvSpPr>
        <p:spPr>
          <a:xfrm>
            <a:off x="15351856" y="11983932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49" name="TextBox 648"/>
          <p:cNvSpPr txBox="1"/>
          <p:nvPr/>
        </p:nvSpPr>
        <p:spPr>
          <a:xfrm>
            <a:off x="15556965" y="1198393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0" name="TextBox 649"/>
          <p:cNvSpPr txBox="1"/>
          <p:nvPr/>
        </p:nvSpPr>
        <p:spPr>
          <a:xfrm>
            <a:off x="15711872" y="11983932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1" name="TextBox 650"/>
          <p:cNvSpPr txBox="1"/>
          <p:nvPr/>
        </p:nvSpPr>
        <p:spPr>
          <a:xfrm>
            <a:off x="16470774" y="1198393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53" name="TextBox 652"/>
          <p:cNvSpPr txBox="1"/>
          <p:nvPr/>
        </p:nvSpPr>
        <p:spPr>
          <a:xfrm>
            <a:off x="16628385" y="1198393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654" name="Curved Connector 653"/>
          <p:cNvCxnSpPr>
            <a:stCxn id="637" idx="2"/>
            <a:endCxn id="180" idx="0"/>
          </p:cNvCxnSpPr>
          <p:nvPr/>
        </p:nvCxnSpPr>
        <p:spPr>
          <a:xfrm rot="16200000" flipH="1">
            <a:off x="12958006" y="11845525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Curved Connector 654"/>
          <p:cNvCxnSpPr>
            <a:stCxn id="637" idx="2"/>
            <a:endCxn id="181" idx="0"/>
          </p:cNvCxnSpPr>
          <p:nvPr/>
        </p:nvCxnSpPr>
        <p:spPr>
          <a:xfrm rot="5400000">
            <a:off x="12828613" y="11832907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Curved Connector 655"/>
          <p:cNvCxnSpPr>
            <a:stCxn id="163" idx="2"/>
            <a:endCxn id="190" idx="0"/>
          </p:cNvCxnSpPr>
          <p:nvPr/>
        </p:nvCxnSpPr>
        <p:spPr>
          <a:xfrm rot="5400000">
            <a:off x="13723060" y="11815072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Curved Connector 656"/>
          <p:cNvCxnSpPr>
            <a:stCxn id="163" idx="2"/>
            <a:endCxn id="184" idx="0"/>
          </p:cNvCxnSpPr>
          <p:nvPr/>
        </p:nvCxnSpPr>
        <p:spPr>
          <a:xfrm rot="16200000" flipH="1">
            <a:off x="13834620" y="11874848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Curved Connector 657"/>
          <p:cNvCxnSpPr>
            <a:stCxn id="175" idx="2"/>
            <a:endCxn id="640" idx="0"/>
          </p:cNvCxnSpPr>
          <p:nvPr/>
        </p:nvCxnSpPr>
        <p:spPr>
          <a:xfrm rot="5400000">
            <a:off x="14465519" y="11785889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Curved Connector 658"/>
          <p:cNvCxnSpPr>
            <a:stCxn id="175" idx="2"/>
            <a:endCxn id="641" idx="0"/>
          </p:cNvCxnSpPr>
          <p:nvPr/>
        </p:nvCxnSpPr>
        <p:spPr>
          <a:xfrm rot="5400000">
            <a:off x="14551615" y="11871985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Curved Connector 659"/>
          <p:cNvCxnSpPr>
            <a:stCxn id="175" idx="2"/>
            <a:endCxn id="643" idx="0"/>
          </p:cNvCxnSpPr>
          <p:nvPr/>
        </p:nvCxnSpPr>
        <p:spPr>
          <a:xfrm rot="16200000" flipH="1">
            <a:off x="14637711" y="11849313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Curved Connector 660"/>
          <p:cNvCxnSpPr>
            <a:stCxn id="175" idx="2"/>
            <a:endCxn id="646" idx="0"/>
          </p:cNvCxnSpPr>
          <p:nvPr/>
        </p:nvCxnSpPr>
        <p:spPr>
          <a:xfrm rot="16200000" flipH="1">
            <a:off x="14723806" y="11763217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Curved Connector 661"/>
          <p:cNvCxnSpPr>
            <a:stCxn id="170" idx="2"/>
            <a:endCxn id="647" idx="0"/>
          </p:cNvCxnSpPr>
          <p:nvPr/>
        </p:nvCxnSpPr>
        <p:spPr>
          <a:xfrm rot="5400000">
            <a:off x="15187221" y="11853048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Curved Connector 665"/>
          <p:cNvCxnSpPr>
            <a:stCxn id="170" idx="2"/>
            <a:endCxn id="648" idx="0"/>
          </p:cNvCxnSpPr>
          <p:nvPr/>
        </p:nvCxnSpPr>
        <p:spPr>
          <a:xfrm rot="16200000" flipH="1">
            <a:off x="15288094" y="11853904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Curved Connector 666"/>
          <p:cNvCxnSpPr>
            <a:stCxn id="172" idx="2"/>
            <a:endCxn id="649" idx="0"/>
          </p:cNvCxnSpPr>
          <p:nvPr/>
        </p:nvCxnSpPr>
        <p:spPr>
          <a:xfrm rot="5400000">
            <a:off x="15617525" y="11812768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urved Connector 667"/>
          <p:cNvCxnSpPr>
            <a:stCxn id="172" idx="2"/>
            <a:endCxn id="650" idx="0"/>
          </p:cNvCxnSpPr>
          <p:nvPr/>
        </p:nvCxnSpPr>
        <p:spPr>
          <a:xfrm rot="16200000" flipH="1">
            <a:off x="15819612" y="11792970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Curved Connector 668"/>
          <p:cNvCxnSpPr>
            <a:stCxn id="179" idx="2"/>
            <a:endCxn id="651" idx="0"/>
          </p:cNvCxnSpPr>
          <p:nvPr/>
        </p:nvCxnSpPr>
        <p:spPr>
          <a:xfrm rot="5400000">
            <a:off x="16459938" y="11872329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Curved Connector 669"/>
          <p:cNvCxnSpPr>
            <a:stCxn id="179" idx="2"/>
            <a:endCxn id="653" idx="0"/>
          </p:cNvCxnSpPr>
          <p:nvPr/>
        </p:nvCxnSpPr>
        <p:spPr>
          <a:xfrm rot="16200000" flipH="1">
            <a:off x="16538743" y="11855275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/>
          <p:cNvSpPr txBox="1"/>
          <p:nvPr/>
        </p:nvSpPr>
        <p:spPr>
          <a:xfrm>
            <a:off x="14096793" y="1198213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72" name="TextBox 671"/>
          <p:cNvSpPr txBox="1"/>
          <p:nvPr/>
        </p:nvSpPr>
        <p:spPr>
          <a:xfrm>
            <a:off x="14242530" y="1198213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673" name="Curved Connector 672"/>
          <p:cNvCxnSpPr>
            <a:endCxn id="671" idx="0"/>
          </p:cNvCxnSpPr>
          <p:nvPr/>
        </p:nvCxnSpPr>
        <p:spPr>
          <a:xfrm rot="5400000">
            <a:off x="14085957" y="11870528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Curved Connector 673"/>
          <p:cNvCxnSpPr>
            <a:endCxn id="672" idx="0"/>
          </p:cNvCxnSpPr>
          <p:nvPr/>
        </p:nvCxnSpPr>
        <p:spPr>
          <a:xfrm rot="16200000" flipH="1">
            <a:off x="14168009" y="11868594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5" name="TextBox 674"/>
          <p:cNvSpPr txBox="1"/>
          <p:nvPr/>
        </p:nvSpPr>
        <p:spPr>
          <a:xfrm>
            <a:off x="12736282" y="11254939"/>
            <a:ext cx="2909676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分解令牌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12647127" y="13552656"/>
            <a:ext cx="995680" cy="33718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l"/>
            <a:r>
              <a:rPr lang="en-US" sz="1600" dirty="0">
                <a:latin typeface="Trebuchet MS" panose="020B0603020202020204" pitchFamily="34" charset="0"/>
              </a:rPr>
              <a:t>修剪令牌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cxnSp>
        <p:nvCxnSpPr>
          <p:cNvPr id="679" name="Straight Arrow Connector 678"/>
          <p:cNvCxnSpPr/>
          <p:nvPr/>
        </p:nvCxnSpPr>
        <p:spPr>
          <a:xfrm>
            <a:off x="16059421" y="1233933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/>
          <p:cNvSpPr txBox="1"/>
          <p:nvPr/>
        </p:nvSpPr>
        <p:spPr>
          <a:xfrm>
            <a:off x="12794012" y="10758650"/>
            <a:ext cx="3142718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匹配分解令牌</a:t>
            </a:r>
            <a:endParaRPr lang="en-US" sz="1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681" name="TextBox 680"/>
          <p:cNvSpPr txBox="1"/>
          <p:nvPr/>
        </p:nvSpPr>
        <p:spPr>
          <a:xfrm>
            <a:off x="12799645" y="12396515"/>
            <a:ext cx="2927236" cy="3708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603020202020204" pitchFamily="34" charset="0"/>
              </a:rPr>
              <a:t>语法导向的剪枝</a:t>
            </a:r>
            <a:endParaRPr lang="en-US" sz="1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685" name="Rounded Rectangle 684"/>
          <p:cNvSpPr/>
          <p:nvPr/>
        </p:nvSpPr>
        <p:spPr>
          <a:xfrm>
            <a:off x="17733617" y="10614369"/>
            <a:ext cx="4492065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成员可能性</a:t>
            </a:r>
            <a:r>
              <a:rPr lang="zh-CN" alt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计算</a:t>
            </a:r>
            <a:endParaRPr lang="zh-CN" altLang="en-US" sz="2000" i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686" name="Rounded Rectangle 685"/>
          <p:cNvSpPr/>
          <p:nvPr/>
        </p:nvSpPr>
        <p:spPr>
          <a:xfrm>
            <a:off x="18102590" y="11361429"/>
            <a:ext cx="3409965" cy="48763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Trebuchet MS" panose="020B0603020202020204" pitchFamily="34" charset="0"/>
              </a:rPr>
              <a:t>语法约定修剪后的成员概率</a:t>
            </a:r>
            <a:endParaRPr lang="en-US" sz="2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8475" y="11900740"/>
            <a:ext cx="3683000" cy="95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945629" y="11922691"/>
            <a:ext cx="3965929" cy="1032962"/>
          </a:xfrm>
          <a:prstGeom prst="rect">
            <a:avLst/>
          </a:prstGeom>
        </p:spPr>
      </p:pic>
      <p:sp>
        <p:nvSpPr>
          <p:cNvPr id="12" name="下箭头 11"/>
          <p:cNvSpPr/>
          <p:nvPr/>
        </p:nvSpPr>
        <p:spPr>
          <a:xfrm>
            <a:off x="14702790" y="8355965"/>
            <a:ext cx="989965" cy="1072515"/>
          </a:xfrm>
          <a:prstGeom prst="downArrow">
            <a:avLst/>
          </a:prstGeom>
        </p:spPr>
        <p:style>
          <a:lnRef idx="0">
            <a:srgbClr val="FFFFFF"/>
          </a:lnRef>
          <a:fillRef idx="1">
            <a:schemeClr val="accent3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6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Language Syntax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Task Specification</a:t>
            </a:r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Copyright</a:t>
            </a:r>
            <a:r>
              <a:rPr lang="en-US" altLang="zh-CN" dirty="0">
                <a:latin typeface="Trebuchet MS" panose="020B0603020202020204" pitchFamily="34" charset="0"/>
              </a:rPr>
              <a:t>-Owned </a:t>
            </a:r>
            <a:r>
              <a:rPr lang="en-US" dirty="0">
                <a:latin typeface="Trebuchet MS" panose="020B0603020202020204" pitchFamily="34" charset="0"/>
              </a:rPr>
              <a:t>Code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For</a:t>
            </a:r>
            <a:endParaRPr lang="en-US" dirty="0">
              <a:latin typeface="Trebuchet MS" panose="020B06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If Else</a:t>
            </a:r>
            <a:endParaRPr lang="en-US" dirty="0">
              <a:latin typeface="Trebuchet MS" panose="020B06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Try except</a:t>
            </a:r>
            <a:endParaRPr lang="en-US" dirty="0">
              <a:latin typeface="Trebuchet MS" panose="020B06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603020202020204" pitchFamily="34" charset="0"/>
              </a:rPr>
              <a:t>…</a:t>
            </a:r>
            <a:endParaRPr lang="en-US" dirty="0">
              <a:latin typeface="Trebuchet MS" panose="020B0603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Programming</a:t>
            </a:r>
            <a:endParaRPr lang="en-US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7780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Trebuchet MS" panose="020B0603020202020204" pitchFamily="34" charset="0"/>
              </a:rPr>
              <a:t>Enumerating each tokens</a:t>
            </a:r>
            <a:endParaRPr lang="en-US" sz="1100" dirty="0">
              <a:latin typeface="Trebuchet MS" panose="020B0603020202020204" pitchFamily="34" charset="0"/>
            </a:endParaRP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Trebuchet MS" panose="020B060302020202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]: 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	… 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Collecting</a:t>
            </a:r>
            <a:endParaRPr lang="en-US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Codebase</a:t>
            </a:r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latin typeface="Trebuchet MS" panose="020B0603020202020204" pitchFamily="34" charset="0"/>
              </a:rPr>
              <a:t>Code Tokens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34765" y="4944971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51780" y="4944971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80236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08" name="TextBox 607"/>
          <p:cNvSpPr txBox="1"/>
          <p:nvPr/>
        </p:nvSpPr>
        <p:spPr>
          <a:xfrm>
            <a:off x="18867378" y="4944971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609" name="TextBox 608"/>
          <p:cNvSpPr txBox="1"/>
          <p:nvPr/>
        </p:nvSpPr>
        <p:spPr>
          <a:xfrm>
            <a:off x="18167595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68579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2" name="TextBox 611"/>
          <p:cNvSpPr txBox="1"/>
          <p:nvPr/>
        </p:nvSpPr>
        <p:spPr>
          <a:xfrm>
            <a:off x="19423011" y="4944971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92743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19916138" y="4944971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208508" y="4944971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47275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...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1189429" y="4944971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70694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29" name="TextBox 628"/>
          <p:cNvSpPr txBox="1"/>
          <p:nvPr/>
        </p:nvSpPr>
        <p:spPr>
          <a:xfrm>
            <a:off x="21762806" y="4944971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600927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2" name="TextBox 631"/>
          <p:cNvSpPr txBox="1"/>
          <p:nvPr/>
        </p:nvSpPr>
        <p:spPr>
          <a:xfrm>
            <a:off x="22740941" y="4944971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86565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635" name="TextBox 634"/>
          <p:cNvSpPr txBox="1"/>
          <p:nvPr/>
        </p:nvSpPr>
        <p:spPr>
          <a:xfrm>
            <a:off x="23074222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Original Tokens</a:t>
            </a:r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152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603020202020204" pitchFamily="34" charset="0"/>
              </a:rPr>
              <a:t>P()</a:t>
            </a:r>
            <a:endParaRPr lang="en-US" sz="3200" dirty="0">
              <a:latin typeface="Trebuchet MS" panose="020B0603020202020204" pitchFamily="34" charset="0"/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LLMs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Training</a:t>
            </a:r>
            <a:endParaRPr lang="en-US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7310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Developer Accomplishing Programming Tasks</a:t>
            </a:r>
            <a:endParaRPr lang="en-US" sz="2800" dirty="0">
              <a:latin typeface="Trebuchet MS" panose="020B060302020202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6088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Training LLMs Using Accesible Corpus</a:t>
            </a:r>
            <a:endParaRPr lang="en-US" sz="2800" dirty="0">
              <a:latin typeface="Trebuchet MS" panose="020B0603020202020204" pitchFamily="34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Trebuchet MS" panose="020B060302020202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60302020202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60302020202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60302020202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603020202020204" pitchFamily="34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Trebuchet MS" panose="020B0603020202020204" pitchFamily="34" charset="0"/>
            </a:endParaRPr>
          </a:p>
          <a:p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60302020202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603020202020204" pitchFamily="34" charset="0"/>
              </a:rPr>
              <a:t>):…</a:t>
            </a:r>
            <a:endParaRPr lang="en-US" sz="11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  <a:endParaRPr lang="en-US" dirty="0">
              <a:latin typeface="Trebuchet MS" panose="020B0603020202020204" pitchFamily="34" charset="0"/>
            </a:endParaRP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…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Code Resources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406" name="TextBox 405"/>
          <p:cNvSpPr txBox="1"/>
          <p:nvPr/>
        </p:nvSpPr>
        <p:spPr>
          <a:xfrm>
            <a:off x="12060606" y="671064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77621" y="6710646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406077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09" name="TextBox 408"/>
          <p:cNvSpPr txBox="1"/>
          <p:nvPr/>
        </p:nvSpPr>
        <p:spPr>
          <a:xfrm>
            <a:off x="13593219" y="6710646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410" name="TextBox 409"/>
          <p:cNvSpPr txBox="1"/>
          <p:nvPr/>
        </p:nvSpPr>
        <p:spPr>
          <a:xfrm>
            <a:off x="12893436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94420" y="671064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3" name="TextBox 412"/>
          <p:cNvSpPr txBox="1"/>
          <p:nvPr/>
        </p:nvSpPr>
        <p:spPr>
          <a:xfrm>
            <a:off x="12408231" y="6982659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79762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90379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6" name="TextBox 415"/>
          <p:cNvSpPr txBox="1"/>
          <p:nvPr/>
        </p:nvSpPr>
        <p:spPr>
          <a:xfrm>
            <a:off x="13033669" y="6982659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55508" y="6982659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47878" y="6982659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90692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0" name="TextBox 419"/>
          <p:cNvSpPr txBox="1"/>
          <p:nvPr/>
        </p:nvSpPr>
        <p:spPr>
          <a:xfrm>
            <a:off x="14428373" y="698265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31963" y="6982659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2" name="TextBox 421"/>
          <p:cNvSpPr txBox="1"/>
          <p:nvPr/>
        </p:nvSpPr>
        <p:spPr>
          <a:xfrm>
            <a:off x="12719294" y="7259514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916427" y="7259514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49013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83629" y="7259514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19847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90067" y="7259514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70744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30" name="TextBox 429"/>
          <p:cNvSpPr txBox="1"/>
          <p:nvPr/>
        </p:nvSpPr>
        <p:spPr>
          <a:xfrm>
            <a:off x="14388529" y="7259514"/>
            <a:ext cx="2511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max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31" name="TextBox 430"/>
          <p:cNvSpPr txBox="1"/>
          <p:nvPr/>
        </p:nvSpPr>
        <p:spPr>
          <a:xfrm>
            <a:off x="14669818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_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32" name="TextBox 431"/>
          <p:cNvSpPr txBox="1"/>
          <p:nvPr/>
        </p:nvSpPr>
        <p:spPr>
          <a:xfrm>
            <a:off x="14827677" y="7259514"/>
            <a:ext cx="19024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col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33" name="TextBox 432"/>
          <p:cNvSpPr txBox="1"/>
          <p:nvPr/>
        </p:nvSpPr>
        <p:spPr>
          <a:xfrm>
            <a:off x="15078510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_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35" name="TextBox 434"/>
          <p:cNvSpPr txBox="1"/>
          <p:nvPr/>
        </p:nvSpPr>
        <p:spPr>
          <a:xfrm>
            <a:off x="15565749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36" name="TextBox 435"/>
          <p:cNvSpPr txBox="1"/>
          <p:nvPr/>
        </p:nvSpPr>
        <p:spPr>
          <a:xfrm>
            <a:off x="15705174" y="7259514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50208" y="7259514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38" name="TextBox 437"/>
          <p:cNvSpPr txBox="1"/>
          <p:nvPr/>
        </p:nvSpPr>
        <p:spPr>
          <a:xfrm>
            <a:off x="14935369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439" name="TextBox 438"/>
          <p:cNvSpPr txBox="1"/>
          <p:nvPr/>
        </p:nvSpPr>
        <p:spPr>
          <a:xfrm>
            <a:off x="16044130" y="7259514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450" name="TextBox 449"/>
          <p:cNvSpPr txBox="1"/>
          <p:nvPr/>
        </p:nvSpPr>
        <p:spPr>
          <a:xfrm>
            <a:off x="15249193" y="7259514"/>
            <a:ext cx="2335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488" name="TextBox 487"/>
          <p:cNvSpPr txBox="1"/>
          <p:nvPr/>
        </p:nvSpPr>
        <p:spPr>
          <a:xfrm>
            <a:off x="12103288" y="8261145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620303" y="8261145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48759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1" name="TextBox 490"/>
          <p:cNvSpPr txBox="1"/>
          <p:nvPr/>
        </p:nvSpPr>
        <p:spPr>
          <a:xfrm>
            <a:off x="13635901" y="8261145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492" name="TextBox 491"/>
          <p:cNvSpPr txBox="1"/>
          <p:nvPr/>
        </p:nvSpPr>
        <p:spPr>
          <a:xfrm>
            <a:off x="12936118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37102" y="8261145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5" name="TextBox 494"/>
          <p:cNvSpPr txBox="1"/>
          <p:nvPr/>
        </p:nvSpPr>
        <p:spPr>
          <a:xfrm>
            <a:off x="12450913" y="8533158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22444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33061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8" name="TextBox 497"/>
          <p:cNvSpPr txBox="1"/>
          <p:nvPr/>
        </p:nvSpPr>
        <p:spPr>
          <a:xfrm>
            <a:off x="13076351" y="8533158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98190" y="8533158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90560" y="8533158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33374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2" name="TextBox 501"/>
          <p:cNvSpPr txBox="1"/>
          <p:nvPr/>
        </p:nvSpPr>
        <p:spPr>
          <a:xfrm>
            <a:off x="14471055" y="8533158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74645" y="8533158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4" name="TextBox 503"/>
          <p:cNvSpPr txBox="1"/>
          <p:nvPr/>
        </p:nvSpPr>
        <p:spPr>
          <a:xfrm>
            <a:off x="12763154" y="8810013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60876" y="8810013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60302020202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94050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29255" y="8810013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66062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60302020202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603020202020204" pitchFamily="34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60302020202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937461" y="881001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18726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2" name="TextBox 511"/>
          <p:cNvSpPr txBox="1"/>
          <p:nvPr/>
        </p:nvSpPr>
        <p:spPr>
          <a:xfrm>
            <a:off x="14510838" y="8810013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48959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8" name="TextBox 517"/>
          <p:cNvSpPr txBox="1"/>
          <p:nvPr/>
        </p:nvSpPr>
        <p:spPr>
          <a:xfrm>
            <a:off x="15488973" y="881001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34597" y="881001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0" name="TextBox 519"/>
          <p:cNvSpPr txBox="1"/>
          <p:nvPr/>
        </p:nvSpPr>
        <p:spPr>
          <a:xfrm>
            <a:off x="14978051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521" name="TextBox 520"/>
          <p:cNvSpPr txBox="1"/>
          <p:nvPr/>
        </p:nvSpPr>
        <p:spPr>
          <a:xfrm>
            <a:off x="15829118" y="881001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623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Getting Conditioned Probabilities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173153" y="5873230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22173153" y="6103506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solidFill>
                  <a:srgbClr val="3B3B3B"/>
                </a:solidFill>
                <a:latin typeface="Trebuchet MS" panose="020B0603020202020204" pitchFamily="34" charset="0"/>
              </a:rPr>
              <a:t>name</a:t>
            </a:r>
            <a:endParaRPr lang="en-US" altLang="zh-CN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22173153" y="6333782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Id</a:t>
            </a:r>
            <a:endParaRPr lang="en-US" sz="900" dirty="0">
              <a:solidFill>
                <a:srgbClr val="001080"/>
              </a:solidFill>
              <a:latin typeface="Trebuchet MS" panose="020B0603020202020204" pitchFamily="34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0.84</a:t>
            </a:r>
            <a:endParaRPr lang="en-US" sz="1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0.04</a:t>
            </a:r>
            <a:endParaRPr lang="en-US" sz="1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603020202020204" pitchFamily="34" charset="0"/>
              </a:rPr>
              <a:t>0.03</a:t>
            </a:r>
            <a:endParaRPr lang="en-US" sz="10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rebuchet MS" panose="020B0603020202020204" pitchFamily="34" charset="0"/>
              </a:rPr>
              <a:t>Next Token Selection:</a:t>
            </a:r>
            <a:endParaRPr lang="en-US" sz="1200" dirty="0">
              <a:latin typeface="Trebuchet MS" panose="020B0603020202020204" pitchFamily="34" charset="0"/>
            </a:endParaRP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361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Syntax-Oriented Token Pruning</a:t>
            </a:r>
            <a:endParaRPr lang="en-US" dirty="0">
              <a:latin typeface="Trebuchet MS" panose="020B0603020202020204" pitchFamily="34" charset="0"/>
            </a:endParaRP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Retained Tokens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513" name="TextBox 512"/>
          <p:cNvSpPr txBox="1"/>
          <p:nvPr/>
        </p:nvSpPr>
        <p:spPr>
          <a:xfrm>
            <a:off x="17427351" y="820256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944366" y="8761082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72822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4" name="TextBox 523"/>
          <p:cNvSpPr txBox="1"/>
          <p:nvPr/>
        </p:nvSpPr>
        <p:spPr>
          <a:xfrm>
            <a:off x="18959964" y="8761082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525" name="TextBox 524"/>
          <p:cNvSpPr txBox="1"/>
          <p:nvPr/>
        </p:nvSpPr>
        <p:spPr>
          <a:xfrm>
            <a:off x="18260181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61165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28" name="TextBox 527"/>
          <p:cNvSpPr txBox="1"/>
          <p:nvPr/>
        </p:nvSpPr>
        <p:spPr>
          <a:xfrm>
            <a:off x="19515597" y="8202566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85329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44" name="TextBox 543"/>
          <p:cNvSpPr txBox="1"/>
          <p:nvPr/>
        </p:nvSpPr>
        <p:spPr>
          <a:xfrm>
            <a:off x="20008724" y="8761082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301094" y="820256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1039861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...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49" name="TextBox 548"/>
          <p:cNvSpPr txBox="1"/>
          <p:nvPr/>
        </p:nvSpPr>
        <p:spPr>
          <a:xfrm>
            <a:off x="21282015" y="8202566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93513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5" name="TextBox 554"/>
          <p:cNvSpPr txBox="1"/>
          <p:nvPr/>
        </p:nvSpPr>
        <p:spPr>
          <a:xfrm>
            <a:off x="22833527" y="8202566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79151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58" name="TextBox 557"/>
          <p:cNvSpPr txBox="1"/>
          <p:nvPr/>
        </p:nvSpPr>
        <p:spPr>
          <a:xfrm>
            <a:off x="23166808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61" name="TextBox 560"/>
          <p:cNvSpPr txBox="1"/>
          <p:nvPr/>
        </p:nvSpPr>
        <p:spPr>
          <a:xfrm>
            <a:off x="17370095" y="682214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60302020202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87110" y="6822143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15566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4" name="TextBox 563"/>
          <p:cNvSpPr txBox="1"/>
          <p:nvPr/>
        </p:nvSpPr>
        <p:spPr>
          <a:xfrm>
            <a:off x="18902708" y="682214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603020202020204" pitchFamily="34" charset="0"/>
              </a:rPr>
              <a:t>\n</a:t>
            </a:r>
            <a:endParaRPr lang="en-US" sz="900" dirty="0">
              <a:solidFill>
                <a:srgbClr val="D7BA7D"/>
              </a:solidFill>
              <a:latin typeface="Trebuchet MS" panose="020B0603020202020204" pitchFamily="34" charset="0"/>
            </a:endParaRPr>
          </a:p>
        </p:txBody>
      </p:sp>
      <p:sp>
        <p:nvSpPr>
          <p:cNvPr id="565" name="TextBox 564"/>
          <p:cNvSpPr txBox="1"/>
          <p:nvPr/>
        </p:nvSpPr>
        <p:spPr>
          <a:xfrm>
            <a:off x="18202925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603020202020204" pitchFamily="34" charset="0"/>
              </a:rPr>
              <a:t>,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703909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):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8" name="TextBox 567"/>
          <p:cNvSpPr txBox="1"/>
          <p:nvPr/>
        </p:nvSpPr>
        <p:spPr>
          <a:xfrm>
            <a:off x="19458341" y="6822143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728073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70" name="TextBox 569"/>
          <p:cNvSpPr txBox="1"/>
          <p:nvPr/>
        </p:nvSpPr>
        <p:spPr>
          <a:xfrm>
            <a:off x="19951468" y="6822143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60302020202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43838" y="6822143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60302020202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82605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...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3" name="TextBox 572"/>
          <p:cNvSpPr txBox="1"/>
          <p:nvPr/>
        </p:nvSpPr>
        <p:spPr>
          <a:xfrm>
            <a:off x="21224759" y="682214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60302020202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606024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21798136" y="6822143"/>
            <a:ext cx="724040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36257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[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22776271" y="682214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60302020202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921895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]: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23109552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</a:rPr>
              <a:t>...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603020202020204" pitchFamily="34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60302020202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  <a:cs typeface="Consolas" panose="020B0609020204030204" pitchFamily="49" charset="0"/>
              </a:rPr>
              <a:t>p</a:t>
            </a:r>
            <a:endParaRPr lang="en-US" sz="800" dirty="0">
              <a:latin typeface="Trebuchet MS" panose="020B0603020202020204" pitchFamily="34" charset="0"/>
              <a:cs typeface="Consolas" panose="020B0609020204030204" pitchFamily="49" charset="0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939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Pruned Tokens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6" y="8433398"/>
            <a:ext cx="916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9684" y="6845629"/>
            <a:ext cx="28802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</a:rPr>
              <a:t>⌷</a:t>
            </a:r>
            <a:r>
              <a:rPr lang="en-US" sz="900" dirty="0">
                <a:latin typeface="Trebuchet MS" panose="020B0603020202020204" pitchFamily="34" charset="0"/>
              </a:rPr>
              <a:t>add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26256369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</a:rPr>
              <a:t>(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25620253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603020202020204" pitchFamily="34" charset="0"/>
              </a:rPr>
              <a:t>,</a:t>
            </a:r>
            <a:endParaRPr lang="en-US" sz="90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⌷row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26390929" y="6845629"/>
            <a:ext cx="18703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for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24782067" y="6845629"/>
            <a:ext cx="65992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603020202020204" pitchFamily="34" charset="0"/>
              </a:rPr>
              <a:t>⌷</a:t>
            </a:r>
            <a:r>
              <a:rPr lang="en-US" sz="900" dirty="0">
                <a:latin typeface="Trebuchet MS" panose="020B0603020202020204" pitchFamily="34" charset="0"/>
              </a:rPr>
              <a:t>enumerate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77" name="TextBox 576"/>
          <p:cNvSpPr txBox="1"/>
          <p:nvPr/>
        </p:nvSpPr>
        <p:spPr>
          <a:xfrm>
            <a:off x="25890977" y="6845629"/>
            <a:ext cx="29283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⌷self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79" name="TextBox 578"/>
          <p:cNvSpPr txBox="1"/>
          <p:nvPr/>
        </p:nvSpPr>
        <p:spPr>
          <a:xfrm>
            <a:off x="27338026" y="6845629"/>
            <a:ext cx="72404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603020202020204" pitchFamily="34" charset="0"/>
              </a:rPr>
              <a:t>max_col_size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40386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603020202020204" pitchFamily="34" charset="0"/>
              </a:rPr>
              <a:t>[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81" name="TextBox 580"/>
          <p:cNvSpPr txBox="1"/>
          <p:nvPr/>
        </p:nvSpPr>
        <p:spPr>
          <a:xfrm>
            <a:off x="25504128" y="6845629"/>
            <a:ext cx="7001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603020202020204" pitchFamily="34" charset="0"/>
              </a:rPr>
              <a:t>i</a:t>
            </a:r>
            <a:endParaRPr lang="en-US" sz="900" dirty="0">
              <a:latin typeface="Trebuchet MS" panose="020B0603020202020204" pitchFamily="34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603020202020204" pitchFamily="34" charset="0"/>
            </a:endParaRPr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latin typeface="Trebuchet MS" panose="020B0603020202020204" pitchFamily="34" charset="0"/>
              </a:rPr>
              <a:t>Tokenizing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Copyright</a:t>
            </a:r>
            <a:r>
              <a:rPr lang="en-US" altLang="zh-CN" dirty="0">
                <a:solidFill>
                  <a:schemeClr val="bg1"/>
                </a:solidFill>
                <a:latin typeface="Trebuchet MS" panose="020B0603020202020204" pitchFamily="34" charset="0"/>
              </a:rPr>
              <a:t>-Owned </a:t>
            </a:r>
            <a:r>
              <a:rPr lang="en-US" dirty="0">
                <a:solidFill>
                  <a:schemeClr val="bg1"/>
                </a:solidFill>
                <a:latin typeface="Trebuchet MS" panose="020B0603020202020204" pitchFamily="34" charset="0"/>
              </a:rPr>
              <a:t>Code</a:t>
            </a:r>
            <a:endParaRPr lang="en-US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2153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Resuming variables</a:t>
            </a:r>
            <a:endParaRPr lang="en-US" dirty="0">
              <a:latin typeface="Trebuchet MS" panose="020B0603020202020204" pitchFamily="34" charset="0"/>
            </a:endParaRP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169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603020202020204" pitchFamily="34" charset="0"/>
              </a:rPr>
              <a:t>Our Solution</a:t>
            </a:r>
            <a:endParaRPr lang="en-US" sz="2800" dirty="0">
              <a:latin typeface="Trebuchet MS" panose="020B0603020202020204" pitchFamily="34" charset="0"/>
            </a:endParaRP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88681" y="-1538303"/>
            <a:ext cx="194145" cy="10459330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rebuchet MS" panose="020B0603020202020204" pitchFamily="34" charset="0"/>
              </a:rPr>
              <a:t>Tokens with High Likelihood</a:t>
            </a:r>
            <a:endParaRPr lang="en-US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Syntax-bonding Probability Pruning</a:t>
            </a:r>
            <a:endParaRPr lang="en-US" sz="2000" i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Variable</a:t>
            </a:r>
            <a:r>
              <a:rPr lang="zh-CN" alt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en-US" altLang="zh-CN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Resumption</a:t>
            </a:r>
            <a:endParaRPr lang="en-US" sz="2000" i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" panose="020B0603020202020204" pitchFamily="34" charset="0"/>
              </a:rPr>
              <a:t>Code Tokens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603020202020204" pitchFamily="34" charset="0"/>
            </a:endParaRPr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603020202020204" pitchFamily="34" charset="0"/>
              </a:rPr>
              <a:t>Token</a:t>
            </a:r>
            <a:r>
              <a:rPr lang="zh-CN" altLang="en-US" sz="1600" dirty="0">
                <a:latin typeface="Trebuchet MS" panose="020B0603020202020204" pitchFamily="34" charset="0"/>
              </a:rPr>
              <a:t> </a:t>
            </a:r>
            <a:r>
              <a:rPr lang="en-US" altLang="zh-CN" sz="1600" dirty="0">
                <a:latin typeface="Trebuchet MS" panose="020B0603020202020204" pitchFamily="34" charset="0"/>
              </a:rPr>
              <a:t>Probabilities</a:t>
            </a:r>
            <a:endParaRPr lang="en-US" sz="1600" dirty="0">
              <a:latin typeface="Trebuchet MS" panose="020B0603020202020204" pitchFamily="34" charset="0"/>
            </a:endParaRPr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Ranked</a:t>
            </a:r>
            <a:r>
              <a:rPr lang="zh-CN" altLang="en-US" dirty="0">
                <a:latin typeface="Trebuchet MS" panose="020B0603020202020204" pitchFamily="34" charset="0"/>
              </a:rPr>
              <a:t> </a:t>
            </a:r>
            <a:r>
              <a:rPr lang="en-US" altLang="zh-CN" dirty="0">
                <a:latin typeface="Trebuchet MS" panose="020B0603020202020204" pitchFamily="34" charset="0"/>
              </a:rPr>
              <a:t>Token Probabilities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765" name="TextBox 764"/>
          <p:cNvSpPr txBox="1"/>
          <p:nvPr/>
        </p:nvSpPr>
        <p:spPr>
          <a:xfrm>
            <a:off x="21663280" y="8761082"/>
            <a:ext cx="7803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603020202020204" pitchFamily="34" charset="0"/>
              </a:rPr>
              <a:t>.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 flipH="1">
            <a:off x="21702295" y="8433398"/>
            <a:ext cx="1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07235" y="4904644"/>
            <a:ext cx="643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Prob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603020202020204" pitchFamily="34" charset="0"/>
              </a:rPr>
              <a:t>Truncating and Averaging Probabilities</a:t>
            </a:r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603020202020204" pitchFamily="34" charset="0"/>
              </a:rPr>
              <a:t>Syntax-bonding Probability Pruning</a:t>
            </a:r>
            <a:endParaRPr lang="en-US" sz="2000" i="1" dirty="0">
              <a:solidFill>
                <a:schemeClr val="bg1"/>
              </a:solidFill>
              <a:latin typeface="Trebuchet MS" panose="020B0603020202020204" pitchFamily="34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603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1855392" y="8761082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60302020202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  <a:endParaRPr lang="en-US" dirty="0"/>
          </a:p>
          <a:p>
            <a:r>
              <a:rPr lang="en-US" dirty="0"/>
              <a:t>if …</a:t>
            </a:r>
            <a:endParaRPr lang="en-US" dirty="0"/>
          </a:p>
          <a:p>
            <a:r>
              <a:rPr lang="en-US" dirty="0"/>
              <a:t>else …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  <a:endParaRPr lang="en-US" sz="1200" dirty="0"/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  <a:endParaRPr 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  <a:endParaRPr lang="en-US" dirty="0"/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  <a:endParaRPr lang="en-US" dirty="0"/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  <a:endParaRPr lang="en-US" dirty="0"/>
          </a:p>
          <a:p>
            <a:r>
              <a:rPr lang="en-US" dirty="0"/>
              <a:t>if …</a:t>
            </a:r>
            <a:endParaRPr lang="en-US" dirty="0"/>
          </a:p>
          <a:p>
            <a:r>
              <a:rPr lang="en-US" dirty="0"/>
              <a:t>else …</a:t>
            </a:r>
            <a:endParaRPr lang="en-US" dirty="0"/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US" dirty="0"/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US" dirty="0"/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US" dirty="0"/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US" dirty="0"/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endParaRPr 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endParaRPr lang="en-US" dirty="0"/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endParaRPr lang="en-US" dirty="0"/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endParaRPr lang="en-US" dirty="0"/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US" dirty="0"/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US" dirty="0"/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US" dirty="0"/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US" dirty="0"/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  <a:endParaRPr lang="en-US" sz="1200" dirty="0"/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  <a:endParaRPr lang="en-US" dirty="0"/>
          </a:p>
          <a:p>
            <a:r>
              <a:rPr lang="en-US" dirty="0"/>
              <a:t>	n = </a:t>
            </a:r>
            <a:r>
              <a:rPr lang="en-US" dirty="0" err="1"/>
              <a:t>len</a:t>
            </a:r>
            <a:r>
              <a:rPr lang="en-US" dirty="0"/>
              <a:t>(row) - 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self.max_col_size</a:t>
            </a:r>
            <a:r>
              <a:rPr lang="en-US" dirty="0"/>
              <a:t>)</a:t>
            </a:r>
            <a:endParaRPr lang="en-US" dirty="0"/>
          </a:p>
          <a:p>
            <a:r>
              <a:rPr lang="en-US" dirty="0"/>
              <a:t>	if n &gt; 0:</a:t>
            </a:r>
            <a:endParaRPr lang="en-US" dirty="0"/>
          </a:p>
          <a:p>
            <a:r>
              <a:rPr lang="en-US" dirty="0"/>
              <a:t>		</a:t>
            </a:r>
            <a:r>
              <a:rPr lang="en-US" dirty="0" err="1"/>
              <a:t>self.max_col_size</a:t>
            </a:r>
            <a:r>
              <a:rPr lang="en-US" dirty="0"/>
              <a:t> += [0] * n</a:t>
            </a:r>
            <a:endParaRPr lang="en-US" dirty="0"/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  <a:endParaRPr lang="en-US" dirty="0"/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  <a:endParaRPr lang="en-US" dirty="0"/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  <a:endParaRPr lang="en-US" dirty="0"/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  <a:endParaRPr lang="en-US" dirty="0"/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  <a:endParaRPr lang="en-US" dirty="0"/>
          </a:p>
          <a:p>
            <a:r>
              <a:rPr lang="en-US" dirty="0"/>
              <a:t>if …</a:t>
            </a:r>
            <a:endParaRPr lang="en-US" dirty="0"/>
          </a:p>
          <a:p>
            <a:r>
              <a:rPr lang="en-US" dirty="0"/>
              <a:t>else …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  <a:endParaRPr lang="en-US" sz="1200" dirty="0"/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  <a:endParaRPr 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  <a:endParaRPr lang="en-US" dirty="0"/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  <a:endParaRPr lang="en-US" dirty="0"/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  <a:endParaRPr lang="en-US" dirty="0"/>
          </a:p>
          <a:p>
            <a:r>
              <a:rPr lang="en-US" dirty="0"/>
              <a:t>if …</a:t>
            </a:r>
            <a:endParaRPr lang="en-US" dirty="0"/>
          </a:p>
          <a:p>
            <a:r>
              <a:rPr lang="en-US" dirty="0"/>
              <a:t>else …</a:t>
            </a:r>
            <a:endParaRPr lang="en-US" dirty="0"/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  <a:endParaRPr lang="en-US" dirty="0"/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US" dirty="0"/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US" dirty="0"/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US" dirty="0"/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US" dirty="0"/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endParaRPr 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endParaRPr lang="en-US" dirty="0"/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endParaRPr lang="en-US" dirty="0"/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endParaRPr lang="en-US" dirty="0"/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  <a:endParaRPr lang="en-US" dirty="0"/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  <a:endParaRPr lang="en-US" dirty="0"/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  <a:endParaRPr lang="en-US" dirty="0"/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  <a:endParaRPr lang="en-US" dirty="0"/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  <a:endParaRPr lang="en-US" sz="1200" dirty="0"/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  <a:endParaRPr lang="en-US" dirty="0"/>
          </a:p>
          <a:p>
            <a:r>
              <a:rPr lang="en-US" dirty="0"/>
              <a:t>	…</a:t>
            </a:r>
            <a:endParaRPr lang="en-US" dirty="0"/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  <a:endParaRPr lang="en-US" dirty="0"/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  <a:endParaRPr lang="en-US" dirty="0"/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  <a:endParaRPr lang="en-US" dirty="0"/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  <a:endParaRPr lang="en-US" dirty="0"/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81899" y="7383650"/>
            <a:ext cx="305656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62846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22561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06496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9920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12" name="TextBox 11"/>
          <p:cNvSpPr txBox="1"/>
          <p:nvPr/>
        </p:nvSpPr>
        <p:spPr>
          <a:xfrm>
            <a:off x="6550205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97278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10288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93039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6863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5175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6558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48332" y="7655663"/>
            <a:ext cx="71923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807176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95207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234821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21894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292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765497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900914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36331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17174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376093" y="7932518"/>
            <a:ext cx="38099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787228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922645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19592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331337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604612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719467" y="8212592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082233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921765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35306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44864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55740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571477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92413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7070005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353733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7499603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783331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929200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28185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842772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57359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740028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8934266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28692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943279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57866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5582674" y="7655663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5582674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5900810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70" name="TextBox 169"/>
          <p:cNvSpPr txBox="1"/>
          <p:nvPr/>
        </p:nvSpPr>
        <p:spPr>
          <a:xfrm>
            <a:off x="5585710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71" name="TextBox 170"/>
          <p:cNvSpPr txBox="1"/>
          <p:nvPr/>
        </p:nvSpPr>
        <p:spPr>
          <a:xfrm>
            <a:off x="5914299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6242888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7718903" y="7413683"/>
            <a:ext cx="5968935" cy="436290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338" y="5708136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6853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36251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70253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83211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2557739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…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770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85424" y="3949260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9362068" y="613393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28" name="TextBox 27"/>
          <p:cNvSpPr txBox="1"/>
          <p:nvPr/>
        </p:nvSpPr>
        <p:spPr>
          <a:xfrm>
            <a:off x="17808583" y="5453132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  <a:endParaRPr lang="en-US" dirty="0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666" y="7584190"/>
            <a:ext cx="1130986" cy="1130986"/>
          </a:xfrm>
          <a:prstGeom prst="rect">
            <a:avLst/>
          </a:prstGeom>
        </p:spPr>
      </p:pic>
      <p:cxnSp>
        <p:nvCxnSpPr>
          <p:cNvPr id="51" name="Straight Arrow Connector 50"/>
          <p:cNvCxnSpPr/>
          <p:nvPr/>
        </p:nvCxnSpPr>
        <p:spPr>
          <a:xfrm>
            <a:off x="24383245" y="655539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4725810" y="6016266"/>
            <a:ext cx="93006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1263125" y="579700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  <a:endParaRPr lang="en-US" dirty="0"/>
          </a:p>
        </p:txBody>
      </p:sp>
      <p:sp>
        <p:nvSpPr>
          <p:cNvPr id="55" name="Triangle 54"/>
          <p:cNvSpPr/>
          <p:nvPr/>
        </p:nvSpPr>
        <p:spPr>
          <a:xfrm rot="10800000">
            <a:off x="21233887" y="6815372"/>
            <a:ext cx="2094696" cy="683382"/>
          </a:xfrm>
          <a:custGeom>
            <a:avLst/>
            <a:gdLst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3404751 w 3404751"/>
              <a:gd name="connsiteY2" fmla="*/ 3632919 h 3632919"/>
              <a:gd name="connsiteX3" fmla="*/ 0 w 3404751"/>
              <a:gd name="connsiteY3" fmla="*/ 3632919 h 3632919"/>
              <a:gd name="connsiteX0-1" fmla="*/ 0 w 3404751"/>
              <a:gd name="connsiteY0-2" fmla="*/ 3632919 h 3632919"/>
              <a:gd name="connsiteX1-3" fmla="*/ 3404751 w 3404751"/>
              <a:gd name="connsiteY1-4" fmla="*/ 0 h 3632919"/>
              <a:gd name="connsiteX2-5" fmla="*/ 1982351 w 3404751"/>
              <a:gd name="connsiteY2-6" fmla="*/ 3632919 h 3632919"/>
              <a:gd name="connsiteX3-7" fmla="*/ 0 w 3404751"/>
              <a:gd name="connsiteY3-8" fmla="*/ 3632919 h 36329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404751" h="3632919">
                <a:moveTo>
                  <a:pt x="0" y="3632919"/>
                </a:moveTo>
                <a:lnTo>
                  <a:pt x="3404751" y="0"/>
                </a:lnTo>
                <a:lnTo>
                  <a:pt x="1982351" y="3632919"/>
                </a:lnTo>
                <a:lnTo>
                  <a:pt x="0" y="36329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7852304" y="6022203"/>
            <a:ext cx="1318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103" name="TextBox 102"/>
          <p:cNvSpPr txBox="1"/>
          <p:nvPr/>
        </p:nvSpPr>
        <p:spPr>
          <a:xfrm>
            <a:off x="20696897" y="8827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120" name="Rounded Rectangle 119"/>
          <p:cNvSpPr/>
          <p:nvPr/>
        </p:nvSpPr>
        <p:spPr>
          <a:xfrm>
            <a:off x="17728868" y="5334511"/>
            <a:ext cx="6402505" cy="3818241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7073994" y="7773031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7389366" y="8054304"/>
            <a:ext cx="366722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Truncating and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Averaging (Summing?</a:t>
            </a:r>
            <a:endParaRPr lang="en-US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218136" y="3811155"/>
            <a:ext cx="3996000" cy="115488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			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618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5756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772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44626" y="8013814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69" name="TextBox 468"/>
          <p:cNvSpPr txBox="1"/>
          <p:nvPr/>
        </p:nvSpPr>
        <p:spPr>
          <a:xfrm>
            <a:off x="6560038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  <a:endParaRPr lang="en-US" dirty="0"/>
          </a:p>
        </p:txBody>
      </p:sp>
      <p:cxnSp>
        <p:nvCxnSpPr>
          <p:cNvPr id="473" name="Straight Arrow Connector 472"/>
          <p:cNvCxnSpPr/>
          <p:nvPr/>
        </p:nvCxnSpPr>
        <p:spPr>
          <a:xfrm>
            <a:off x="14768139" y="5535668"/>
            <a:ext cx="0" cy="1655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1790608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4" name="TextBox 483"/>
          <p:cNvSpPr txBox="1"/>
          <p:nvPr/>
        </p:nvSpPr>
        <p:spPr>
          <a:xfrm>
            <a:off x="15190341" y="6754864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Variable Token Resumption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86" name="Picture 48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49924" y="13036598"/>
            <a:ext cx="1071702" cy="1071702"/>
          </a:xfrm>
          <a:prstGeom prst="rect">
            <a:avLst/>
          </a:prstGeom>
        </p:spPr>
      </p:pic>
      <p:sp>
        <p:nvSpPr>
          <p:cNvPr id="546" name="TextBox 545"/>
          <p:cNvSpPr txBox="1"/>
          <p:nvPr/>
        </p:nvSpPr>
        <p:spPr>
          <a:xfrm>
            <a:off x="13998901" y="5016268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US" dirty="0"/>
          </a:p>
        </p:txBody>
      </p:sp>
      <p:sp>
        <p:nvSpPr>
          <p:cNvPr id="547" name="TextBox 546"/>
          <p:cNvSpPr txBox="1"/>
          <p:nvPr/>
        </p:nvSpPr>
        <p:spPr>
          <a:xfrm>
            <a:off x="14087723" y="8724771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US" dirty="0"/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5955296" y="12239087"/>
            <a:ext cx="403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48" idx="1"/>
          </p:cNvCxnSpPr>
          <p:nvPr/>
        </p:nvCxnSpPr>
        <p:spPr>
          <a:xfrm flipV="1">
            <a:off x="11262652" y="4387361"/>
            <a:ext cx="1600688" cy="3762322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1293562" y="5868338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Tokenizing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05" name="TextBox 604"/>
          <p:cNvSpPr txBox="1"/>
          <p:nvPr/>
        </p:nvSpPr>
        <p:spPr>
          <a:xfrm>
            <a:off x="18226883" y="487971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8707830" y="4879711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856754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8" name="TextBox 607"/>
          <p:cNvSpPr txBox="1"/>
          <p:nvPr/>
        </p:nvSpPr>
        <p:spPr>
          <a:xfrm>
            <a:off x="19751480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609" name="TextBox 608"/>
          <p:cNvSpPr txBox="1"/>
          <p:nvPr/>
        </p:nvSpPr>
        <p:spPr>
          <a:xfrm>
            <a:off x="19054904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610" name="TextBox 609"/>
          <p:cNvSpPr txBox="1"/>
          <p:nvPr/>
        </p:nvSpPr>
        <p:spPr>
          <a:xfrm>
            <a:off x="19195189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9542262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12" name="TextBox 611"/>
          <p:cNvSpPr txBox="1"/>
          <p:nvPr/>
        </p:nvSpPr>
        <p:spPr>
          <a:xfrm>
            <a:off x="20340497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20623248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4" name="TextBox 613"/>
          <p:cNvSpPr txBox="1"/>
          <p:nvPr/>
        </p:nvSpPr>
        <p:spPr>
          <a:xfrm>
            <a:off x="20837072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5" name="TextBox 614"/>
          <p:cNvSpPr txBox="1"/>
          <p:nvPr/>
        </p:nvSpPr>
        <p:spPr>
          <a:xfrm>
            <a:off x="2098196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21195789" y="4879711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1478541" y="487971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223738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9" name="TextBox 618"/>
          <p:cNvSpPr txBox="1"/>
          <p:nvPr/>
        </p:nvSpPr>
        <p:spPr>
          <a:xfrm>
            <a:off x="22382279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0" name="TextBox 619"/>
          <p:cNvSpPr txBox="1"/>
          <p:nvPr/>
        </p:nvSpPr>
        <p:spPr>
          <a:xfrm>
            <a:off x="22665030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1" name="TextBox 620"/>
          <p:cNvSpPr txBox="1"/>
          <p:nvPr/>
        </p:nvSpPr>
        <p:spPr>
          <a:xfrm>
            <a:off x="23718563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2" name="TextBox 621"/>
          <p:cNvSpPr txBox="1"/>
          <p:nvPr/>
        </p:nvSpPr>
        <p:spPr>
          <a:xfrm>
            <a:off x="23923498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3" name="TextBox 622"/>
          <p:cNvSpPr txBox="1"/>
          <p:nvPr/>
        </p:nvSpPr>
        <p:spPr>
          <a:xfrm>
            <a:off x="24266291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4" name="TextBox 623"/>
          <p:cNvSpPr txBox="1"/>
          <p:nvPr/>
        </p:nvSpPr>
        <p:spPr>
          <a:xfrm>
            <a:off x="2440229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5" name="TextBox 624"/>
          <p:cNvSpPr txBox="1"/>
          <p:nvPr/>
        </p:nvSpPr>
        <p:spPr>
          <a:xfrm>
            <a:off x="24538303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6" name="TextBox 625"/>
          <p:cNvSpPr txBox="1"/>
          <p:nvPr/>
        </p:nvSpPr>
        <p:spPr>
          <a:xfrm>
            <a:off x="24674309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4879244" y="487971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529096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9" name="TextBox 628"/>
          <p:cNvSpPr txBox="1"/>
          <p:nvPr/>
        </p:nvSpPr>
        <p:spPr>
          <a:xfrm>
            <a:off x="25426973" y="4879711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6321200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2" name="TextBox 631"/>
          <p:cNvSpPr txBox="1"/>
          <p:nvPr/>
        </p:nvSpPr>
        <p:spPr>
          <a:xfrm>
            <a:off x="26457206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659321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4" name="TextBox 633"/>
          <p:cNvSpPr txBox="1"/>
          <p:nvPr/>
        </p:nvSpPr>
        <p:spPr>
          <a:xfrm>
            <a:off x="2287885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635" name="TextBox 634"/>
          <p:cNvSpPr txBox="1"/>
          <p:nvPr/>
        </p:nvSpPr>
        <p:spPr>
          <a:xfrm>
            <a:off x="2679815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20012883" y="4879711"/>
            <a:ext cx="288000" cy="230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46" name="TextBox 645"/>
          <p:cNvSpPr txBox="1"/>
          <p:nvPr/>
        </p:nvSpPr>
        <p:spPr>
          <a:xfrm>
            <a:off x="23081113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47" name="TextBox 646"/>
          <p:cNvSpPr txBox="1"/>
          <p:nvPr/>
        </p:nvSpPr>
        <p:spPr>
          <a:xfrm>
            <a:off x="23399838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52" name="TextBox 651"/>
          <p:cNvSpPr txBox="1"/>
          <p:nvPr/>
        </p:nvSpPr>
        <p:spPr>
          <a:xfrm>
            <a:off x="17938396" y="4225969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  <a:endParaRPr lang="en-US" dirty="0"/>
          </a:p>
        </p:txBody>
      </p:sp>
      <p:sp>
        <p:nvSpPr>
          <p:cNvPr id="653" name="TextBox 652"/>
          <p:cNvSpPr txBox="1"/>
          <p:nvPr/>
        </p:nvSpPr>
        <p:spPr>
          <a:xfrm>
            <a:off x="15009475" y="5868338"/>
            <a:ext cx="215959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Variable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Resumption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54" name="Rectangle 653"/>
          <p:cNvSpPr/>
          <p:nvPr/>
        </p:nvSpPr>
        <p:spPr>
          <a:xfrm>
            <a:off x="19362068" y="660531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55" name="Rectangle 654"/>
          <p:cNvSpPr/>
          <p:nvPr/>
        </p:nvSpPr>
        <p:spPr>
          <a:xfrm>
            <a:off x="20068718" y="660531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660" name="Rectangle 659"/>
          <p:cNvSpPr/>
          <p:nvPr/>
        </p:nvSpPr>
        <p:spPr>
          <a:xfrm>
            <a:off x="193620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61" name="Rectangle 660"/>
          <p:cNvSpPr/>
          <p:nvPr/>
        </p:nvSpPr>
        <p:spPr>
          <a:xfrm>
            <a:off x="20068718" y="705542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662" name="Rectangle 661"/>
          <p:cNvSpPr/>
          <p:nvPr/>
        </p:nvSpPr>
        <p:spPr>
          <a:xfrm>
            <a:off x="207753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666" name="Rectangle 665"/>
          <p:cNvSpPr/>
          <p:nvPr/>
        </p:nvSpPr>
        <p:spPr>
          <a:xfrm>
            <a:off x="1936206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67" name="Rectangle 666"/>
          <p:cNvSpPr/>
          <p:nvPr/>
        </p:nvSpPr>
        <p:spPr>
          <a:xfrm>
            <a:off x="20068718" y="752679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668" name="Rectangle 667"/>
          <p:cNvSpPr/>
          <p:nvPr/>
        </p:nvSpPr>
        <p:spPr>
          <a:xfrm>
            <a:off x="20775368" y="7526799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669" name="Rectangle 668"/>
          <p:cNvSpPr/>
          <p:nvPr/>
        </p:nvSpPr>
        <p:spPr>
          <a:xfrm>
            <a:off x="2148201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672" name="Rectangle 671"/>
          <p:cNvSpPr/>
          <p:nvPr/>
        </p:nvSpPr>
        <p:spPr>
          <a:xfrm>
            <a:off x="193620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73" name="Rectangle 672"/>
          <p:cNvSpPr/>
          <p:nvPr/>
        </p:nvSpPr>
        <p:spPr>
          <a:xfrm>
            <a:off x="20068718" y="797690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674" name="Rectangle 673"/>
          <p:cNvSpPr/>
          <p:nvPr/>
        </p:nvSpPr>
        <p:spPr>
          <a:xfrm>
            <a:off x="207753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675" name="Rectangle 674"/>
          <p:cNvSpPr/>
          <p:nvPr/>
        </p:nvSpPr>
        <p:spPr>
          <a:xfrm>
            <a:off x="2148201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676" name="Rectangle 675"/>
          <p:cNvSpPr/>
          <p:nvPr/>
        </p:nvSpPr>
        <p:spPr>
          <a:xfrm>
            <a:off x="221886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78" name="Rectangle 677"/>
          <p:cNvSpPr/>
          <p:nvPr/>
        </p:nvSpPr>
        <p:spPr>
          <a:xfrm>
            <a:off x="193620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79" name="Rectangle 678"/>
          <p:cNvSpPr/>
          <p:nvPr/>
        </p:nvSpPr>
        <p:spPr>
          <a:xfrm>
            <a:off x="20068718" y="84482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680" name="Rectangle 679"/>
          <p:cNvSpPr/>
          <p:nvPr/>
        </p:nvSpPr>
        <p:spPr>
          <a:xfrm>
            <a:off x="20775368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  <a:endParaRPr lang="en-US" sz="1200" dirty="0"/>
          </a:p>
        </p:txBody>
      </p:sp>
      <p:sp>
        <p:nvSpPr>
          <p:cNvPr id="681" name="Rectangle 680"/>
          <p:cNvSpPr/>
          <p:nvPr/>
        </p:nvSpPr>
        <p:spPr>
          <a:xfrm>
            <a:off x="2148201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682" name="Rectangle 681"/>
          <p:cNvSpPr/>
          <p:nvPr/>
        </p:nvSpPr>
        <p:spPr>
          <a:xfrm>
            <a:off x="221886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83" name="Rectangle 682"/>
          <p:cNvSpPr/>
          <p:nvPr/>
        </p:nvSpPr>
        <p:spPr>
          <a:xfrm>
            <a:off x="22895319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  <a:endParaRPr lang="en-US" sz="1200" dirty="0"/>
          </a:p>
        </p:txBody>
      </p:sp>
      <p:sp>
        <p:nvSpPr>
          <p:cNvPr id="684" name="TextBox 683"/>
          <p:cNvSpPr txBox="1"/>
          <p:nvPr/>
        </p:nvSpPr>
        <p:spPr>
          <a:xfrm>
            <a:off x="17852304" y="6524632"/>
            <a:ext cx="1398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5" name="TextBox 684"/>
          <p:cNvSpPr txBox="1"/>
          <p:nvPr/>
        </p:nvSpPr>
        <p:spPr>
          <a:xfrm>
            <a:off x="17852304" y="7013411"/>
            <a:ext cx="135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6" name="TextBox 685"/>
          <p:cNvSpPr txBox="1"/>
          <p:nvPr/>
        </p:nvSpPr>
        <p:spPr>
          <a:xfrm>
            <a:off x="17852304" y="7459133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7" name="TextBox 686"/>
          <p:cNvSpPr txBox="1"/>
          <p:nvPr/>
        </p:nvSpPr>
        <p:spPr>
          <a:xfrm>
            <a:off x="17852304" y="7934857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8" name="TextBox 687"/>
          <p:cNvSpPr txBox="1"/>
          <p:nvPr/>
        </p:nvSpPr>
        <p:spPr>
          <a:xfrm>
            <a:off x="17852304" y="8423636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90" name="TextBox 689"/>
          <p:cNvSpPr txBox="1"/>
          <p:nvPr/>
        </p:nvSpPr>
        <p:spPr>
          <a:xfrm>
            <a:off x="17779704" y="9949328"/>
            <a:ext cx="21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Pruned Probabilities:</a:t>
            </a:r>
            <a:endParaRPr lang="en-US" dirty="0"/>
          </a:p>
        </p:txBody>
      </p:sp>
      <p:sp>
        <p:nvSpPr>
          <p:cNvPr id="691" name="Rectangle 690"/>
          <p:cNvSpPr/>
          <p:nvPr/>
        </p:nvSpPr>
        <p:spPr>
          <a:xfrm>
            <a:off x="193811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692" name="Rectangle 691"/>
          <p:cNvSpPr/>
          <p:nvPr/>
        </p:nvSpPr>
        <p:spPr>
          <a:xfrm>
            <a:off x="20087768" y="103913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  <a:endParaRPr lang="en-US" sz="1200" dirty="0"/>
          </a:p>
        </p:txBody>
      </p:sp>
      <p:sp>
        <p:nvSpPr>
          <p:cNvPr id="694" name="Rectangle 693"/>
          <p:cNvSpPr/>
          <p:nvPr/>
        </p:nvSpPr>
        <p:spPr>
          <a:xfrm>
            <a:off x="2150106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  <a:endParaRPr lang="en-US" sz="1200" dirty="0"/>
          </a:p>
        </p:txBody>
      </p:sp>
      <p:sp>
        <p:nvSpPr>
          <p:cNvPr id="695" name="Rectangle 694"/>
          <p:cNvSpPr/>
          <p:nvPr/>
        </p:nvSpPr>
        <p:spPr>
          <a:xfrm>
            <a:off x="222077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cxnSp>
        <p:nvCxnSpPr>
          <p:cNvPr id="698" name="Straight Arrow Connector 697"/>
          <p:cNvCxnSpPr/>
          <p:nvPr/>
        </p:nvCxnSpPr>
        <p:spPr>
          <a:xfrm>
            <a:off x="20589062" y="9270138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9" name="TextBox 698"/>
          <p:cNvSpPr txBox="1"/>
          <p:nvPr/>
        </p:nvSpPr>
        <p:spPr>
          <a:xfrm>
            <a:off x="20917697" y="9316945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700" name="Elbow Connector 699"/>
          <p:cNvCxnSpPr>
            <a:stCxn id="60" idx="3"/>
            <a:endCxn id="652" idx="1"/>
          </p:cNvCxnSpPr>
          <p:nvPr/>
        </p:nvCxnSpPr>
        <p:spPr>
          <a:xfrm flipV="1">
            <a:off x="17175898" y="4410635"/>
            <a:ext cx="762498" cy="3638454"/>
          </a:xfrm>
          <a:prstGeom prst="bentConnector3">
            <a:avLst>
              <a:gd name="adj1" fmla="val 31065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5" name="Rectangle 704"/>
          <p:cNvSpPr/>
          <p:nvPr/>
        </p:nvSpPr>
        <p:spPr>
          <a:xfrm>
            <a:off x="26367606" y="6033787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706" name="Rectangle 705"/>
          <p:cNvSpPr/>
          <p:nvPr/>
        </p:nvSpPr>
        <p:spPr>
          <a:xfrm>
            <a:off x="26367606" y="640390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0.48</a:t>
            </a:r>
            <a:endParaRPr lang="en-US" sz="1200" dirty="0"/>
          </a:p>
        </p:txBody>
      </p:sp>
      <p:sp>
        <p:nvSpPr>
          <p:cNvPr id="707" name="Rectangle 706"/>
          <p:cNvSpPr/>
          <p:nvPr/>
        </p:nvSpPr>
        <p:spPr>
          <a:xfrm>
            <a:off x="26367606" y="6774022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0.38</a:t>
            </a:r>
            <a:endParaRPr lang="en-US" sz="1200" dirty="0"/>
          </a:p>
        </p:txBody>
      </p:sp>
      <p:sp>
        <p:nvSpPr>
          <p:cNvPr id="710" name="Rectangle 709"/>
          <p:cNvSpPr/>
          <p:nvPr/>
        </p:nvSpPr>
        <p:spPr>
          <a:xfrm>
            <a:off x="26367606" y="5663670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  <a:endParaRPr lang="en-US" sz="1200" dirty="0"/>
          </a:p>
        </p:txBody>
      </p:sp>
      <p:sp>
        <p:nvSpPr>
          <p:cNvPr id="711" name="Rectangle 710"/>
          <p:cNvSpPr/>
          <p:nvPr/>
        </p:nvSpPr>
        <p:spPr>
          <a:xfrm>
            <a:off x="27052268" y="5663670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2" name="Rectangle 711"/>
          <p:cNvSpPr/>
          <p:nvPr/>
        </p:nvSpPr>
        <p:spPr>
          <a:xfrm>
            <a:off x="27052268" y="6033787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3" name="Rectangle 712"/>
          <p:cNvSpPr/>
          <p:nvPr/>
        </p:nvSpPr>
        <p:spPr>
          <a:xfrm>
            <a:off x="27052268" y="6403904"/>
            <a:ext cx="163674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6" name="Rectangle 715"/>
          <p:cNvSpPr/>
          <p:nvPr/>
        </p:nvSpPr>
        <p:spPr>
          <a:xfrm>
            <a:off x="27052268" y="6774022"/>
            <a:ext cx="1292445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9" name="TextBox 718"/>
          <p:cNvSpPr txBox="1"/>
          <p:nvPr/>
        </p:nvSpPr>
        <p:spPr>
          <a:xfrm>
            <a:off x="26787120" y="9032088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  <a:endParaRPr lang="en-US" sz="3200" dirty="0">
              <a:latin typeface="Bradley Hand" pitchFamily="2" charset="77"/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30474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8039628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8156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8297302" y="8035489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119306" y="6186517"/>
            <a:ext cx="81644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Tasks Using Prior Knowlledge</a:t>
            </a:r>
            <a:endParaRPr lang="en-US" sz="2800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36" y="9467155"/>
            <a:ext cx="1040112" cy="10401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26960" y="9724934"/>
            <a:ext cx="5627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LLM Trained Using Open Source Code</a:t>
            </a:r>
            <a:endParaRPr lang="en-US" sz="2800" dirty="0"/>
          </a:p>
        </p:txBody>
      </p:sp>
      <p:sp>
        <p:nvSpPr>
          <p:cNvPr id="22" name="Rounded Rectangle 21"/>
          <p:cNvSpPr/>
          <p:nvPr/>
        </p:nvSpPr>
        <p:spPr>
          <a:xfrm>
            <a:off x="100922" y="3594290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100922" y="7270382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27008" y="844858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27008" y="8149683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27008" y="784620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281869" y="80558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368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805436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958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23835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1593761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  <a:endParaRPr lang="en-US" dirty="0"/>
          </a:p>
        </p:txBody>
      </p:sp>
      <p:sp>
        <p:nvSpPr>
          <p:cNvPr id="43" name="TextBox 42"/>
          <p:cNvSpPr txBox="1"/>
          <p:nvPr/>
        </p:nvSpPr>
        <p:spPr>
          <a:xfrm>
            <a:off x="15027665" y="11491845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  <a:endParaRPr lang="en-US" dirty="0"/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910" y="11996486"/>
            <a:ext cx="1040112" cy="1040112"/>
          </a:xfrm>
          <a:prstGeom prst="rect">
            <a:avLst/>
          </a:prstGeom>
        </p:spPr>
      </p:pic>
      <p:sp>
        <p:nvSpPr>
          <p:cNvPr id="406" name="TextBox 405"/>
          <p:cNvSpPr txBox="1"/>
          <p:nvPr/>
        </p:nvSpPr>
        <p:spPr>
          <a:xfrm>
            <a:off x="12980042" y="3855617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3460989" y="3855617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3320704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9" name="TextBox 408"/>
          <p:cNvSpPr txBox="1"/>
          <p:nvPr/>
        </p:nvSpPr>
        <p:spPr>
          <a:xfrm>
            <a:off x="14504639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10" name="TextBox 409"/>
          <p:cNvSpPr txBox="1"/>
          <p:nvPr/>
        </p:nvSpPr>
        <p:spPr>
          <a:xfrm>
            <a:off x="13808063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411" name="TextBox 410"/>
          <p:cNvSpPr txBox="1"/>
          <p:nvPr/>
        </p:nvSpPr>
        <p:spPr>
          <a:xfrm>
            <a:off x="13948348" y="385561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4295421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13" name="TextBox 412"/>
          <p:cNvSpPr txBox="1"/>
          <p:nvPr/>
        </p:nvSpPr>
        <p:spPr>
          <a:xfrm>
            <a:off x="13308431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3591182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3805006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6" name="TextBox 415"/>
          <p:cNvSpPr txBox="1"/>
          <p:nvPr/>
        </p:nvSpPr>
        <p:spPr>
          <a:xfrm>
            <a:off x="13949899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4163723" y="4127630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4446475" y="4127630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5205319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0" name="TextBox 419"/>
          <p:cNvSpPr txBox="1"/>
          <p:nvPr/>
        </p:nvSpPr>
        <p:spPr>
          <a:xfrm>
            <a:off x="15350213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5632964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2" name="TextBox 421"/>
          <p:cNvSpPr txBox="1"/>
          <p:nvPr/>
        </p:nvSpPr>
        <p:spPr>
          <a:xfrm>
            <a:off x="13617089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3821435" y="440448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4163640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4299057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4434474" y="4404485"/>
            <a:ext cx="105281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4569890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4774236" y="4404485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5185371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0" name="TextBox 429"/>
          <p:cNvSpPr txBox="1"/>
          <p:nvPr/>
        </p:nvSpPr>
        <p:spPr>
          <a:xfrm>
            <a:off x="15320788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1" name="TextBox 430"/>
          <p:cNvSpPr txBox="1"/>
          <p:nvPr/>
        </p:nvSpPr>
        <p:spPr>
          <a:xfrm>
            <a:off x="15594063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2" name="TextBox 431"/>
          <p:cNvSpPr txBox="1"/>
          <p:nvPr/>
        </p:nvSpPr>
        <p:spPr>
          <a:xfrm>
            <a:off x="15729480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3" name="TextBox 432"/>
          <p:cNvSpPr txBox="1"/>
          <p:nvPr/>
        </p:nvSpPr>
        <p:spPr>
          <a:xfrm>
            <a:off x="16002755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5" name="TextBox 434"/>
          <p:cNvSpPr txBox="1"/>
          <p:nvPr/>
        </p:nvSpPr>
        <p:spPr>
          <a:xfrm>
            <a:off x="16480376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6" name="TextBox 435"/>
          <p:cNvSpPr txBox="1"/>
          <p:nvPr/>
        </p:nvSpPr>
        <p:spPr>
          <a:xfrm>
            <a:off x="16615793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6751209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8" name="TextBox 437"/>
          <p:cNvSpPr txBox="1"/>
          <p:nvPr/>
        </p:nvSpPr>
        <p:spPr>
          <a:xfrm>
            <a:off x="15846789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39" name="TextBox 438"/>
          <p:cNvSpPr txBox="1"/>
          <p:nvPr/>
        </p:nvSpPr>
        <p:spPr>
          <a:xfrm>
            <a:off x="16955550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50" name="TextBox 449"/>
          <p:cNvSpPr txBox="1"/>
          <p:nvPr/>
        </p:nvSpPr>
        <p:spPr>
          <a:xfrm>
            <a:off x="16138171" y="4404485"/>
            <a:ext cx="312068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5" name="TextBox 454"/>
          <p:cNvSpPr txBox="1"/>
          <p:nvPr/>
        </p:nvSpPr>
        <p:spPr>
          <a:xfrm>
            <a:off x="12980817" y="4127630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6" name="TextBox 455"/>
          <p:cNvSpPr txBox="1"/>
          <p:nvPr/>
        </p:nvSpPr>
        <p:spPr>
          <a:xfrm>
            <a:off x="12980817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7" name="TextBox 456"/>
          <p:cNvSpPr txBox="1"/>
          <p:nvPr/>
        </p:nvSpPr>
        <p:spPr>
          <a:xfrm>
            <a:off x="13298953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2863340" y="3773444"/>
            <a:ext cx="4338047" cy="1227834"/>
          </a:xfrm>
          <a:prstGeom prst="roundRect">
            <a:avLst>
              <a:gd name="adj" fmla="val 2712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>
            <a:stCxn id="4" idx="3"/>
            <a:endCxn id="48" idx="1"/>
          </p:cNvCxnSpPr>
          <p:nvPr/>
        </p:nvCxnSpPr>
        <p:spPr>
          <a:xfrm flipV="1">
            <a:off x="11214136" y="4387361"/>
            <a:ext cx="1649204" cy="123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/>
          <p:cNvGrpSpPr/>
          <p:nvPr/>
        </p:nvGrpSpPr>
        <p:grpSpPr>
          <a:xfrm>
            <a:off x="12837851" y="7435172"/>
            <a:ext cx="4338047" cy="1227834"/>
            <a:chOff x="12661458" y="7114474"/>
            <a:chExt cx="4338047" cy="1227834"/>
          </a:xfrm>
        </p:grpSpPr>
        <p:sp>
          <p:nvSpPr>
            <p:cNvPr id="488" name="TextBox 487"/>
            <p:cNvSpPr txBox="1"/>
            <p:nvPr/>
          </p:nvSpPr>
          <p:spPr>
            <a:xfrm>
              <a:off x="12828913" y="7186215"/>
              <a:ext cx="305656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795E26"/>
                  </a:solidFill>
                  <a:latin typeface="Menlo" panose="020B0609030804020204" pitchFamily="49" charset="0"/>
                </a:rPr>
                <a:t>add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89" name="TextBox 488"/>
            <p:cNvSpPr txBox="1"/>
            <p:nvPr/>
          </p:nvSpPr>
          <p:spPr>
            <a:xfrm>
              <a:off x="13309860" y="7186215"/>
              <a:ext cx="312068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001080"/>
                  </a:solidFill>
                </a:rPr>
                <a:t>self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0" name="TextBox 489"/>
            <p:cNvSpPr txBox="1"/>
            <p:nvPr/>
          </p:nvSpPr>
          <p:spPr>
            <a:xfrm>
              <a:off x="13169575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(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1" name="TextBox 490"/>
            <p:cNvSpPr txBox="1"/>
            <p:nvPr/>
          </p:nvSpPr>
          <p:spPr>
            <a:xfrm>
              <a:off x="14353510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  <a:endParaRPr lang="en-US" sz="900" dirty="0">
                <a:solidFill>
                  <a:srgbClr val="D7BA7D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2" name="TextBox 491"/>
            <p:cNvSpPr txBox="1"/>
            <p:nvPr/>
          </p:nvSpPr>
          <p:spPr>
            <a:xfrm>
              <a:off x="13656934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/>
                <a:t>,</a:t>
              </a:r>
              <a:endParaRPr lang="en-US" sz="900" dirty="0"/>
            </a:p>
          </p:txBody>
        </p:sp>
        <p:sp>
          <p:nvSpPr>
            <p:cNvPr id="493" name="TextBox 492"/>
            <p:cNvSpPr txBox="1"/>
            <p:nvPr/>
          </p:nvSpPr>
          <p:spPr>
            <a:xfrm>
              <a:off x="13797219" y="7186215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4" name="TextBox 493"/>
            <p:cNvSpPr txBox="1"/>
            <p:nvPr/>
          </p:nvSpPr>
          <p:spPr>
            <a:xfrm>
              <a:off x="14144292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):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5" name="TextBox 494"/>
            <p:cNvSpPr txBox="1"/>
            <p:nvPr/>
          </p:nvSpPr>
          <p:spPr>
            <a:xfrm>
              <a:off x="13157302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for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6" name="TextBox 495"/>
            <p:cNvSpPr txBox="1"/>
            <p:nvPr/>
          </p:nvSpPr>
          <p:spPr>
            <a:xfrm>
              <a:off x="13440053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7" name="TextBox 496"/>
            <p:cNvSpPr txBox="1"/>
            <p:nvPr/>
          </p:nvSpPr>
          <p:spPr>
            <a:xfrm>
              <a:off x="13653877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,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8" name="TextBox 497"/>
            <p:cNvSpPr txBox="1"/>
            <p:nvPr/>
          </p:nvSpPr>
          <p:spPr>
            <a:xfrm>
              <a:off x="13798770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9" name="TextBox 498"/>
            <p:cNvSpPr txBox="1"/>
            <p:nvPr/>
          </p:nvSpPr>
          <p:spPr>
            <a:xfrm>
              <a:off x="14012594" y="7458228"/>
              <a:ext cx="243139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0" name="TextBox 499"/>
            <p:cNvSpPr txBox="1"/>
            <p:nvPr/>
          </p:nvSpPr>
          <p:spPr>
            <a:xfrm>
              <a:off x="14295346" y="7458228"/>
              <a:ext cx="71923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267F99"/>
                  </a:solidFill>
                  <a:latin typeface="Menlo" panose="020B0609030804020204" pitchFamily="49" charset="0"/>
                </a:rPr>
                <a:t>enumerate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1" name="TextBox 500"/>
            <p:cNvSpPr txBox="1"/>
            <p:nvPr/>
          </p:nvSpPr>
          <p:spPr>
            <a:xfrm>
              <a:off x="15054190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2" name="TextBox 501"/>
            <p:cNvSpPr txBox="1"/>
            <p:nvPr/>
          </p:nvSpPr>
          <p:spPr>
            <a:xfrm>
              <a:off x="15199084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3" name="TextBox 502"/>
            <p:cNvSpPr txBox="1"/>
            <p:nvPr/>
          </p:nvSpPr>
          <p:spPr>
            <a:xfrm>
              <a:off x="15481835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):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4" name="TextBox 503"/>
            <p:cNvSpPr txBox="1"/>
            <p:nvPr/>
          </p:nvSpPr>
          <p:spPr>
            <a:xfrm>
              <a:off x="13467138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5" name="TextBox 504"/>
            <p:cNvSpPr txBox="1"/>
            <p:nvPr/>
          </p:nvSpPr>
          <p:spPr>
            <a:xfrm>
              <a:off x="13672073" y="7735083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6" name="TextBox 505"/>
            <p:cNvSpPr txBox="1"/>
            <p:nvPr/>
          </p:nvSpPr>
          <p:spPr>
            <a:xfrm>
              <a:off x="14014866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7" name="TextBox 506"/>
            <p:cNvSpPr txBox="1"/>
            <p:nvPr/>
          </p:nvSpPr>
          <p:spPr>
            <a:xfrm>
              <a:off x="1415087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8" name="TextBox 507"/>
            <p:cNvSpPr txBox="1"/>
            <p:nvPr/>
          </p:nvSpPr>
          <p:spPr>
            <a:xfrm>
              <a:off x="14286878" y="7735083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)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9" name="TextBox 508"/>
            <p:cNvSpPr txBox="1"/>
            <p:nvPr/>
          </p:nvSpPr>
          <p:spPr>
            <a:xfrm>
              <a:off x="14422884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&gt;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0" name="TextBox 509"/>
            <p:cNvSpPr txBox="1"/>
            <p:nvPr/>
          </p:nvSpPr>
          <p:spPr>
            <a:xfrm>
              <a:off x="14627819" y="7735083"/>
              <a:ext cx="38099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1" name="TextBox 510"/>
            <p:cNvSpPr txBox="1"/>
            <p:nvPr/>
          </p:nvSpPr>
          <p:spPr>
            <a:xfrm>
              <a:off x="1503954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2" name="TextBox 511"/>
            <p:cNvSpPr txBox="1"/>
            <p:nvPr/>
          </p:nvSpPr>
          <p:spPr>
            <a:xfrm>
              <a:off x="15175548" y="7735083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6" name="TextBox 515"/>
            <p:cNvSpPr txBox="1"/>
            <p:nvPr/>
          </p:nvSpPr>
          <p:spPr>
            <a:xfrm>
              <a:off x="15641583" y="8011496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=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7" name="TextBox 516"/>
            <p:cNvSpPr txBox="1"/>
            <p:nvPr/>
          </p:nvSpPr>
          <p:spPr>
            <a:xfrm>
              <a:off x="16069775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8" name="TextBox 517"/>
            <p:cNvSpPr txBox="1"/>
            <p:nvPr/>
          </p:nvSpPr>
          <p:spPr>
            <a:xfrm>
              <a:off x="16205781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9" name="TextBox 518"/>
            <p:cNvSpPr txBox="1"/>
            <p:nvPr/>
          </p:nvSpPr>
          <p:spPr>
            <a:xfrm>
              <a:off x="1634178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]: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0" name="TextBox 519"/>
            <p:cNvSpPr txBox="1"/>
            <p:nvPr/>
          </p:nvSpPr>
          <p:spPr>
            <a:xfrm>
              <a:off x="15695660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  <a:endParaRPr lang="en-US" sz="900" dirty="0">
                <a:solidFill>
                  <a:srgbClr val="D7BA7D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1" name="TextBox 520"/>
            <p:cNvSpPr txBox="1"/>
            <p:nvPr/>
          </p:nvSpPr>
          <p:spPr>
            <a:xfrm>
              <a:off x="1654672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  <a:endParaRPr lang="en-US" sz="900" dirty="0">
                <a:solidFill>
                  <a:srgbClr val="D7BA7D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2" name="TextBox 521"/>
            <p:cNvSpPr txBox="1"/>
            <p:nvPr/>
          </p:nvSpPr>
          <p:spPr>
            <a:xfrm>
              <a:off x="13812779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3" name="TextBox 522"/>
            <p:cNvSpPr txBox="1"/>
            <p:nvPr/>
          </p:nvSpPr>
          <p:spPr>
            <a:xfrm>
              <a:off x="14163532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9" name="TextBox 528"/>
            <p:cNvSpPr txBox="1"/>
            <p:nvPr/>
          </p:nvSpPr>
          <p:spPr>
            <a:xfrm>
              <a:off x="15209685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0" name="TextBox 529"/>
            <p:cNvSpPr txBox="1"/>
            <p:nvPr/>
          </p:nvSpPr>
          <p:spPr>
            <a:xfrm>
              <a:off x="1535365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1" name="TextBox 530"/>
            <p:cNvSpPr txBox="1"/>
            <p:nvPr/>
          </p:nvSpPr>
          <p:spPr>
            <a:xfrm>
              <a:off x="15497617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3" name="TextBox 532"/>
            <p:cNvSpPr txBox="1"/>
            <p:nvPr/>
          </p:nvSpPr>
          <p:spPr>
            <a:xfrm>
              <a:off x="15854478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4" name="TextBox 533"/>
            <p:cNvSpPr txBox="1"/>
            <p:nvPr/>
          </p:nvSpPr>
          <p:spPr>
            <a:xfrm>
              <a:off x="1620523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5" name="TextBox 534"/>
            <p:cNvSpPr txBox="1"/>
            <p:nvPr/>
          </p:nvSpPr>
          <p:spPr>
            <a:xfrm>
              <a:off x="16349197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6" name="TextBox 535"/>
            <p:cNvSpPr txBox="1"/>
            <p:nvPr/>
          </p:nvSpPr>
          <p:spPr>
            <a:xfrm>
              <a:off x="16493169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7" name="TextBox 536"/>
            <p:cNvSpPr txBox="1"/>
            <p:nvPr/>
          </p:nvSpPr>
          <p:spPr>
            <a:xfrm>
              <a:off x="12829688" y="7458228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8" name="TextBox 537"/>
            <p:cNvSpPr txBox="1"/>
            <p:nvPr/>
          </p:nvSpPr>
          <p:spPr>
            <a:xfrm>
              <a:off x="12829688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9" name="TextBox 538"/>
            <p:cNvSpPr txBox="1"/>
            <p:nvPr/>
          </p:nvSpPr>
          <p:spPr>
            <a:xfrm>
              <a:off x="13148413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0" name="TextBox 539"/>
            <p:cNvSpPr txBox="1"/>
            <p:nvPr/>
          </p:nvSpPr>
          <p:spPr>
            <a:xfrm>
              <a:off x="1283272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1" name="TextBox 540"/>
            <p:cNvSpPr txBox="1"/>
            <p:nvPr/>
          </p:nvSpPr>
          <p:spPr>
            <a:xfrm>
              <a:off x="13159409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2" name="TextBox 541"/>
            <p:cNvSpPr txBox="1"/>
            <p:nvPr/>
          </p:nvSpPr>
          <p:spPr>
            <a:xfrm>
              <a:off x="1348609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  <a:endPara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43" name="TextBox 542"/>
            <p:cNvSpPr txBox="1"/>
            <p:nvPr/>
          </p:nvSpPr>
          <p:spPr>
            <a:xfrm>
              <a:off x="14307498" y="8011496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2661458" y="7114474"/>
              <a:ext cx="4338047" cy="1227834"/>
            </a:xfrm>
            <a:prstGeom prst="roundRect">
              <a:avLst>
                <a:gd name="adj" fmla="val 2712"/>
              </a:avLst>
            </a:prstGeom>
            <a:noFill/>
            <a:ln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-Owned </a:t>
            </a:r>
            <a:r>
              <a:rPr lang="en-US" dirty="0"/>
              <a:t>Code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…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  <a:endParaRPr lang="en-US" sz="1100" dirty="0"/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  <a:endParaRPr lang="en-US" dirty="0"/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  <a:endParaRPr lang="en-US" sz="1600" dirty="0"/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8" name="TextBox 607"/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609" name="TextBox 608"/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12" name="TextBox 611"/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9" name="TextBox 628"/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2" name="TextBox 631"/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5" name="TextBox 634"/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  <a:endParaRPr lang="en-US" dirty="0"/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  <a:endParaRPr lang="en-US" sz="3200" dirty="0">
              <a:latin typeface="Bradley Hand" pitchFamily="2" charset="77"/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Programming Tasks</a:t>
            </a:r>
            <a:endParaRPr lang="en-US" sz="2800" dirty="0"/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Training LLMs Using Accesible Corpus</a:t>
            </a:r>
            <a:endParaRPr lang="en-US" sz="2800" dirty="0"/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  <a:endParaRPr lang="en-US" sz="1100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  <a:endParaRPr lang="en-US" dirty="0"/>
          </a:p>
        </p:txBody>
      </p:sp>
      <p:sp>
        <p:nvSpPr>
          <p:cNvPr id="406" name="TextBox 405"/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9" name="TextBox 408"/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10" name="TextBox 409"/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13" name="TextBox 412"/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6" name="TextBox 415"/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0" name="TextBox 419"/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2" name="TextBox 421"/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0" name="TextBox 429"/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1" name="TextBox 430"/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2" name="TextBox 431"/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3" name="TextBox 432"/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5" name="TextBox 434"/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6" name="TextBox 435"/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8" name="TextBox 437"/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39" name="TextBox 438"/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50" name="TextBox 449"/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TextBox 487"/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1" name="TextBox 490"/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492" name="TextBox 491"/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5" name="TextBox 494"/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8" name="TextBox 497"/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2" name="TextBox 501"/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4" name="TextBox 503"/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2" name="TextBox 511"/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8" name="TextBox 517"/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0" name="TextBox 519"/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21" name="TextBox 520"/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Conditioned Probabilities</a:t>
            </a:r>
            <a:endParaRPr lang="en-US" dirty="0"/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/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0.98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Next Token Selection:</a:t>
            </a:r>
            <a:endParaRPr lang="en-US" sz="1200" dirty="0"/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Syntax-Oriented Token Pruning</a:t>
            </a:r>
            <a:endParaRPr lang="en-US" dirty="0"/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Retained Tokens</a:t>
            </a:r>
            <a:endParaRPr lang="en-US" sz="1600" dirty="0"/>
          </a:p>
        </p:txBody>
      </p:sp>
      <p:sp>
        <p:nvSpPr>
          <p:cNvPr id="513" name="TextBox 512"/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24" name="TextBox 523"/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25" name="TextBox 524"/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28" name="TextBox 527"/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44" name="TextBox 543"/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9" name="TextBox 548"/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5" name="TextBox 554"/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8" name="TextBox 557"/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561" name="TextBox 560"/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4" name="TextBox 563"/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endParaRPr lang="en-US" sz="900" dirty="0">
              <a:solidFill>
                <a:srgbClr val="D7BA7D"/>
              </a:solidFill>
              <a:latin typeface="Menlo" panose="020B0609030804020204" pitchFamily="49" charset="0"/>
            </a:endParaRPr>
          </a:p>
        </p:txBody>
      </p:sp>
      <p:sp>
        <p:nvSpPr>
          <p:cNvPr id="565" name="TextBox 564"/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  <a:endParaRPr lang="en-US" sz="900" dirty="0"/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8" name="TextBox 567"/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70" name="TextBox 569"/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3" name="TextBox 572"/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  <a:endParaRPr lang="en-US" sz="800" dirty="0">
              <a:solidFill>
                <a:schemeClr val="bg1">
                  <a:lumMod val="50000"/>
                </a:schemeClr>
              </a:solidFill>
              <a:latin typeface="Menlo" panose="020B0609030804020204" pitchFamily="49" charset="0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Pruned Tokens</a:t>
            </a:r>
            <a:endParaRPr lang="en-US" sz="1600" dirty="0"/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0868" y="6845629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26242744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(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25606628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26362877" y="6845629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24752412" y="6845629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77" name="TextBox 576"/>
          <p:cNvSpPr txBox="1"/>
          <p:nvPr/>
        </p:nvSpPr>
        <p:spPr>
          <a:xfrm>
            <a:off x="25846894" y="6845629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79" name="TextBox 578"/>
          <p:cNvSpPr txBox="1"/>
          <p:nvPr/>
        </p:nvSpPr>
        <p:spPr>
          <a:xfrm>
            <a:off x="27268295" y="6845629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26761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[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1" name="TextBox 580"/>
          <p:cNvSpPr txBox="1"/>
          <p:nvPr/>
        </p:nvSpPr>
        <p:spPr>
          <a:xfrm>
            <a:off x="25486495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  <a:endParaRPr lang="en-US" dirty="0"/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US" dirty="0">
                <a:solidFill>
                  <a:schemeClr val="bg1"/>
                </a:solidFill>
              </a:rPr>
              <a:t>Code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Resuming variables</a:t>
            </a:r>
            <a:endParaRPr lang="en-US" dirty="0"/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Our Solution</a:t>
            </a:r>
            <a:endParaRPr lang="en-US" sz="2800" dirty="0"/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  <a:endParaRPr lang="en-US" sz="2200" i="1" dirty="0">
              <a:solidFill>
                <a:schemeClr val="bg1"/>
              </a:solidFill>
            </a:endParaRP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bg1"/>
                </a:solidFill>
              </a:rPr>
              <a:t>Variable</a:t>
            </a:r>
            <a:r>
              <a:rPr lang="zh-CN" altLang="en-US" sz="2400" i="1" dirty="0">
                <a:solidFill>
                  <a:schemeClr val="bg1"/>
                </a:solidFill>
              </a:rPr>
              <a:t> </a:t>
            </a:r>
            <a:r>
              <a:rPr lang="en-US" altLang="zh-CN" sz="2400" i="1" dirty="0">
                <a:solidFill>
                  <a:schemeClr val="bg1"/>
                </a:solidFill>
              </a:rPr>
              <a:t>Resumption</a:t>
            </a:r>
            <a:endParaRPr lang="en-US" sz="2400" i="1" dirty="0">
              <a:solidFill>
                <a:schemeClr val="bg1"/>
              </a:solidFill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  <a:endParaRPr lang="en-US" sz="1600" dirty="0"/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US" sz="1600" dirty="0"/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US" dirty="0"/>
          </a:p>
        </p:txBody>
      </p:sp>
      <p:sp>
        <p:nvSpPr>
          <p:cNvPr id="765" name="TextBox 764"/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17301" y="4904644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</a:t>
            </a:r>
            <a:endParaRPr lang="en-US" dirty="0"/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  <a:endParaRPr lang="en-US" sz="2200" i="1" dirty="0">
              <a:solidFill>
                <a:schemeClr val="bg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6299543" y="10972800"/>
            <a:ext cx="1502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Member </a:t>
            </a:r>
            <a:endParaRPr lang="en-US" dirty="0"/>
          </a:p>
          <a:p>
            <a:r>
              <a:rPr lang="en-US" dirty="0"/>
              <a:t>Non-member 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21785661" y="8761082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4721840" y="10241280"/>
            <a:ext cx="3109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Self.max -&gt; self . max</a:t>
            </a:r>
            <a:endParaRPr lang="en-US" dirty="0"/>
          </a:p>
          <a:p>
            <a:r>
              <a:rPr lang="en-US" dirty="0"/>
              <a:t>Self.max_size -&gt; self. Max _ size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12242800" y="9895840"/>
            <a:ext cx="2222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zh-CN" altLang="en-US" dirty="0"/>
              <a:t>：完整</a:t>
            </a:r>
            <a:r>
              <a:rPr lang="en-US" altLang="zh-CN" dirty="0"/>
              <a:t>variable </a:t>
            </a:r>
            <a:endParaRPr lang="en-US" altLang="zh-CN" dirty="0"/>
          </a:p>
          <a:p>
            <a:r>
              <a:rPr lang="en-US" dirty="0"/>
              <a:t>Token</a:t>
            </a:r>
            <a:r>
              <a:rPr lang="zh-CN" altLang="en-US" dirty="0"/>
              <a:t>：</a:t>
            </a:r>
            <a:r>
              <a:rPr lang="en-US" altLang="zh-CN" dirty="0"/>
              <a:t> variable</a:t>
            </a:r>
            <a:r>
              <a:rPr lang="zh-CN" altLang="en-US" dirty="0"/>
              <a:t>拆分</a:t>
            </a:r>
            <a:endParaRPr lang="en-US" dirty="0"/>
          </a:p>
        </p:txBody>
      </p: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COMMONDATA" val="eyJoZGlkIjoiMTFmMWJmZjM1MTUzOGJhZGQ2YzVjZTI0ZGVkOTAwZTkifQ==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7074</Words>
  <Application>WPS 演示</Application>
  <PresentationFormat>Custom</PresentationFormat>
  <Paragraphs>2212</Paragraphs>
  <Slides>8</Slides>
  <Notes>5</Notes>
  <HiddenSlides>6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3" baseType="lpstr">
      <vt:lpstr>Arial</vt:lpstr>
      <vt:lpstr>宋体</vt:lpstr>
      <vt:lpstr>Wingdings</vt:lpstr>
      <vt:lpstr>Trebuchet MS</vt:lpstr>
      <vt:lpstr>Menlo</vt:lpstr>
      <vt:lpstr>Segoe Print</vt:lpstr>
      <vt:lpstr>Consolas</vt:lpstr>
      <vt:lpstr>Bradley Hand</vt:lpstr>
      <vt:lpstr>微软雅黑</vt:lpstr>
      <vt:lpstr>Arial Unicode MS</vt:lpstr>
      <vt:lpstr>Calibri Light</vt:lpstr>
      <vt:lpstr>Calibri</vt:lpstr>
      <vt:lpstr>等线</vt:lpstr>
      <vt:lpstr>Bradley Hand ITC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Kaifeng Huang</dc:creator>
  <cp:lastModifiedBy>陈茁扬</cp:lastModifiedBy>
  <cp:revision>43</cp:revision>
  <dcterms:created xsi:type="dcterms:W3CDTF">2025-06-02T15:22:00Z</dcterms:created>
  <dcterms:modified xsi:type="dcterms:W3CDTF">2025-11-14T07:22:28Z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493A1395599146C3BE4DF5A32EBEC8B3_12</vt:lpwstr>
  </property>
  <property fmtid="{D5CDD505-2E9C-101B-9397-08002B2CF9AE}" pid="3" name="KSOProductBuildVer">
    <vt:lpwstr>2052-12.1.0.16929</vt:lpwstr>
  </property>
</Properties>
</file>