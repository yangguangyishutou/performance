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61" r:id="rId2"/>
    <p:sldId id="270" r:id="rId3"/>
    <p:sldId id="269" r:id="rId4"/>
    <p:sldId id="268" r:id="rId5"/>
    <p:sldId id="262" r:id="rId6"/>
    <p:sldId id="256" r:id="rId7"/>
    <p:sldId id="257" r:id="rId8"/>
    <p:sldId id="259" r:id="rId9"/>
    <p:sldId id="258" r:id="rId10"/>
    <p:sldId id="260" r:id="rId11"/>
  </p:sldIdLst>
  <p:sldSz cx="30192663" cy="17657763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18"/>
    <p:restoredTop sz="89915"/>
  </p:normalViewPr>
  <p:slideViewPr>
    <p:cSldViewPr snapToGrid="0">
      <p:cViewPr>
        <p:scale>
          <a:sx n="36" d="100"/>
          <a:sy n="36" d="100"/>
        </p:scale>
        <p:origin x="104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81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92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openxmlformats.org/officeDocument/2006/relationships/image" Target="../media/image2.png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image" Target="../media/image1.png"/><Relationship Id="rId9" Type="http://schemas.openxmlformats.org/officeDocument/2006/relationships/image" Target="../media/image14.png"/><Relationship Id="rId1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18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17.svg"/><Relationship Id="rId4" Type="http://schemas.openxmlformats.org/officeDocument/2006/relationships/image" Target="../media/image1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18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2711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4831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699615" y="6526104"/>
            <a:ext cx="8446825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680571" y="3594290"/>
            <a:ext cx="8446825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680721" y="4695863"/>
            <a:ext cx="2254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77654" y="4674598"/>
            <a:ext cx="2561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Task</a:t>
            </a:r>
          </a:p>
          <a:p>
            <a:pPr algn="ctr"/>
            <a:r>
              <a:rPr lang="en-US" sz="2800" dirty="0">
                <a:latin typeface="Trebuchet MS" panose="020B0603020202020204" pitchFamily="34" charset="0"/>
              </a:rPr>
              <a:t>Requirement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335105" y="4468127"/>
            <a:ext cx="50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98356" y="4695863"/>
            <a:ext cx="36448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Copyright</a:t>
            </a:r>
            <a:r>
              <a:rPr lang="en-US" altLang="zh-CN" sz="2800" dirty="0">
                <a:latin typeface="Trebuchet MS" panose="020B0603020202020204" pitchFamily="34" charset="0"/>
              </a:rPr>
              <a:t>-Owned </a:t>
            </a:r>
            <a:r>
              <a:rPr lang="en-US" sz="2800" dirty="0">
                <a:latin typeface="Trebuchet MS" panose="020B0603020202020204" pitchFamily="34" charset="0"/>
              </a:rPr>
              <a:t>Code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309" y="3749781"/>
            <a:ext cx="864254" cy="864254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9986" y="6839912"/>
            <a:ext cx="1130986" cy="1130986"/>
          </a:xfrm>
          <a:prstGeom prst="rect">
            <a:avLst/>
          </a:prstGeom>
        </p:spPr>
      </p:pic>
      <p:pic>
        <p:nvPicPr>
          <p:cNvPr id="463" name="Picture 462"/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48509" y="683086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50446" y="723910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223888" y="7244081"/>
            <a:ext cx="690099" cy="690099"/>
          </a:xfrm>
          <a:prstGeom prst="rect">
            <a:avLst/>
          </a:prstGeom>
        </p:spPr>
      </p:pic>
      <p:sp>
        <p:nvSpPr>
          <p:cNvPr id="469" name="TextBox 468"/>
          <p:cNvSpPr txBox="1"/>
          <p:nvPr/>
        </p:nvSpPr>
        <p:spPr>
          <a:xfrm>
            <a:off x="7156729" y="7980493"/>
            <a:ext cx="19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4603936" y="4024874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>
            <a:off x="6998356" y="7438685"/>
            <a:ext cx="616089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9059165" y="7438685"/>
            <a:ext cx="72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980493"/>
            <a:ext cx="1105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8308" y="5751770"/>
            <a:ext cx="4568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Programming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749" y="8652752"/>
            <a:ext cx="38647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LLM Vendor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0312" y="7980493"/>
            <a:ext cx="2779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7842971" y="8652752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stCxn id="4" idx="0"/>
            <a:endCxn id="680" idx="0"/>
          </p:cNvCxnSpPr>
          <p:nvPr/>
        </p:nvCxnSpPr>
        <p:spPr>
          <a:xfrm rot="5400000" flipH="1" flipV="1">
            <a:off x="12089503" y="-2621080"/>
            <a:ext cx="263058" cy="12693796"/>
          </a:xfrm>
          <a:prstGeom prst="bentConnector3">
            <a:avLst>
              <a:gd name="adj1" fmla="val 1869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8518034" y="1482028"/>
            <a:ext cx="322265" cy="14169155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1602850" y="3649618"/>
            <a:ext cx="4137448" cy="863992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1190130" y="4400807"/>
            <a:ext cx="4593600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21" name="TextBox 620"/>
          <p:cNvSpPr txBox="1"/>
          <p:nvPr/>
        </p:nvSpPr>
        <p:spPr>
          <a:xfrm>
            <a:off x="13274480" y="6643617"/>
            <a:ext cx="2466000" cy="503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6375595" y="3661492"/>
            <a:ext cx="4358545" cy="852118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18619452" y="4639098"/>
            <a:ext cx="2098365" cy="503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rebuchet MS" panose="020B0603020202020204" pitchFamily="34" charset="0"/>
              </a:rPr>
              <a:t>Matching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8619452" y="6461145"/>
            <a:ext cx="2098365" cy="503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rebuchet MS" panose="020B0603020202020204" pitchFamily="34" charset="0"/>
              </a:rPr>
              <a:t>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439420" y="4569027"/>
            <a:ext cx="4057167" cy="86785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1518463" y="5676527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95760" y="6419366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39420" y="6340796"/>
            <a:ext cx="3965929" cy="10329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14DADED-66CC-1147-F937-3754075469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4595" y="3735351"/>
            <a:ext cx="4013200" cy="9906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2C586F0-BF5B-FB52-8890-97BA2E2344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4482" y="6862959"/>
            <a:ext cx="4165600" cy="13081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A743D88-1D5E-224E-9936-3781A5362F3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68826" y="5124834"/>
            <a:ext cx="3871654" cy="133664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64BD754-7250-BDFC-042B-F8442E25D6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22194" y="7264395"/>
            <a:ext cx="3871655" cy="103244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517EEAF-43BB-C1E0-DB12-B1C52D1D10D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689991" y="5210921"/>
            <a:ext cx="4027826" cy="1070842"/>
          </a:xfrm>
          <a:prstGeom prst="rect">
            <a:avLst/>
          </a:prstGeom>
        </p:spPr>
      </p:pic>
      <p:pic>
        <p:nvPicPr>
          <p:cNvPr id="450" name="Picture 449">
            <a:extLst>
              <a:ext uri="{FF2B5EF4-FFF2-40B4-BE49-F238E27FC236}">
                <a16:creationId xmlns:a16="http://schemas.microsoft.com/office/drawing/2014/main" id="{B5B79536-CEB7-EA4C-CC60-72DFE48DF8F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89038" y="6971497"/>
            <a:ext cx="3928779" cy="13111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9770E3-3BF4-43C9-AE56-44C17A71D30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65519" y="3857347"/>
            <a:ext cx="817229" cy="817229"/>
          </a:xfrm>
          <a:prstGeom prst="rect">
            <a:avLst/>
          </a:prstGeom>
        </p:spPr>
      </p:pic>
      <p:sp>
        <p:nvSpPr>
          <p:cNvPr id="622" name="TextBox 621"/>
          <p:cNvSpPr txBox="1"/>
          <p:nvPr/>
        </p:nvSpPr>
        <p:spPr>
          <a:xfrm>
            <a:off x="13274298" y="4539927"/>
            <a:ext cx="2466182" cy="503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04C939BD-7AAC-E279-19CB-3BFCCB4EB18C}"/>
              </a:ext>
            </a:extLst>
          </p:cNvPr>
          <p:cNvSpPr/>
          <p:nvPr/>
        </p:nvSpPr>
        <p:spPr>
          <a:xfrm>
            <a:off x="11171582" y="7259868"/>
            <a:ext cx="308706" cy="357634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6D332816-A5E0-BB56-593D-2F54DC8328D3}"/>
              </a:ext>
            </a:extLst>
          </p:cNvPr>
          <p:cNvSpPr/>
          <p:nvPr/>
        </p:nvSpPr>
        <p:spPr>
          <a:xfrm>
            <a:off x="11158555" y="4256401"/>
            <a:ext cx="308706" cy="357634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2D871233-E9AD-877E-EC1A-42C8EBD70778}"/>
              </a:ext>
            </a:extLst>
          </p:cNvPr>
          <p:cNvSpPr/>
          <p:nvPr/>
        </p:nvSpPr>
        <p:spPr>
          <a:xfrm>
            <a:off x="15937678" y="5725433"/>
            <a:ext cx="308706" cy="357634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7E713331-BB9A-53CB-06D1-E9AABB46F55A}"/>
              </a:ext>
            </a:extLst>
          </p:cNvPr>
          <p:cNvSpPr/>
          <p:nvPr/>
        </p:nvSpPr>
        <p:spPr>
          <a:xfrm>
            <a:off x="20877634" y="5725433"/>
            <a:ext cx="308706" cy="357634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748" y="4792180"/>
            <a:ext cx="2561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98356" y="5016268"/>
            <a:ext cx="3644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Copyright</a:t>
            </a:r>
            <a:r>
              <a:rPr lang="en-US" altLang="zh-CN" sz="2400" dirty="0">
                <a:latin typeface="Trebuchet MS" panose="020B0603020202020204" pitchFamily="34" charset="0"/>
              </a:rPr>
              <a:t>-Owned </a:t>
            </a:r>
            <a:r>
              <a:rPr lang="en-US" sz="2400" dirty="0">
                <a:latin typeface="Trebuchet MS" panose="020B0603020202020204" pitchFamily="34" charset="0"/>
              </a:rPr>
              <a:t>Code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5943" y="3949260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stCxn id="680" idx="3"/>
            <a:endCxn id="390" idx="1"/>
          </p:cNvCxnSpPr>
          <p:nvPr/>
        </p:nvCxnSpPr>
        <p:spPr>
          <a:xfrm flipV="1">
            <a:off x="21321882" y="5961998"/>
            <a:ext cx="380143" cy="3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580242" y="7099416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097950" y="7810373"/>
            <a:ext cx="19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6170" y="7121091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386" y="5773019"/>
            <a:ext cx="8347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0030" y="8440102"/>
            <a:ext cx="6950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56084" y="7810373"/>
            <a:ext cx="2779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Code Resources</a:t>
            </a:r>
          </a:p>
        </p:txBody>
      </p:sp>
      <p:cxnSp>
        <p:nvCxnSpPr>
          <p:cNvPr id="630" name="Elbow Connector 629"/>
          <p:cNvCxnSpPr>
            <a:cxnSpLocks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573950" y="4308126"/>
            <a:ext cx="3613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Copyright</a:t>
            </a:r>
            <a:r>
              <a:rPr lang="en-US" altLang="zh-CN" sz="2400" dirty="0">
                <a:latin typeface="Trebuchet MS" panose="020B0603020202020204" pitchFamily="34" charset="0"/>
              </a:rPr>
              <a:t>-Owned </a:t>
            </a:r>
            <a:r>
              <a:rPr lang="en-US" sz="24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8300171" y="8747886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99718" y="3649618"/>
            <a:ext cx="2955029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1702025" y="4400807"/>
            <a:ext cx="4970244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7953550" y="4281397"/>
            <a:ext cx="2967601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sz="24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5" y="6743868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14197220" y="4714337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661492"/>
            <a:ext cx="3408643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6" y="4722341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7061129" y="6360206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13610"/>
            <a:ext cx="4492065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441818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39960" y="6099835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07114" y="6097722"/>
            <a:ext cx="3965929" cy="10329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B3C0B96-FF66-D89B-9D08-B7AE74BCA3B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55754" y="3761904"/>
            <a:ext cx="1676400" cy="13081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14DADED-66CC-1147-F937-3754075469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4595" y="3905471"/>
            <a:ext cx="4013200" cy="9906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2C586F0-BF5B-FB52-8890-97BA2E2344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6344" y="6692839"/>
            <a:ext cx="4165600" cy="13081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A743D88-1D5E-224E-9936-3781A5362F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979834" y="5176802"/>
            <a:ext cx="4267200" cy="14732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64BD754-7250-BDFC-042B-F8442E25D6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060050" y="7179237"/>
            <a:ext cx="4191000" cy="11176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517EEAF-43BB-C1E0-DB12-B1C52D1D10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987646" y="5164163"/>
            <a:ext cx="4203700" cy="1117600"/>
          </a:xfrm>
          <a:prstGeom prst="rect">
            <a:avLst/>
          </a:prstGeom>
        </p:spPr>
      </p:pic>
      <p:pic>
        <p:nvPicPr>
          <p:cNvPr id="450" name="Picture 449">
            <a:extLst>
              <a:ext uri="{FF2B5EF4-FFF2-40B4-BE49-F238E27FC236}">
                <a16:creationId xmlns:a16="http://schemas.microsoft.com/office/drawing/2014/main" id="{B5B79536-CEB7-EA4C-CC60-72DFE48DF8F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32795" y="6751319"/>
            <a:ext cx="4419600" cy="162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81" y="5016268"/>
            <a:ext cx="2561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12657" y="5016268"/>
            <a:ext cx="3045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5943" y="3949260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stCxn id="680" idx="3"/>
            <a:endCxn id="390" idx="1"/>
          </p:cNvCxnSpPr>
          <p:nvPr/>
        </p:nvCxnSpPr>
        <p:spPr>
          <a:xfrm flipV="1">
            <a:off x="21321882" y="5961998"/>
            <a:ext cx="380143" cy="3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580242" y="7099416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6170" y="7121091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386" y="5773019"/>
            <a:ext cx="8347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8950" y="8439061"/>
            <a:ext cx="6950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573950" y="4308126"/>
            <a:ext cx="3169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8300171" y="8747886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99718" y="3649618"/>
            <a:ext cx="2955029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 and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00807"/>
            <a:ext cx="4970244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8091776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5" y="6743868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14197220" y="4714337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661492"/>
            <a:ext cx="3408643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6" y="4722341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7061129" y="6360206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13610"/>
            <a:ext cx="4492065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441818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39960" y="6099835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07114" y="6097722"/>
            <a:ext cx="3965929" cy="103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877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2466893" y="963059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2686182" y="1390570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2686182" y="1311406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2562191" y="1280190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7678882" y="963060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683826" y="54923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83825" y="27306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7798513" y="1125929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7916" y="37066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00973" y="4201563"/>
            <a:ext cx="321826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语言语法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34369" y="4124728"/>
            <a:ext cx="20525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任务说明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3782223" y="36045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719450" y="4152668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40642" y="29248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673" y="29758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097394" y="30856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编程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1941" y="58061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endCxn id="390" idx="1"/>
          </p:cNvCxnSpPr>
          <p:nvPr/>
        </p:nvCxnSpPr>
        <p:spPr>
          <a:xfrm>
            <a:off x="17060397" y="1176252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6140638" y="31235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181685" y="57971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883622" y="62053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457064" y="62103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14131693" y="62358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收集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15847105" y="6946773"/>
            <a:ext cx="132351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代码库</a:t>
            </a:r>
          </a:p>
        </p:txBody>
      </p:sp>
      <p:sp>
        <p:nvSpPr>
          <p:cNvPr id="476" name="Cross 475"/>
          <p:cNvSpPr/>
          <p:nvPr/>
        </p:nvSpPr>
        <p:spPr>
          <a:xfrm>
            <a:off x="11373511" y="33405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9805964" y="1073999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2072736" y="1200144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3817541" y="68341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7172304" y="69068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62065" y="6946900"/>
            <a:ext cx="1448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大语言模型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29978" y="62574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01344" y="4886559"/>
            <a:ext cx="3738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开发人员完成编程任务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1263" y="7575461"/>
            <a:ext cx="58724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使用可获取语料库训练大型语言模型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9911" y="64710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9911" y="61721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09911" y="58687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02724" y="66934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8271" y="58494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388339" y="60245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15861" y="62524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738" y="66748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76664" y="6946773"/>
            <a:ext cx="21391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10918" y="1151683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1042801" y="1133878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1042801" y="1156906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1042801" y="1179933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1420000" y="1133878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1420000" y="1156906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1420000" y="1179933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9528656" y="1165838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9453193" y="11387101"/>
            <a:ext cx="1587537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Trebuchet MS" panose="020B0603020202020204" pitchFamily="34" charset="0"/>
              </a:rPr>
              <a:t>下一个令牌选择：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660156" y="12766920"/>
            <a:ext cx="176291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保留令牌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2850519" y="1320724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3311387" y="1400639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3195990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4359069" y="1400639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3602628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3741897" y="1320724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4160270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4854009" y="1320724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5047232" y="1320724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5223346" y="1400639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5471646" y="1320900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4559036" y="1400639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7855340" y="1214629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8336287" y="1214629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8196002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334783" y="1214629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8609985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749254" y="1214629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9131210" y="1214629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861366" y="1214629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0054589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0237019" y="1214629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0479003" y="1214629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1740125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9539276" y="1214629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55340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336287" y="1237858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96002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34783" y="1237858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09985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49254" y="1237858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31210" y="1237858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61366" y="1237858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14730" y="1237858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237019" y="1237858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479003" y="1237858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1700266" y="1237858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40293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323565" y="1320724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4367215" y="1320724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4157997" y="1320724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5229662" y="1320724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4531919" y="1320724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3422537" y="1343807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4217397" y="1343807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4429342" y="1343807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4675919" y="1343764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5324878" y="1343807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8447725" y="10285061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4106214" y="14865476"/>
            <a:ext cx="1960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Trebuchet MS" panose="020B0603020202020204" pitchFamily="34" charset="0"/>
              </a:rPr>
              <a:t>我们的方法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10660573" y="1192269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4906465" y="732562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8461983" y="977202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令牌预处理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7799772" y="11817292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 dirty="0">
                <a:latin typeface="Trebuchet MS" panose="020B0603020202020204" pitchFamily="34" charset="0"/>
              </a:rPr>
              <a:t>令牌与概率</a:t>
            </a: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16580889" y="1343983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17440540" y="1050443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65842" y="1237593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5842" y="1214487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403" y="1214487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531401" y="1214487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403" y="1237593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31401" y="1237593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88979" y="1322995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942803" y="1358011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423750" y="1358011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83465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246" y="1358011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97448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36717" y="1358011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40898" y="1358011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48829" y="1358011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142052" y="1358011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24482" y="1358011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566466" y="1358011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764958" y="1354254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626739" y="1358011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1253305" y="1357870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1361866" y="1357870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1618864" y="1357870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6670138" y="1320900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16158485" y="1320900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267046" y="1320900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6524044" y="1320900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521035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657623" y="13977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3860827" y="1029081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语法约定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0837" y="1397098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95369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935723" y="1397098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767973" y="1396464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481681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653873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826065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998256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270109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459033" y="1397098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4142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0819049" y="1397098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577951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735562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8065183" y="1383258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7935790" y="1381996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8830237" y="1380212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8941797" y="1386190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9572696" y="1377294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9658792" y="1385904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9744888" y="1383637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9830983" y="1375027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0294398" y="1384010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0395271" y="1384096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0724702" y="1379982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0926789" y="1378002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1567115" y="1385938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1645920" y="1384233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9203970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9349707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9193134" y="1385758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9275186" y="1385565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9756659" y="1272118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9909942" y="1278017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分解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9935737" y="1075064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获取概率值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3062131" y="977202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基于语法规范的标记修剪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16009628" y="107516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7843459" y="13241996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2681802" y="1124290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2835626" y="1159306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3316573" y="1159306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3176288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315069" y="1159306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90271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3729540" y="1159306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4133721" y="1159306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4841652" y="1159306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5034875" y="1159306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217305" y="1159306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5459289" y="1159306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16657781" y="1155548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4519562" y="1159306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6146128" y="1159164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6254689" y="1159164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6511687" y="11591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2983660" y="1198393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2788192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3828546" y="1198393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3660796" y="1197758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4374504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4546696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4718888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4891079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5162932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5351856" y="1198393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5556965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5711872" y="1198393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16470774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6628385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2958006" y="1184552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2828613" y="1183290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3723060" y="1181507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3834620" y="1187484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4465519" y="1178588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4551615" y="1187198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4637711" y="1184931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4723806" y="1176321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5187221" y="1185304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5288094" y="1185390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5617525" y="1181276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15819612" y="1179297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16459938" y="1187232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16538743" y="1185527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4096793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4242530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4085957" y="1187052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4168009" y="1186859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2736282" y="11254939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2647127" y="13552656"/>
            <a:ext cx="995680" cy="33718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latin typeface="Trebuchet MS" panose="020B0603020202020204" pitchFamily="34" charset="0"/>
              </a:rPr>
              <a:t>修剪令牌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16059421" y="1233933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2794012" y="1075865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匹配分解令牌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2799645" y="1239651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语法导向的剪枝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17733617" y="1061436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成员可能性计算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18102590" y="1136142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语法约定修剪后的成员概率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78475" y="11900740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45629" y="11922691"/>
            <a:ext cx="3965929" cy="1032962"/>
          </a:xfrm>
          <a:prstGeom prst="rect">
            <a:avLst/>
          </a:prstGeom>
        </p:spPr>
      </p:pic>
      <p:sp>
        <p:nvSpPr>
          <p:cNvPr id="12" name="下箭头 11"/>
          <p:cNvSpPr/>
          <p:nvPr/>
        </p:nvSpPr>
        <p:spPr>
          <a:xfrm>
            <a:off x="14702790" y="8355965"/>
            <a:ext cx="989965" cy="1072515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60302020202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max_col_size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i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60302020202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60302020202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Ranked</a:t>
            </a:r>
            <a:r>
              <a:rPr lang="zh-CN" altLang="en-US" dirty="0">
                <a:latin typeface="Trebuchet MS" panose="020B0603020202020204" pitchFamily="34" charset="0"/>
              </a:rPr>
              <a:t> </a:t>
            </a:r>
            <a:r>
              <a:rPr lang="en-US" altLang="zh-CN" dirty="0">
                <a:latin typeface="Trebuchet MS" panose="020B0603020202020204" pitchFamily="34" charset="0"/>
              </a:rPr>
              <a:t>Token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43</TotalTime>
  <Words>2227</Words>
  <Application>Microsoft Macintosh PowerPoint</Application>
  <PresentationFormat>Custom</PresentationFormat>
  <Paragraphs>1194</Paragraphs>
  <Slides>10</Slides>
  <Notes>8</Notes>
  <HiddenSlides>9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50</cp:revision>
  <dcterms:created xsi:type="dcterms:W3CDTF">2025-06-02T15:22:00Z</dcterms:created>
  <dcterms:modified xsi:type="dcterms:W3CDTF">2026-01-15T02:22:29Z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