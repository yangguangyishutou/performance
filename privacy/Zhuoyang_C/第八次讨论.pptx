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07" r:id="rId3"/>
    <p:sldId id="309" r:id="rId5"/>
    <p:sldId id="308" r:id="rId6"/>
    <p:sldId id="310" r:id="rId7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0070C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99" autoAdjust="0"/>
    <p:restoredTop sz="94660"/>
  </p:normalViewPr>
  <p:slideViewPr>
    <p:cSldViewPr snapToGrid="0">
      <p:cViewPr varScale="1">
        <p:scale>
          <a:sx n="73" d="100"/>
          <a:sy n="73" d="100"/>
        </p:scale>
        <p:origin x="5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E5DC90-454D-46DB-AFEB-0ECF9E248FB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17DDCB-88F8-4C0C-946E-463F46B0E8C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7DDCB-88F8-4C0C-946E-463F46B0E8C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7DDCB-88F8-4C0C-946E-463F46B0E8C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7DDCB-88F8-4C0C-946E-463F46B0E8C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直接连接符 32"/>
          <p:cNvCxnSpPr/>
          <p:nvPr/>
        </p:nvCxnSpPr>
        <p:spPr>
          <a:xfrm>
            <a:off x="0" y="812800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107950" y="99695"/>
            <a:ext cx="5303520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dist"/>
            <a:r>
              <a:rPr lang="en-US" altLang="zh-CN" b="1" dirty="0" smtClean="0">
                <a:sym typeface="+mn-ea"/>
              </a:rPr>
              <a:t>Can LLM Already Serve as A Database Interface?</a:t>
            </a:r>
            <a:endParaRPr lang="zh-CN" altLang="en-US" b="1" dirty="0" smtClean="0"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28600" y="2232025"/>
            <a:ext cx="11706225" cy="32245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b="1"/>
              <a:t>2. </a:t>
            </a:r>
            <a:r>
              <a:rPr lang="zh-CN" altLang="en-US" b="1"/>
              <a:t>实验</a:t>
            </a:r>
            <a:endParaRPr b="1"/>
          </a:p>
          <a:p>
            <a:r>
              <a:rPr lang="en-US" b="1"/>
              <a:t>1</a:t>
            </a:r>
            <a:r>
              <a:rPr lang="zh-CN" altLang="en-US" b="1"/>
              <a:t>）</a:t>
            </a:r>
            <a:r>
              <a:rPr b="1"/>
              <a:t>模型输入：</a:t>
            </a:r>
            <a:endParaRPr b="1"/>
          </a:p>
          <a:p>
            <a:r>
              <a:rPr sz="1600"/>
              <a:t>输入包括自然语言问题（Question Q）、数据库（Database D）、以及外部知识证据（External Knowledge Evidence K）。模型通过这些输入生成SQL查询​。</a:t>
            </a:r>
            <a:endParaRPr sz="1600"/>
          </a:p>
          <a:p>
            <a:r>
              <a:rPr lang="en-US" b="1"/>
              <a:t>2</a:t>
            </a:r>
            <a:r>
              <a:rPr lang="zh-CN" altLang="en-US" b="1"/>
              <a:t>）</a:t>
            </a:r>
            <a:r>
              <a:rPr b="1"/>
              <a:t>模型训练过程：</a:t>
            </a:r>
            <a:endParaRPr b="1"/>
          </a:p>
          <a:p>
            <a:r>
              <a:rPr sz="1600"/>
              <a:t>文章探讨了两种主要的模型训练方法：微调（Fine-Tuning, FT）和上下文学习（In-Context Learning, ICL）。</a:t>
            </a:r>
            <a:endParaRPr sz="1600"/>
          </a:p>
          <a:p>
            <a:r>
              <a:rPr sz="1600">
                <a:solidFill>
                  <a:srgbClr val="FF0000"/>
                </a:solidFill>
              </a:rPr>
              <a:t>微调模型</a:t>
            </a:r>
            <a:r>
              <a:rPr sz="1600"/>
              <a:t>：以T5模型系列为基础，该技术通过调整语言模型的所有参数来输出SQL，以学习带注释的训练集。</a:t>
            </a:r>
            <a:endParaRPr sz="1600"/>
          </a:p>
          <a:p>
            <a:r>
              <a:rPr sz="1600">
                <a:solidFill>
                  <a:srgbClr val="FF0000"/>
                </a:solidFill>
              </a:rPr>
              <a:t>上下文学习模型</a:t>
            </a:r>
            <a:r>
              <a:rPr sz="1600"/>
              <a:t>：如GPT-4、Claude-2等大型语言模型，这些模型无需额外训练即可生成结果。此方法依赖于预训练时所学到的知识进行推理和生成SQL​​。</a:t>
            </a:r>
            <a:endParaRPr sz="1600"/>
          </a:p>
          <a:p>
            <a:r>
              <a:rPr lang="en-US" b="1"/>
              <a:t>3</a:t>
            </a:r>
            <a:r>
              <a:rPr lang="zh-CN" altLang="en-US" b="1"/>
              <a:t>）</a:t>
            </a:r>
            <a:r>
              <a:rPr b="1"/>
              <a:t>模型输出：</a:t>
            </a:r>
            <a:endParaRPr b="1"/>
          </a:p>
          <a:p>
            <a:r>
              <a:rPr sz="1600"/>
              <a:t>输出为生成的SQL查询。模型生成的SQL查询</a:t>
            </a:r>
            <a:r>
              <a:rPr sz="1600">
                <a:solidFill>
                  <a:srgbClr val="FF0000"/>
                </a:solidFill>
              </a:rPr>
              <a:t>需要在数据库中执行</a:t>
            </a:r>
            <a:r>
              <a:rPr sz="1600"/>
              <a:t>，以验证其正确性。BIRD基准测试中使用了“执行准确率”（Execution Accuracy, EX）和“有效效率评分”（Valid Efficiency Score, VES）来评估模型生成的SQL的准确性和效率​​。</a:t>
            </a:r>
            <a:endParaRPr sz="1600"/>
          </a:p>
        </p:txBody>
      </p:sp>
      <p:sp>
        <p:nvSpPr>
          <p:cNvPr id="3" name="文本框 2"/>
          <p:cNvSpPr txBox="1"/>
          <p:nvPr/>
        </p:nvSpPr>
        <p:spPr>
          <a:xfrm>
            <a:off x="9192895" y="375285"/>
            <a:ext cx="2116455" cy="437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 dirty="0" smtClean="0">
                <a:sym typeface="+mn-ea"/>
              </a:rPr>
              <a:t>NeurIPS-2023 </a:t>
            </a:r>
            <a:endParaRPr lang="en-US" altLang="zh-CN" b="1" dirty="0" smtClean="0">
              <a:sym typeface="+mn-ea"/>
            </a:endParaRPr>
          </a:p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7950" y="404495"/>
            <a:ext cx="6435090" cy="408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dist"/>
            <a:r>
              <a:rPr lang="en-US" altLang="zh-CN" b="1" dirty="0" smtClean="0">
                <a:sym typeface="+mn-ea"/>
              </a:rPr>
              <a:t>A BIg Bench for Large-Scale Database Grounded Text - to - SQLs</a:t>
            </a:r>
            <a:endParaRPr lang="en-US" altLang="zh-CN" b="1" dirty="0" smtClean="0">
              <a:sym typeface="+mn-ea"/>
            </a:endParaRPr>
          </a:p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28600" y="878840"/>
            <a:ext cx="10739755" cy="1353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1. BIRD</a:t>
            </a:r>
            <a:r>
              <a:rPr lang="zh-CN" altLang="en-US" b="1"/>
              <a:t>基准测试：</a:t>
            </a:r>
            <a:endParaRPr lang="zh-CN" alt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包含</a:t>
            </a:r>
            <a:r>
              <a:rPr lang="zh-CN" altLang="en-US" sz="1600">
                <a:solidFill>
                  <a:srgbClr val="FF0000"/>
                </a:solidFill>
              </a:rPr>
              <a:t>12,751个Text-to-SQL对和95个数据库</a:t>
            </a:r>
            <a:r>
              <a:rPr lang="zh-CN" altLang="en-US" sz="1600"/>
              <a:t>，总数据量达到33.4 GB，涵盖了37个专业领域，这种规模和复杂度在现有基准中是前所未有的。</a:t>
            </a:r>
            <a:endParaRPr lang="zh-CN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特别强调了现实世界中常见的</a:t>
            </a:r>
            <a:r>
              <a:rPr lang="zh-CN" altLang="en-US" sz="1600">
                <a:solidFill>
                  <a:srgbClr val="FF0000"/>
                </a:solidFill>
              </a:rPr>
              <a:t>“脏数据”和“噪声数据”</a:t>
            </a:r>
            <a:r>
              <a:rPr lang="zh-CN" altLang="en-US" sz="1600"/>
              <a:t>，以及自然语言问题与数据库值之间的</a:t>
            </a:r>
            <a:r>
              <a:rPr lang="zh-CN" altLang="en-US" sz="1600">
                <a:solidFill>
                  <a:srgbClr val="FF0000"/>
                </a:solidFill>
              </a:rPr>
              <a:t>外部知识关联</a:t>
            </a:r>
            <a:r>
              <a:rPr lang="zh-CN" altLang="en-US" sz="1600"/>
              <a:t>。这些特性使得BIRD更接近实际应用场景。</a:t>
            </a:r>
            <a:endParaRPr lang="zh-CN" altLang="en-US" sz="1600"/>
          </a:p>
        </p:txBody>
      </p:sp>
      <p:sp>
        <p:nvSpPr>
          <p:cNvPr id="6" name="文本框 5"/>
          <p:cNvSpPr txBox="1"/>
          <p:nvPr/>
        </p:nvSpPr>
        <p:spPr>
          <a:xfrm>
            <a:off x="228600" y="5456555"/>
            <a:ext cx="1182370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3. </a:t>
            </a:r>
            <a:r>
              <a:rPr lang="zh-CN" altLang="en-US" b="1"/>
              <a:t>结果</a:t>
            </a:r>
            <a:endParaRPr lang="zh-CN" altLang="en-US" b="1"/>
          </a:p>
          <a:p>
            <a:r>
              <a:rPr lang="zh-CN" altLang="en-US" sz="1600"/>
              <a:t>尽管大型语言模型（如GPT-4和Claude-2）在一些任务上表现优异，但文章通过实验数据展示了这些模型在BIRD基准上的局限性。</a:t>
            </a:r>
            <a:endParaRPr lang="zh-CN" altLang="en-US" sz="1600"/>
          </a:p>
          <a:p>
            <a:r>
              <a:rPr lang="zh-CN" altLang="en-US" sz="1600"/>
              <a:t>GPT-4</a:t>
            </a:r>
            <a:r>
              <a:rPr lang="zh-CN" altLang="en-US" sz="1600">
                <a:solidFill>
                  <a:srgbClr val="FF0000"/>
                </a:solidFill>
              </a:rPr>
              <a:t>在执行准确率上仅达到了54.89%</a:t>
            </a:r>
            <a:r>
              <a:rPr lang="zh-CN" altLang="en-US" sz="1600"/>
              <a:t>，远低于人类92.96%的水平。</a:t>
            </a:r>
            <a:endParaRPr lang="zh-CN" altLang="en-US" sz="1600"/>
          </a:p>
          <a:p>
            <a:r>
              <a:rPr lang="zh-CN" altLang="en-US" sz="1600"/>
              <a:t>这表明，当前模型在处理大规模、复杂数据库时仍存在显著挑战。</a:t>
            </a:r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770" y="194945"/>
            <a:ext cx="6352540" cy="31115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035165" y="154495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BIRD中</a:t>
            </a:r>
            <a:r>
              <a:rPr lang="en-US" altLang="zh-CN" sz="1600"/>
              <a:t>text2sql</a:t>
            </a:r>
            <a:r>
              <a:rPr lang="zh-CN" altLang="en-US" sz="1600"/>
              <a:t>模型的执行精度（EX）</a:t>
            </a:r>
            <a:endParaRPr lang="zh-CN" altLang="en-US" sz="1600"/>
          </a:p>
          <a:p>
            <a:r>
              <a:rPr lang="zh-CN" altLang="en-US" sz="1600"/>
              <a:t>同时还提供了人类的表现</a:t>
            </a:r>
            <a:endParaRPr lang="zh-CN" altLang="en-US" sz="16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055" y="3466465"/>
            <a:ext cx="6357620" cy="309689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035165" y="469836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BIRD中</a:t>
            </a:r>
            <a:r>
              <a:rPr lang="en-US" altLang="zh-CN" sz="1600">
                <a:sym typeface="+mn-ea"/>
              </a:rPr>
              <a:t>text2sql</a:t>
            </a:r>
            <a:r>
              <a:rPr lang="zh-CN" altLang="en-US" sz="1600"/>
              <a:t>模型的有效效率评分（VES）。并展示了人类的表现。</a:t>
            </a:r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直接连接符 32"/>
          <p:cNvCxnSpPr/>
          <p:nvPr/>
        </p:nvCxnSpPr>
        <p:spPr>
          <a:xfrm>
            <a:off x="0" y="812800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254635" y="314325"/>
            <a:ext cx="91173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en-US" altLang="zh-CN" b="1" dirty="0" smtClean="0">
                <a:solidFill>
                  <a:schemeClr val="tx1"/>
                </a:solidFill>
                <a:sym typeface="+mn-ea"/>
              </a:rPr>
              <a:t>MIGA: A Unifed Multi-Task Generation Framework for Conversational Text-to-SQL</a:t>
            </a:r>
            <a:endParaRPr lang="en-US" altLang="zh-CN" b="1" dirty="0" smtClean="0">
              <a:solidFill>
                <a:schemeClr val="tx1"/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4635" y="2049780"/>
            <a:ext cx="11464290" cy="40925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2</a:t>
            </a:r>
            <a:r>
              <a:rPr lang="zh-CN" altLang="en-US" b="1"/>
              <a:t>. 数据集 ：</a:t>
            </a:r>
            <a:endParaRPr lang="zh-CN" alt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预训练数据集：使用了Spider、SparC和CoSQL三个数据集。其中Spider是独立语境的Text-to-SQL数据集，SparC和CoSQL则是对话式Text-to-SQL数据集。</a:t>
            </a:r>
            <a:endParaRPr lang="zh-CN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评估数据集：重点使用SparC和CoSQL数据集来评估MIGA框架的性能。</a:t>
            </a:r>
            <a:endParaRPr lang="zh-CN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1600"/>
          </a:p>
          <a:p>
            <a:r>
              <a:rPr lang="en-US" altLang="zh-CN" b="1"/>
              <a:t>3. </a:t>
            </a:r>
            <a:r>
              <a:rPr lang="zh-CN" altLang="en-US" b="1"/>
              <a:t>实验</a:t>
            </a:r>
            <a:endParaRPr lang="en-US" altLang="zh-CN" b="1"/>
          </a:p>
          <a:p>
            <a:r>
              <a:rPr lang="zh-CN" altLang="en-US" sz="1600" b="1"/>
              <a:t>1）输入数据</a:t>
            </a:r>
            <a:endParaRPr lang="zh-CN" altLang="en-US" sz="1600" b="1"/>
          </a:p>
          <a:p>
            <a:r>
              <a:rPr lang="zh-CN" altLang="en-US" sz="1600"/>
              <a:t>用户当前话语（ut）：即当前轮对话中的用户输入。</a:t>
            </a:r>
            <a:endParaRPr lang="zh-CN" altLang="en-US" sz="1600"/>
          </a:p>
          <a:p>
            <a:r>
              <a:rPr lang="zh-CN" altLang="en-US" sz="1600"/>
              <a:t>交互历史（ht）：包括之前的用户话语和对应的SQL查询。</a:t>
            </a:r>
            <a:endParaRPr lang="zh-CN" altLang="en-US" sz="1600"/>
          </a:p>
          <a:p>
            <a:r>
              <a:rPr lang="zh-CN" altLang="en-US" sz="1600"/>
              <a:t>目标数据库的模式（D）：包括数据库的表格和字段信息。这些信息的格式为表格名及其对应的字段名的序列。</a:t>
            </a:r>
            <a:endParaRPr lang="zh-CN" altLang="en-US" sz="1600"/>
          </a:p>
          <a:p>
            <a:r>
              <a:rPr lang="zh-CN" altLang="en-US" sz="1600" b="1"/>
              <a:t>2）任务定义</a:t>
            </a:r>
            <a:endParaRPr lang="zh-CN" altLang="en-US" sz="1600" b="1"/>
          </a:p>
          <a:p>
            <a:r>
              <a:rPr lang="zh-CN" altLang="en-US" sz="1600"/>
              <a:t>实验将对话式Text-to-SQL任务分解为四个子任务：</a:t>
            </a:r>
            <a:endParaRPr lang="zh-CN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SQL生成（SG）：生成当前轮次的SQL查询。</a:t>
            </a:r>
            <a:endParaRPr lang="zh-CN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相关模式预测（RSP）：预测当前SQL查询中出现的表格和字段，旨在防止生成错误的表格和字段。</a:t>
            </a:r>
            <a:endParaRPr lang="zh-CN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轮次切换预测（TWP）：预测当前SQL与前一轮SQL相比的修改部分，减少SQL生成中的上下文依赖性。</a:t>
            </a:r>
            <a:endParaRPr lang="zh-CN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最终话语预测（FUP）：生成整个对话的最终话语摘要，以总结对话的全部信息。</a:t>
            </a:r>
            <a:endParaRPr lang="zh-CN" altLang="en-US" sz="1600"/>
          </a:p>
        </p:txBody>
      </p:sp>
      <p:sp>
        <p:nvSpPr>
          <p:cNvPr id="3" name="文本框 2"/>
          <p:cNvSpPr txBox="1"/>
          <p:nvPr/>
        </p:nvSpPr>
        <p:spPr>
          <a:xfrm>
            <a:off x="254635" y="942975"/>
            <a:ext cx="1112520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1. 创新的多任务生成框架（MIGA）</a:t>
            </a:r>
            <a:endParaRPr lang="zh-CN" altLang="en-US" b="1"/>
          </a:p>
          <a:p>
            <a:r>
              <a:rPr lang="zh-CN" altLang="en-US" sz="1600"/>
              <a:t>MIGA框架通过将对话式Text-to-SQL任务</a:t>
            </a:r>
            <a:r>
              <a:rPr lang="zh-CN" altLang="en-US" sz="1600">
                <a:solidFill>
                  <a:srgbClr val="FF0000"/>
                </a:solidFill>
              </a:rPr>
              <a:t>分解为多个子任务</a:t>
            </a:r>
            <a:r>
              <a:rPr lang="zh-CN" altLang="en-US" sz="1600"/>
              <a:t>（如SQL生成、相关模式预测、轮次切换预测和最终话语预测），并</a:t>
            </a:r>
            <a:r>
              <a:rPr lang="zh-CN" altLang="en-US" sz="1600">
                <a:solidFill>
                  <a:srgbClr val="FF0000"/>
                </a:solidFill>
              </a:rPr>
              <a:t>统一为序列到序列（Seq2Seq）范式</a:t>
            </a:r>
            <a:r>
              <a:rPr lang="zh-CN" altLang="en-US" sz="1600"/>
              <a:t>。</a:t>
            </a:r>
            <a:endParaRPr lang="zh-CN" altLang="en-US" sz="1600"/>
          </a:p>
          <a:p>
            <a:r>
              <a:rPr lang="zh-CN" altLang="en-US" sz="1600"/>
              <a:t>这种创新性的方法使得模型能够更好地利用</a:t>
            </a:r>
            <a:r>
              <a:rPr lang="zh-CN" altLang="en-US" sz="1600">
                <a:solidFill>
                  <a:srgbClr val="FF0000"/>
                </a:solidFill>
              </a:rPr>
              <a:t>生成式预训练模型</a:t>
            </a:r>
            <a:r>
              <a:rPr lang="zh-CN" altLang="en-US" sz="1600"/>
              <a:t>（如T5）的潜力，显著提升了对话式Text-to-SQL的任务表现。</a:t>
            </a:r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直接连接符 32"/>
          <p:cNvCxnSpPr/>
          <p:nvPr/>
        </p:nvCxnSpPr>
        <p:spPr>
          <a:xfrm>
            <a:off x="0" y="812800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254635" y="314325"/>
            <a:ext cx="91173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en-US" altLang="zh-CN" b="1" dirty="0" smtClean="0">
                <a:solidFill>
                  <a:schemeClr val="tx1"/>
                </a:solidFill>
                <a:sym typeface="+mn-ea"/>
              </a:rPr>
              <a:t>MIGA: A Unifed Multi-Task Generation Framework for Conversational Text-to-SQL</a:t>
            </a:r>
            <a:endParaRPr lang="en-US" altLang="zh-CN" b="1" dirty="0" smtClean="0">
              <a:solidFill>
                <a:schemeClr val="tx1"/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4635" y="942975"/>
            <a:ext cx="11224260" cy="4972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 b="1">
                <a:sym typeface="+mn-ea"/>
              </a:rPr>
              <a:t>3）训练过程</a:t>
            </a:r>
            <a:endParaRPr lang="zh-CN" altLang="en-US" sz="1600" b="1">
              <a:sym typeface="+mn-ea"/>
            </a:endParaRPr>
          </a:p>
          <a:p>
            <a:r>
              <a:rPr lang="zh-CN" altLang="en-US" sz="1600">
                <a:sym typeface="+mn-ea"/>
              </a:rPr>
              <a:t>训练过程分为两个阶段：</a:t>
            </a:r>
            <a:endParaRPr lang="zh-CN" altLang="en-US" sz="1600">
              <a:sym typeface="+mn-ea"/>
            </a:endParaRPr>
          </a:p>
          <a:p>
            <a:r>
              <a:rPr lang="zh-CN" altLang="en-US" sz="1600" b="1">
                <a:sym typeface="+mn-ea"/>
              </a:rPr>
              <a:t>3.1 多任务预训练阶段</a:t>
            </a:r>
            <a:endParaRPr lang="zh-CN" altLang="en-US" sz="1600" b="1">
              <a:sym typeface="+mn-ea"/>
            </a:endParaRPr>
          </a:p>
          <a:p>
            <a:r>
              <a:rPr lang="zh-CN" altLang="en-US" sz="1600">
                <a:sym typeface="+mn-ea"/>
              </a:rPr>
              <a:t>样本构建：</a:t>
            </a:r>
            <a:r>
              <a:rPr lang="zh-CN" altLang="en-US" sz="1600">
                <a:solidFill>
                  <a:srgbClr val="FF0000"/>
                </a:solidFill>
                <a:sym typeface="+mn-ea"/>
              </a:rPr>
              <a:t>为每个子任务构建训练样本</a:t>
            </a:r>
            <a:endParaRPr lang="zh-CN" altLang="en-US" sz="1600">
              <a:solidFill>
                <a:srgbClr val="FF0000"/>
              </a:solidFill>
              <a:sym typeface="+mn-ea"/>
            </a:endParaRPr>
          </a:p>
          <a:p>
            <a:r>
              <a:rPr lang="zh-CN" altLang="en-US" sz="1600">
                <a:sym typeface="+mn-ea"/>
              </a:rPr>
              <a:t>训练目标：对于每个训练样本，通过最大似然估计（MLE）优化模型的参数，计算目标序列的损失值。</a:t>
            </a:r>
            <a:endParaRPr lang="zh-CN" altLang="en-US" sz="1600">
              <a:sym typeface="+mn-ea"/>
            </a:endParaRPr>
          </a:p>
          <a:p>
            <a:r>
              <a:rPr lang="zh-CN" altLang="en-US" sz="1600">
                <a:sym typeface="+mn-ea"/>
              </a:rPr>
              <a:t>联合训练：四个子任务</a:t>
            </a:r>
            <a:r>
              <a:rPr lang="zh-CN" altLang="en-US" sz="1600">
                <a:solidFill>
                  <a:srgbClr val="FF0000"/>
                </a:solidFill>
                <a:sym typeface="+mn-ea"/>
              </a:rPr>
              <a:t>在同一个Seq2Seq范式下</a:t>
            </a:r>
            <a:r>
              <a:rPr lang="zh-CN" altLang="en-US" sz="1600">
                <a:sym typeface="+mn-ea"/>
              </a:rPr>
              <a:t>被联合训练，使用任务特定的自然语言提示来指导每个任务。</a:t>
            </a:r>
            <a:endParaRPr lang="zh-CN" altLang="en-US" sz="1600">
              <a:sym typeface="+mn-ea"/>
            </a:endParaRPr>
          </a:p>
          <a:p>
            <a:r>
              <a:rPr lang="zh-CN" altLang="en-US" sz="1600" b="1">
                <a:sym typeface="+mn-ea"/>
              </a:rPr>
              <a:t>3.2 单任务微调阶段</a:t>
            </a:r>
            <a:endParaRPr lang="zh-CN" altLang="en-US" sz="1600" b="1">
              <a:sym typeface="+mn-ea"/>
            </a:endParaRPr>
          </a:p>
          <a:p>
            <a:r>
              <a:rPr lang="zh-CN" altLang="en-US" sz="1600">
                <a:sym typeface="+mn-ea"/>
              </a:rPr>
              <a:t>SQL扰动：在生成当前SQL时，为了减轻模型对之前SQL依赖的问题，作者引入了SQL扰动机制。</a:t>
            </a:r>
            <a:endParaRPr lang="zh-CN" altLang="en-US" sz="1600">
              <a:sym typeface="+mn-ea"/>
            </a:endParaRPr>
          </a:p>
          <a:p>
            <a:r>
              <a:rPr lang="zh-CN" altLang="en-US" sz="1600">
                <a:sym typeface="+mn-ea"/>
              </a:rPr>
              <a:t>具体做法是将前一轮的SQL用扰动后的SQL替换，扰动策略包括随机修改SELECT子句的字段、交换JOIN结构中的表、修改“*”为其他字段等。</a:t>
            </a:r>
            <a:endParaRPr lang="zh-CN" altLang="en-US" sz="1600">
              <a:sym typeface="+mn-ea"/>
            </a:endParaRPr>
          </a:p>
          <a:p>
            <a:r>
              <a:rPr lang="zh-CN" altLang="en-US" sz="1600">
                <a:sym typeface="+mn-ea"/>
              </a:rPr>
              <a:t>单任务训练：在这个阶段，模型使用预训练后的参数对单一的SQL生成任务进行微调，并优化任务特定的标注数据。</a:t>
            </a:r>
            <a:endParaRPr lang="zh-CN" altLang="en-US" sz="1600">
              <a:sym typeface="+mn-ea"/>
            </a:endParaRPr>
          </a:p>
          <a:p>
            <a:endParaRPr lang="zh-CN" altLang="en-US" sz="1600">
              <a:sym typeface="+mn-ea"/>
            </a:endParaRPr>
          </a:p>
          <a:p>
            <a:r>
              <a:rPr lang="en-US" altLang="zh-CN" sz="1600" b="1">
                <a:sym typeface="+mn-ea"/>
              </a:rPr>
              <a:t>4</a:t>
            </a:r>
            <a:r>
              <a:rPr lang="zh-CN" altLang="en-US" sz="1600" b="1">
                <a:sym typeface="+mn-ea"/>
              </a:rPr>
              <a:t>）主要结果 ：</a:t>
            </a:r>
            <a:endParaRPr lang="zh-CN" altLang="en-US" sz="1600" b="1"/>
          </a:p>
          <a:p>
            <a:r>
              <a:rPr lang="zh-CN" altLang="en-US" sz="1600">
                <a:sym typeface="+mn-ea"/>
              </a:rPr>
              <a:t>评估指标：使用Interaction Match (IM) 和 Question Match (QM) 作为主要评估指标。IM要求所有输出的SQL查询在交互中都是</a:t>
            </a:r>
            <a:r>
              <a:rPr lang="zh-CN" altLang="en-US" sz="1600">
                <a:solidFill>
                  <a:srgbClr val="FF0000"/>
                </a:solidFill>
                <a:sym typeface="+mn-ea"/>
              </a:rPr>
              <a:t>有效的</a:t>
            </a:r>
            <a:r>
              <a:rPr lang="zh-CN" altLang="en-US" sz="1600">
                <a:sym typeface="+mn-ea"/>
              </a:rPr>
              <a:t>，而QM则评估每个问题的</a:t>
            </a:r>
            <a:r>
              <a:rPr lang="zh-CN" altLang="en-US" sz="1600">
                <a:solidFill>
                  <a:srgbClr val="FF0000"/>
                </a:solidFill>
                <a:sym typeface="+mn-ea"/>
              </a:rPr>
              <a:t>准确性</a:t>
            </a:r>
            <a:r>
              <a:rPr lang="zh-CN" altLang="en-US" sz="1600">
                <a:sym typeface="+mn-ea"/>
              </a:rPr>
              <a:t>。</a:t>
            </a:r>
            <a:endParaRPr lang="zh-CN" altLang="en-US" sz="1600">
              <a:sym typeface="+mn-ea"/>
            </a:endParaRPr>
          </a:p>
          <a:p>
            <a:endParaRPr lang="zh-CN" altLang="en-US" sz="1600"/>
          </a:p>
          <a:p>
            <a:r>
              <a:rPr lang="zh-CN" altLang="en-US" sz="1600">
                <a:sym typeface="+mn-ea"/>
              </a:rPr>
              <a:t>MIGA在SparC和CoSQL数据集上取得了最佳的IM准确率，分别为48.9%和29.8%。</a:t>
            </a:r>
            <a:endParaRPr lang="zh-CN" altLang="en-US" sz="1600"/>
          </a:p>
          <a:p>
            <a:r>
              <a:rPr lang="zh-CN" altLang="en-US" sz="1600">
                <a:sym typeface="+mn-ea"/>
              </a:rPr>
              <a:t>MIGA与其他基于T5的模型相比，显著提高了IM和QM的分数，IM分数提高了1.7%到7.0%，QM分数提高了0.6%到5.8%。</a:t>
            </a:r>
            <a:endParaRPr lang="zh-CN" altLang="en-US" sz="1600"/>
          </a:p>
          <a:p>
            <a:r>
              <a:rPr lang="zh-CN" altLang="en-US" sz="1600">
                <a:sym typeface="+mn-ea"/>
              </a:rPr>
              <a:t>文章验证了MIGA框架在对话式Text-to-SQL任务中的有效性。</a:t>
            </a:r>
            <a:endParaRPr lang="zh-CN" altLang="en-US" sz="160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8895" y="1162685"/>
            <a:ext cx="4449445" cy="39687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911330" y="5241925"/>
            <a:ext cx="37344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对不同t5预训练模型大小的SparC开发集的结果。*表示我们的重新实现。</a:t>
            </a:r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ISPRING_PRESENTATION_TITLE" val="PowerPoint 演示文稿"/>
  <p:tag name="commondata" val="eyJoZGlkIjoiMTFmMWJmZjM1MTUzOGJhZGQ2YzVjZTI0ZGVkOTAwZTk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2321</Words>
  <Application>WPS 演示</Application>
  <PresentationFormat>宽屏</PresentationFormat>
  <Paragraphs>76</Paragraphs>
  <Slides>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Calibri</vt:lpstr>
      <vt:lpstr>微软雅黑</vt:lpstr>
      <vt:lpstr>Arial Unicode MS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陈茁扬</cp:lastModifiedBy>
  <cp:revision>90</cp:revision>
  <dcterms:created xsi:type="dcterms:W3CDTF">2019-12-26T07:15:00Z</dcterms:created>
  <dcterms:modified xsi:type="dcterms:W3CDTF">2024-08-12T15:03:47Z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F77AF47937C94DE9B155EF2C05507074_13</vt:lpwstr>
  </property>
  <property fmtid="{D5CDD505-2E9C-101B-9397-08002B2CF9AE}" pid="3" name="KSOProductBuildVer">
    <vt:lpwstr>2052-12.1.0.16929</vt:lpwstr>
  </property>
</Properties>
</file>